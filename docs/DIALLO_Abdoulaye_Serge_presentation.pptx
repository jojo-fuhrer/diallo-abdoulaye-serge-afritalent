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Lst>
  <p:sldSz cx="12204700" cy="6870700"/>
  <p:notesSz cx="12204700" cy="68707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653" autoAdjust="0"/>
  </p:normalViewPr>
  <p:slideViewPr>
    <p:cSldViewPr>
      <p:cViewPr varScale="1">
        <p:scale>
          <a:sx n="65" d="100"/>
          <a:sy n="65" d="100"/>
        </p:scale>
        <p:origin x="1253"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7963" cy="344488"/>
          </a:xfrm>
          <a:prstGeom prst="rect">
            <a:avLst/>
          </a:prstGeom>
        </p:spPr>
        <p:txBody>
          <a:bodyPr vert="horz" lIns="91440" tIns="45720" rIns="91440" bIns="45720" rtlCol="0"/>
          <a:lstStyle>
            <a:lvl1pPr algn="l">
              <a:defRPr sz="1200"/>
            </a:lvl1pPr>
          </a:lstStyle>
          <a:p>
            <a:endParaRPr lang="fr-SN"/>
          </a:p>
        </p:txBody>
      </p:sp>
      <p:sp>
        <p:nvSpPr>
          <p:cNvPr id="3" name="Espace réservé de la date 2"/>
          <p:cNvSpPr>
            <a:spLocks noGrp="1"/>
          </p:cNvSpPr>
          <p:nvPr>
            <p:ph type="dt" idx="1"/>
          </p:nvPr>
        </p:nvSpPr>
        <p:spPr>
          <a:xfrm>
            <a:off x="6913563" y="0"/>
            <a:ext cx="5287962" cy="344488"/>
          </a:xfrm>
          <a:prstGeom prst="rect">
            <a:avLst/>
          </a:prstGeom>
        </p:spPr>
        <p:txBody>
          <a:bodyPr vert="horz" lIns="91440" tIns="45720" rIns="91440" bIns="45720" rtlCol="0"/>
          <a:lstStyle>
            <a:lvl1pPr algn="r">
              <a:defRPr sz="1200"/>
            </a:lvl1pPr>
          </a:lstStyle>
          <a:p>
            <a:fld id="{E239844F-12AC-426E-B40D-7E67814D759F}" type="datetimeFigureOut">
              <a:rPr lang="fr-SN" smtClean="0"/>
              <a:t>01/07/2026</a:t>
            </a:fld>
            <a:endParaRPr lang="fr-SN"/>
          </a:p>
        </p:txBody>
      </p:sp>
      <p:sp>
        <p:nvSpPr>
          <p:cNvPr id="4" name="Espace réservé de l'image des diapositives 3"/>
          <p:cNvSpPr>
            <a:spLocks noGrp="1" noRot="1" noChangeAspect="1"/>
          </p:cNvSpPr>
          <p:nvPr>
            <p:ph type="sldImg" idx="2"/>
          </p:nvPr>
        </p:nvSpPr>
        <p:spPr>
          <a:xfrm>
            <a:off x="4041775" y="858838"/>
            <a:ext cx="4121150" cy="2319337"/>
          </a:xfrm>
          <a:prstGeom prst="rect">
            <a:avLst/>
          </a:prstGeom>
          <a:noFill/>
          <a:ln w="12700">
            <a:solidFill>
              <a:prstClr val="black"/>
            </a:solidFill>
          </a:ln>
        </p:spPr>
        <p:txBody>
          <a:bodyPr vert="horz" lIns="91440" tIns="45720" rIns="91440" bIns="45720" rtlCol="0" anchor="ctr"/>
          <a:lstStyle/>
          <a:p>
            <a:endParaRPr lang="fr-SN"/>
          </a:p>
        </p:txBody>
      </p:sp>
      <p:sp>
        <p:nvSpPr>
          <p:cNvPr id="5" name="Espace réservé des notes 4"/>
          <p:cNvSpPr>
            <a:spLocks noGrp="1"/>
          </p:cNvSpPr>
          <p:nvPr>
            <p:ph type="body" sz="quarter" idx="3"/>
          </p:nvPr>
        </p:nvSpPr>
        <p:spPr>
          <a:xfrm>
            <a:off x="1220788" y="3306763"/>
            <a:ext cx="9763125" cy="27051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6" name="Espace réservé du pied de page 5"/>
          <p:cNvSpPr>
            <a:spLocks noGrp="1"/>
          </p:cNvSpPr>
          <p:nvPr>
            <p:ph type="ftr" sz="quarter" idx="4"/>
          </p:nvPr>
        </p:nvSpPr>
        <p:spPr>
          <a:xfrm>
            <a:off x="0" y="6526213"/>
            <a:ext cx="5287963" cy="344487"/>
          </a:xfrm>
          <a:prstGeom prst="rect">
            <a:avLst/>
          </a:prstGeom>
        </p:spPr>
        <p:txBody>
          <a:bodyPr vert="horz" lIns="91440" tIns="45720" rIns="91440" bIns="45720" rtlCol="0" anchor="b"/>
          <a:lstStyle>
            <a:lvl1pPr algn="l">
              <a:defRPr sz="1200"/>
            </a:lvl1pPr>
          </a:lstStyle>
          <a:p>
            <a:endParaRPr lang="fr-SN"/>
          </a:p>
        </p:txBody>
      </p:sp>
      <p:sp>
        <p:nvSpPr>
          <p:cNvPr id="7" name="Espace réservé du numéro de diapositive 6"/>
          <p:cNvSpPr>
            <a:spLocks noGrp="1"/>
          </p:cNvSpPr>
          <p:nvPr>
            <p:ph type="sldNum" sz="quarter" idx="5"/>
          </p:nvPr>
        </p:nvSpPr>
        <p:spPr>
          <a:xfrm>
            <a:off x="6913563" y="6526213"/>
            <a:ext cx="5287962" cy="344487"/>
          </a:xfrm>
          <a:prstGeom prst="rect">
            <a:avLst/>
          </a:prstGeom>
        </p:spPr>
        <p:txBody>
          <a:bodyPr vert="horz" lIns="91440" tIns="45720" rIns="91440" bIns="45720" rtlCol="0" anchor="b"/>
          <a:lstStyle>
            <a:lvl1pPr algn="r">
              <a:defRPr sz="1200"/>
            </a:lvl1pPr>
          </a:lstStyle>
          <a:p>
            <a:fld id="{F3E83397-EEE9-4D8E-BF4B-A053F12F0786}" type="slidenum">
              <a:rPr lang="fr-SN" smtClean="0"/>
              <a:t>‹N°›</a:t>
            </a:fld>
            <a:endParaRPr lang="fr-SN"/>
          </a:p>
        </p:txBody>
      </p:sp>
    </p:spTree>
    <p:extLst>
      <p:ext uri="{BB962C8B-B14F-4D97-AF65-F5344CB8AC3E}">
        <p14:creationId xmlns:p14="http://schemas.microsoft.com/office/powerpoint/2010/main" val="73244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tous. Aujourd'hui je vous présente l'analyse complète du site </a:t>
            </a:r>
            <a:r>
              <a:rPr lang="fr-FR" dirty="0" err="1"/>
              <a:t>AfriTalent</a:t>
            </a:r>
            <a:r>
              <a:rPr lang="fr-FR" dirty="0"/>
              <a:t>, un projet web réalisé par Abdoulaye Serge DIALLO. Ce site est une plateforme de mise en relation entre freelances tech africains et entreprises. Nous allons voir ensemble comment il fonctionne, comment il est conçu, et quels en sont les points forts et les axes d'amélioration.</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1</a:t>
            </a:fld>
            <a:endParaRPr lang="fr-SN"/>
          </a:p>
        </p:txBody>
      </p:sp>
    </p:spTree>
    <p:extLst>
      <p:ext uri="{BB962C8B-B14F-4D97-AF65-F5344CB8AC3E}">
        <p14:creationId xmlns:p14="http://schemas.microsoft.com/office/powerpoint/2010/main" val="3633661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Commençons par le contexte. </a:t>
            </a:r>
            <a:r>
              <a:rPr lang="fr-FR" dirty="0" err="1"/>
              <a:t>AfriTalent</a:t>
            </a:r>
            <a:r>
              <a:rPr lang="fr-FR" dirty="0"/>
              <a:t> a été créé en 2023 à Dakar, au Sénégal, par une équipe de passionnés du numérique. Le constat de départ est clair : l'Afrique possède énormément de talents technologiques, mais ces derniers n'ont pas toujours les moyens de se faire connaître à l'échelle internationale. La plateforme sert donc de trait d'union. Elle est utilisée par deux types d'acteurs : les freelances tech qui veulent trouver des missions rémunératrices, et les entreprises qui recherchent des compétences numériques. À ce jour, la plateforme couvre 15 pays africains, ce qui montre une ambition panafricaine.</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2</a:t>
            </a:fld>
            <a:endParaRPr lang="fr-SN"/>
          </a:p>
        </p:txBody>
      </p:sp>
    </p:spTree>
    <p:extLst>
      <p:ext uri="{BB962C8B-B14F-4D97-AF65-F5344CB8AC3E}">
        <p14:creationId xmlns:p14="http://schemas.microsoft.com/office/powerpoint/2010/main" val="4221121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Quand on arrive sur la page d'accueil d'</a:t>
            </a:r>
            <a:r>
              <a:rPr lang="fr-FR" dirty="0" err="1"/>
              <a:t>AfriTalent</a:t>
            </a:r>
            <a:r>
              <a:rPr lang="fr-FR" dirty="0"/>
              <a:t>, on est tout de suite frappé par la clarté du message. Le slogan « Votre talent mérite d'être vu » est à la fois inspirant et direct. L'interface est organisée autour d'une navigation en haut de page, fixe, qui permet de ne jamais perdre ses repères. Les statistiques présentées — plus de 2500 freelances, 800 entreprises, 12000 missions — donnent immédiatement de la crédibilité à la plateforme. L'ensemble utilise des animations discrètes qui rendent la navigation agréable sans surcharger l'expérience.</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3</a:t>
            </a:fld>
            <a:endParaRPr lang="fr-SN"/>
          </a:p>
        </p:txBody>
      </p:sp>
    </p:spTree>
    <p:extLst>
      <p:ext uri="{BB962C8B-B14F-4D97-AF65-F5344CB8AC3E}">
        <p14:creationId xmlns:p14="http://schemas.microsoft.com/office/powerpoint/2010/main" val="812334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fonctionnement d'</a:t>
            </a:r>
            <a:r>
              <a:rPr lang="fr-FR" dirty="0" err="1"/>
              <a:t>AfriTalent</a:t>
            </a:r>
            <a:r>
              <a:rPr lang="fr-FR" dirty="0"/>
              <a:t> repose sur un parcours en quatre étapes très logique. D'abord, le freelance crée son profil gratuitement en indiquant ses compétences et son tarif horaire. Ensuite, il peut parcourir les missions disponibles grâce à un système de filtres efficace - par catégorie, par spécialité ou même par localisation. La troisième étape est la collaboration : la plateforme intègre une messagerie qui facilite les échanges entre le freelance et le client. Enfin, la dernière étape est le paiement, qui est sécurisé via un système de portage - l'argent est bloqué jusqu'à la validation de la mission. Le fait d'accepter le Mobile Money est un choix stratégique très pertinent pour le marché africain.</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4</a:t>
            </a:fld>
            <a:endParaRPr lang="fr-SN"/>
          </a:p>
        </p:txBody>
      </p:sp>
    </p:spTree>
    <p:extLst>
      <p:ext uri="{BB962C8B-B14F-4D97-AF65-F5344CB8AC3E}">
        <p14:creationId xmlns:p14="http://schemas.microsoft.com/office/powerpoint/2010/main" val="3818495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Suivons maintenant le parcours type d'un visiteur. Quand il arrive sur le site, la première chose qu'il voit est le </a:t>
            </a:r>
            <a:r>
              <a:rPr lang="fr-FR" dirty="0" err="1"/>
              <a:t>hero</a:t>
            </a:r>
            <a:r>
              <a:rPr lang="fr-FR" dirty="0"/>
              <a:t> avec le slogan « Votre talent mérite d'être vu » et les statistiques impressionnantes. S'il est freelance, il clique probablement sur « Je suis Freelance » pour voir les profils existants ou s'inscrire. S'il est entreprise, il va plutôt explorer la grille des freelances avec les filtres par catégorie. Chaque profil montre clairement la spécialité, le tarif et la note du freelance. Ensuite, le visiteur peut consulter les tarifs pour comprendre les différents plans, puis se rendre sur la page À propos pour comprendre les valeurs et l'équipe derrière le projet. Ce parcours est fluide et logique.</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5</a:t>
            </a:fld>
            <a:endParaRPr lang="fr-SN"/>
          </a:p>
        </p:txBody>
      </p:sp>
    </p:spTree>
    <p:extLst>
      <p:ext uri="{BB962C8B-B14F-4D97-AF65-F5344CB8AC3E}">
        <p14:creationId xmlns:p14="http://schemas.microsoft.com/office/powerpoint/2010/main" val="4115241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Analysons maintenant la structure détaillée du site. </a:t>
            </a:r>
            <a:r>
              <a:rPr lang="fr-FR" dirty="0" err="1"/>
              <a:t>AfriTalent</a:t>
            </a:r>
            <a:r>
              <a:rPr lang="fr-FR" dirty="0"/>
              <a:t> est composé de 5 pages principales, chacune avec un rôle bien défini. La page d'accueil est la plus riche : elle contient un </a:t>
            </a:r>
            <a:r>
              <a:rPr lang="fr-FR" dirty="0" err="1"/>
              <a:t>hero</a:t>
            </a:r>
            <a:r>
              <a:rPr lang="fr-FR" dirty="0"/>
              <a:t>, des statistiques, un bento </a:t>
            </a:r>
            <a:r>
              <a:rPr lang="fr-FR" dirty="0" err="1"/>
              <a:t>grid</a:t>
            </a:r>
            <a:r>
              <a:rPr lang="fr-FR" dirty="0"/>
              <a:t> « Comment ça marche », les catégories de services, des témoignages et un appel à l'inscription. La page Freelances est interactive avec des filtres qui permettent de trier les 9 profils par catégorie. Chaque profil est présenté dans une carte avec photo, spécialité, bio, note et tarif. La page Tarifs propose trois abonnements avec une FAQ très bien pensée en accordéon. Le </a:t>
            </a:r>
            <a:r>
              <a:rPr lang="fr-FR" dirty="0" err="1"/>
              <a:t>footer</a:t>
            </a:r>
            <a:r>
              <a:rPr lang="fr-FR" dirty="0"/>
              <a:t> est identique sur toutes les pages, ce qui renforce la cohérence. On note également l'usage intelligent des icônes Bootstrap </a:t>
            </a:r>
            <a:r>
              <a:rPr lang="fr-FR" dirty="0" err="1"/>
              <a:t>Icons</a:t>
            </a:r>
            <a:r>
              <a:rPr lang="fr-FR" dirty="0"/>
              <a:t> à travers tout le site.</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6</a:t>
            </a:fld>
            <a:endParaRPr lang="fr-SN"/>
          </a:p>
        </p:txBody>
      </p:sp>
    </p:spTree>
    <p:extLst>
      <p:ext uri="{BB962C8B-B14F-4D97-AF65-F5344CB8AC3E}">
        <p14:creationId xmlns:p14="http://schemas.microsoft.com/office/powerpoint/2010/main" val="2336352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Parlons maintenant de la conception visuelle du site. Le choix de Bootstrap 5 comme </a:t>
            </a:r>
            <a:r>
              <a:rPr lang="fr-FR" dirty="0" err="1"/>
              <a:t>framework</a:t>
            </a:r>
            <a:r>
              <a:rPr lang="fr-FR" dirty="0"/>
              <a:t> CSS est judicieux : il offre une grille responsive prête à l'emploi et des composants comme le carrousel, les modales et les accordéons qui sont directement exploités. Le design utilise deux polices complémentaires : </a:t>
            </a:r>
            <a:r>
              <a:rPr lang="fr-FR" dirty="0" err="1"/>
              <a:t>Syne</a:t>
            </a:r>
            <a:r>
              <a:rPr lang="fr-FR" dirty="0"/>
              <a:t> pour les titres, qui donne du caractère, et Inter pour le corps de texte, qui assure une excellente lisibilité. La couleur d'accent orange est bien choisie car elle évoque l'énergie et la chaleur, des valeurs associées au continent africain. Le contraste entre les sections blanches et grises crée un rythme de lecture naturel. L'alternance de tailles dans le Bento </a:t>
            </a:r>
            <a:r>
              <a:rPr lang="fr-FR" dirty="0" err="1"/>
              <a:t>Grid</a:t>
            </a:r>
            <a:r>
              <a:rPr lang="fr-FR" dirty="0"/>
              <a:t> apporte de la dynamique. Le mode sombre est un détail qui montre une attention à l'expérience utilisateur.</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7</a:t>
            </a:fld>
            <a:endParaRPr lang="fr-SN"/>
          </a:p>
        </p:txBody>
      </p:sp>
    </p:spTree>
    <p:extLst>
      <p:ext uri="{BB962C8B-B14F-4D97-AF65-F5344CB8AC3E}">
        <p14:creationId xmlns:p14="http://schemas.microsoft.com/office/powerpoint/2010/main" val="3106189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Du point de vue technique, </a:t>
            </a:r>
            <a:r>
              <a:rPr lang="fr-FR" dirty="0" err="1"/>
              <a:t>AfriTalent</a:t>
            </a:r>
            <a:r>
              <a:rPr lang="fr-FR" dirty="0"/>
              <a:t> est un site statique classique construit avec les technologies fondamentales du web : HTML pour la structure, CSS pour le style et JavaScript pour l'interactivité. Il n'utilise pas de </a:t>
            </a:r>
            <a:r>
              <a:rPr lang="fr-FR" dirty="0" err="1"/>
              <a:t>framework</a:t>
            </a:r>
            <a:r>
              <a:rPr lang="fr-FR" dirty="0"/>
              <a:t> frontend comme </a:t>
            </a:r>
            <a:r>
              <a:rPr lang="fr-FR" dirty="0" err="1"/>
              <a:t>React</a:t>
            </a:r>
            <a:r>
              <a:rPr lang="fr-FR" dirty="0"/>
              <a:t> ou Vue.js, ni de backend avec base de données. Chaque page est un fichier HTML séparé. Le site est hébergé sur GitHub Pages, une solution d'hébergement statique gratuit offerte par GitHub. C'est un choix tout à fait pertinent pour un prototype ou un projet étudiant. Les bibliothèques externes sont chargées via CDN : Bootstrap pour le responsive et les composants, Bootstrap </a:t>
            </a:r>
            <a:r>
              <a:rPr lang="fr-FR" dirty="0" err="1"/>
              <a:t>Icons</a:t>
            </a:r>
            <a:r>
              <a:rPr lang="fr-FR" dirty="0"/>
              <a:t> pour les icônes, et Google Fonts pour les polices. Le fichier main.js gère toute l'interactivité : compteurs animés, </a:t>
            </a:r>
            <a:r>
              <a:rPr lang="fr-FR" dirty="0" err="1"/>
              <a:t>toggle</a:t>
            </a:r>
            <a:r>
              <a:rPr lang="fr-FR" dirty="0"/>
              <a:t> mode sombre, filtrage des freelances et animations au défilement.</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8</a:t>
            </a:fld>
            <a:endParaRPr lang="fr-SN"/>
          </a:p>
        </p:txBody>
      </p:sp>
    </p:spTree>
    <p:extLst>
      <p:ext uri="{BB962C8B-B14F-4D97-AF65-F5344CB8AC3E}">
        <p14:creationId xmlns:p14="http://schemas.microsoft.com/office/powerpoint/2010/main" val="2270222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Maintenant, analysons les points forts du site. Premier point fort : la simplicité. En arrivant sur le site, on comprend immédiatement ce qu'il propose. Le slogan est accrocheur, les deux boutons CTA sont clairs, et les statistiques donnent de la crédibilité. Deuxième point fort : la navigation. La barre fixe en haut, le menu hamburger pour mobile, le bouton retour en haut — tout est pensé pour que l'utilisateur ne se perde jamais. Troisième point fort : le design. Le Bento </a:t>
            </a:r>
            <a:r>
              <a:rPr lang="fr-FR" dirty="0" err="1"/>
              <a:t>Grid</a:t>
            </a:r>
            <a:r>
              <a:rPr lang="fr-FR" dirty="0"/>
              <a:t>, les animations fade-in, le mode sombre, les icônes — tout contribue à une expérience visuelle professionnelle. Et surtout, quatrième point fort : l'adaptation au contexte africain. Les prix en FCFA, le Mobile Money, la couverture de 15 pays, les témoignages de diverses villes africaines — c'est un site pensé pour et par le continent.</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9</a:t>
            </a:fld>
            <a:endParaRPr lang="fr-SN"/>
          </a:p>
        </p:txBody>
      </p:sp>
    </p:spTree>
    <p:extLst>
      <p:ext uri="{BB962C8B-B14F-4D97-AF65-F5344CB8AC3E}">
        <p14:creationId xmlns:p14="http://schemas.microsoft.com/office/powerpoint/2010/main" val="2487317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Comme tout projet, </a:t>
            </a:r>
            <a:r>
              <a:rPr lang="fr-FR" dirty="0" err="1"/>
              <a:t>AfriTalent</a:t>
            </a:r>
            <a:r>
              <a:rPr lang="fr-FR" dirty="0"/>
              <a:t> a des limites qu'il est important d'identifier. La principale est que c'est un site purement statique : il n'y a pas de base de données, pas de système d'inscription réel, pas de messagerie fonctionnelle. Les profils freelances et les témoignages sont codés en dur dans le HTML, ce qui signifie que chaque modification nécessite une intervention sur le code source. Pour améliorer ce site, la première étape serait d'ajouter un backend avec une base de données pour rendre le contenu dynamique. Ensuite, un système d'authentification permettrait aux utilisateurs de gérer leurs profils. D'autres améliorations comme une messagerie en temps réel, un système de paiement fonctionnel et l'optimisation du SEO rendraient la plateforme prête pour un déploiement réel en production.</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10</a:t>
            </a:fld>
            <a:endParaRPr lang="fr-SN"/>
          </a:p>
        </p:txBody>
      </p:sp>
    </p:spTree>
    <p:extLst>
      <p:ext uri="{BB962C8B-B14F-4D97-AF65-F5344CB8AC3E}">
        <p14:creationId xmlns:p14="http://schemas.microsoft.com/office/powerpoint/2010/main" val="2300373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conclure, </a:t>
            </a:r>
            <a:r>
              <a:rPr lang="fr-FR" dirty="0" err="1"/>
              <a:t>AfriTalent</a:t>
            </a:r>
            <a:r>
              <a:rPr lang="fr-FR" dirty="0"/>
              <a:t> est un projet web qui mérite d'être souligné. Il répond à un problème concret et bien identifié : la difficulté pour les freelances tech africains de trouver des missions sérieuses. Le site est bien conçu, agréable à naviguer et montre une réelle compréhension du public cible. Sur le plan technique, c'est un bon travail qui démontre la maîtrise des technologies fondamentales du web. Bien qu'il s'agisse actuellement d'un prototype statique, les fondations sont solides et les pistes d'amélioration sont claires. Avec l'intégration d'un backend et de fonctionnalités avancées, ce projet a tout le potentiel pour devenir une plateforme réellement opérationnelle. Merci de votre attention. Je suis maintenant disponible pour vos questions.</a:t>
            </a:r>
            <a:endParaRPr lang="fr-SN" dirty="0"/>
          </a:p>
        </p:txBody>
      </p:sp>
      <p:sp>
        <p:nvSpPr>
          <p:cNvPr id="4" name="Espace réservé du numéro de diapositive 3"/>
          <p:cNvSpPr>
            <a:spLocks noGrp="1"/>
          </p:cNvSpPr>
          <p:nvPr>
            <p:ph type="sldNum" sz="quarter" idx="5"/>
          </p:nvPr>
        </p:nvSpPr>
        <p:spPr/>
        <p:txBody>
          <a:bodyPr/>
          <a:lstStyle/>
          <a:p>
            <a:fld id="{F3E83397-EEE9-4D8E-BF4B-A053F12F0786}" type="slidenum">
              <a:rPr lang="fr-SN" smtClean="0"/>
              <a:t>12</a:t>
            </a:fld>
            <a:endParaRPr lang="fr-SN"/>
          </a:p>
        </p:txBody>
      </p:sp>
    </p:spTree>
    <p:extLst>
      <p:ext uri="{BB962C8B-B14F-4D97-AF65-F5344CB8AC3E}">
        <p14:creationId xmlns:p14="http://schemas.microsoft.com/office/powerpoint/2010/main" val="35508761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242369" y="2695574"/>
            <a:ext cx="266700" cy="457200"/>
          </a:xfrm>
          <a:prstGeom prst="rect">
            <a:avLst/>
          </a:prstGeom>
        </p:spPr>
      </p:pic>
      <p:sp>
        <p:nvSpPr>
          <p:cNvPr id="2" name="Holder 2"/>
          <p:cNvSpPr>
            <a:spLocks noGrp="1"/>
          </p:cNvSpPr>
          <p:nvPr>
            <p:ph type="ctrTitle"/>
          </p:nvPr>
        </p:nvSpPr>
        <p:spPr>
          <a:xfrm>
            <a:off x="3155255" y="2395578"/>
            <a:ext cx="6014720" cy="1328420"/>
          </a:xfrm>
          <a:prstGeom prst="rect">
            <a:avLst/>
          </a:prstGeom>
        </p:spPr>
        <p:txBody>
          <a:bodyPr wrap="square" lIns="0" tIns="0" rIns="0" bIns="0">
            <a:spAutoFit/>
          </a:bodyPr>
          <a:lstStyle>
            <a:lvl1pPr>
              <a:defRPr sz="2550" b="1" i="0">
                <a:solidFill>
                  <a:srgbClr val="1B294A"/>
                </a:solidFill>
                <a:latin typeface="Arial"/>
                <a:cs typeface="Arial"/>
              </a:defRPr>
            </a:lvl1pPr>
          </a:lstStyle>
          <a:p>
            <a:endParaRPr/>
          </a:p>
        </p:txBody>
      </p:sp>
      <p:sp>
        <p:nvSpPr>
          <p:cNvPr id="3" name="Holder 3"/>
          <p:cNvSpPr>
            <a:spLocks noGrp="1"/>
          </p:cNvSpPr>
          <p:nvPr>
            <p:ph type="subTitle" idx="4"/>
          </p:nvPr>
        </p:nvSpPr>
        <p:spPr>
          <a:xfrm>
            <a:off x="1830705" y="3847592"/>
            <a:ext cx="8543290" cy="1717675"/>
          </a:xfrm>
          <a:prstGeom prst="rect">
            <a:avLst/>
          </a:prstGeom>
        </p:spPr>
        <p:txBody>
          <a:bodyPr wrap="square" lIns="0" tIns="0" rIns="0" bIns="0">
            <a:spAutoFit/>
          </a:bodyPr>
          <a:lstStyle>
            <a:lvl1pPr>
              <a:defRPr sz="1200" b="0" i="0">
                <a:solidFill>
                  <a:srgbClr val="3A4556"/>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1" i="0">
                <a:solidFill>
                  <a:srgbClr val="1B294A"/>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200" b="0" i="0">
                <a:solidFill>
                  <a:srgbClr val="3A4556"/>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1" i="0">
                <a:solidFill>
                  <a:srgbClr val="1B294A"/>
                </a:solidFill>
                <a:latin typeface="Arial"/>
                <a:cs typeface="Arial"/>
              </a:defRPr>
            </a:lvl1pPr>
          </a:lstStyle>
          <a:p>
            <a:endParaRPr/>
          </a:p>
        </p:txBody>
      </p:sp>
      <p:sp>
        <p:nvSpPr>
          <p:cNvPr id="3" name="Holder 3"/>
          <p:cNvSpPr>
            <a:spLocks noGrp="1"/>
          </p:cNvSpPr>
          <p:nvPr>
            <p:ph sz="half" idx="2"/>
          </p:nvPr>
        </p:nvSpPr>
        <p:spPr>
          <a:xfrm>
            <a:off x="610235" y="1580261"/>
            <a:ext cx="5309044" cy="453466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5420" y="1580261"/>
            <a:ext cx="5309044" cy="453466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1" i="0">
                <a:solidFill>
                  <a:srgbClr val="1B294A"/>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96899" y="708395"/>
            <a:ext cx="7116445" cy="417830"/>
          </a:xfrm>
          <a:prstGeom prst="rect">
            <a:avLst/>
          </a:prstGeom>
        </p:spPr>
        <p:txBody>
          <a:bodyPr wrap="square" lIns="0" tIns="0" rIns="0" bIns="0">
            <a:spAutoFit/>
          </a:bodyPr>
          <a:lstStyle>
            <a:lvl1pPr>
              <a:defRPr sz="2550" b="1" i="0">
                <a:solidFill>
                  <a:srgbClr val="1B294A"/>
                </a:solidFill>
                <a:latin typeface="Arial"/>
                <a:cs typeface="Arial"/>
              </a:defRPr>
            </a:lvl1pPr>
          </a:lstStyle>
          <a:p>
            <a:endParaRPr/>
          </a:p>
        </p:txBody>
      </p:sp>
      <p:sp>
        <p:nvSpPr>
          <p:cNvPr id="3" name="Holder 3"/>
          <p:cNvSpPr>
            <a:spLocks noGrp="1"/>
          </p:cNvSpPr>
          <p:nvPr>
            <p:ph type="body" idx="1"/>
          </p:nvPr>
        </p:nvSpPr>
        <p:spPr>
          <a:xfrm>
            <a:off x="2661294" y="2084989"/>
            <a:ext cx="6869430" cy="3187700"/>
          </a:xfrm>
          <a:prstGeom prst="rect">
            <a:avLst/>
          </a:prstGeom>
        </p:spPr>
        <p:txBody>
          <a:bodyPr wrap="square" lIns="0" tIns="0" rIns="0" bIns="0">
            <a:spAutoFit/>
          </a:bodyPr>
          <a:lstStyle>
            <a:lvl1pPr>
              <a:defRPr sz="1200" b="0" i="0">
                <a:solidFill>
                  <a:srgbClr val="3A4556"/>
                </a:solidFill>
                <a:latin typeface="Microsoft Sans Serif"/>
                <a:cs typeface="Microsoft Sans Serif"/>
              </a:defRPr>
            </a:lvl1pPr>
          </a:lstStyle>
          <a:p>
            <a:endParaRPr/>
          </a:p>
        </p:txBody>
      </p:sp>
      <p:sp>
        <p:nvSpPr>
          <p:cNvPr id="4" name="Holder 4"/>
          <p:cNvSpPr>
            <a:spLocks noGrp="1"/>
          </p:cNvSpPr>
          <p:nvPr>
            <p:ph type="ftr" sz="quarter" idx="5"/>
          </p:nvPr>
        </p:nvSpPr>
        <p:spPr>
          <a:xfrm>
            <a:off x="4149598" y="6389751"/>
            <a:ext cx="3905504" cy="34353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10235" y="6389751"/>
            <a:ext cx="2807081" cy="34353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7/1/2026</a:t>
            </a:fld>
            <a:endParaRPr lang="en-US"/>
          </a:p>
        </p:txBody>
      </p:sp>
      <p:sp>
        <p:nvSpPr>
          <p:cNvPr id="6" name="Holder 6"/>
          <p:cNvSpPr>
            <a:spLocks noGrp="1"/>
          </p:cNvSpPr>
          <p:nvPr>
            <p:ph type="sldNum" sz="quarter" idx="7"/>
          </p:nvPr>
        </p:nvSpPr>
        <p:spPr>
          <a:xfrm>
            <a:off x="8787384" y="6389751"/>
            <a:ext cx="2807081" cy="34353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7145" rIns="0" bIns="0" rtlCol="0">
            <a:spAutoFit/>
          </a:bodyPr>
          <a:lstStyle/>
          <a:p>
            <a:pPr marL="715645">
              <a:lnSpc>
                <a:spcPct val="100000"/>
              </a:lnSpc>
              <a:spcBef>
                <a:spcPts val="135"/>
              </a:spcBef>
            </a:pPr>
            <a:r>
              <a:rPr sz="5750" spc="1070" dirty="0">
                <a:solidFill>
                  <a:srgbClr val="E7863A"/>
                </a:solidFill>
                <a:latin typeface="Times New Roman" panose="02020603050405020304" pitchFamily="18" charset="0"/>
                <a:cs typeface="Times New Roman" panose="02020603050405020304" pitchFamily="18" charset="0"/>
              </a:rPr>
              <a:t>A</a:t>
            </a:r>
            <a:r>
              <a:rPr sz="5750" spc="1470" dirty="0">
                <a:solidFill>
                  <a:srgbClr val="E7863A"/>
                </a:solidFill>
                <a:latin typeface="Times New Roman" panose="02020603050405020304" pitchFamily="18" charset="0"/>
                <a:cs typeface="Times New Roman" panose="02020603050405020304" pitchFamily="18" charset="0"/>
              </a:rPr>
              <a:t>f</a:t>
            </a:r>
            <a:r>
              <a:rPr sz="5750" spc="1455" dirty="0">
                <a:solidFill>
                  <a:srgbClr val="E7863A"/>
                </a:solidFill>
                <a:latin typeface="Times New Roman" panose="02020603050405020304" pitchFamily="18" charset="0"/>
                <a:cs typeface="Times New Roman" panose="02020603050405020304" pitchFamily="18" charset="0"/>
              </a:rPr>
              <a:t>r</a:t>
            </a:r>
            <a:r>
              <a:rPr sz="5750" spc="1705" dirty="0">
                <a:solidFill>
                  <a:srgbClr val="E7863A"/>
                </a:solidFill>
                <a:latin typeface="Times New Roman" panose="02020603050405020304" pitchFamily="18" charset="0"/>
                <a:cs typeface="Times New Roman" panose="02020603050405020304" pitchFamily="18" charset="0"/>
              </a:rPr>
              <a:t>i</a:t>
            </a:r>
            <a:r>
              <a:rPr sz="5750" spc="1180" dirty="0">
                <a:solidFill>
                  <a:srgbClr val="E7863A"/>
                </a:solidFill>
                <a:latin typeface="Times New Roman" panose="02020603050405020304" pitchFamily="18" charset="0"/>
                <a:cs typeface="Times New Roman" panose="02020603050405020304" pitchFamily="18" charset="0"/>
              </a:rPr>
              <a:t>T</a:t>
            </a:r>
            <a:r>
              <a:rPr sz="5750" spc="1430" dirty="0">
                <a:solidFill>
                  <a:srgbClr val="E7863A"/>
                </a:solidFill>
                <a:latin typeface="Times New Roman" panose="02020603050405020304" pitchFamily="18" charset="0"/>
                <a:cs typeface="Times New Roman" panose="02020603050405020304" pitchFamily="18" charset="0"/>
              </a:rPr>
              <a:t>a</a:t>
            </a:r>
            <a:r>
              <a:rPr sz="5750" spc="1739" dirty="0">
                <a:solidFill>
                  <a:srgbClr val="E7863A"/>
                </a:solidFill>
                <a:latin typeface="Times New Roman" panose="02020603050405020304" pitchFamily="18" charset="0"/>
                <a:cs typeface="Times New Roman" panose="02020603050405020304" pitchFamily="18" charset="0"/>
              </a:rPr>
              <a:t>l</a:t>
            </a:r>
            <a:r>
              <a:rPr sz="5750" spc="1400" dirty="0">
                <a:solidFill>
                  <a:srgbClr val="E7863A"/>
                </a:solidFill>
                <a:latin typeface="Times New Roman" panose="02020603050405020304" pitchFamily="18" charset="0"/>
                <a:cs typeface="Times New Roman" panose="02020603050405020304" pitchFamily="18" charset="0"/>
              </a:rPr>
              <a:t>e</a:t>
            </a:r>
            <a:r>
              <a:rPr sz="5750" spc="1420" dirty="0">
                <a:solidFill>
                  <a:srgbClr val="E7863A"/>
                </a:solidFill>
                <a:latin typeface="Times New Roman" panose="02020603050405020304" pitchFamily="18" charset="0"/>
                <a:cs typeface="Times New Roman" panose="02020603050405020304" pitchFamily="18" charset="0"/>
              </a:rPr>
              <a:t>n</a:t>
            </a:r>
            <a:r>
              <a:rPr sz="5750" spc="1625" dirty="0">
                <a:solidFill>
                  <a:srgbClr val="E7863A"/>
                </a:solidFill>
                <a:latin typeface="Times New Roman" panose="02020603050405020304" pitchFamily="18" charset="0"/>
                <a:cs typeface="Times New Roman" panose="02020603050405020304" pitchFamily="18" charset="0"/>
              </a:rPr>
              <a:t>t</a:t>
            </a:r>
            <a:endParaRPr sz="5750">
              <a:latin typeface="Times New Roman" panose="02020603050405020304" pitchFamily="18" charset="0"/>
              <a:cs typeface="Times New Roman" panose="02020603050405020304" pitchFamily="18" charset="0"/>
            </a:endParaRPr>
          </a:p>
          <a:p>
            <a:pPr marL="12700">
              <a:lnSpc>
                <a:spcPct val="100000"/>
              </a:lnSpc>
              <a:spcBef>
                <a:spcPts val="1275"/>
              </a:spcBef>
            </a:pPr>
            <a:r>
              <a:rPr sz="1600" b="0" dirty="0">
                <a:latin typeface="Times New Roman" panose="02020603050405020304" pitchFamily="18" charset="0"/>
                <a:cs typeface="Times New Roman" panose="02020603050405020304" pitchFamily="18" charset="0"/>
              </a:rPr>
              <a:t>Plateforme</a:t>
            </a:r>
            <a:r>
              <a:rPr sz="1600" b="0" spc="5"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de</a:t>
            </a:r>
            <a:r>
              <a:rPr sz="1600" b="0" spc="10"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freelances</a:t>
            </a:r>
            <a:r>
              <a:rPr sz="1600" b="0" spc="20"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tech</a:t>
            </a:r>
            <a:r>
              <a:rPr sz="1600" b="0" spc="60"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en</a:t>
            </a:r>
            <a:r>
              <a:rPr sz="1600" b="0" spc="65"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Afrique</a:t>
            </a:r>
            <a:r>
              <a:rPr sz="1600" b="0" spc="10" dirty="0">
                <a:latin typeface="Times New Roman" panose="02020603050405020304" pitchFamily="18" charset="0"/>
                <a:cs typeface="Times New Roman" panose="02020603050405020304" pitchFamily="18" charset="0"/>
              </a:rPr>
              <a:t> </a:t>
            </a:r>
            <a:r>
              <a:rPr sz="1700" b="0" spc="660" dirty="0">
                <a:latin typeface="Times New Roman" panose="02020603050405020304" pitchFamily="18" charset="0"/>
                <a:cs typeface="Times New Roman" panose="02020603050405020304" pitchFamily="18" charset="0"/>
              </a:rPr>
              <a:t>—</a:t>
            </a:r>
            <a:r>
              <a:rPr sz="1700" b="0" spc="-180"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Analyse</a:t>
            </a:r>
            <a:r>
              <a:rPr sz="1600" b="0" spc="10"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du</a:t>
            </a:r>
            <a:r>
              <a:rPr sz="1600" b="0" spc="60" dirty="0">
                <a:latin typeface="Times New Roman" panose="02020603050405020304" pitchFamily="18" charset="0"/>
                <a:cs typeface="Times New Roman" panose="02020603050405020304" pitchFamily="18" charset="0"/>
              </a:rPr>
              <a:t> </a:t>
            </a:r>
            <a:r>
              <a:rPr sz="1600" b="0" dirty="0">
                <a:latin typeface="Times New Roman" panose="02020603050405020304" pitchFamily="18" charset="0"/>
                <a:cs typeface="Times New Roman" panose="02020603050405020304" pitchFamily="18" charset="0"/>
              </a:rPr>
              <a:t>site</a:t>
            </a:r>
            <a:r>
              <a:rPr sz="1600" b="0" spc="10" dirty="0">
                <a:latin typeface="Times New Roman" panose="02020603050405020304" pitchFamily="18" charset="0"/>
                <a:cs typeface="Times New Roman" panose="02020603050405020304" pitchFamily="18" charset="0"/>
              </a:rPr>
              <a:t> </a:t>
            </a:r>
            <a:r>
              <a:rPr sz="1600" b="0" spc="-25" dirty="0">
                <a:latin typeface="Times New Roman" panose="02020603050405020304" pitchFamily="18" charset="0"/>
                <a:cs typeface="Times New Roman" panose="02020603050405020304" pitchFamily="18" charset="0"/>
              </a:rPr>
              <a:t>web</a:t>
            </a:r>
            <a:endParaRPr sz="1600">
              <a:latin typeface="Times New Roman" panose="02020603050405020304" pitchFamily="18" charset="0"/>
              <a:cs typeface="Times New Roman" panose="02020603050405020304" pitchFamily="18" charset="0"/>
            </a:endParaRPr>
          </a:p>
        </p:txBody>
      </p:sp>
      <p:sp>
        <p:nvSpPr>
          <p:cNvPr id="3" name="object 3"/>
          <p:cNvSpPr txBox="1"/>
          <p:nvPr/>
        </p:nvSpPr>
        <p:spPr>
          <a:xfrm>
            <a:off x="5160118" y="4045173"/>
            <a:ext cx="1873250" cy="207749"/>
          </a:xfrm>
          <a:prstGeom prst="rect">
            <a:avLst/>
          </a:prstGeom>
        </p:spPr>
        <p:txBody>
          <a:bodyPr vert="horz" wrap="square" lIns="0" tIns="15240" rIns="0" bIns="0" rtlCol="0">
            <a:spAutoFit/>
          </a:bodyPr>
          <a:lstStyle/>
          <a:p>
            <a:pPr marL="12700">
              <a:lnSpc>
                <a:spcPct val="100000"/>
              </a:lnSpc>
              <a:spcBef>
                <a:spcPts val="120"/>
              </a:spcBef>
            </a:pPr>
            <a:r>
              <a:rPr sz="1250" b="1" spc="-60" dirty="0">
                <a:solidFill>
                  <a:srgbClr val="6A798F"/>
                </a:solidFill>
                <a:latin typeface="Times New Roman" panose="02020603050405020304" pitchFamily="18" charset="0"/>
                <a:cs typeface="Times New Roman" panose="02020603050405020304" pitchFamily="18" charset="0"/>
              </a:rPr>
              <a:t>DIALLO</a:t>
            </a:r>
            <a:r>
              <a:rPr sz="1250" b="1" spc="-35" dirty="0">
                <a:solidFill>
                  <a:srgbClr val="6A798F"/>
                </a:solidFill>
                <a:latin typeface="Times New Roman" panose="02020603050405020304" pitchFamily="18" charset="0"/>
                <a:cs typeface="Times New Roman" panose="02020603050405020304" pitchFamily="18" charset="0"/>
              </a:rPr>
              <a:t> </a:t>
            </a:r>
            <a:r>
              <a:rPr sz="1250" b="1" spc="-30" dirty="0">
                <a:solidFill>
                  <a:srgbClr val="6A798F"/>
                </a:solidFill>
                <a:latin typeface="Times New Roman" panose="02020603050405020304" pitchFamily="18" charset="0"/>
                <a:cs typeface="Times New Roman" panose="02020603050405020304" pitchFamily="18" charset="0"/>
              </a:rPr>
              <a:t>Abdoulaye </a:t>
            </a:r>
            <a:r>
              <a:rPr sz="1250" b="1" spc="-20" dirty="0">
                <a:solidFill>
                  <a:srgbClr val="6A798F"/>
                </a:solidFill>
                <a:latin typeface="Times New Roman" panose="02020603050405020304" pitchFamily="18" charset="0"/>
                <a:cs typeface="Times New Roman" panose="02020603050405020304" pitchFamily="18" charset="0"/>
              </a:rPr>
              <a:t>Serge</a:t>
            </a:r>
            <a:endParaRPr sz="1250">
              <a:latin typeface="Times New Roman" panose="02020603050405020304" pitchFamily="18" charset="0"/>
              <a:cs typeface="Times New Roman" panose="02020603050405020304" pitchFamily="18" charset="0"/>
            </a:endParaRPr>
          </a:p>
        </p:txBody>
      </p:sp>
      <p:sp>
        <p:nvSpPr>
          <p:cNvPr id="4" name="object 4"/>
          <p:cNvSpPr/>
          <p:nvPr/>
        </p:nvSpPr>
        <p:spPr>
          <a:xfrm>
            <a:off x="609599" y="6315074"/>
            <a:ext cx="10972800" cy="9525"/>
          </a:xfrm>
          <a:custGeom>
            <a:avLst/>
            <a:gdLst/>
            <a:ahLst/>
            <a:cxnLst/>
            <a:rect l="l" t="t" r="r" b="b"/>
            <a:pathLst>
              <a:path w="10972800" h="9525">
                <a:moveTo>
                  <a:pt x="10972799" y="9524"/>
                </a:moveTo>
                <a:lnTo>
                  <a:pt x="0" y="9524"/>
                </a:lnTo>
                <a:lnTo>
                  <a:pt x="0" y="0"/>
                </a:lnTo>
                <a:lnTo>
                  <a:pt x="10972799" y="0"/>
                </a:lnTo>
                <a:lnTo>
                  <a:pt x="10972799" y="9524"/>
                </a:lnTo>
                <a:close/>
              </a:path>
            </a:pathLst>
          </a:custGeom>
          <a:solidFill>
            <a:srgbClr val="E7EC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5038824" y="6358832"/>
            <a:ext cx="2113915" cy="175048"/>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6A798F"/>
                </a:solidFill>
                <a:latin typeface="Times New Roman" panose="02020603050405020304" pitchFamily="18" charset="0"/>
                <a:cs typeface="Times New Roman" panose="02020603050405020304" pitchFamily="18" charset="0"/>
              </a:rPr>
              <a:t>Présentation</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10" dirty="0">
                <a:solidFill>
                  <a:srgbClr val="6A798F"/>
                </a:solidFill>
                <a:latin typeface="Times New Roman" panose="02020603050405020304" pitchFamily="18" charset="0"/>
                <a:cs typeface="Times New Roman" panose="02020603050405020304" pitchFamily="18" charset="0"/>
              </a:rPr>
              <a:t> </a:t>
            </a:r>
            <a:r>
              <a:rPr sz="1050" dirty="0" err="1">
                <a:solidFill>
                  <a:srgbClr val="6A798F"/>
                </a:solidFill>
                <a:latin typeface="Times New Roman" panose="02020603050405020304" pitchFamily="18" charset="0"/>
                <a:cs typeface="Times New Roman" panose="02020603050405020304" pitchFamily="18" charset="0"/>
              </a:rPr>
              <a:t>projet</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web</a:t>
            </a:r>
            <a:r>
              <a:rPr lang="fr-FR" sz="1000" spc="-95" dirty="0">
                <a:solidFill>
                  <a:srgbClr val="6A798F"/>
                </a:solidFill>
                <a:latin typeface="Times New Roman" panose="02020603050405020304" pitchFamily="18" charset="0"/>
                <a:cs typeface="Times New Roman" panose="02020603050405020304" pitchFamily="18" charset="0"/>
              </a:rPr>
              <a:t> - </a:t>
            </a:r>
            <a:r>
              <a:rPr sz="1000" spc="30" dirty="0">
                <a:solidFill>
                  <a:srgbClr val="6A798F"/>
                </a:solidFill>
                <a:latin typeface="Times New Roman" panose="02020603050405020304" pitchFamily="18" charset="0"/>
                <a:cs typeface="Times New Roman" panose="02020603050405020304" pitchFamily="18" charset="0"/>
              </a:rPr>
              <a:t>2026</a:t>
            </a:r>
            <a:endParaRPr sz="1000" dirty="0">
              <a:latin typeface="Times New Roman" panose="02020603050405020304" pitchFamily="18" charset="0"/>
              <a:cs typeface="Times New Roman" panose="02020603050405020304" pitchFamily="18" charset="0"/>
            </a:endParaRPr>
          </a:p>
        </p:txBody>
      </p:sp>
      <p:pic>
        <p:nvPicPr>
          <p:cNvPr id="6" name="object 6"/>
          <p:cNvPicPr/>
          <p:nvPr/>
        </p:nvPicPr>
        <p:blipFill>
          <a:blip r:embed="rId3" cstate="print"/>
          <a:stretch>
            <a:fillRect/>
          </a:stretch>
        </p:blipFill>
        <p:spPr>
          <a:xfrm>
            <a:off x="0" y="0"/>
            <a:ext cx="12191999" cy="47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523830"/>
            <a:ext cx="737235" cy="146835"/>
          </a:xfrm>
          <a:prstGeom prst="rect">
            <a:avLst/>
          </a:prstGeom>
        </p:spPr>
        <p:txBody>
          <a:bodyPr vert="horz" wrap="square" lIns="0" tIns="15875" rIns="0" bIns="0" rtlCol="0">
            <a:spAutoFit/>
          </a:bodyPr>
          <a:lstStyle/>
          <a:p>
            <a:pPr marL="12700">
              <a:lnSpc>
                <a:spcPct val="100000"/>
              </a:lnSpc>
              <a:spcBef>
                <a:spcPts val="125"/>
              </a:spcBef>
            </a:pPr>
            <a:r>
              <a:rPr sz="850" b="1" dirty="0">
                <a:solidFill>
                  <a:srgbClr val="E7863A"/>
                </a:solidFill>
                <a:latin typeface="Times New Roman" panose="02020603050405020304" pitchFamily="18" charset="0"/>
                <a:cs typeface="Times New Roman" panose="02020603050405020304" pitchFamily="18" charset="0"/>
              </a:rPr>
              <a:t>C</a:t>
            </a:r>
            <a:r>
              <a:rPr sz="850" b="1" spc="-95" dirty="0">
                <a:solidFill>
                  <a:srgbClr val="E7863A"/>
                </a:solidFill>
                <a:latin typeface="Times New Roman" panose="02020603050405020304" pitchFamily="18" charset="0"/>
                <a:cs typeface="Times New Roman" panose="02020603050405020304" pitchFamily="18" charset="0"/>
              </a:rPr>
              <a:t> </a:t>
            </a:r>
            <a:r>
              <a:rPr sz="850" b="1" spc="-20" dirty="0">
                <a:solidFill>
                  <a:srgbClr val="E7863A"/>
                </a:solidFill>
                <a:latin typeface="Times New Roman" panose="02020603050405020304" pitchFamily="18" charset="0"/>
                <a:cs typeface="Times New Roman" panose="02020603050405020304" pitchFamily="18" charset="0"/>
              </a:rPr>
              <a:t>O</a:t>
            </a:r>
            <a:r>
              <a:rPr sz="850" b="1" spc="-9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N</a:t>
            </a:r>
            <a:r>
              <a:rPr sz="850" b="1" spc="-65"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T</a:t>
            </a:r>
            <a:r>
              <a:rPr sz="850" b="1" spc="-95"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a:t>
            </a:r>
            <a:r>
              <a:rPr sz="850" b="1" spc="-65" dirty="0">
                <a:solidFill>
                  <a:srgbClr val="E7863A"/>
                </a:solidFill>
                <a:latin typeface="Times New Roman" panose="02020603050405020304" pitchFamily="18" charset="0"/>
                <a:cs typeface="Times New Roman" panose="02020603050405020304" pitchFamily="18" charset="0"/>
              </a:rPr>
              <a:t> </a:t>
            </a:r>
            <a:r>
              <a:rPr sz="850" b="1" spc="95" dirty="0">
                <a:solidFill>
                  <a:srgbClr val="E7863A"/>
                </a:solidFill>
                <a:latin typeface="Times New Roman" panose="02020603050405020304" pitchFamily="18" charset="0"/>
                <a:cs typeface="Times New Roman" panose="02020603050405020304" pitchFamily="18" charset="0"/>
              </a:rPr>
              <a:t>XT</a:t>
            </a:r>
            <a:r>
              <a:rPr sz="850" b="1" spc="-90"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E</a:t>
            </a:r>
            <a:endParaRPr sz="850">
              <a:latin typeface="Times New Roman" panose="02020603050405020304" pitchFamily="18" charset="0"/>
              <a:cs typeface="Times New Roman" panose="02020603050405020304" pitchFamily="18" charset="0"/>
            </a:endParaRPr>
          </a:p>
        </p:txBody>
      </p:sp>
      <p:sp>
        <p:nvSpPr>
          <p:cNvPr id="3" name="object 3" descr="$PPTXTitle"/>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94" dirty="0">
                <a:latin typeface="Times New Roman" panose="02020603050405020304" pitchFamily="18" charset="0"/>
                <a:cs typeface="Times New Roman" panose="02020603050405020304" pitchFamily="18" charset="0"/>
              </a:rPr>
              <a:t>Contexte</a:t>
            </a:r>
            <a:r>
              <a:rPr spc="-105" dirty="0">
                <a:latin typeface="Times New Roman" panose="02020603050405020304" pitchFamily="18" charset="0"/>
                <a:cs typeface="Times New Roman" panose="02020603050405020304" pitchFamily="18" charset="0"/>
              </a:rPr>
              <a:t> </a:t>
            </a:r>
            <a:r>
              <a:rPr spc="844" dirty="0">
                <a:latin typeface="Times New Roman" panose="02020603050405020304" pitchFamily="18" charset="0"/>
                <a:cs typeface="Times New Roman" panose="02020603050405020304" pitchFamily="18" charset="0"/>
              </a:rPr>
              <a:t>et</a:t>
            </a:r>
            <a:r>
              <a:rPr spc="-50" dirty="0">
                <a:latin typeface="Times New Roman" panose="02020603050405020304" pitchFamily="18" charset="0"/>
                <a:cs typeface="Times New Roman" panose="02020603050405020304" pitchFamily="18" charset="0"/>
              </a:rPr>
              <a:t> </a:t>
            </a:r>
            <a:r>
              <a:rPr spc="700" dirty="0">
                <a:latin typeface="Times New Roman" panose="02020603050405020304" pitchFamily="18" charset="0"/>
                <a:cs typeface="Times New Roman" panose="02020603050405020304" pitchFamily="18" charset="0"/>
              </a:rPr>
              <a:t>objectif</a:t>
            </a:r>
          </a:p>
        </p:txBody>
      </p:sp>
      <p:sp>
        <p:nvSpPr>
          <p:cNvPr id="4" name="object 4"/>
          <p:cNvSpPr txBox="1"/>
          <p:nvPr/>
        </p:nvSpPr>
        <p:spPr>
          <a:xfrm>
            <a:off x="596899" y="1195554"/>
            <a:ext cx="4159885" cy="198772"/>
          </a:xfrm>
          <a:prstGeom prst="rect">
            <a:avLst/>
          </a:prstGeom>
        </p:spPr>
        <p:txBody>
          <a:bodyPr vert="horz" wrap="square" lIns="0" tIns="13970" rIns="0" bIns="0" rtlCol="0">
            <a:spAutoFit/>
          </a:bodyPr>
          <a:lstStyle/>
          <a:p>
            <a:pPr marL="12700">
              <a:lnSpc>
                <a:spcPct val="100000"/>
              </a:lnSpc>
              <a:spcBef>
                <a:spcPts val="110"/>
              </a:spcBef>
            </a:pPr>
            <a:r>
              <a:rPr sz="1200" dirty="0">
                <a:solidFill>
                  <a:srgbClr val="6A798F"/>
                </a:solidFill>
                <a:latin typeface="Times New Roman" panose="02020603050405020304" pitchFamily="18" charset="0"/>
                <a:cs typeface="Times New Roman" panose="02020603050405020304" pitchFamily="18" charset="0"/>
              </a:rPr>
              <a:t>Comprendre</a:t>
            </a:r>
            <a:r>
              <a:rPr sz="1200" spc="-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les origines,</a:t>
            </a:r>
            <a:r>
              <a:rPr sz="1200" spc="60" dirty="0">
                <a:solidFill>
                  <a:srgbClr val="6A798F"/>
                </a:solidFill>
                <a:latin typeface="Times New Roman" panose="02020603050405020304" pitchFamily="18" charset="0"/>
                <a:cs typeface="Times New Roman" panose="02020603050405020304" pitchFamily="18" charset="0"/>
              </a:rPr>
              <a:t> </a:t>
            </a:r>
            <a:r>
              <a:rPr sz="1200" spc="-10" dirty="0">
                <a:solidFill>
                  <a:srgbClr val="6A798F"/>
                </a:solidFill>
                <a:latin typeface="Times New Roman" panose="02020603050405020304" pitchFamily="18" charset="0"/>
                <a:cs typeface="Times New Roman" panose="02020603050405020304" pitchFamily="18" charset="0"/>
              </a:rPr>
              <a:t>l'</a:t>
            </a:r>
            <a:r>
              <a:rPr sz="1200" spc="-2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utilité</a:t>
            </a:r>
            <a:r>
              <a:rPr sz="1200" spc="-1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et</a:t>
            </a:r>
            <a:r>
              <a:rPr sz="1200" spc="-2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le</a:t>
            </a:r>
            <a:r>
              <a:rPr sz="1200" spc="-1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public</a:t>
            </a:r>
            <a:r>
              <a:rPr sz="1200" spc="-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cible</a:t>
            </a:r>
            <a:r>
              <a:rPr sz="1200" spc="-10" dirty="0">
                <a:solidFill>
                  <a:srgbClr val="6A798F"/>
                </a:solidFill>
                <a:latin typeface="Times New Roman" panose="02020603050405020304" pitchFamily="18" charset="0"/>
                <a:cs typeface="Times New Roman" panose="02020603050405020304" pitchFamily="18" charset="0"/>
              </a:rPr>
              <a:t> d'AfriTalent</a:t>
            </a:r>
            <a:endParaRPr sz="1200">
              <a:latin typeface="Times New Roman" panose="02020603050405020304" pitchFamily="18" charset="0"/>
              <a:cs typeface="Times New Roman" panose="02020603050405020304" pitchFamily="18" charset="0"/>
            </a:endParaRPr>
          </a:p>
        </p:txBody>
      </p:sp>
      <p:grpSp>
        <p:nvGrpSpPr>
          <p:cNvPr id="5" name="object 5"/>
          <p:cNvGrpSpPr/>
          <p:nvPr/>
        </p:nvGrpSpPr>
        <p:grpSpPr>
          <a:xfrm>
            <a:off x="609599" y="1895474"/>
            <a:ext cx="6581775" cy="1428750"/>
            <a:chOff x="609599" y="1895474"/>
            <a:chExt cx="6581775" cy="1428750"/>
          </a:xfrm>
        </p:grpSpPr>
        <p:sp>
          <p:nvSpPr>
            <p:cNvPr id="6" name="object 6"/>
            <p:cNvSpPr/>
            <p:nvPr/>
          </p:nvSpPr>
          <p:spPr>
            <a:xfrm>
              <a:off x="628649" y="1895474"/>
              <a:ext cx="6562725" cy="1428750"/>
            </a:xfrm>
            <a:custGeom>
              <a:avLst/>
              <a:gdLst/>
              <a:ahLst/>
              <a:cxnLst/>
              <a:rect l="l" t="t" r="r" b="b"/>
              <a:pathLst>
                <a:path w="6562725" h="1428750">
                  <a:moveTo>
                    <a:pt x="6455929" y="1428749"/>
                  </a:moveTo>
                  <a:lnTo>
                    <a:pt x="88995" y="1428749"/>
                  </a:lnTo>
                  <a:lnTo>
                    <a:pt x="82801" y="1428017"/>
                  </a:lnTo>
                  <a:lnTo>
                    <a:pt x="37131" y="1405316"/>
                  </a:lnTo>
                  <a:lnTo>
                    <a:pt x="12577" y="1371711"/>
                  </a:lnTo>
                  <a:lnTo>
                    <a:pt x="610" y="1329387"/>
                  </a:lnTo>
                  <a:lnTo>
                    <a:pt x="0" y="1321954"/>
                  </a:lnTo>
                  <a:lnTo>
                    <a:pt x="0" y="1314449"/>
                  </a:lnTo>
                  <a:lnTo>
                    <a:pt x="0" y="106794"/>
                  </a:lnTo>
                  <a:lnTo>
                    <a:pt x="9643" y="63625"/>
                  </a:lnTo>
                  <a:lnTo>
                    <a:pt x="32320" y="28170"/>
                  </a:lnTo>
                  <a:lnTo>
                    <a:pt x="64577" y="5828"/>
                  </a:lnTo>
                  <a:lnTo>
                    <a:pt x="88995" y="0"/>
                  </a:lnTo>
                  <a:lnTo>
                    <a:pt x="6455929" y="0"/>
                  </a:lnTo>
                  <a:lnTo>
                    <a:pt x="6499098" y="11572"/>
                  </a:lnTo>
                  <a:lnTo>
                    <a:pt x="6534552" y="38784"/>
                  </a:lnTo>
                  <a:lnTo>
                    <a:pt x="6556895" y="77492"/>
                  </a:lnTo>
                  <a:lnTo>
                    <a:pt x="6562724" y="106794"/>
                  </a:lnTo>
                  <a:lnTo>
                    <a:pt x="6562724" y="1321954"/>
                  </a:lnTo>
                  <a:lnTo>
                    <a:pt x="6551150" y="1365124"/>
                  </a:lnTo>
                  <a:lnTo>
                    <a:pt x="6523939" y="1400578"/>
                  </a:lnTo>
                  <a:lnTo>
                    <a:pt x="6485230" y="1422921"/>
                  </a:lnTo>
                  <a:lnTo>
                    <a:pt x="6463361" y="1428017"/>
                  </a:lnTo>
                  <a:lnTo>
                    <a:pt x="6455929" y="1428749"/>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609599" y="1895474"/>
              <a:ext cx="114300" cy="1428750"/>
            </a:xfrm>
            <a:custGeom>
              <a:avLst/>
              <a:gdLst/>
              <a:ahLst/>
              <a:cxnLst/>
              <a:rect l="l" t="t" r="r" b="b"/>
              <a:pathLst>
                <a:path w="114300" h="1428750">
                  <a:moveTo>
                    <a:pt x="114300" y="1428749"/>
                  </a:moveTo>
                  <a:lnTo>
                    <a:pt x="70559" y="1420049"/>
                  </a:lnTo>
                  <a:lnTo>
                    <a:pt x="33477" y="1395271"/>
                  </a:lnTo>
                  <a:lnTo>
                    <a:pt x="8700" y="1358190"/>
                  </a:lnTo>
                  <a:lnTo>
                    <a:pt x="0" y="1314450"/>
                  </a:lnTo>
                  <a:lnTo>
                    <a:pt x="0" y="114300"/>
                  </a:lnTo>
                  <a:lnTo>
                    <a:pt x="8700" y="70559"/>
                  </a:lnTo>
                  <a:lnTo>
                    <a:pt x="33477" y="33477"/>
                  </a:lnTo>
                  <a:lnTo>
                    <a:pt x="70559" y="8700"/>
                  </a:lnTo>
                  <a:lnTo>
                    <a:pt x="114300" y="0"/>
                  </a:lnTo>
                  <a:lnTo>
                    <a:pt x="106793" y="543"/>
                  </a:lnTo>
                  <a:lnTo>
                    <a:pt x="99431" y="2175"/>
                  </a:lnTo>
                  <a:lnTo>
                    <a:pt x="65982" y="25900"/>
                  </a:lnTo>
                  <a:lnTo>
                    <a:pt x="47107" y="60364"/>
                  </a:lnTo>
                  <a:lnTo>
                    <a:pt x="38462" y="103040"/>
                  </a:lnTo>
                  <a:lnTo>
                    <a:pt x="38100" y="114300"/>
                  </a:lnTo>
                  <a:lnTo>
                    <a:pt x="38100" y="1314450"/>
                  </a:lnTo>
                  <a:lnTo>
                    <a:pt x="43900" y="1358190"/>
                  </a:lnTo>
                  <a:lnTo>
                    <a:pt x="60418" y="1395271"/>
                  </a:lnTo>
                  <a:lnTo>
                    <a:pt x="92213" y="1423855"/>
                  </a:lnTo>
                  <a:lnTo>
                    <a:pt x="106793" y="1428205"/>
                  </a:lnTo>
                  <a:lnTo>
                    <a:pt x="114300" y="142874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876299" y="2085974"/>
              <a:ext cx="381000" cy="381000"/>
            </a:xfrm>
            <a:custGeom>
              <a:avLst/>
              <a:gdLst/>
              <a:ahLst/>
              <a:cxnLst/>
              <a:rect l="l" t="t" r="r" b="b"/>
              <a:pathLst>
                <a:path w="381000" h="381000">
                  <a:moveTo>
                    <a:pt x="292004" y="380999"/>
                  </a:moveTo>
                  <a:lnTo>
                    <a:pt x="88995" y="380999"/>
                  </a:lnTo>
                  <a:lnTo>
                    <a:pt x="82801" y="380389"/>
                  </a:lnTo>
                  <a:lnTo>
                    <a:pt x="37131" y="361472"/>
                  </a:lnTo>
                  <a:lnTo>
                    <a:pt x="9643" y="327978"/>
                  </a:lnTo>
                  <a:lnTo>
                    <a:pt x="0" y="292004"/>
                  </a:lnTo>
                  <a:lnTo>
                    <a:pt x="0" y="285749"/>
                  </a:lnTo>
                  <a:lnTo>
                    <a:pt x="0" y="88995"/>
                  </a:lnTo>
                  <a:lnTo>
                    <a:pt x="12577" y="47531"/>
                  </a:lnTo>
                  <a:lnTo>
                    <a:pt x="47532" y="12577"/>
                  </a:lnTo>
                  <a:lnTo>
                    <a:pt x="88995" y="0"/>
                  </a:lnTo>
                  <a:lnTo>
                    <a:pt x="292004" y="0"/>
                  </a:lnTo>
                  <a:lnTo>
                    <a:pt x="333467" y="12577"/>
                  </a:lnTo>
                  <a:lnTo>
                    <a:pt x="368422" y="47531"/>
                  </a:lnTo>
                  <a:lnTo>
                    <a:pt x="381000" y="88995"/>
                  </a:lnTo>
                  <a:lnTo>
                    <a:pt x="381000" y="292004"/>
                  </a:lnTo>
                  <a:lnTo>
                    <a:pt x="368422" y="333467"/>
                  </a:lnTo>
                  <a:lnTo>
                    <a:pt x="333467" y="368421"/>
                  </a:lnTo>
                  <a:lnTo>
                    <a:pt x="298198" y="380389"/>
                  </a:lnTo>
                  <a:lnTo>
                    <a:pt x="292004" y="380999"/>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9" name="object 9"/>
            <p:cNvPicPr/>
            <p:nvPr/>
          </p:nvPicPr>
          <p:blipFill>
            <a:blip r:embed="rId3" cstate="print"/>
            <a:stretch>
              <a:fillRect/>
            </a:stretch>
          </p:blipFill>
          <p:spPr>
            <a:xfrm>
              <a:off x="1000124" y="2181224"/>
              <a:ext cx="133350" cy="190500"/>
            </a:xfrm>
            <a:prstGeom prst="rect">
              <a:avLst/>
            </a:prstGeom>
          </p:spPr>
        </p:pic>
      </p:grpSp>
      <p:sp>
        <p:nvSpPr>
          <p:cNvPr id="10" name="object 10"/>
          <p:cNvSpPr txBox="1"/>
          <p:nvPr/>
        </p:nvSpPr>
        <p:spPr>
          <a:xfrm>
            <a:off x="1397000" y="1960140"/>
            <a:ext cx="5410835" cy="928780"/>
          </a:xfrm>
          <a:prstGeom prst="rect">
            <a:avLst/>
          </a:prstGeom>
        </p:spPr>
        <p:txBody>
          <a:bodyPr vert="horz" wrap="square" lIns="0" tIns="109855" rIns="0" bIns="0" rtlCol="0">
            <a:spAutoFit/>
          </a:bodyPr>
          <a:lstStyle/>
          <a:p>
            <a:pPr marL="12700">
              <a:lnSpc>
                <a:spcPct val="100000"/>
              </a:lnSpc>
              <a:spcBef>
                <a:spcPts val="865"/>
              </a:spcBef>
            </a:pPr>
            <a:r>
              <a:rPr sz="1250" b="1" spc="45" dirty="0">
                <a:solidFill>
                  <a:srgbClr val="1B294A"/>
                </a:solidFill>
                <a:latin typeface="Times New Roman" panose="02020603050405020304" pitchFamily="18" charset="0"/>
                <a:cs typeface="Times New Roman" panose="02020603050405020304" pitchFamily="18" charset="0"/>
              </a:rPr>
              <a:t>Pourquoi</a:t>
            </a:r>
            <a:r>
              <a:rPr sz="1250" b="1" spc="55" dirty="0">
                <a:solidFill>
                  <a:srgbClr val="1B294A"/>
                </a:solidFill>
                <a:latin typeface="Times New Roman" panose="02020603050405020304" pitchFamily="18" charset="0"/>
                <a:cs typeface="Times New Roman" panose="02020603050405020304" pitchFamily="18" charset="0"/>
              </a:rPr>
              <a:t> </a:t>
            </a:r>
            <a:r>
              <a:rPr sz="1250" b="1" spc="140" dirty="0">
                <a:solidFill>
                  <a:srgbClr val="1B294A"/>
                </a:solidFill>
                <a:latin typeface="Times New Roman" panose="02020603050405020304" pitchFamily="18" charset="0"/>
                <a:cs typeface="Times New Roman" panose="02020603050405020304" pitchFamily="18" charset="0"/>
              </a:rPr>
              <a:t>ce</a:t>
            </a:r>
            <a:r>
              <a:rPr sz="1250" b="1" spc="-45" dirty="0">
                <a:solidFill>
                  <a:srgbClr val="1B294A"/>
                </a:solidFill>
                <a:latin typeface="Times New Roman" panose="02020603050405020304" pitchFamily="18" charset="0"/>
                <a:cs typeface="Times New Roman" panose="02020603050405020304" pitchFamily="18" charset="0"/>
              </a:rPr>
              <a:t> </a:t>
            </a:r>
            <a:r>
              <a:rPr sz="1250" b="1" dirty="0">
                <a:solidFill>
                  <a:srgbClr val="1B294A"/>
                </a:solidFill>
                <a:latin typeface="Times New Roman" panose="02020603050405020304" pitchFamily="18" charset="0"/>
                <a:cs typeface="Times New Roman" panose="02020603050405020304" pitchFamily="18" charset="0"/>
              </a:rPr>
              <a:t>site</a:t>
            </a:r>
            <a:r>
              <a:rPr sz="1250" b="1" spc="-45" dirty="0">
                <a:solidFill>
                  <a:srgbClr val="1B294A"/>
                </a:solidFill>
                <a:latin typeface="Times New Roman" panose="02020603050405020304" pitchFamily="18" charset="0"/>
                <a:cs typeface="Times New Roman" panose="02020603050405020304" pitchFamily="18" charset="0"/>
              </a:rPr>
              <a:t> </a:t>
            </a:r>
            <a:r>
              <a:rPr sz="1250" b="1" spc="60" dirty="0">
                <a:solidFill>
                  <a:srgbClr val="1B294A"/>
                </a:solidFill>
                <a:latin typeface="Times New Roman" panose="02020603050405020304" pitchFamily="18" charset="0"/>
                <a:cs typeface="Times New Roman" panose="02020603050405020304" pitchFamily="18" charset="0"/>
              </a:rPr>
              <a:t>existe</a:t>
            </a:r>
            <a:r>
              <a:rPr sz="1250" b="1" spc="-45" dirty="0">
                <a:solidFill>
                  <a:srgbClr val="1B294A"/>
                </a:solidFill>
                <a:latin typeface="Times New Roman" panose="02020603050405020304" pitchFamily="18" charset="0"/>
                <a:cs typeface="Times New Roman" panose="02020603050405020304" pitchFamily="18" charset="0"/>
              </a:rPr>
              <a:t> </a:t>
            </a:r>
            <a:r>
              <a:rPr sz="1250" b="1" spc="-50" dirty="0">
                <a:solidFill>
                  <a:srgbClr val="1B294A"/>
                </a:solidFill>
                <a:latin typeface="Times New Roman" panose="02020603050405020304" pitchFamily="18" charset="0"/>
                <a:cs typeface="Times New Roman" panose="02020603050405020304" pitchFamily="18" charset="0"/>
              </a:rPr>
              <a:t>?</a:t>
            </a:r>
            <a:endParaRPr sz="1250">
              <a:latin typeface="Times New Roman" panose="02020603050405020304" pitchFamily="18" charset="0"/>
              <a:cs typeface="Times New Roman" panose="02020603050405020304" pitchFamily="18" charset="0"/>
            </a:endParaRPr>
          </a:p>
          <a:p>
            <a:pPr marL="12700" marR="5080">
              <a:lnSpc>
                <a:spcPct val="125000"/>
              </a:lnSpc>
              <a:spcBef>
                <a:spcPts val="335"/>
              </a:spcBef>
            </a:pPr>
            <a:r>
              <a:rPr sz="1050" spc="-10" dirty="0">
                <a:solidFill>
                  <a:srgbClr val="3A4556"/>
                </a:solidFill>
                <a:latin typeface="Times New Roman" panose="02020603050405020304" pitchFamily="18" charset="0"/>
                <a:cs typeface="Times New Roman" panose="02020603050405020304" pitchFamily="18" charset="0"/>
              </a:rPr>
              <a:t>AfriTalent</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est</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né</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en</a:t>
            </a:r>
            <a:r>
              <a:rPr sz="1050" spc="2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2023</a:t>
            </a:r>
            <a:r>
              <a:rPr sz="100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a:t>
            </a:r>
            <a:r>
              <a:rPr sz="1000" dirty="0">
                <a:solidFill>
                  <a:srgbClr val="3A4556"/>
                </a:solidFill>
                <a:latin typeface="Times New Roman" panose="02020603050405020304" pitchFamily="18" charset="0"/>
                <a:cs typeface="Times New Roman" panose="02020603050405020304" pitchFamily="18" charset="0"/>
              </a:rPr>
              <a:t>'</a:t>
            </a:r>
            <a:r>
              <a:rPr sz="1000" spc="-17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un</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constat</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simple</a:t>
            </a:r>
            <a:r>
              <a:rPr sz="1050" spc="-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t>
            </a:r>
            <a:r>
              <a:rPr sz="1000" spc="7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a:t>
            </a:r>
            <a:r>
              <a:rPr sz="1000" dirty="0">
                <a:solidFill>
                  <a:srgbClr val="3A4556"/>
                </a:solidFill>
                <a:latin typeface="Times New Roman" panose="02020603050405020304" pitchFamily="18" charset="0"/>
                <a:cs typeface="Times New Roman" panose="02020603050405020304" pitchFamily="18" charset="0"/>
              </a:rPr>
              <a:t>'</a:t>
            </a:r>
            <a:r>
              <a:rPr sz="1050" dirty="0">
                <a:solidFill>
                  <a:srgbClr val="3A4556"/>
                </a:solidFill>
                <a:latin typeface="Times New Roman" panose="02020603050405020304" pitchFamily="18" charset="0"/>
                <a:cs typeface="Times New Roman" panose="02020603050405020304" pitchFamily="18" charset="0"/>
              </a:rPr>
              <a:t>Afrique</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regorge</a:t>
            </a:r>
            <a:r>
              <a:rPr sz="1050" spc="-1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talents </a:t>
            </a:r>
            <a:r>
              <a:rPr sz="1050" spc="-20" dirty="0">
                <a:solidFill>
                  <a:srgbClr val="3A4556"/>
                </a:solidFill>
                <a:latin typeface="Times New Roman" panose="02020603050405020304" pitchFamily="18" charset="0"/>
                <a:cs typeface="Times New Roman" panose="02020603050405020304" pitchFamily="18" charset="0"/>
              </a:rPr>
              <a:t>tech </a:t>
            </a:r>
            <a:r>
              <a:rPr sz="1050" spc="-10" dirty="0">
                <a:solidFill>
                  <a:srgbClr val="3A4556"/>
                </a:solidFill>
                <a:latin typeface="Times New Roman" panose="02020603050405020304" pitchFamily="18" charset="0"/>
                <a:cs typeface="Times New Roman" panose="02020603050405020304" pitchFamily="18" charset="0"/>
              </a:rPr>
              <a:t>extraordinaires</a:t>
            </a:r>
            <a:r>
              <a:rPr sz="1000" spc="-1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mais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ceux</a:t>
            </a:r>
            <a:r>
              <a:rPr sz="1000" dirty="0">
                <a:solidFill>
                  <a:srgbClr val="3A4556"/>
                </a:solidFill>
                <a:latin typeface="Times New Roman" panose="02020603050405020304" pitchFamily="18" charset="0"/>
                <a:cs typeface="Times New Roman" panose="02020603050405020304" pitchFamily="18" charset="0"/>
              </a:rPr>
              <a:t>-</a:t>
            </a:r>
            <a:r>
              <a:rPr sz="1050" dirty="0">
                <a:solidFill>
                  <a:srgbClr val="3A4556"/>
                </a:solidFill>
                <a:latin typeface="Times New Roman" panose="02020603050405020304" pitchFamily="18" charset="0"/>
                <a:cs typeface="Times New Roman" panose="02020603050405020304" pitchFamily="18" charset="0"/>
              </a:rPr>
              <a:t>ci</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peinent</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à se</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connecter</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avec</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des</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clients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sérieux</a:t>
            </a:r>
            <a:r>
              <a:rPr sz="100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spc="-20" dirty="0">
                <a:solidFill>
                  <a:srgbClr val="3A4556"/>
                </a:solidFill>
                <a:latin typeface="Times New Roman" panose="02020603050405020304" pitchFamily="18" charset="0"/>
                <a:cs typeface="Times New Roman" panose="02020603050405020304" pitchFamily="18" charset="0"/>
              </a:rPr>
              <a:t>La</a:t>
            </a:r>
            <a:r>
              <a:rPr sz="105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plateforme </a:t>
            </a:r>
            <a:r>
              <a:rPr sz="1050" dirty="0">
                <a:solidFill>
                  <a:srgbClr val="3A4556"/>
                </a:solidFill>
                <a:latin typeface="Times New Roman" panose="02020603050405020304" pitchFamily="18" charset="0"/>
                <a:cs typeface="Times New Roman" panose="02020603050405020304" pitchFamily="18" charset="0"/>
              </a:rPr>
              <a:t>vise</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à</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combler</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ce</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gap</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en</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créant</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un</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pont</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numérique</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entre</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freelances</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et</a:t>
            </a:r>
            <a:r>
              <a:rPr sz="1050" spc="-3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entreprises ambitieuses</a:t>
            </a:r>
            <a:r>
              <a:rPr sz="1000" spc="-10" dirty="0">
                <a:solidFill>
                  <a:srgbClr val="3A4556"/>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grpSp>
        <p:nvGrpSpPr>
          <p:cNvPr id="11" name="object 11"/>
          <p:cNvGrpSpPr/>
          <p:nvPr/>
        </p:nvGrpSpPr>
        <p:grpSpPr>
          <a:xfrm>
            <a:off x="609599" y="3476624"/>
            <a:ext cx="6581775" cy="1228725"/>
            <a:chOff x="609599" y="3476624"/>
            <a:chExt cx="6581775" cy="1228725"/>
          </a:xfrm>
        </p:grpSpPr>
        <p:sp>
          <p:nvSpPr>
            <p:cNvPr id="12" name="object 12"/>
            <p:cNvSpPr/>
            <p:nvPr/>
          </p:nvSpPr>
          <p:spPr>
            <a:xfrm>
              <a:off x="628649" y="3476624"/>
              <a:ext cx="6562725" cy="1228725"/>
            </a:xfrm>
            <a:custGeom>
              <a:avLst/>
              <a:gdLst/>
              <a:ahLst/>
              <a:cxnLst/>
              <a:rect l="l" t="t" r="r" b="b"/>
              <a:pathLst>
                <a:path w="6562725" h="1228725">
                  <a:moveTo>
                    <a:pt x="6455929" y="1228724"/>
                  </a:moveTo>
                  <a:lnTo>
                    <a:pt x="88995" y="1228724"/>
                  </a:lnTo>
                  <a:lnTo>
                    <a:pt x="82801" y="1227992"/>
                  </a:lnTo>
                  <a:lnTo>
                    <a:pt x="37131" y="1205291"/>
                  </a:lnTo>
                  <a:lnTo>
                    <a:pt x="12577" y="1171685"/>
                  </a:lnTo>
                  <a:lnTo>
                    <a:pt x="610" y="1129362"/>
                  </a:lnTo>
                  <a:lnTo>
                    <a:pt x="0" y="1121929"/>
                  </a:lnTo>
                  <a:lnTo>
                    <a:pt x="0" y="1114424"/>
                  </a:lnTo>
                  <a:lnTo>
                    <a:pt x="0" y="106794"/>
                  </a:lnTo>
                  <a:lnTo>
                    <a:pt x="9643" y="63625"/>
                  </a:lnTo>
                  <a:lnTo>
                    <a:pt x="32320" y="28170"/>
                  </a:lnTo>
                  <a:lnTo>
                    <a:pt x="64577" y="5828"/>
                  </a:lnTo>
                  <a:lnTo>
                    <a:pt x="88995" y="0"/>
                  </a:lnTo>
                  <a:lnTo>
                    <a:pt x="6455929" y="0"/>
                  </a:lnTo>
                  <a:lnTo>
                    <a:pt x="6499098" y="11572"/>
                  </a:lnTo>
                  <a:lnTo>
                    <a:pt x="6534552" y="38784"/>
                  </a:lnTo>
                  <a:lnTo>
                    <a:pt x="6556895" y="77492"/>
                  </a:lnTo>
                  <a:lnTo>
                    <a:pt x="6562724" y="106794"/>
                  </a:lnTo>
                  <a:lnTo>
                    <a:pt x="6562724" y="1121929"/>
                  </a:lnTo>
                  <a:lnTo>
                    <a:pt x="6551150" y="1165098"/>
                  </a:lnTo>
                  <a:lnTo>
                    <a:pt x="6523939" y="1200553"/>
                  </a:lnTo>
                  <a:lnTo>
                    <a:pt x="6485230" y="1222895"/>
                  </a:lnTo>
                  <a:lnTo>
                    <a:pt x="6463361" y="1227992"/>
                  </a:lnTo>
                  <a:lnTo>
                    <a:pt x="6455929" y="12287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609599" y="3476624"/>
              <a:ext cx="114300" cy="1228725"/>
            </a:xfrm>
            <a:custGeom>
              <a:avLst/>
              <a:gdLst/>
              <a:ahLst/>
              <a:cxnLst/>
              <a:rect l="l" t="t" r="r" b="b"/>
              <a:pathLst>
                <a:path w="114300" h="1228725">
                  <a:moveTo>
                    <a:pt x="114300" y="1228724"/>
                  </a:moveTo>
                  <a:lnTo>
                    <a:pt x="70559" y="1220024"/>
                  </a:lnTo>
                  <a:lnTo>
                    <a:pt x="33477" y="1195247"/>
                  </a:lnTo>
                  <a:lnTo>
                    <a:pt x="8700" y="1158165"/>
                  </a:lnTo>
                  <a:lnTo>
                    <a:pt x="0" y="1114425"/>
                  </a:lnTo>
                  <a:lnTo>
                    <a:pt x="0" y="114300"/>
                  </a:lnTo>
                  <a:lnTo>
                    <a:pt x="8700" y="70559"/>
                  </a:lnTo>
                  <a:lnTo>
                    <a:pt x="33477" y="33477"/>
                  </a:lnTo>
                  <a:lnTo>
                    <a:pt x="70559" y="8700"/>
                  </a:lnTo>
                  <a:lnTo>
                    <a:pt x="114300" y="0"/>
                  </a:lnTo>
                  <a:lnTo>
                    <a:pt x="106793" y="543"/>
                  </a:lnTo>
                  <a:lnTo>
                    <a:pt x="99431" y="2175"/>
                  </a:lnTo>
                  <a:lnTo>
                    <a:pt x="65982" y="25900"/>
                  </a:lnTo>
                  <a:lnTo>
                    <a:pt x="47107" y="60364"/>
                  </a:lnTo>
                  <a:lnTo>
                    <a:pt x="38462" y="103040"/>
                  </a:lnTo>
                  <a:lnTo>
                    <a:pt x="38100" y="114300"/>
                  </a:lnTo>
                  <a:lnTo>
                    <a:pt x="38100" y="1114425"/>
                  </a:lnTo>
                  <a:lnTo>
                    <a:pt x="43900" y="1158165"/>
                  </a:lnTo>
                  <a:lnTo>
                    <a:pt x="60418" y="1195247"/>
                  </a:lnTo>
                  <a:lnTo>
                    <a:pt x="92213" y="1223831"/>
                  </a:lnTo>
                  <a:lnTo>
                    <a:pt x="106793" y="1228181"/>
                  </a:lnTo>
                  <a:lnTo>
                    <a:pt x="114300" y="1228724"/>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876299" y="3667124"/>
              <a:ext cx="381000" cy="381000"/>
            </a:xfrm>
            <a:custGeom>
              <a:avLst/>
              <a:gdLst/>
              <a:ahLst/>
              <a:cxnLst/>
              <a:rect l="l" t="t" r="r" b="b"/>
              <a:pathLst>
                <a:path w="381000" h="381000">
                  <a:moveTo>
                    <a:pt x="292004" y="380999"/>
                  </a:moveTo>
                  <a:lnTo>
                    <a:pt x="88995" y="380999"/>
                  </a:lnTo>
                  <a:lnTo>
                    <a:pt x="82801" y="380389"/>
                  </a:lnTo>
                  <a:lnTo>
                    <a:pt x="37131" y="361472"/>
                  </a:lnTo>
                  <a:lnTo>
                    <a:pt x="9643" y="327978"/>
                  </a:lnTo>
                  <a:lnTo>
                    <a:pt x="0" y="292003"/>
                  </a:lnTo>
                  <a:lnTo>
                    <a:pt x="0" y="285749"/>
                  </a:lnTo>
                  <a:lnTo>
                    <a:pt x="0" y="88995"/>
                  </a:lnTo>
                  <a:lnTo>
                    <a:pt x="12577" y="47531"/>
                  </a:lnTo>
                  <a:lnTo>
                    <a:pt x="47532" y="12577"/>
                  </a:lnTo>
                  <a:lnTo>
                    <a:pt x="88995" y="0"/>
                  </a:lnTo>
                  <a:lnTo>
                    <a:pt x="292004" y="0"/>
                  </a:lnTo>
                  <a:lnTo>
                    <a:pt x="333467" y="12577"/>
                  </a:lnTo>
                  <a:lnTo>
                    <a:pt x="368422" y="47531"/>
                  </a:lnTo>
                  <a:lnTo>
                    <a:pt x="381000" y="88995"/>
                  </a:lnTo>
                  <a:lnTo>
                    <a:pt x="381000" y="292003"/>
                  </a:lnTo>
                  <a:lnTo>
                    <a:pt x="368422" y="333467"/>
                  </a:lnTo>
                  <a:lnTo>
                    <a:pt x="333467" y="368421"/>
                  </a:lnTo>
                  <a:lnTo>
                    <a:pt x="298198" y="380389"/>
                  </a:lnTo>
                  <a:lnTo>
                    <a:pt x="292004" y="380999"/>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5" name="object 15"/>
            <p:cNvPicPr/>
            <p:nvPr/>
          </p:nvPicPr>
          <p:blipFill>
            <a:blip r:embed="rId4" cstate="print"/>
            <a:stretch>
              <a:fillRect/>
            </a:stretch>
          </p:blipFill>
          <p:spPr>
            <a:xfrm>
              <a:off x="952499" y="3743324"/>
              <a:ext cx="228600" cy="222250"/>
            </a:xfrm>
            <a:prstGeom prst="rect">
              <a:avLst/>
            </a:prstGeom>
          </p:spPr>
        </p:pic>
      </p:grpSp>
      <p:sp>
        <p:nvSpPr>
          <p:cNvPr id="16" name="object 16"/>
          <p:cNvSpPr txBox="1"/>
          <p:nvPr/>
        </p:nvSpPr>
        <p:spPr>
          <a:xfrm>
            <a:off x="1397000" y="3541290"/>
            <a:ext cx="5507990" cy="956310"/>
          </a:xfrm>
          <a:prstGeom prst="rect">
            <a:avLst/>
          </a:prstGeom>
        </p:spPr>
        <p:txBody>
          <a:bodyPr vert="horz" wrap="square" lIns="0" tIns="109855" rIns="0" bIns="0" rtlCol="0">
            <a:spAutoFit/>
          </a:bodyPr>
          <a:lstStyle/>
          <a:p>
            <a:pPr marL="12700">
              <a:lnSpc>
                <a:spcPct val="100000"/>
              </a:lnSpc>
              <a:spcBef>
                <a:spcPts val="865"/>
              </a:spcBef>
            </a:pPr>
            <a:r>
              <a:rPr sz="1250" b="1" spc="114" dirty="0">
                <a:solidFill>
                  <a:srgbClr val="1B294A"/>
                </a:solidFill>
                <a:latin typeface="Times New Roman" panose="02020603050405020304" pitchFamily="18" charset="0"/>
                <a:cs typeface="Times New Roman" panose="02020603050405020304" pitchFamily="18" charset="0"/>
              </a:rPr>
              <a:t>À</a:t>
            </a:r>
            <a:r>
              <a:rPr sz="1250" b="1" spc="-110" dirty="0">
                <a:solidFill>
                  <a:srgbClr val="1B294A"/>
                </a:solidFill>
                <a:latin typeface="Times New Roman" panose="02020603050405020304" pitchFamily="18" charset="0"/>
                <a:cs typeface="Times New Roman" panose="02020603050405020304" pitchFamily="18" charset="0"/>
              </a:rPr>
              <a:t> </a:t>
            </a:r>
            <a:r>
              <a:rPr sz="1250" b="1" dirty="0">
                <a:solidFill>
                  <a:srgbClr val="1B294A"/>
                </a:solidFill>
                <a:latin typeface="Times New Roman" panose="02020603050405020304" pitchFamily="18" charset="0"/>
                <a:cs typeface="Times New Roman" panose="02020603050405020304" pitchFamily="18" charset="0"/>
              </a:rPr>
              <a:t>quoi</a:t>
            </a:r>
            <a:r>
              <a:rPr sz="1250" b="1" spc="25" dirty="0">
                <a:solidFill>
                  <a:srgbClr val="1B294A"/>
                </a:solidFill>
                <a:latin typeface="Times New Roman" panose="02020603050405020304" pitchFamily="18" charset="0"/>
                <a:cs typeface="Times New Roman" panose="02020603050405020304" pitchFamily="18" charset="0"/>
              </a:rPr>
              <a:t> </a:t>
            </a:r>
            <a:r>
              <a:rPr sz="1250" b="1" spc="-35" dirty="0">
                <a:solidFill>
                  <a:srgbClr val="1B294A"/>
                </a:solidFill>
                <a:latin typeface="Times New Roman" panose="02020603050405020304" pitchFamily="18" charset="0"/>
                <a:cs typeface="Times New Roman" panose="02020603050405020304" pitchFamily="18" charset="0"/>
              </a:rPr>
              <a:t>il</a:t>
            </a:r>
            <a:r>
              <a:rPr sz="1250" b="1" spc="45" dirty="0">
                <a:solidFill>
                  <a:srgbClr val="1B294A"/>
                </a:solidFill>
                <a:latin typeface="Times New Roman" panose="02020603050405020304" pitchFamily="18" charset="0"/>
                <a:cs typeface="Times New Roman" panose="02020603050405020304" pitchFamily="18" charset="0"/>
              </a:rPr>
              <a:t> </a:t>
            </a:r>
            <a:r>
              <a:rPr sz="1250" b="1" spc="50" dirty="0">
                <a:solidFill>
                  <a:srgbClr val="1B294A"/>
                </a:solidFill>
                <a:latin typeface="Times New Roman" panose="02020603050405020304" pitchFamily="18" charset="0"/>
                <a:cs typeface="Times New Roman" panose="02020603050405020304" pitchFamily="18" charset="0"/>
              </a:rPr>
              <a:t>sert</a:t>
            </a:r>
            <a:r>
              <a:rPr sz="1250" b="1" spc="-55" dirty="0">
                <a:solidFill>
                  <a:srgbClr val="1B294A"/>
                </a:solidFill>
                <a:latin typeface="Times New Roman" panose="02020603050405020304" pitchFamily="18" charset="0"/>
                <a:cs typeface="Times New Roman" panose="02020603050405020304" pitchFamily="18" charset="0"/>
              </a:rPr>
              <a:t> </a:t>
            </a:r>
            <a:r>
              <a:rPr sz="1250" b="1" spc="-50" dirty="0">
                <a:solidFill>
                  <a:srgbClr val="1B294A"/>
                </a:solidFill>
                <a:latin typeface="Times New Roman" panose="02020603050405020304" pitchFamily="18" charset="0"/>
                <a:cs typeface="Times New Roman" panose="02020603050405020304" pitchFamily="18" charset="0"/>
              </a:rPr>
              <a:t>?</a:t>
            </a:r>
            <a:endParaRPr sz="1250" dirty="0">
              <a:latin typeface="Times New Roman" panose="02020603050405020304" pitchFamily="18" charset="0"/>
              <a:cs typeface="Times New Roman" panose="02020603050405020304" pitchFamily="18" charset="0"/>
            </a:endParaRPr>
          </a:p>
          <a:p>
            <a:pPr marL="12700" marR="5080">
              <a:lnSpc>
                <a:spcPct val="125000"/>
              </a:lnSpc>
              <a:spcBef>
                <a:spcPts val="335"/>
              </a:spcBef>
            </a:pPr>
            <a:r>
              <a:rPr sz="1050" spc="-10" dirty="0">
                <a:solidFill>
                  <a:srgbClr val="3A4556"/>
                </a:solidFill>
                <a:latin typeface="Times New Roman" panose="02020603050405020304" pitchFamily="18" charset="0"/>
                <a:cs typeface="Times New Roman" panose="02020603050405020304" pitchFamily="18" charset="0"/>
              </a:rPr>
              <a:t>AfriTalent</a:t>
            </a:r>
            <a:r>
              <a:rPr sz="105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connecte</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les</a:t>
            </a:r>
            <a:r>
              <a:rPr sz="105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meilleurs</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freelances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tech africains</a:t>
            </a:r>
            <a:r>
              <a:rPr sz="1050" spc="-2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t>
            </a:r>
            <a:r>
              <a:rPr sz="1050" dirty="0">
                <a:solidFill>
                  <a:srgbClr val="3A4556"/>
                </a:solidFill>
                <a:latin typeface="Times New Roman" panose="02020603050405020304" pitchFamily="18" charset="0"/>
                <a:cs typeface="Times New Roman" panose="02020603050405020304" pitchFamily="18" charset="0"/>
              </a:rPr>
              <a:t>développeurs</a:t>
            </a:r>
            <a:r>
              <a:rPr sz="100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designers</a:t>
            </a:r>
            <a:r>
              <a:rPr sz="100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spc="-20" dirty="0">
                <a:solidFill>
                  <a:srgbClr val="3A4556"/>
                </a:solidFill>
                <a:latin typeface="Times New Roman" panose="02020603050405020304" pitchFamily="18" charset="0"/>
                <a:cs typeface="Times New Roman" panose="02020603050405020304" pitchFamily="18" charset="0"/>
              </a:rPr>
              <a:t>data </a:t>
            </a:r>
            <a:r>
              <a:rPr sz="1050" dirty="0">
                <a:solidFill>
                  <a:srgbClr val="3A4556"/>
                </a:solidFill>
                <a:latin typeface="Times New Roman" panose="02020603050405020304" pitchFamily="18" charset="0"/>
                <a:cs typeface="Times New Roman" panose="02020603050405020304" pitchFamily="18" charset="0"/>
              </a:rPr>
              <a:t>scientists</a:t>
            </a:r>
            <a:r>
              <a:rPr sz="100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marketeurs</a:t>
            </a:r>
            <a:r>
              <a:rPr sz="1000" spc="-10" dirty="0">
                <a:solidFill>
                  <a:srgbClr val="3A4556"/>
                </a:solidFill>
                <a:latin typeface="Times New Roman" panose="02020603050405020304" pitchFamily="18" charset="0"/>
                <a:cs typeface="Times New Roman" panose="02020603050405020304" pitchFamily="18" charset="0"/>
              </a:rPr>
              <a:t>)</a:t>
            </a:r>
            <a:r>
              <a:rPr sz="1000" spc="6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aux</a:t>
            </a:r>
            <a:r>
              <a:rPr sz="105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entreprises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qui</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cherchent</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des</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compétences</a:t>
            </a:r>
            <a:r>
              <a:rPr sz="1050" spc="-2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numériques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fiables</a:t>
            </a:r>
            <a:r>
              <a:rPr sz="1050" spc="-20" dirty="0">
                <a:solidFill>
                  <a:srgbClr val="3A4556"/>
                </a:solidFill>
                <a:latin typeface="Times New Roman" panose="02020603050405020304" pitchFamily="18" charset="0"/>
                <a:cs typeface="Times New Roman" panose="02020603050405020304" pitchFamily="18" charset="0"/>
              </a:rPr>
              <a:t> </a:t>
            </a:r>
            <a:r>
              <a:rPr sz="1050" spc="-25" dirty="0">
                <a:solidFill>
                  <a:srgbClr val="3A4556"/>
                </a:solidFill>
                <a:latin typeface="Times New Roman" panose="02020603050405020304" pitchFamily="18" charset="0"/>
                <a:cs typeface="Times New Roman" panose="02020603050405020304" pitchFamily="18" charset="0"/>
              </a:rPr>
              <a:t>et </a:t>
            </a:r>
            <a:r>
              <a:rPr sz="1050" spc="-10" dirty="0">
                <a:solidFill>
                  <a:srgbClr val="3A4556"/>
                </a:solidFill>
                <a:latin typeface="Times New Roman" panose="02020603050405020304" pitchFamily="18" charset="0"/>
                <a:cs typeface="Times New Roman" panose="02020603050405020304" pitchFamily="18" charset="0"/>
              </a:rPr>
              <a:t>accessibles</a:t>
            </a:r>
            <a:r>
              <a:rPr sz="1000" spc="-10" dirty="0">
                <a:solidFill>
                  <a:srgbClr val="3A4556"/>
                </a:solidFill>
                <a:latin typeface="Times New Roman" panose="02020603050405020304" pitchFamily="18" charset="0"/>
                <a:cs typeface="Times New Roman" panose="02020603050405020304" pitchFamily="18" charset="0"/>
              </a:rPr>
              <a:t>.</a:t>
            </a:r>
            <a:r>
              <a:rPr sz="1000" spc="5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Il</a:t>
            </a:r>
            <a:r>
              <a:rPr sz="105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offre</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un</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espace</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confiance</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avec</a:t>
            </a:r>
            <a:r>
              <a:rPr sz="1050" spc="-1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paiement</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sécurisé</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et</a:t>
            </a:r>
            <a:r>
              <a:rPr sz="105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messagerie</a:t>
            </a:r>
            <a:r>
              <a:rPr sz="1050" spc="-1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intégrée</a:t>
            </a:r>
            <a:r>
              <a:rPr sz="1000" spc="-10" dirty="0">
                <a:solidFill>
                  <a:srgbClr val="3A4556"/>
                </a:solidFill>
                <a:latin typeface="Times New Roman" panose="02020603050405020304" pitchFamily="18" charset="0"/>
                <a:cs typeface="Times New Roman" panose="02020603050405020304" pitchFamily="18" charset="0"/>
              </a:rPr>
              <a:t>.</a:t>
            </a:r>
            <a:endParaRPr sz="1000" dirty="0">
              <a:latin typeface="Times New Roman" panose="02020603050405020304" pitchFamily="18" charset="0"/>
              <a:cs typeface="Times New Roman" panose="02020603050405020304" pitchFamily="18" charset="0"/>
            </a:endParaRPr>
          </a:p>
        </p:txBody>
      </p:sp>
      <p:grpSp>
        <p:nvGrpSpPr>
          <p:cNvPr id="17" name="object 17"/>
          <p:cNvGrpSpPr/>
          <p:nvPr/>
        </p:nvGrpSpPr>
        <p:grpSpPr>
          <a:xfrm>
            <a:off x="609599" y="4857749"/>
            <a:ext cx="6581775" cy="1228725"/>
            <a:chOff x="609599" y="4857749"/>
            <a:chExt cx="6581775" cy="1228725"/>
          </a:xfrm>
        </p:grpSpPr>
        <p:sp>
          <p:nvSpPr>
            <p:cNvPr id="18" name="object 18"/>
            <p:cNvSpPr/>
            <p:nvPr/>
          </p:nvSpPr>
          <p:spPr>
            <a:xfrm>
              <a:off x="628649" y="4857749"/>
              <a:ext cx="6562725" cy="1228725"/>
            </a:xfrm>
            <a:custGeom>
              <a:avLst/>
              <a:gdLst/>
              <a:ahLst/>
              <a:cxnLst/>
              <a:rect l="l" t="t" r="r" b="b"/>
              <a:pathLst>
                <a:path w="6562725" h="1228725">
                  <a:moveTo>
                    <a:pt x="6455929" y="1228724"/>
                  </a:moveTo>
                  <a:lnTo>
                    <a:pt x="88995" y="1228724"/>
                  </a:lnTo>
                  <a:lnTo>
                    <a:pt x="82801" y="1227992"/>
                  </a:lnTo>
                  <a:lnTo>
                    <a:pt x="37131" y="1205291"/>
                  </a:lnTo>
                  <a:lnTo>
                    <a:pt x="12577" y="1171685"/>
                  </a:lnTo>
                  <a:lnTo>
                    <a:pt x="610" y="1129362"/>
                  </a:lnTo>
                  <a:lnTo>
                    <a:pt x="0" y="1121929"/>
                  </a:lnTo>
                  <a:lnTo>
                    <a:pt x="0" y="1114424"/>
                  </a:lnTo>
                  <a:lnTo>
                    <a:pt x="0" y="106794"/>
                  </a:lnTo>
                  <a:lnTo>
                    <a:pt x="9643" y="63625"/>
                  </a:lnTo>
                  <a:lnTo>
                    <a:pt x="32320" y="28170"/>
                  </a:lnTo>
                  <a:lnTo>
                    <a:pt x="64577" y="5828"/>
                  </a:lnTo>
                  <a:lnTo>
                    <a:pt x="88995" y="0"/>
                  </a:lnTo>
                  <a:lnTo>
                    <a:pt x="6455929" y="0"/>
                  </a:lnTo>
                  <a:lnTo>
                    <a:pt x="6499098" y="11572"/>
                  </a:lnTo>
                  <a:lnTo>
                    <a:pt x="6534552" y="38784"/>
                  </a:lnTo>
                  <a:lnTo>
                    <a:pt x="6556895" y="77492"/>
                  </a:lnTo>
                  <a:lnTo>
                    <a:pt x="6562724" y="106794"/>
                  </a:lnTo>
                  <a:lnTo>
                    <a:pt x="6562724" y="1121929"/>
                  </a:lnTo>
                  <a:lnTo>
                    <a:pt x="6551150" y="1165098"/>
                  </a:lnTo>
                  <a:lnTo>
                    <a:pt x="6523939" y="1200553"/>
                  </a:lnTo>
                  <a:lnTo>
                    <a:pt x="6485230" y="1222895"/>
                  </a:lnTo>
                  <a:lnTo>
                    <a:pt x="6463361" y="1227992"/>
                  </a:lnTo>
                  <a:lnTo>
                    <a:pt x="6455929" y="12287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609599" y="4857749"/>
              <a:ext cx="114300" cy="1228725"/>
            </a:xfrm>
            <a:custGeom>
              <a:avLst/>
              <a:gdLst/>
              <a:ahLst/>
              <a:cxnLst/>
              <a:rect l="l" t="t" r="r" b="b"/>
              <a:pathLst>
                <a:path w="114300" h="1228725">
                  <a:moveTo>
                    <a:pt x="114300" y="1228724"/>
                  </a:moveTo>
                  <a:lnTo>
                    <a:pt x="70559" y="1220024"/>
                  </a:lnTo>
                  <a:lnTo>
                    <a:pt x="33477" y="1195247"/>
                  </a:lnTo>
                  <a:lnTo>
                    <a:pt x="8700" y="1158165"/>
                  </a:lnTo>
                  <a:lnTo>
                    <a:pt x="0" y="1114425"/>
                  </a:lnTo>
                  <a:lnTo>
                    <a:pt x="0" y="114300"/>
                  </a:lnTo>
                  <a:lnTo>
                    <a:pt x="8700" y="70558"/>
                  </a:lnTo>
                  <a:lnTo>
                    <a:pt x="33477" y="33477"/>
                  </a:lnTo>
                  <a:lnTo>
                    <a:pt x="70559" y="8700"/>
                  </a:lnTo>
                  <a:lnTo>
                    <a:pt x="114300" y="0"/>
                  </a:lnTo>
                  <a:lnTo>
                    <a:pt x="106793" y="544"/>
                  </a:lnTo>
                  <a:lnTo>
                    <a:pt x="99431" y="2175"/>
                  </a:lnTo>
                  <a:lnTo>
                    <a:pt x="65982" y="25900"/>
                  </a:lnTo>
                  <a:lnTo>
                    <a:pt x="47107" y="60364"/>
                  </a:lnTo>
                  <a:lnTo>
                    <a:pt x="38462" y="103040"/>
                  </a:lnTo>
                  <a:lnTo>
                    <a:pt x="38100" y="114300"/>
                  </a:lnTo>
                  <a:lnTo>
                    <a:pt x="38100" y="1114425"/>
                  </a:lnTo>
                  <a:lnTo>
                    <a:pt x="43900" y="1158165"/>
                  </a:lnTo>
                  <a:lnTo>
                    <a:pt x="60418" y="1195247"/>
                  </a:lnTo>
                  <a:lnTo>
                    <a:pt x="92213" y="1223830"/>
                  </a:lnTo>
                  <a:lnTo>
                    <a:pt x="106793" y="1228181"/>
                  </a:lnTo>
                  <a:lnTo>
                    <a:pt x="114300" y="1228724"/>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876299" y="5048249"/>
              <a:ext cx="381000" cy="381000"/>
            </a:xfrm>
            <a:custGeom>
              <a:avLst/>
              <a:gdLst/>
              <a:ahLst/>
              <a:cxnLst/>
              <a:rect l="l" t="t" r="r" b="b"/>
              <a:pathLst>
                <a:path w="381000" h="381000">
                  <a:moveTo>
                    <a:pt x="292004" y="380999"/>
                  </a:moveTo>
                  <a:lnTo>
                    <a:pt x="88995" y="380999"/>
                  </a:lnTo>
                  <a:lnTo>
                    <a:pt x="82801" y="380389"/>
                  </a:lnTo>
                  <a:lnTo>
                    <a:pt x="37131" y="361472"/>
                  </a:lnTo>
                  <a:lnTo>
                    <a:pt x="9643" y="327978"/>
                  </a:lnTo>
                  <a:lnTo>
                    <a:pt x="0" y="292004"/>
                  </a:lnTo>
                  <a:lnTo>
                    <a:pt x="0" y="285749"/>
                  </a:lnTo>
                  <a:lnTo>
                    <a:pt x="0" y="88995"/>
                  </a:lnTo>
                  <a:lnTo>
                    <a:pt x="12577" y="47531"/>
                  </a:lnTo>
                  <a:lnTo>
                    <a:pt x="47532" y="12577"/>
                  </a:lnTo>
                  <a:lnTo>
                    <a:pt x="88995" y="0"/>
                  </a:lnTo>
                  <a:lnTo>
                    <a:pt x="292004" y="0"/>
                  </a:lnTo>
                  <a:lnTo>
                    <a:pt x="333467" y="12577"/>
                  </a:lnTo>
                  <a:lnTo>
                    <a:pt x="368422" y="47531"/>
                  </a:lnTo>
                  <a:lnTo>
                    <a:pt x="381000" y="88995"/>
                  </a:lnTo>
                  <a:lnTo>
                    <a:pt x="381000" y="292004"/>
                  </a:lnTo>
                  <a:lnTo>
                    <a:pt x="368422" y="333467"/>
                  </a:lnTo>
                  <a:lnTo>
                    <a:pt x="333467" y="368422"/>
                  </a:lnTo>
                  <a:lnTo>
                    <a:pt x="298198" y="380389"/>
                  </a:lnTo>
                  <a:lnTo>
                    <a:pt x="292004" y="380999"/>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21" name="object 21"/>
            <p:cNvPicPr/>
            <p:nvPr/>
          </p:nvPicPr>
          <p:blipFill>
            <a:blip r:embed="rId5" cstate="print"/>
            <a:stretch>
              <a:fillRect/>
            </a:stretch>
          </p:blipFill>
          <p:spPr>
            <a:xfrm>
              <a:off x="952499" y="5181599"/>
              <a:ext cx="228600" cy="114300"/>
            </a:xfrm>
            <a:prstGeom prst="rect">
              <a:avLst/>
            </a:prstGeom>
          </p:spPr>
        </p:pic>
      </p:grpSp>
      <p:sp>
        <p:nvSpPr>
          <p:cNvPr id="22" name="object 22"/>
          <p:cNvSpPr txBox="1"/>
          <p:nvPr/>
        </p:nvSpPr>
        <p:spPr>
          <a:xfrm>
            <a:off x="1397000" y="5020462"/>
            <a:ext cx="1522730" cy="203902"/>
          </a:xfrm>
          <a:prstGeom prst="rect">
            <a:avLst/>
          </a:prstGeom>
        </p:spPr>
        <p:txBody>
          <a:bodyPr vert="horz" wrap="square" lIns="0" tIns="11430" rIns="0" bIns="0" rtlCol="0">
            <a:spAutoFit/>
          </a:bodyPr>
          <a:lstStyle/>
          <a:p>
            <a:pPr marL="12700">
              <a:lnSpc>
                <a:spcPct val="100000"/>
              </a:lnSpc>
              <a:spcBef>
                <a:spcPts val="90"/>
              </a:spcBef>
            </a:pPr>
            <a:r>
              <a:rPr sz="1250" b="1" dirty="0">
                <a:solidFill>
                  <a:srgbClr val="1B294A"/>
                </a:solidFill>
                <a:latin typeface="Times New Roman" panose="02020603050405020304" pitchFamily="18" charset="0"/>
                <a:cs typeface="Times New Roman" panose="02020603050405020304" pitchFamily="18" charset="0"/>
              </a:rPr>
              <a:t>Qui</a:t>
            </a:r>
            <a:r>
              <a:rPr sz="1250" b="1" spc="65" dirty="0">
                <a:solidFill>
                  <a:srgbClr val="1B294A"/>
                </a:solidFill>
                <a:latin typeface="Times New Roman" panose="02020603050405020304" pitchFamily="18" charset="0"/>
                <a:cs typeface="Times New Roman" panose="02020603050405020304" pitchFamily="18" charset="0"/>
              </a:rPr>
              <a:t> </a:t>
            </a:r>
            <a:r>
              <a:rPr sz="1250" b="1" spc="95" dirty="0">
                <a:solidFill>
                  <a:srgbClr val="1B294A"/>
                </a:solidFill>
                <a:latin typeface="Times New Roman" panose="02020603050405020304" pitchFamily="18" charset="0"/>
                <a:cs typeface="Times New Roman" panose="02020603050405020304" pitchFamily="18" charset="0"/>
              </a:rPr>
              <a:t>peut</a:t>
            </a:r>
            <a:r>
              <a:rPr sz="1250" b="1" spc="-15" dirty="0">
                <a:solidFill>
                  <a:srgbClr val="1B294A"/>
                </a:solidFill>
                <a:latin typeface="Times New Roman" panose="02020603050405020304" pitchFamily="18" charset="0"/>
                <a:cs typeface="Times New Roman" panose="02020603050405020304" pitchFamily="18" charset="0"/>
              </a:rPr>
              <a:t> </a:t>
            </a:r>
            <a:r>
              <a:rPr sz="1250" b="1" dirty="0">
                <a:solidFill>
                  <a:srgbClr val="1B294A"/>
                </a:solidFill>
                <a:latin typeface="Times New Roman" panose="02020603050405020304" pitchFamily="18" charset="0"/>
                <a:cs typeface="Times New Roman" panose="02020603050405020304" pitchFamily="18" charset="0"/>
              </a:rPr>
              <a:t>l'utiliser</a:t>
            </a:r>
            <a:r>
              <a:rPr sz="1250" b="1" spc="-10" dirty="0">
                <a:solidFill>
                  <a:srgbClr val="1B294A"/>
                </a:solidFill>
                <a:latin typeface="Times New Roman" panose="02020603050405020304" pitchFamily="18" charset="0"/>
                <a:cs typeface="Times New Roman" panose="02020603050405020304" pitchFamily="18" charset="0"/>
              </a:rPr>
              <a:t> </a:t>
            </a:r>
            <a:r>
              <a:rPr sz="1250" b="1" spc="-50" dirty="0">
                <a:solidFill>
                  <a:srgbClr val="1B294A"/>
                </a:solidFill>
                <a:latin typeface="Times New Roman" panose="02020603050405020304" pitchFamily="18" charset="0"/>
                <a:cs typeface="Times New Roman" panose="02020603050405020304" pitchFamily="18" charset="0"/>
              </a:rPr>
              <a:t>?</a:t>
            </a:r>
            <a:endParaRPr sz="1250">
              <a:latin typeface="Times New Roman" panose="02020603050405020304" pitchFamily="18" charset="0"/>
              <a:cs typeface="Times New Roman" panose="02020603050405020304" pitchFamily="18" charset="0"/>
            </a:endParaRPr>
          </a:p>
        </p:txBody>
      </p:sp>
      <p:sp>
        <p:nvSpPr>
          <p:cNvPr id="23" name="object 23"/>
          <p:cNvSpPr txBox="1"/>
          <p:nvPr/>
        </p:nvSpPr>
        <p:spPr>
          <a:xfrm>
            <a:off x="1397000" y="5252711"/>
            <a:ext cx="5569585" cy="599844"/>
          </a:xfrm>
          <a:prstGeom prst="rect">
            <a:avLst/>
          </a:prstGeom>
        </p:spPr>
        <p:txBody>
          <a:bodyPr vert="horz" wrap="square" lIns="0" tIns="12700" rIns="0" bIns="0" rtlCol="0">
            <a:spAutoFit/>
          </a:bodyPr>
          <a:lstStyle/>
          <a:p>
            <a:pPr marL="12700" marR="5080" algn="just">
              <a:lnSpc>
                <a:spcPct val="125000"/>
              </a:lnSpc>
              <a:spcBef>
                <a:spcPts val="100"/>
              </a:spcBef>
            </a:pPr>
            <a:r>
              <a:rPr sz="1050" spc="-10" dirty="0">
                <a:solidFill>
                  <a:srgbClr val="3A4556"/>
                </a:solidFill>
                <a:latin typeface="Times New Roman" panose="02020603050405020304" pitchFamily="18" charset="0"/>
                <a:cs typeface="Times New Roman" panose="02020603050405020304" pitchFamily="18" charset="0"/>
              </a:rPr>
              <a:t>Deux</a:t>
            </a:r>
            <a:r>
              <a:rPr sz="1050" spc="-5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profils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principaux</a:t>
            </a:r>
            <a:r>
              <a:rPr sz="1050" spc="-5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freelances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tech d</a:t>
            </a:r>
            <a:r>
              <a:rPr sz="1000" dirty="0">
                <a:solidFill>
                  <a:srgbClr val="3A4556"/>
                </a:solidFill>
                <a:latin typeface="Times New Roman" panose="02020603050405020304" pitchFamily="18" charset="0"/>
                <a:cs typeface="Times New Roman" panose="02020603050405020304" pitchFamily="18" charset="0"/>
              </a:rPr>
              <a:t>'</a:t>
            </a:r>
            <a:r>
              <a:rPr sz="1050" dirty="0">
                <a:solidFill>
                  <a:srgbClr val="3A4556"/>
                </a:solidFill>
                <a:latin typeface="Times New Roman" panose="02020603050405020304" pitchFamily="18" charset="0"/>
                <a:cs typeface="Times New Roman" panose="02020603050405020304" pitchFamily="18" charset="0"/>
              </a:rPr>
              <a:t>Afrique</a:t>
            </a:r>
            <a:r>
              <a:rPr sz="1050" spc="-3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t>
            </a:r>
            <a:r>
              <a:rPr sz="1050" dirty="0">
                <a:solidFill>
                  <a:srgbClr val="3A4556"/>
                </a:solidFill>
                <a:latin typeface="Times New Roman" panose="02020603050405020304" pitchFamily="18" charset="0"/>
                <a:cs typeface="Times New Roman" panose="02020603050405020304" pitchFamily="18" charset="0"/>
              </a:rPr>
              <a:t>développeurs</a:t>
            </a:r>
            <a:r>
              <a:rPr sz="100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designers</a:t>
            </a:r>
            <a:r>
              <a:rPr sz="1000" dirty="0">
                <a:solidFill>
                  <a:srgbClr val="3A4556"/>
                </a:solidFill>
                <a:latin typeface="Times New Roman" panose="02020603050405020304" pitchFamily="18" charset="0"/>
                <a:cs typeface="Times New Roman" panose="02020603050405020304" pitchFamily="18" charset="0"/>
              </a:rPr>
              <a:t>,</a:t>
            </a:r>
            <a:r>
              <a:rPr sz="100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data </a:t>
            </a:r>
            <a:r>
              <a:rPr sz="1050" spc="-10" dirty="0">
                <a:solidFill>
                  <a:srgbClr val="3A4556"/>
                </a:solidFill>
                <a:latin typeface="Times New Roman" panose="02020603050405020304" pitchFamily="18" charset="0"/>
                <a:cs typeface="Times New Roman" panose="02020603050405020304" pitchFamily="18" charset="0"/>
              </a:rPr>
              <a:t>analysts</a:t>
            </a:r>
            <a:r>
              <a:rPr sz="1000" spc="-1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experts</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marketing</a:t>
            </a:r>
            <a:r>
              <a:rPr sz="1000" dirty="0">
                <a:solidFill>
                  <a:srgbClr val="3A4556"/>
                </a:solidFill>
                <a:latin typeface="Times New Roman" panose="02020603050405020304" pitchFamily="18" charset="0"/>
                <a:cs typeface="Times New Roman" panose="02020603050405020304" pitchFamily="18" charset="0"/>
              </a:rPr>
              <a:t>)</a:t>
            </a:r>
            <a:r>
              <a:rPr sz="1000" spc="6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qui</a:t>
            </a:r>
            <a:r>
              <a:rPr sz="1050" spc="1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cherchent</a:t>
            </a:r>
            <a:r>
              <a:rPr sz="105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des</a:t>
            </a:r>
            <a:r>
              <a:rPr sz="105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missions</a:t>
            </a:r>
            <a:r>
              <a:rPr sz="1000" spc="-1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et</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entreprises</a:t>
            </a:r>
            <a:r>
              <a:rPr sz="1000" dirty="0">
                <a:solidFill>
                  <a:srgbClr val="3A4556"/>
                </a:solidFill>
                <a:latin typeface="Times New Roman" panose="02020603050405020304" pitchFamily="18" charset="0"/>
                <a:cs typeface="Times New Roman" panose="02020603050405020304" pitchFamily="18" charset="0"/>
              </a:rPr>
              <a:t>/</a:t>
            </a:r>
            <a:r>
              <a:rPr sz="1050" dirty="0">
                <a:solidFill>
                  <a:srgbClr val="3A4556"/>
                </a:solidFill>
                <a:latin typeface="Times New Roman" panose="02020603050405020304" pitchFamily="18" charset="0"/>
                <a:cs typeface="Times New Roman" panose="02020603050405020304" pitchFamily="18" charset="0"/>
              </a:rPr>
              <a:t>entrepreneurs</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qui</a:t>
            </a:r>
            <a:r>
              <a:rPr sz="1050" spc="1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ont</a:t>
            </a:r>
            <a:r>
              <a:rPr sz="1050" spc="-4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besoin </a:t>
            </a:r>
            <a:r>
              <a:rPr sz="1050" dirty="0">
                <a:solidFill>
                  <a:srgbClr val="3A4556"/>
                </a:solidFill>
                <a:latin typeface="Times New Roman" panose="02020603050405020304" pitchFamily="18" charset="0"/>
                <a:cs typeface="Times New Roman" panose="02020603050405020304" pitchFamily="18" charset="0"/>
              </a:rPr>
              <a:t>de</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talents</a:t>
            </a:r>
            <a:r>
              <a:rPr sz="1050" spc="-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numériques</a:t>
            </a:r>
            <a:r>
              <a:rPr sz="1050" dirty="0">
                <a:solidFill>
                  <a:srgbClr val="3A4556"/>
                </a:solidFill>
                <a:latin typeface="Times New Roman" panose="02020603050405020304" pitchFamily="18" charset="0"/>
                <a:cs typeface="Times New Roman" panose="02020603050405020304" pitchFamily="18" charset="0"/>
              </a:rPr>
              <a:t> pour</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leurs projets</a:t>
            </a:r>
            <a:r>
              <a:rPr sz="1000" dirty="0">
                <a:solidFill>
                  <a:srgbClr val="3A4556"/>
                </a:solidFill>
                <a:latin typeface="Times New Roman" panose="02020603050405020304" pitchFamily="18" charset="0"/>
                <a:cs typeface="Times New Roman" panose="02020603050405020304" pitchFamily="18" charset="0"/>
              </a:rPr>
              <a:t>.</a:t>
            </a:r>
            <a:r>
              <a:rPr sz="1000" spc="65" dirty="0">
                <a:solidFill>
                  <a:srgbClr val="3A4556"/>
                </a:solidFill>
                <a:latin typeface="Times New Roman" panose="02020603050405020304" pitchFamily="18" charset="0"/>
                <a:cs typeface="Times New Roman" panose="02020603050405020304" pitchFamily="18" charset="0"/>
              </a:rPr>
              <a:t> </a:t>
            </a:r>
            <a:r>
              <a:rPr sz="1000" b="1" spc="-40" dirty="0">
                <a:solidFill>
                  <a:srgbClr val="E7863A"/>
                </a:solidFill>
                <a:latin typeface="Times New Roman" panose="02020603050405020304" pitchFamily="18" charset="0"/>
                <a:cs typeface="Times New Roman" panose="02020603050405020304" pitchFamily="18" charset="0"/>
              </a:rPr>
              <a:t>15</a:t>
            </a:r>
            <a:r>
              <a:rPr sz="1000" b="1" spc="-55" dirty="0">
                <a:solidFill>
                  <a:srgbClr val="E7863A"/>
                </a:solidFill>
                <a:latin typeface="Times New Roman" panose="02020603050405020304" pitchFamily="18" charset="0"/>
                <a:cs typeface="Times New Roman" panose="02020603050405020304" pitchFamily="18" charset="0"/>
              </a:rPr>
              <a:t> </a:t>
            </a:r>
            <a:r>
              <a:rPr sz="1050" b="1" spc="-25" dirty="0">
                <a:solidFill>
                  <a:srgbClr val="E7863A"/>
                </a:solidFill>
                <a:latin typeface="Times New Roman" panose="02020603050405020304" pitchFamily="18" charset="0"/>
                <a:cs typeface="Times New Roman" panose="02020603050405020304" pitchFamily="18" charset="0"/>
              </a:rPr>
              <a:t>pays</a:t>
            </a:r>
            <a:r>
              <a:rPr sz="1050" b="1" spc="-75" dirty="0">
                <a:solidFill>
                  <a:srgbClr val="E7863A"/>
                </a:solidFill>
                <a:latin typeface="Times New Roman" panose="02020603050405020304" pitchFamily="18" charset="0"/>
                <a:cs typeface="Times New Roman" panose="02020603050405020304" pitchFamily="18" charset="0"/>
              </a:rPr>
              <a:t> </a:t>
            </a:r>
            <a:r>
              <a:rPr sz="1050" b="1" spc="-20" dirty="0">
                <a:solidFill>
                  <a:srgbClr val="E7863A"/>
                </a:solidFill>
                <a:latin typeface="Times New Roman" panose="02020603050405020304" pitchFamily="18" charset="0"/>
                <a:cs typeface="Times New Roman" panose="02020603050405020304" pitchFamily="18" charset="0"/>
              </a:rPr>
              <a:t>africains</a:t>
            </a:r>
            <a:r>
              <a:rPr sz="1050" b="1" spc="-75" dirty="0">
                <a:solidFill>
                  <a:srgbClr val="E7863A"/>
                </a:solidFill>
                <a:latin typeface="Times New Roman" panose="02020603050405020304" pitchFamily="18" charset="0"/>
                <a:cs typeface="Times New Roman" panose="02020603050405020304" pitchFamily="18" charset="0"/>
              </a:rPr>
              <a:t> </a:t>
            </a:r>
            <a:r>
              <a:rPr sz="1050" b="1" spc="-10" dirty="0">
                <a:solidFill>
                  <a:srgbClr val="E7863A"/>
                </a:solidFill>
                <a:latin typeface="Times New Roman" panose="02020603050405020304" pitchFamily="18" charset="0"/>
                <a:cs typeface="Times New Roman" panose="02020603050405020304" pitchFamily="18" charset="0"/>
              </a:rPr>
              <a:t>couverts</a:t>
            </a:r>
            <a:r>
              <a:rPr sz="1000" b="1" spc="-10" dirty="0">
                <a:solidFill>
                  <a:srgbClr val="E7863A"/>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pic>
        <p:nvPicPr>
          <p:cNvPr id="24" name="object 24"/>
          <p:cNvPicPr/>
          <p:nvPr/>
        </p:nvPicPr>
        <p:blipFill>
          <a:blip r:embed="rId6" cstate="print"/>
          <a:stretch>
            <a:fillRect/>
          </a:stretch>
        </p:blipFill>
        <p:spPr>
          <a:xfrm>
            <a:off x="7572374" y="2609849"/>
            <a:ext cx="4010024" cy="2486024"/>
          </a:xfrm>
          <a:prstGeom prst="rect">
            <a:avLst/>
          </a:prstGeom>
        </p:spPr>
      </p:pic>
      <p:pic>
        <p:nvPicPr>
          <p:cNvPr id="26" name="object 26"/>
          <p:cNvPicPr/>
          <p:nvPr/>
        </p:nvPicPr>
        <p:blipFill>
          <a:blip r:embed="rId7" cstate="print"/>
          <a:stretch>
            <a:fillRect/>
          </a:stretch>
        </p:blipFill>
        <p:spPr>
          <a:xfrm>
            <a:off x="0" y="0"/>
            <a:ext cx="12191999" cy="47624"/>
          </a:xfrm>
          <a:prstGeom prst="rect">
            <a:avLst/>
          </a:prstGeom>
        </p:spPr>
      </p:pic>
      <p:sp>
        <p:nvSpPr>
          <p:cNvPr id="27" name="object 27"/>
          <p:cNvSpPr txBox="1"/>
          <p:nvPr/>
        </p:nvSpPr>
        <p:spPr>
          <a:xfrm>
            <a:off x="11439624" y="6467429"/>
            <a:ext cx="153035" cy="146835"/>
          </a:xfrm>
          <a:prstGeom prst="rect">
            <a:avLst/>
          </a:prstGeom>
        </p:spPr>
        <p:txBody>
          <a:bodyPr vert="horz" wrap="square" lIns="0" tIns="15875" rIns="0" bIns="0" rtlCol="0">
            <a:spAutoFit/>
          </a:bodyPr>
          <a:lstStyle/>
          <a:p>
            <a:pPr marL="12700">
              <a:lnSpc>
                <a:spcPct val="100000"/>
              </a:lnSpc>
              <a:spcBef>
                <a:spcPts val="125"/>
              </a:spcBef>
            </a:pPr>
            <a:r>
              <a:rPr sz="850" spc="-25" dirty="0">
                <a:solidFill>
                  <a:srgbClr val="6A798F"/>
                </a:solidFill>
                <a:latin typeface="Times New Roman" panose="02020603050405020304" pitchFamily="18" charset="0"/>
                <a:cs typeface="Times New Roman" panose="02020603050405020304" pitchFamily="18" charset="0"/>
              </a:rPr>
              <a:t>02</a:t>
            </a:r>
            <a:endParaRPr sz="85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513853"/>
            <a:ext cx="1193165" cy="159018"/>
          </a:xfrm>
          <a:prstGeom prst="rect">
            <a:avLst/>
          </a:prstGeom>
        </p:spPr>
        <p:txBody>
          <a:bodyPr vert="horz" wrap="square" lIns="0" tIns="12700" rIns="0" bIns="0" rtlCol="0">
            <a:spAutoFit/>
          </a:bodyPr>
          <a:lstStyle/>
          <a:p>
            <a:pPr marL="12700">
              <a:lnSpc>
                <a:spcPct val="100000"/>
              </a:lnSpc>
              <a:spcBef>
                <a:spcPts val="100"/>
              </a:spcBef>
            </a:pPr>
            <a:r>
              <a:rPr sz="850" b="1" spc="85" dirty="0">
                <a:solidFill>
                  <a:srgbClr val="E7863A"/>
                </a:solidFill>
                <a:latin typeface="Times New Roman" panose="02020603050405020304" pitchFamily="18" charset="0"/>
                <a:cs typeface="Times New Roman" panose="02020603050405020304" pitchFamily="18" charset="0"/>
              </a:rPr>
              <a:t>VU</a:t>
            </a:r>
            <a:r>
              <a:rPr sz="850" b="1" spc="-85"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E</a:t>
            </a:r>
            <a:r>
              <a:rPr sz="850" b="1" spc="225" dirty="0">
                <a:solidFill>
                  <a:srgbClr val="E7863A"/>
                </a:solidFill>
                <a:latin typeface="Times New Roman" panose="02020603050405020304" pitchFamily="18" charset="0"/>
                <a:cs typeface="Times New Roman" panose="02020603050405020304" pitchFamily="18" charset="0"/>
              </a:rPr>
              <a:t> </a:t>
            </a:r>
            <a:r>
              <a:rPr sz="850" b="1" spc="-10" dirty="0">
                <a:solidFill>
                  <a:srgbClr val="E7863A"/>
                </a:solidFill>
                <a:latin typeface="Times New Roman" panose="02020603050405020304" pitchFamily="18" charset="0"/>
                <a:cs typeface="Times New Roman" panose="02020603050405020304" pitchFamily="18" charset="0"/>
              </a:rPr>
              <a:t>D</a:t>
            </a:r>
            <a:r>
              <a:rPr sz="850" b="1" spc="-100" dirty="0">
                <a:solidFill>
                  <a:srgbClr val="E7863A"/>
                </a:solidFill>
                <a:latin typeface="Times New Roman" panose="02020603050405020304" pitchFamily="18" charset="0"/>
                <a:cs typeface="Times New Roman" panose="02020603050405020304" pitchFamily="18" charset="0"/>
              </a:rPr>
              <a:t> </a:t>
            </a:r>
            <a:r>
              <a:rPr sz="950" b="1" dirty="0">
                <a:solidFill>
                  <a:srgbClr val="E7863A"/>
                </a:solidFill>
                <a:latin typeface="Times New Roman" panose="02020603050405020304" pitchFamily="18" charset="0"/>
                <a:cs typeface="Times New Roman" panose="02020603050405020304" pitchFamily="18" charset="0"/>
              </a:rPr>
              <a:t>'</a:t>
            </a:r>
            <a:r>
              <a:rPr sz="950" b="1" spc="5"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a:t>
            </a:r>
            <a:r>
              <a:rPr sz="850" b="1" spc="-85"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N</a:t>
            </a:r>
            <a:r>
              <a:rPr sz="850" b="1" spc="-85" dirty="0">
                <a:solidFill>
                  <a:srgbClr val="E7863A"/>
                </a:solidFill>
                <a:latin typeface="Times New Roman" panose="02020603050405020304" pitchFamily="18" charset="0"/>
                <a:cs typeface="Times New Roman" panose="02020603050405020304" pitchFamily="18" charset="0"/>
              </a:rPr>
              <a:t> </a:t>
            </a:r>
            <a:r>
              <a:rPr sz="850" b="1" spc="-30" dirty="0">
                <a:solidFill>
                  <a:srgbClr val="E7863A"/>
                </a:solidFill>
                <a:latin typeface="Times New Roman" panose="02020603050405020304" pitchFamily="18" charset="0"/>
                <a:cs typeface="Times New Roman" panose="02020603050405020304" pitchFamily="18" charset="0"/>
              </a:rPr>
              <a:t>S</a:t>
            </a:r>
            <a:r>
              <a:rPr sz="850" b="1" spc="-100"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a:t>
            </a:r>
            <a:r>
              <a:rPr sz="850" b="1" spc="-85" dirty="0">
                <a:solidFill>
                  <a:srgbClr val="E7863A"/>
                </a:solidFill>
                <a:latin typeface="Times New Roman" panose="02020603050405020304" pitchFamily="18" charset="0"/>
                <a:cs typeface="Times New Roman" panose="02020603050405020304" pitchFamily="18" charset="0"/>
              </a:rPr>
              <a:t> </a:t>
            </a:r>
            <a:r>
              <a:rPr sz="850" b="1" spc="70" dirty="0">
                <a:solidFill>
                  <a:srgbClr val="E7863A"/>
                </a:solidFill>
                <a:latin typeface="Times New Roman" panose="02020603050405020304" pitchFamily="18" charset="0"/>
                <a:cs typeface="Times New Roman" panose="02020603050405020304" pitchFamily="18" charset="0"/>
              </a:rPr>
              <a:t>M</a:t>
            </a:r>
            <a:r>
              <a:rPr sz="850" b="1" spc="-100" dirty="0">
                <a:solidFill>
                  <a:srgbClr val="E7863A"/>
                </a:solidFill>
                <a:latin typeface="Times New Roman" panose="02020603050405020304" pitchFamily="18" charset="0"/>
                <a:cs typeface="Times New Roman" panose="02020603050405020304" pitchFamily="18" charset="0"/>
              </a:rPr>
              <a:t> </a:t>
            </a:r>
            <a:r>
              <a:rPr sz="850" b="1" spc="-65" dirty="0">
                <a:solidFill>
                  <a:srgbClr val="E7863A"/>
                </a:solidFill>
                <a:latin typeface="Times New Roman" panose="02020603050405020304" pitchFamily="18" charset="0"/>
                <a:cs typeface="Times New Roman" panose="02020603050405020304" pitchFamily="18" charset="0"/>
              </a:rPr>
              <a:t>B</a:t>
            </a:r>
            <a:r>
              <a:rPr sz="850" b="1" spc="-105"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L</a:t>
            </a:r>
            <a:r>
              <a:rPr sz="850" b="1" spc="-95"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E</a:t>
            </a:r>
            <a:endParaRPr sz="850">
              <a:latin typeface="Times New Roman" panose="02020603050405020304" pitchFamily="18" charset="0"/>
              <a:cs typeface="Times New Roman" panose="02020603050405020304" pitchFamily="18" charset="0"/>
            </a:endParaRPr>
          </a:p>
        </p:txBody>
      </p:sp>
      <p:sp>
        <p:nvSpPr>
          <p:cNvPr id="3" name="object 3" descr="$PPTXTitle"/>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65" dirty="0">
                <a:latin typeface="Times New Roman" panose="02020603050405020304" pitchFamily="18" charset="0"/>
                <a:cs typeface="Times New Roman" panose="02020603050405020304" pitchFamily="18" charset="0"/>
              </a:rPr>
              <a:t>Présentation</a:t>
            </a:r>
            <a:r>
              <a:rPr spc="-65" dirty="0">
                <a:latin typeface="Times New Roman" panose="02020603050405020304" pitchFamily="18" charset="0"/>
                <a:cs typeface="Times New Roman" panose="02020603050405020304" pitchFamily="18" charset="0"/>
              </a:rPr>
              <a:t> </a:t>
            </a:r>
            <a:r>
              <a:rPr spc="760" dirty="0">
                <a:latin typeface="Times New Roman" panose="02020603050405020304" pitchFamily="18" charset="0"/>
                <a:cs typeface="Times New Roman" panose="02020603050405020304" pitchFamily="18" charset="0"/>
              </a:rPr>
              <a:t>générale</a:t>
            </a:r>
            <a:r>
              <a:rPr spc="-95" dirty="0">
                <a:latin typeface="Times New Roman" panose="02020603050405020304" pitchFamily="18" charset="0"/>
                <a:cs typeface="Times New Roman" panose="02020603050405020304" pitchFamily="18" charset="0"/>
              </a:rPr>
              <a:t> </a:t>
            </a:r>
            <a:r>
              <a:rPr spc="1015" dirty="0">
                <a:latin typeface="Times New Roman" panose="02020603050405020304" pitchFamily="18" charset="0"/>
                <a:cs typeface="Times New Roman" panose="02020603050405020304" pitchFamily="18" charset="0"/>
              </a:rPr>
              <a:t>du</a:t>
            </a:r>
            <a:r>
              <a:rPr spc="-50" dirty="0">
                <a:latin typeface="Times New Roman" panose="02020603050405020304" pitchFamily="18" charset="0"/>
                <a:cs typeface="Times New Roman" panose="02020603050405020304" pitchFamily="18" charset="0"/>
              </a:rPr>
              <a:t> </a:t>
            </a:r>
            <a:r>
              <a:rPr spc="600" dirty="0">
                <a:latin typeface="Times New Roman" panose="02020603050405020304" pitchFamily="18" charset="0"/>
                <a:cs typeface="Times New Roman" panose="02020603050405020304" pitchFamily="18" charset="0"/>
              </a:rPr>
              <a:t>site</a:t>
            </a:r>
          </a:p>
        </p:txBody>
      </p:sp>
      <p:sp>
        <p:nvSpPr>
          <p:cNvPr id="4" name="object 4"/>
          <p:cNvSpPr txBox="1"/>
          <p:nvPr/>
        </p:nvSpPr>
        <p:spPr>
          <a:xfrm>
            <a:off x="596899" y="1205022"/>
            <a:ext cx="2458085" cy="186590"/>
          </a:xfrm>
          <a:prstGeom prst="rect">
            <a:avLst/>
          </a:prstGeom>
        </p:spPr>
        <p:txBody>
          <a:bodyPr vert="horz" wrap="square" lIns="0" tIns="17145" rIns="0" bIns="0" rtlCol="0">
            <a:spAutoFit/>
          </a:bodyPr>
          <a:lstStyle/>
          <a:p>
            <a:pPr marL="12700">
              <a:lnSpc>
                <a:spcPct val="100000"/>
              </a:lnSpc>
              <a:spcBef>
                <a:spcPts val="135"/>
              </a:spcBef>
            </a:pPr>
            <a:r>
              <a:rPr sz="1100" dirty="0">
                <a:solidFill>
                  <a:srgbClr val="6A798F"/>
                </a:solidFill>
                <a:latin typeface="Times New Roman" panose="02020603050405020304" pitchFamily="18" charset="0"/>
                <a:cs typeface="Times New Roman" panose="02020603050405020304" pitchFamily="18" charset="0"/>
              </a:rPr>
              <a:t>Une</a:t>
            </a:r>
            <a:r>
              <a:rPr sz="1100" spc="65" dirty="0">
                <a:solidFill>
                  <a:srgbClr val="6A798F"/>
                </a:solidFill>
                <a:latin typeface="Times New Roman" panose="02020603050405020304" pitchFamily="18" charset="0"/>
                <a:cs typeface="Times New Roman" panose="02020603050405020304" pitchFamily="18" charset="0"/>
              </a:rPr>
              <a:t> </a:t>
            </a:r>
            <a:r>
              <a:rPr sz="1100" dirty="0">
                <a:solidFill>
                  <a:srgbClr val="6A798F"/>
                </a:solidFill>
                <a:latin typeface="Times New Roman" panose="02020603050405020304" pitchFamily="18" charset="0"/>
                <a:cs typeface="Times New Roman" panose="02020603050405020304" pitchFamily="18" charset="0"/>
              </a:rPr>
              <a:t>interface</a:t>
            </a:r>
            <a:r>
              <a:rPr sz="1100" spc="70" dirty="0">
                <a:solidFill>
                  <a:srgbClr val="6A798F"/>
                </a:solidFill>
                <a:latin typeface="Times New Roman" panose="02020603050405020304" pitchFamily="18" charset="0"/>
                <a:cs typeface="Times New Roman" panose="02020603050405020304" pitchFamily="18" charset="0"/>
              </a:rPr>
              <a:t> </a:t>
            </a:r>
            <a:r>
              <a:rPr sz="1100" dirty="0">
                <a:solidFill>
                  <a:srgbClr val="6A798F"/>
                </a:solidFill>
                <a:latin typeface="Times New Roman" panose="02020603050405020304" pitchFamily="18" charset="0"/>
                <a:cs typeface="Times New Roman" panose="02020603050405020304" pitchFamily="18" charset="0"/>
              </a:rPr>
              <a:t>moderne</a:t>
            </a:r>
            <a:r>
              <a:rPr sz="1100" spc="70" dirty="0">
                <a:solidFill>
                  <a:srgbClr val="6A798F"/>
                </a:solidFill>
                <a:latin typeface="Times New Roman" panose="02020603050405020304" pitchFamily="18" charset="0"/>
                <a:cs typeface="Times New Roman" panose="02020603050405020304" pitchFamily="18" charset="0"/>
              </a:rPr>
              <a:t> </a:t>
            </a:r>
            <a:r>
              <a:rPr sz="1100" dirty="0">
                <a:solidFill>
                  <a:srgbClr val="6A798F"/>
                </a:solidFill>
                <a:latin typeface="Times New Roman" panose="02020603050405020304" pitchFamily="18" charset="0"/>
                <a:cs typeface="Times New Roman" panose="02020603050405020304" pitchFamily="18" charset="0"/>
              </a:rPr>
              <a:t>et</a:t>
            </a:r>
            <a:r>
              <a:rPr sz="1100" spc="65" dirty="0">
                <a:solidFill>
                  <a:srgbClr val="6A798F"/>
                </a:solidFill>
                <a:latin typeface="Times New Roman" panose="02020603050405020304" pitchFamily="18" charset="0"/>
                <a:cs typeface="Times New Roman" panose="02020603050405020304" pitchFamily="18" charset="0"/>
              </a:rPr>
              <a:t> </a:t>
            </a:r>
            <a:r>
              <a:rPr sz="1100" spc="-10" dirty="0">
                <a:solidFill>
                  <a:srgbClr val="6A798F"/>
                </a:solidFill>
                <a:latin typeface="Times New Roman" panose="02020603050405020304" pitchFamily="18" charset="0"/>
                <a:cs typeface="Times New Roman" panose="02020603050405020304" pitchFamily="18" charset="0"/>
              </a:rPr>
              <a:t>accueillante</a:t>
            </a:r>
            <a:endParaRPr sz="1100">
              <a:latin typeface="Times New Roman" panose="02020603050405020304" pitchFamily="18" charset="0"/>
              <a:cs typeface="Times New Roman" panose="02020603050405020304" pitchFamily="18" charset="0"/>
            </a:endParaRPr>
          </a:p>
        </p:txBody>
      </p:sp>
      <p:sp>
        <p:nvSpPr>
          <p:cNvPr id="5" name="object 5"/>
          <p:cNvSpPr/>
          <p:nvPr/>
        </p:nvSpPr>
        <p:spPr>
          <a:xfrm>
            <a:off x="609599" y="2676524"/>
            <a:ext cx="28575" cy="904875"/>
          </a:xfrm>
          <a:custGeom>
            <a:avLst/>
            <a:gdLst/>
            <a:ahLst/>
            <a:cxnLst/>
            <a:rect l="l" t="t" r="r" b="b"/>
            <a:pathLst>
              <a:path w="28575" h="904875">
                <a:moveTo>
                  <a:pt x="16182" y="904874"/>
                </a:moveTo>
                <a:lnTo>
                  <a:pt x="12392" y="904874"/>
                </a:lnTo>
                <a:lnTo>
                  <a:pt x="10570" y="904511"/>
                </a:lnTo>
                <a:lnTo>
                  <a:pt x="0" y="892481"/>
                </a:lnTo>
                <a:lnTo>
                  <a:pt x="0" y="890587"/>
                </a:lnTo>
                <a:lnTo>
                  <a:pt x="0" y="12392"/>
                </a:lnTo>
                <a:lnTo>
                  <a:pt x="12392" y="0"/>
                </a:lnTo>
                <a:lnTo>
                  <a:pt x="16182" y="0"/>
                </a:lnTo>
                <a:lnTo>
                  <a:pt x="28575" y="12392"/>
                </a:lnTo>
                <a:lnTo>
                  <a:pt x="28575" y="892481"/>
                </a:lnTo>
                <a:lnTo>
                  <a:pt x="18004" y="904511"/>
                </a:lnTo>
                <a:lnTo>
                  <a:pt x="16182" y="904874"/>
                </a:lnTo>
                <a:close/>
              </a:path>
            </a:pathLst>
          </a:custGeom>
          <a:solidFill>
            <a:srgbClr val="E7EC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txBox="1"/>
          <p:nvPr/>
        </p:nvSpPr>
        <p:spPr>
          <a:xfrm>
            <a:off x="758825" y="2626177"/>
            <a:ext cx="5880100" cy="668003"/>
          </a:xfrm>
          <a:prstGeom prst="rect">
            <a:avLst/>
          </a:prstGeom>
        </p:spPr>
        <p:txBody>
          <a:bodyPr vert="horz" wrap="square" lIns="0" tIns="10160" rIns="0" bIns="0" rtlCol="0">
            <a:spAutoFit/>
          </a:bodyPr>
          <a:lstStyle/>
          <a:p>
            <a:pPr marL="12700" marR="5080">
              <a:lnSpc>
                <a:spcPct val="131700"/>
              </a:lnSpc>
              <a:spcBef>
                <a:spcPts val="80"/>
              </a:spcBef>
            </a:pPr>
            <a:r>
              <a:rPr sz="1100" dirty="0">
                <a:solidFill>
                  <a:srgbClr val="3A4556"/>
                </a:solidFill>
                <a:latin typeface="Times New Roman" panose="02020603050405020304" pitchFamily="18" charset="0"/>
                <a:cs typeface="Times New Roman" panose="02020603050405020304" pitchFamily="18" charset="0"/>
              </a:rPr>
              <a:t>La</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page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a:t>
            </a:r>
            <a:r>
              <a:rPr sz="1100" spc="-1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accueil</a:t>
            </a:r>
            <a:r>
              <a:rPr sz="1100" spc="9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donne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immédiatement</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impression</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a:t>
            </a:r>
            <a:r>
              <a:rPr sz="1100" spc="20" dirty="0">
                <a:solidFill>
                  <a:srgbClr val="3A4556"/>
                </a:solidFill>
                <a:latin typeface="Times New Roman" panose="02020603050405020304" pitchFamily="18" charset="0"/>
                <a:cs typeface="Times New Roman" panose="02020603050405020304" pitchFamily="18" charset="0"/>
              </a:rPr>
              <a:t> </a:t>
            </a:r>
            <a:r>
              <a:rPr sz="1150" b="1" spc="-60" dirty="0">
                <a:solidFill>
                  <a:srgbClr val="1B294A"/>
                </a:solidFill>
                <a:latin typeface="Times New Roman" panose="02020603050405020304" pitchFamily="18" charset="0"/>
                <a:cs typeface="Times New Roman" panose="02020603050405020304" pitchFamily="18" charset="0"/>
              </a:rPr>
              <a:t>professionnalisme</a:t>
            </a:r>
            <a:r>
              <a:rPr sz="1150" b="1" spc="-45" dirty="0">
                <a:solidFill>
                  <a:srgbClr val="1B294A"/>
                </a:solidFill>
                <a:latin typeface="Times New Roman" panose="02020603050405020304" pitchFamily="18" charset="0"/>
                <a:cs typeface="Times New Roman" panose="02020603050405020304" pitchFamily="18" charset="0"/>
              </a:rPr>
              <a:t> </a:t>
            </a:r>
            <a:r>
              <a:rPr sz="1150" b="1" spc="-20" dirty="0">
                <a:solidFill>
                  <a:srgbClr val="1B294A"/>
                </a:solidFill>
                <a:latin typeface="Times New Roman" panose="02020603050405020304" pitchFamily="18" charset="0"/>
                <a:cs typeface="Times New Roman" panose="02020603050405020304" pitchFamily="18" charset="0"/>
              </a:rPr>
              <a:t>et</a:t>
            </a:r>
            <a:r>
              <a:rPr sz="1150" b="1" spc="-55" dirty="0">
                <a:solidFill>
                  <a:srgbClr val="1B294A"/>
                </a:solidFill>
                <a:latin typeface="Times New Roman" panose="02020603050405020304" pitchFamily="18" charset="0"/>
                <a:cs typeface="Times New Roman" panose="02020603050405020304" pitchFamily="18" charset="0"/>
              </a:rPr>
              <a:t> </a:t>
            </a:r>
            <a:r>
              <a:rPr sz="1150" b="1" spc="-25" dirty="0">
                <a:solidFill>
                  <a:srgbClr val="1B294A"/>
                </a:solidFill>
                <a:latin typeface="Times New Roman" panose="02020603050405020304" pitchFamily="18" charset="0"/>
                <a:cs typeface="Times New Roman" panose="02020603050405020304" pitchFamily="18" charset="0"/>
              </a:rPr>
              <a:t>de </a:t>
            </a:r>
            <a:r>
              <a:rPr sz="1150" b="1" spc="-50" dirty="0">
                <a:solidFill>
                  <a:srgbClr val="1B294A"/>
                </a:solidFill>
                <a:latin typeface="Times New Roman" panose="02020603050405020304" pitchFamily="18" charset="0"/>
                <a:cs typeface="Times New Roman" panose="02020603050405020304" pitchFamily="18" charset="0"/>
              </a:rPr>
              <a:t>dynamisme</a:t>
            </a:r>
            <a:r>
              <a:rPr sz="1100" spc="-50" dirty="0">
                <a:solidFill>
                  <a:srgbClr val="3A4556"/>
                </a:solidFill>
                <a:latin typeface="Times New Roman" panose="02020603050405020304" pitchFamily="18" charset="0"/>
                <a:cs typeface="Times New Roman" panose="02020603050405020304" pitchFamily="18" charset="0"/>
              </a:rPr>
              <a:t>.</a:t>
            </a:r>
            <a:r>
              <a:rPr sz="1100" spc="9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On</a:t>
            </a:r>
            <a:r>
              <a:rPr sz="1100" spc="60" dirty="0">
                <a:solidFill>
                  <a:srgbClr val="3A4556"/>
                </a:solidFill>
                <a:latin typeface="Times New Roman" panose="02020603050405020304" pitchFamily="18" charset="0"/>
                <a:cs typeface="Times New Roman" panose="02020603050405020304" pitchFamily="18" charset="0"/>
              </a:rPr>
              <a:t> y</a:t>
            </a:r>
            <a:r>
              <a:rPr sz="1100" dirty="0">
                <a:solidFill>
                  <a:srgbClr val="3A4556"/>
                </a:solidFill>
                <a:latin typeface="Times New Roman" panose="02020603050405020304" pitchFamily="18" charset="0"/>
                <a:cs typeface="Times New Roman" panose="02020603050405020304" pitchFamily="18" charset="0"/>
              </a:rPr>
              <a:t> trouve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a:t>
            </a:r>
            <a:r>
              <a:rPr sz="1100" spc="6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grand</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titre</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accrocheur</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Votre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talent</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mérite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d'être</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vu</a:t>
            </a:r>
            <a:r>
              <a:rPr sz="1100" spc="6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suivi</a:t>
            </a:r>
            <a:r>
              <a:rPr sz="1100" spc="7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a:t>
            </a:r>
            <a:r>
              <a:rPr sz="1100" spc="-185" dirty="0">
                <a:solidFill>
                  <a:srgbClr val="3A4556"/>
                </a:solidFill>
                <a:latin typeface="Times New Roman" panose="02020603050405020304" pitchFamily="18" charset="0"/>
                <a:cs typeface="Times New Roman" panose="02020603050405020304" pitchFamily="18" charset="0"/>
              </a:rPr>
              <a:t> </a:t>
            </a:r>
            <a:r>
              <a:rPr sz="1100" spc="-25" dirty="0">
                <a:solidFill>
                  <a:srgbClr val="3A4556"/>
                </a:solidFill>
                <a:latin typeface="Times New Roman" panose="02020603050405020304" pitchFamily="18" charset="0"/>
                <a:cs typeface="Times New Roman" panose="02020603050405020304" pitchFamily="18" charset="0"/>
              </a:rPr>
              <a:t>un </a:t>
            </a:r>
            <a:r>
              <a:rPr sz="1100" dirty="0">
                <a:solidFill>
                  <a:srgbClr val="3A4556"/>
                </a:solidFill>
                <a:latin typeface="Times New Roman" panose="02020603050405020304" pitchFamily="18" charset="0"/>
                <a:cs typeface="Times New Roman" panose="02020603050405020304" pitchFamily="18" charset="0"/>
              </a:rPr>
              <a:t>sous-titre</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explicite.</a:t>
            </a:r>
            <a:r>
              <a:rPr sz="1100" spc="9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Deux</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boutons</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a:t>
            </a:r>
            <a:r>
              <a:rPr sz="1100" spc="-18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appel</a:t>
            </a:r>
            <a:r>
              <a:rPr sz="1100" spc="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à</a:t>
            </a:r>
            <a:r>
              <a:rPr sz="1100" spc="6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l'</a:t>
            </a:r>
            <a:r>
              <a:rPr sz="1100" spc="-1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action</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sont</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bien</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visibles</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t>
            </a:r>
            <a:r>
              <a:rPr sz="1100" spc="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Je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suis</a:t>
            </a:r>
            <a:r>
              <a:rPr sz="1100" spc="30"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Freelance</a:t>
            </a:r>
            <a:r>
              <a:rPr sz="1100" spc="15" dirty="0">
                <a:solidFill>
                  <a:srgbClr val="3A4556"/>
                </a:solidFill>
                <a:latin typeface="Times New Roman" panose="02020603050405020304" pitchFamily="18" charset="0"/>
                <a:cs typeface="Times New Roman" panose="02020603050405020304" pitchFamily="18" charset="0"/>
              </a:rPr>
              <a:t> </a:t>
            </a:r>
            <a:r>
              <a:rPr sz="1100" spc="-50" dirty="0">
                <a:solidFill>
                  <a:srgbClr val="3A4556"/>
                </a:solidFill>
                <a:latin typeface="Times New Roman" panose="02020603050405020304" pitchFamily="18" charset="0"/>
                <a:cs typeface="Times New Roman" panose="02020603050405020304" pitchFamily="18" charset="0"/>
              </a:rPr>
              <a:t>»</a:t>
            </a:r>
            <a:r>
              <a:rPr sz="1100" dirty="0">
                <a:solidFill>
                  <a:srgbClr val="3A4556"/>
                </a:solidFill>
                <a:latin typeface="Times New Roman" panose="02020603050405020304" pitchFamily="18" charset="0"/>
                <a:cs typeface="Times New Roman" panose="02020603050405020304" pitchFamily="18" charset="0"/>
              </a:rPr>
              <a:t> et</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Je</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cherche</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a:t>
            </a:r>
            <a:r>
              <a:rPr sz="1100" spc="6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Freelance</a:t>
            </a:r>
            <a:r>
              <a:rPr sz="1100" spc="30" dirty="0">
                <a:solidFill>
                  <a:srgbClr val="3A4556"/>
                </a:solidFill>
                <a:latin typeface="Times New Roman" panose="02020603050405020304" pitchFamily="18" charset="0"/>
                <a:cs typeface="Times New Roman" panose="02020603050405020304" pitchFamily="18" charset="0"/>
              </a:rPr>
              <a:t> </a:t>
            </a:r>
            <a:r>
              <a:rPr sz="1100" spc="-25" dirty="0">
                <a:solidFill>
                  <a:srgbClr val="3A4556"/>
                </a:solidFill>
                <a:latin typeface="Times New Roman" panose="02020603050405020304" pitchFamily="18" charset="0"/>
                <a:cs typeface="Times New Roman" panose="02020603050405020304" pitchFamily="18" charset="0"/>
              </a:rPr>
              <a:t>».</a:t>
            </a:r>
            <a:endParaRPr sz="1100" dirty="0">
              <a:latin typeface="Times New Roman" panose="02020603050405020304" pitchFamily="18" charset="0"/>
              <a:cs typeface="Times New Roman" panose="02020603050405020304" pitchFamily="18" charset="0"/>
            </a:endParaRPr>
          </a:p>
        </p:txBody>
      </p:sp>
      <p:sp>
        <p:nvSpPr>
          <p:cNvPr id="7" name="object 7"/>
          <p:cNvSpPr/>
          <p:nvPr/>
        </p:nvSpPr>
        <p:spPr>
          <a:xfrm>
            <a:off x="609599" y="3771899"/>
            <a:ext cx="28575" cy="685800"/>
          </a:xfrm>
          <a:custGeom>
            <a:avLst/>
            <a:gdLst/>
            <a:ahLst/>
            <a:cxnLst/>
            <a:rect l="l" t="t" r="r" b="b"/>
            <a:pathLst>
              <a:path w="28575" h="685800">
                <a:moveTo>
                  <a:pt x="16182" y="685799"/>
                </a:moveTo>
                <a:lnTo>
                  <a:pt x="12392" y="685799"/>
                </a:lnTo>
                <a:lnTo>
                  <a:pt x="10570" y="685436"/>
                </a:lnTo>
                <a:lnTo>
                  <a:pt x="0" y="673406"/>
                </a:lnTo>
                <a:lnTo>
                  <a:pt x="0" y="671512"/>
                </a:lnTo>
                <a:lnTo>
                  <a:pt x="0" y="12392"/>
                </a:lnTo>
                <a:lnTo>
                  <a:pt x="12392" y="0"/>
                </a:lnTo>
                <a:lnTo>
                  <a:pt x="16182" y="0"/>
                </a:lnTo>
                <a:lnTo>
                  <a:pt x="28575" y="12392"/>
                </a:lnTo>
                <a:lnTo>
                  <a:pt x="28575" y="673406"/>
                </a:lnTo>
                <a:lnTo>
                  <a:pt x="18004" y="685436"/>
                </a:lnTo>
                <a:lnTo>
                  <a:pt x="16182" y="685799"/>
                </a:lnTo>
                <a:close/>
              </a:path>
            </a:pathLst>
          </a:custGeom>
          <a:solidFill>
            <a:srgbClr val="E7EC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txBox="1"/>
          <p:nvPr/>
        </p:nvSpPr>
        <p:spPr>
          <a:xfrm>
            <a:off x="758825" y="3719366"/>
            <a:ext cx="5676265" cy="678327"/>
          </a:xfrm>
          <a:prstGeom prst="rect">
            <a:avLst/>
          </a:prstGeom>
        </p:spPr>
        <p:txBody>
          <a:bodyPr vert="horz" wrap="square" lIns="0" tIns="6350" rIns="0" bIns="0" rtlCol="0">
            <a:spAutoFit/>
          </a:bodyPr>
          <a:lstStyle/>
          <a:p>
            <a:pPr marL="12700" marR="5080">
              <a:lnSpc>
                <a:spcPct val="135200"/>
              </a:lnSpc>
              <a:spcBef>
                <a:spcPts val="50"/>
              </a:spcBef>
            </a:pPr>
            <a:r>
              <a:rPr sz="1100" dirty="0">
                <a:solidFill>
                  <a:srgbClr val="3A4556"/>
                </a:solidFill>
                <a:latin typeface="Times New Roman" panose="02020603050405020304" pitchFamily="18" charset="0"/>
                <a:cs typeface="Times New Roman" panose="02020603050405020304" pitchFamily="18" charset="0"/>
              </a:rPr>
              <a:t>L'organisation</a:t>
            </a:r>
            <a:r>
              <a:rPr sz="1100" spc="5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l'</a:t>
            </a:r>
            <a:r>
              <a:rPr sz="1100" spc="-1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interface</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est</a:t>
            </a:r>
            <a:r>
              <a:rPr sz="1100" spc="10" dirty="0">
                <a:solidFill>
                  <a:srgbClr val="3A4556"/>
                </a:solidFill>
                <a:latin typeface="Times New Roman" panose="02020603050405020304" pitchFamily="18" charset="0"/>
                <a:cs typeface="Times New Roman" panose="02020603050405020304" pitchFamily="18" charset="0"/>
              </a:rPr>
              <a:t> </a:t>
            </a:r>
            <a:r>
              <a:rPr sz="1150" b="1" spc="-45" dirty="0">
                <a:solidFill>
                  <a:srgbClr val="1B294A"/>
                </a:solidFill>
                <a:latin typeface="Times New Roman" panose="02020603050405020304" pitchFamily="18" charset="0"/>
                <a:cs typeface="Times New Roman" panose="02020603050405020304" pitchFamily="18" charset="0"/>
              </a:rPr>
              <a:t>claire</a:t>
            </a:r>
            <a:r>
              <a:rPr sz="1150" b="1" spc="-50" dirty="0">
                <a:solidFill>
                  <a:srgbClr val="1B294A"/>
                </a:solidFill>
                <a:latin typeface="Times New Roman" panose="02020603050405020304" pitchFamily="18" charset="0"/>
                <a:cs typeface="Times New Roman" panose="02020603050405020304" pitchFamily="18" charset="0"/>
              </a:rPr>
              <a:t> </a:t>
            </a:r>
            <a:r>
              <a:rPr sz="1150" b="1" spc="-20" dirty="0">
                <a:solidFill>
                  <a:srgbClr val="1B294A"/>
                </a:solidFill>
                <a:latin typeface="Times New Roman" panose="02020603050405020304" pitchFamily="18" charset="0"/>
                <a:cs typeface="Times New Roman" panose="02020603050405020304" pitchFamily="18" charset="0"/>
              </a:rPr>
              <a:t>et</a:t>
            </a:r>
            <a:r>
              <a:rPr sz="1150" b="1" spc="-55" dirty="0">
                <a:solidFill>
                  <a:srgbClr val="1B294A"/>
                </a:solidFill>
                <a:latin typeface="Times New Roman" panose="02020603050405020304" pitchFamily="18" charset="0"/>
                <a:cs typeface="Times New Roman" panose="02020603050405020304" pitchFamily="18" charset="0"/>
              </a:rPr>
              <a:t> </a:t>
            </a:r>
            <a:r>
              <a:rPr sz="1150" b="1" spc="-45" dirty="0">
                <a:solidFill>
                  <a:srgbClr val="1B294A"/>
                </a:solidFill>
                <a:latin typeface="Times New Roman" panose="02020603050405020304" pitchFamily="18" charset="0"/>
                <a:cs typeface="Times New Roman" panose="02020603050405020304" pitchFamily="18" charset="0"/>
              </a:rPr>
              <a:t>logique</a:t>
            </a:r>
            <a:r>
              <a:rPr sz="1100" spc="-45" dirty="0">
                <a:solidFill>
                  <a:srgbClr val="3A4556"/>
                </a:solidFill>
                <a:latin typeface="Times New Roman" panose="02020603050405020304" pitchFamily="18" charset="0"/>
                <a:cs typeface="Times New Roman" panose="02020603050405020304" pitchFamily="18" charset="0"/>
              </a:rPr>
              <a:t>.</a:t>
            </a:r>
            <a:r>
              <a:rPr sz="1100" spc="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Une</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barre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navigation</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fixe</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en</a:t>
            </a:r>
            <a:r>
              <a:rPr sz="1100" spc="55" dirty="0">
                <a:solidFill>
                  <a:srgbClr val="3A4556"/>
                </a:solidFill>
                <a:latin typeface="Times New Roman" panose="02020603050405020304" pitchFamily="18" charset="0"/>
                <a:cs typeface="Times New Roman" panose="02020603050405020304" pitchFamily="18" charset="0"/>
              </a:rPr>
              <a:t> </a:t>
            </a:r>
            <a:r>
              <a:rPr sz="1100" spc="-20" dirty="0">
                <a:solidFill>
                  <a:srgbClr val="3A4556"/>
                </a:solidFill>
                <a:latin typeface="Times New Roman" panose="02020603050405020304" pitchFamily="18" charset="0"/>
                <a:cs typeface="Times New Roman" panose="02020603050405020304" pitchFamily="18" charset="0"/>
              </a:rPr>
              <a:t>haut </a:t>
            </a:r>
            <a:r>
              <a:rPr sz="1100" dirty="0">
                <a:solidFill>
                  <a:srgbClr val="3A4556"/>
                </a:solidFill>
                <a:latin typeface="Times New Roman" panose="02020603050405020304" pitchFamily="18" charset="0"/>
                <a:cs typeface="Times New Roman" panose="02020603050405020304" pitchFamily="18" charset="0"/>
              </a:rPr>
              <a:t>permet</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a:t>
            </a:r>
            <a:r>
              <a:rPr sz="1100" spc="-1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accéder</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rapidement</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à</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toutes</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les</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sections</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t>
            </a:r>
            <a:r>
              <a:rPr sz="1100" spc="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Accueil,</a:t>
            </a:r>
            <a:r>
              <a:rPr sz="1100" spc="90"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Freelances,</a:t>
            </a:r>
            <a:r>
              <a:rPr sz="1100" spc="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Tarifs,</a:t>
            </a:r>
            <a:r>
              <a:rPr sz="1100" spc="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À</a:t>
            </a:r>
            <a:r>
              <a:rPr sz="1100" spc="-2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propos, </a:t>
            </a:r>
            <a:r>
              <a:rPr sz="1100" dirty="0">
                <a:solidFill>
                  <a:srgbClr val="3A4556"/>
                </a:solidFill>
                <a:latin typeface="Times New Roman" panose="02020603050405020304" pitchFamily="18" charset="0"/>
                <a:cs typeface="Times New Roman" panose="02020603050405020304" pitchFamily="18" charset="0"/>
              </a:rPr>
              <a:t>Blog</a:t>
            </a:r>
            <a:r>
              <a:rPr sz="1100" spc="4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et</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Contact.</a:t>
            </a:r>
            <a:r>
              <a:rPr sz="1100" spc="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bouton</a:t>
            </a:r>
            <a:r>
              <a:rPr sz="1100" spc="5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bascule</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mode</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sombre/clair</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est</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aussi</a:t>
            </a:r>
            <a:r>
              <a:rPr sz="1100" spc="7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présent.</a:t>
            </a:r>
            <a:endParaRPr sz="1100">
              <a:latin typeface="Times New Roman" panose="02020603050405020304" pitchFamily="18" charset="0"/>
              <a:cs typeface="Times New Roman" panose="02020603050405020304" pitchFamily="18" charset="0"/>
            </a:endParaRPr>
          </a:p>
        </p:txBody>
      </p:sp>
      <p:sp>
        <p:nvSpPr>
          <p:cNvPr id="9" name="object 9"/>
          <p:cNvSpPr/>
          <p:nvPr/>
        </p:nvSpPr>
        <p:spPr>
          <a:xfrm>
            <a:off x="609599" y="4648199"/>
            <a:ext cx="28575" cy="676275"/>
          </a:xfrm>
          <a:custGeom>
            <a:avLst/>
            <a:gdLst/>
            <a:ahLst/>
            <a:cxnLst/>
            <a:rect l="l" t="t" r="r" b="b"/>
            <a:pathLst>
              <a:path w="28575" h="676275">
                <a:moveTo>
                  <a:pt x="16182" y="676274"/>
                </a:moveTo>
                <a:lnTo>
                  <a:pt x="12392" y="676274"/>
                </a:lnTo>
                <a:lnTo>
                  <a:pt x="10570" y="675912"/>
                </a:lnTo>
                <a:lnTo>
                  <a:pt x="0" y="663881"/>
                </a:lnTo>
                <a:lnTo>
                  <a:pt x="0" y="661987"/>
                </a:lnTo>
                <a:lnTo>
                  <a:pt x="0" y="12392"/>
                </a:lnTo>
                <a:lnTo>
                  <a:pt x="12392" y="0"/>
                </a:lnTo>
                <a:lnTo>
                  <a:pt x="16182" y="0"/>
                </a:lnTo>
                <a:lnTo>
                  <a:pt x="28575" y="12392"/>
                </a:lnTo>
                <a:lnTo>
                  <a:pt x="28575" y="663881"/>
                </a:lnTo>
                <a:lnTo>
                  <a:pt x="18004" y="675912"/>
                </a:lnTo>
                <a:lnTo>
                  <a:pt x="16182" y="676274"/>
                </a:lnTo>
                <a:close/>
              </a:path>
            </a:pathLst>
          </a:custGeom>
          <a:solidFill>
            <a:srgbClr val="E7EC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txBox="1"/>
          <p:nvPr/>
        </p:nvSpPr>
        <p:spPr>
          <a:xfrm>
            <a:off x="758825" y="4607377"/>
            <a:ext cx="5880100" cy="433324"/>
          </a:xfrm>
          <a:prstGeom prst="rect">
            <a:avLst/>
          </a:prstGeom>
        </p:spPr>
        <p:txBody>
          <a:bodyPr vert="horz" wrap="square" lIns="0" tIns="5080" rIns="0" bIns="0" rtlCol="0">
            <a:spAutoFit/>
          </a:bodyPr>
          <a:lstStyle/>
          <a:p>
            <a:pPr marL="12700" marR="5080">
              <a:lnSpc>
                <a:spcPct val="129500"/>
              </a:lnSpc>
              <a:spcBef>
                <a:spcPts val="40"/>
              </a:spcBef>
            </a:pPr>
            <a:r>
              <a:rPr sz="1100" spc="-65" dirty="0">
                <a:solidFill>
                  <a:srgbClr val="3A4556"/>
                </a:solidFill>
                <a:latin typeface="Times New Roman" panose="02020603050405020304" pitchFamily="18" charset="0"/>
                <a:cs typeface="Times New Roman" panose="02020603050405020304" pitchFamily="18" charset="0"/>
              </a:rPr>
              <a:t>L'</a:t>
            </a:r>
            <a:r>
              <a:rPr sz="1100" spc="-19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impression</a:t>
            </a:r>
            <a:r>
              <a:rPr sz="1100" spc="7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visuelle</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est</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celle</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a:t>
            </a:r>
            <a:r>
              <a:rPr sz="1100" spc="-18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une</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plateforme</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sérieuse,</a:t>
            </a:r>
            <a:r>
              <a:rPr sz="1100" spc="10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avec</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des</a:t>
            </a:r>
            <a:r>
              <a:rPr sz="1100" spc="40" dirty="0">
                <a:solidFill>
                  <a:srgbClr val="3A4556"/>
                </a:solidFill>
                <a:latin typeface="Times New Roman" panose="02020603050405020304" pitchFamily="18" charset="0"/>
                <a:cs typeface="Times New Roman" panose="02020603050405020304" pitchFamily="18" charset="0"/>
              </a:rPr>
              <a:t> </a:t>
            </a:r>
            <a:r>
              <a:rPr sz="1150" b="1" spc="-60" dirty="0">
                <a:solidFill>
                  <a:srgbClr val="1B294A"/>
                </a:solidFill>
                <a:latin typeface="Times New Roman" panose="02020603050405020304" pitchFamily="18" charset="0"/>
                <a:cs typeface="Times New Roman" panose="02020603050405020304" pitchFamily="18" charset="0"/>
              </a:rPr>
              <a:t>animations</a:t>
            </a:r>
            <a:r>
              <a:rPr sz="1150" b="1" spc="-40" dirty="0">
                <a:solidFill>
                  <a:srgbClr val="1B294A"/>
                </a:solidFill>
                <a:latin typeface="Times New Roman" panose="02020603050405020304" pitchFamily="18" charset="0"/>
                <a:cs typeface="Times New Roman" panose="02020603050405020304" pitchFamily="18" charset="0"/>
              </a:rPr>
              <a:t> </a:t>
            </a:r>
            <a:r>
              <a:rPr sz="1150" b="1" spc="-50" dirty="0">
                <a:solidFill>
                  <a:srgbClr val="1B294A"/>
                </a:solidFill>
                <a:latin typeface="Times New Roman" panose="02020603050405020304" pitchFamily="18" charset="0"/>
                <a:cs typeface="Times New Roman" panose="02020603050405020304" pitchFamily="18" charset="0"/>
              </a:rPr>
              <a:t>subtiles</a:t>
            </a:r>
            <a:r>
              <a:rPr sz="1150" b="1" spc="-40" dirty="0">
                <a:solidFill>
                  <a:srgbClr val="1B294A"/>
                </a:solidFill>
                <a:latin typeface="Times New Roman" panose="02020603050405020304" pitchFamily="18" charset="0"/>
                <a:cs typeface="Times New Roman" panose="02020603050405020304" pitchFamily="18" charset="0"/>
              </a:rPr>
              <a:t> </a:t>
            </a:r>
            <a:r>
              <a:rPr sz="1150" b="1" spc="-25" dirty="0">
                <a:solidFill>
                  <a:srgbClr val="1B294A"/>
                </a:solidFill>
                <a:latin typeface="Times New Roman" panose="02020603050405020304" pitchFamily="18" charset="0"/>
                <a:cs typeface="Times New Roman" panose="02020603050405020304" pitchFamily="18" charset="0"/>
              </a:rPr>
              <a:t>au </a:t>
            </a:r>
            <a:r>
              <a:rPr sz="1150" b="1" spc="-35" dirty="0">
                <a:solidFill>
                  <a:srgbClr val="1B294A"/>
                </a:solidFill>
                <a:latin typeface="Times New Roman" panose="02020603050405020304" pitchFamily="18" charset="0"/>
                <a:cs typeface="Times New Roman" panose="02020603050405020304" pitchFamily="18" charset="0"/>
              </a:rPr>
              <a:t>défilement</a:t>
            </a:r>
            <a:r>
              <a:rPr sz="1150" b="1" spc="-5" dirty="0">
                <a:solidFill>
                  <a:srgbClr val="1B294A"/>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(fade-in),</a:t>
            </a:r>
            <a:r>
              <a:rPr sz="1100" spc="114"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des</a:t>
            </a:r>
            <a:r>
              <a:rPr sz="1100" spc="5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compteurs</a:t>
            </a:r>
            <a:r>
              <a:rPr sz="1100" spc="5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animés</a:t>
            </a:r>
            <a:r>
              <a:rPr sz="1100" spc="4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pour</a:t>
            </a:r>
            <a:r>
              <a:rPr sz="1100" spc="3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les</a:t>
            </a:r>
            <a:r>
              <a:rPr sz="1100" spc="5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statistiques</a:t>
            </a:r>
            <a:r>
              <a:rPr sz="1100" spc="4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et</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a:t>
            </a:r>
            <a:r>
              <a:rPr sz="1100" spc="7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design</a:t>
            </a:r>
            <a:r>
              <a:rPr sz="1100" spc="7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responsive</a:t>
            </a:r>
            <a:r>
              <a:rPr sz="1100" spc="40" dirty="0">
                <a:solidFill>
                  <a:srgbClr val="3A4556"/>
                </a:solidFill>
                <a:latin typeface="Times New Roman" panose="02020603050405020304" pitchFamily="18" charset="0"/>
                <a:cs typeface="Times New Roman" panose="02020603050405020304" pitchFamily="18" charset="0"/>
              </a:rPr>
              <a:t> </a:t>
            </a:r>
            <a:r>
              <a:rPr sz="1100" spc="-25" dirty="0">
                <a:solidFill>
                  <a:srgbClr val="3A4556"/>
                </a:solidFill>
                <a:latin typeface="Times New Roman" panose="02020603050405020304" pitchFamily="18" charset="0"/>
                <a:cs typeface="Times New Roman" panose="02020603050405020304" pitchFamily="18" charset="0"/>
              </a:rPr>
              <a:t>qui </a:t>
            </a:r>
            <a:r>
              <a:rPr sz="1100" dirty="0">
                <a:solidFill>
                  <a:srgbClr val="3A4556"/>
                </a:solidFill>
                <a:latin typeface="Times New Roman" panose="02020603050405020304" pitchFamily="18" charset="0"/>
                <a:cs typeface="Times New Roman" panose="02020603050405020304" pitchFamily="18" charset="0"/>
              </a:rPr>
              <a:t>s'</a:t>
            </a:r>
            <a:r>
              <a:rPr sz="1100" spc="-19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adapte</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aux</a:t>
            </a:r>
            <a:r>
              <a:rPr sz="1100" spc="-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mobiles.</a:t>
            </a:r>
            <a:endParaRPr sz="1100">
              <a:latin typeface="Times New Roman" panose="02020603050405020304" pitchFamily="18" charset="0"/>
              <a:cs typeface="Times New Roman" panose="02020603050405020304" pitchFamily="18" charset="0"/>
            </a:endParaRPr>
          </a:p>
        </p:txBody>
      </p:sp>
      <p:grpSp>
        <p:nvGrpSpPr>
          <p:cNvPr id="11" name="object 11"/>
          <p:cNvGrpSpPr/>
          <p:nvPr/>
        </p:nvGrpSpPr>
        <p:grpSpPr>
          <a:xfrm>
            <a:off x="7105649" y="2324099"/>
            <a:ext cx="2162175" cy="1600200"/>
            <a:chOff x="7105649" y="2324099"/>
            <a:chExt cx="2162175" cy="1600200"/>
          </a:xfrm>
        </p:grpSpPr>
        <p:sp>
          <p:nvSpPr>
            <p:cNvPr id="12" name="object 12"/>
            <p:cNvSpPr/>
            <p:nvPr/>
          </p:nvSpPr>
          <p:spPr>
            <a:xfrm>
              <a:off x="7110411" y="2328862"/>
              <a:ext cx="2152650" cy="1590675"/>
            </a:xfrm>
            <a:custGeom>
              <a:avLst/>
              <a:gdLst/>
              <a:ahLst/>
              <a:cxnLst/>
              <a:rect l="l" t="t" r="r" b="b"/>
              <a:pathLst>
                <a:path w="2152650" h="1590675">
                  <a:moveTo>
                    <a:pt x="2032505" y="1590674"/>
                  </a:moveTo>
                  <a:lnTo>
                    <a:pt x="120143" y="1590674"/>
                  </a:lnTo>
                  <a:lnTo>
                    <a:pt x="111781" y="1589851"/>
                  </a:lnTo>
                  <a:lnTo>
                    <a:pt x="71577" y="1577655"/>
                  </a:lnTo>
                  <a:lnTo>
                    <a:pt x="31691" y="1547041"/>
                  </a:lnTo>
                  <a:lnTo>
                    <a:pt x="6556" y="1503494"/>
                  </a:lnTo>
                  <a:lnTo>
                    <a:pt x="0" y="1470530"/>
                  </a:lnTo>
                  <a:lnTo>
                    <a:pt x="0" y="1462087"/>
                  </a:lnTo>
                  <a:lnTo>
                    <a:pt x="0" y="120144"/>
                  </a:lnTo>
                  <a:lnTo>
                    <a:pt x="13018" y="71578"/>
                  </a:lnTo>
                  <a:lnTo>
                    <a:pt x="43632" y="31691"/>
                  </a:lnTo>
                  <a:lnTo>
                    <a:pt x="87178" y="6556"/>
                  </a:lnTo>
                  <a:lnTo>
                    <a:pt x="120143" y="0"/>
                  </a:lnTo>
                  <a:lnTo>
                    <a:pt x="2032505" y="0"/>
                  </a:lnTo>
                  <a:lnTo>
                    <a:pt x="2081069" y="13018"/>
                  </a:lnTo>
                  <a:lnTo>
                    <a:pt x="2120957" y="43632"/>
                  </a:lnTo>
                  <a:lnTo>
                    <a:pt x="2146091" y="87179"/>
                  </a:lnTo>
                  <a:lnTo>
                    <a:pt x="2152649" y="120144"/>
                  </a:lnTo>
                  <a:lnTo>
                    <a:pt x="2152649" y="1470530"/>
                  </a:lnTo>
                  <a:lnTo>
                    <a:pt x="2139629" y="1519095"/>
                  </a:lnTo>
                  <a:lnTo>
                    <a:pt x="2109017" y="1558982"/>
                  </a:lnTo>
                  <a:lnTo>
                    <a:pt x="2065469" y="1584117"/>
                  </a:lnTo>
                  <a:lnTo>
                    <a:pt x="2040867" y="1589851"/>
                  </a:lnTo>
                  <a:lnTo>
                    <a:pt x="2032505" y="159067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7110411" y="2328862"/>
              <a:ext cx="2152650" cy="1590675"/>
            </a:xfrm>
            <a:custGeom>
              <a:avLst/>
              <a:gdLst/>
              <a:ahLst/>
              <a:cxnLst/>
              <a:rect l="l" t="t" r="r" b="b"/>
              <a:pathLst>
                <a:path w="2152650" h="1590675">
                  <a:moveTo>
                    <a:pt x="0" y="1462087"/>
                  </a:moveTo>
                  <a:lnTo>
                    <a:pt x="0" y="128587"/>
                  </a:lnTo>
                  <a:lnTo>
                    <a:pt x="0" y="120144"/>
                  </a:lnTo>
                  <a:lnTo>
                    <a:pt x="823" y="111782"/>
                  </a:lnTo>
                  <a:lnTo>
                    <a:pt x="13018" y="71578"/>
                  </a:lnTo>
                  <a:lnTo>
                    <a:pt x="37662" y="37662"/>
                  </a:lnTo>
                  <a:lnTo>
                    <a:pt x="43632" y="31691"/>
                  </a:lnTo>
                  <a:lnTo>
                    <a:pt x="79378" y="9787"/>
                  </a:lnTo>
                  <a:lnTo>
                    <a:pt x="87178" y="6556"/>
                  </a:lnTo>
                  <a:lnTo>
                    <a:pt x="95219" y="4117"/>
                  </a:lnTo>
                  <a:lnTo>
                    <a:pt x="103500" y="2470"/>
                  </a:lnTo>
                  <a:lnTo>
                    <a:pt x="111781" y="823"/>
                  </a:lnTo>
                  <a:lnTo>
                    <a:pt x="120143" y="0"/>
                  </a:lnTo>
                  <a:lnTo>
                    <a:pt x="128587" y="0"/>
                  </a:lnTo>
                  <a:lnTo>
                    <a:pt x="2024062" y="0"/>
                  </a:lnTo>
                  <a:lnTo>
                    <a:pt x="2032505" y="0"/>
                  </a:lnTo>
                  <a:lnTo>
                    <a:pt x="2040867" y="823"/>
                  </a:lnTo>
                  <a:lnTo>
                    <a:pt x="2081069" y="13018"/>
                  </a:lnTo>
                  <a:lnTo>
                    <a:pt x="2095500" y="21670"/>
                  </a:lnTo>
                  <a:lnTo>
                    <a:pt x="2102521" y="26361"/>
                  </a:lnTo>
                  <a:lnTo>
                    <a:pt x="2109017" y="31691"/>
                  </a:lnTo>
                  <a:lnTo>
                    <a:pt x="2114987" y="37662"/>
                  </a:lnTo>
                  <a:lnTo>
                    <a:pt x="2120957" y="43632"/>
                  </a:lnTo>
                  <a:lnTo>
                    <a:pt x="2126287" y="50127"/>
                  </a:lnTo>
                  <a:lnTo>
                    <a:pt x="2130977" y="57147"/>
                  </a:lnTo>
                  <a:lnTo>
                    <a:pt x="2135668" y="64168"/>
                  </a:lnTo>
                  <a:lnTo>
                    <a:pt x="2150178" y="103501"/>
                  </a:lnTo>
                  <a:lnTo>
                    <a:pt x="2151826" y="111782"/>
                  </a:lnTo>
                  <a:lnTo>
                    <a:pt x="2152649" y="120144"/>
                  </a:lnTo>
                  <a:lnTo>
                    <a:pt x="2152649" y="128587"/>
                  </a:lnTo>
                  <a:lnTo>
                    <a:pt x="2152649" y="1462087"/>
                  </a:lnTo>
                  <a:lnTo>
                    <a:pt x="2152649" y="1470530"/>
                  </a:lnTo>
                  <a:lnTo>
                    <a:pt x="2151826" y="1478892"/>
                  </a:lnTo>
                  <a:lnTo>
                    <a:pt x="2139629" y="1519095"/>
                  </a:lnTo>
                  <a:lnTo>
                    <a:pt x="2130977" y="1533526"/>
                  </a:lnTo>
                  <a:lnTo>
                    <a:pt x="2126287" y="1540546"/>
                  </a:lnTo>
                  <a:lnTo>
                    <a:pt x="2120957" y="1547041"/>
                  </a:lnTo>
                  <a:lnTo>
                    <a:pt x="2114987" y="1553012"/>
                  </a:lnTo>
                  <a:lnTo>
                    <a:pt x="2109017" y="1558982"/>
                  </a:lnTo>
                  <a:lnTo>
                    <a:pt x="2102521" y="1564312"/>
                  </a:lnTo>
                  <a:lnTo>
                    <a:pt x="2095500" y="1569003"/>
                  </a:lnTo>
                  <a:lnTo>
                    <a:pt x="2088480" y="1573694"/>
                  </a:lnTo>
                  <a:lnTo>
                    <a:pt x="2049148" y="1588203"/>
                  </a:lnTo>
                  <a:lnTo>
                    <a:pt x="2032505" y="1590674"/>
                  </a:lnTo>
                  <a:lnTo>
                    <a:pt x="2024062" y="1590674"/>
                  </a:lnTo>
                  <a:lnTo>
                    <a:pt x="128587" y="1590674"/>
                  </a:lnTo>
                  <a:lnTo>
                    <a:pt x="120143" y="1590674"/>
                  </a:lnTo>
                  <a:lnTo>
                    <a:pt x="111781" y="1589851"/>
                  </a:lnTo>
                  <a:lnTo>
                    <a:pt x="103500" y="1588203"/>
                  </a:lnTo>
                  <a:lnTo>
                    <a:pt x="95219" y="1586556"/>
                  </a:lnTo>
                  <a:lnTo>
                    <a:pt x="87178" y="1584117"/>
                  </a:lnTo>
                  <a:lnTo>
                    <a:pt x="79378" y="1580886"/>
                  </a:lnTo>
                  <a:lnTo>
                    <a:pt x="71577" y="1577655"/>
                  </a:lnTo>
                  <a:lnTo>
                    <a:pt x="64166" y="1573694"/>
                  </a:lnTo>
                  <a:lnTo>
                    <a:pt x="57147" y="1569003"/>
                  </a:lnTo>
                  <a:lnTo>
                    <a:pt x="50127" y="1564312"/>
                  </a:lnTo>
                  <a:lnTo>
                    <a:pt x="43632" y="1558982"/>
                  </a:lnTo>
                  <a:lnTo>
                    <a:pt x="37662" y="1553012"/>
                  </a:lnTo>
                  <a:lnTo>
                    <a:pt x="31691" y="1547041"/>
                  </a:lnTo>
                  <a:lnTo>
                    <a:pt x="26361" y="1540546"/>
                  </a:lnTo>
                  <a:lnTo>
                    <a:pt x="21670" y="1533526"/>
                  </a:lnTo>
                  <a:lnTo>
                    <a:pt x="16979" y="1526505"/>
                  </a:lnTo>
                  <a:lnTo>
                    <a:pt x="2470" y="1487173"/>
                  </a:lnTo>
                  <a:lnTo>
                    <a:pt x="0" y="1470530"/>
                  </a:lnTo>
                  <a:lnTo>
                    <a:pt x="0" y="1462087"/>
                  </a:lnTo>
                  <a:close/>
                </a:path>
              </a:pathLst>
            </a:custGeom>
            <a:ln w="9524">
              <a:solidFill>
                <a:srgbClr val="E7ECF1"/>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7426770" y="2504768"/>
            <a:ext cx="1520825" cy="1139414"/>
          </a:xfrm>
          <a:prstGeom prst="rect">
            <a:avLst/>
          </a:prstGeom>
        </p:spPr>
        <p:txBody>
          <a:bodyPr vert="horz" wrap="square" lIns="0" tIns="15875" rIns="0" bIns="0" rtlCol="0">
            <a:spAutoFit/>
          </a:bodyPr>
          <a:lstStyle/>
          <a:p>
            <a:pPr marL="12700" algn="ctr">
              <a:lnSpc>
                <a:spcPts val="3360"/>
              </a:lnSpc>
              <a:spcBef>
                <a:spcPts val="125"/>
              </a:spcBef>
            </a:pPr>
            <a:r>
              <a:rPr sz="3100" b="1" spc="1395" dirty="0">
                <a:solidFill>
                  <a:srgbClr val="E7863A"/>
                </a:solidFill>
                <a:latin typeface="Times New Roman" panose="02020603050405020304" pitchFamily="18" charset="0"/>
                <a:cs typeface="Times New Roman" panose="02020603050405020304" pitchFamily="18" charset="0"/>
              </a:rPr>
              <a:t>2</a:t>
            </a:r>
            <a:endParaRPr sz="3100">
              <a:latin typeface="Times New Roman" panose="02020603050405020304" pitchFamily="18" charset="0"/>
              <a:cs typeface="Times New Roman" panose="02020603050405020304" pitchFamily="18" charset="0"/>
            </a:endParaRPr>
          </a:p>
          <a:p>
            <a:pPr algn="ctr">
              <a:lnSpc>
                <a:spcPts val="3360"/>
              </a:lnSpc>
            </a:pPr>
            <a:r>
              <a:rPr sz="3100" b="1" spc="1450" dirty="0">
                <a:solidFill>
                  <a:srgbClr val="E7863A"/>
                </a:solidFill>
                <a:latin typeface="Times New Roman" panose="02020603050405020304" pitchFamily="18" charset="0"/>
                <a:cs typeface="Times New Roman" panose="02020603050405020304" pitchFamily="18" charset="0"/>
              </a:rPr>
              <a:t>500</a:t>
            </a:r>
            <a:r>
              <a:rPr sz="1250" b="1" spc="1450" dirty="0">
                <a:solidFill>
                  <a:srgbClr val="E7863A"/>
                </a:solidFill>
                <a:latin typeface="Times New Roman" panose="02020603050405020304" pitchFamily="18" charset="0"/>
                <a:cs typeface="Times New Roman" panose="02020603050405020304" pitchFamily="18" charset="0"/>
              </a:rPr>
              <a:t>+</a:t>
            </a:r>
            <a:endParaRPr sz="1250">
              <a:latin typeface="Times New Roman" panose="02020603050405020304" pitchFamily="18" charset="0"/>
              <a:cs typeface="Times New Roman" panose="02020603050405020304" pitchFamily="18" charset="0"/>
            </a:endParaRPr>
          </a:p>
          <a:p>
            <a:pPr algn="ctr">
              <a:lnSpc>
                <a:spcPct val="100000"/>
              </a:lnSpc>
              <a:spcBef>
                <a:spcPts val="655"/>
              </a:spcBef>
            </a:pPr>
            <a:r>
              <a:rPr sz="1050" spc="-10" dirty="0">
                <a:solidFill>
                  <a:srgbClr val="6A798F"/>
                </a:solidFill>
                <a:latin typeface="Times New Roman" panose="02020603050405020304" pitchFamily="18" charset="0"/>
                <a:cs typeface="Times New Roman" panose="02020603050405020304" pitchFamily="18" charset="0"/>
              </a:rPr>
              <a:t>Freelances</a:t>
            </a:r>
            <a:endParaRPr sz="1050">
              <a:latin typeface="Times New Roman" panose="02020603050405020304" pitchFamily="18" charset="0"/>
              <a:cs typeface="Times New Roman" panose="02020603050405020304" pitchFamily="18" charset="0"/>
            </a:endParaRPr>
          </a:p>
        </p:txBody>
      </p:sp>
      <p:grpSp>
        <p:nvGrpSpPr>
          <p:cNvPr id="15" name="object 15"/>
          <p:cNvGrpSpPr/>
          <p:nvPr/>
        </p:nvGrpSpPr>
        <p:grpSpPr>
          <a:xfrm>
            <a:off x="9420223" y="2324099"/>
            <a:ext cx="2162175" cy="1600200"/>
            <a:chOff x="9420223" y="2324099"/>
            <a:chExt cx="2162175" cy="1600200"/>
          </a:xfrm>
        </p:grpSpPr>
        <p:sp>
          <p:nvSpPr>
            <p:cNvPr id="16" name="object 16"/>
            <p:cNvSpPr/>
            <p:nvPr/>
          </p:nvSpPr>
          <p:spPr>
            <a:xfrm>
              <a:off x="9424985" y="2328862"/>
              <a:ext cx="2152650" cy="1590675"/>
            </a:xfrm>
            <a:custGeom>
              <a:avLst/>
              <a:gdLst/>
              <a:ahLst/>
              <a:cxnLst/>
              <a:rect l="l" t="t" r="r" b="b"/>
              <a:pathLst>
                <a:path w="2152650" h="1590675">
                  <a:moveTo>
                    <a:pt x="2032505" y="1590674"/>
                  </a:moveTo>
                  <a:lnTo>
                    <a:pt x="120144" y="1590674"/>
                  </a:lnTo>
                  <a:lnTo>
                    <a:pt x="111782" y="1589851"/>
                  </a:lnTo>
                  <a:lnTo>
                    <a:pt x="71578" y="1577655"/>
                  </a:lnTo>
                  <a:lnTo>
                    <a:pt x="31691" y="1547041"/>
                  </a:lnTo>
                  <a:lnTo>
                    <a:pt x="6556" y="1503494"/>
                  </a:lnTo>
                  <a:lnTo>
                    <a:pt x="0" y="1470530"/>
                  </a:lnTo>
                  <a:lnTo>
                    <a:pt x="0" y="1462087"/>
                  </a:lnTo>
                  <a:lnTo>
                    <a:pt x="0" y="120144"/>
                  </a:lnTo>
                  <a:lnTo>
                    <a:pt x="13018" y="71578"/>
                  </a:lnTo>
                  <a:lnTo>
                    <a:pt x="43632" y="31691"/>
                  </a:lnTo>
                  <a:lnTo>
                    <a:pt x="87178" y="6556"/>
                  </a:lnTo>
                  <a:lnTo>
                    <a:pt x="120144" y="0"/>
                  </a:lnTo>
                  <a:lnTo>
                    <a:pt x="2032505" y="0"/>
                  </a:lnTo>
                  <a:lnTo>
                    <a:pt x="2081071" y="13018"/>
                  </a:lnTo>
                  <a:lnTo>
                    <a:pt x="2120958" y="43632"/>
                  </a:lnTo>
                  <a:lnTo>
                    <a:pt x="2146092" y="87179"/>
                  </a:lnTo>
                  <a:lnTo>
                    <a:pt x="2152650" y="120144"/>
                  </a:lnTo>
                  <a:lnTo>
                    <a:pt x="2152650" y="1470530"/>
                  </a:lnTo>
                  <a:lnTo>
                    <a:pt x="2139630" y="1519095"/>
                  </a:lnTo>
                  <a:lnTo>
                    <a:pt x="2109017" y="1558982"/>
                  </a:lnTo>
                  <a:lnTo>
                    <a:pt x="2065469" y="1584117"/>
                  </a:lnTo>
                  <a:lnTo>
                    <a:pt x="2040867" y="1589851"/>
                  </a:lnTo>
                  <a:lnTo>
                    <a:pt x="2032505" y="159067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9424985" y="2328862"/>
              <a:ext cx="2152650" cy="1590675"/>
            </a:xfrm>
            <a:custGeom>
              <a:avLst/>
              <a:gdLst/>
              <a:ahLst/>
              <a:cxnLst/>
              <a:rect l="l" t="t" r="r" b="b"/>
              <a:pathLst>
                <a:path w="2152650" h="1590675">
                  <a:moveTo>
                    <a:pt x="0" y="1462087"/>
                  </a:moveTo>
                  <a:lnTo>
                    <a:pt x="0" y="128587"/>
                  </a:lnTo>
                  <a:lnTo>
                    <a:pt x="0" y="120144"/>
                  </a:lnTo>
                  <a:lnTo>
                    <a:pt x="823" y="111782"/>
                  </a:lnTo>
                  <a:lnTo>
                    <a:pt x="2470" y="103501"/>
                  </a:lnTo>
                  <a:lnTo>
                    <a:pt x="4117" y="95220"/>
                  </a:lnTo>
                  <a:lnTo>
                    <a:pt x="6556" y="87179"/>
                  </a:lnTo>
                  <a:lnTo>
                    <a:pt x="9787" y="79379"/>
                  </a:lnTo>
                  <a:lnTo>
                    <a:pt x="13018" y="71578"/>
                  </a:lnTo>
                  <a:lnTo>
                    <a:pt x="37662" y="37662"/>
                  </a:lnTo>
                  <a:lnTo>
                    <a:pt x="43632" y="31691"/>
                  </a:lnTo>
                  <a:lnTo>
                    <a:pt x="79378" y="9787"/>
                  </a:lnTo>
                  <a:lnTo>
                    <a:pt x="87178" y="6556"/>
                  </a:lnTo>
                  <a:lnTo>
                    <a:pt x="95219" y="4117"/>
                  </a:lnTo>
                  <a:lnTo>
                    <a:pt x="103500" y="2470"/>
                  </a:lnTo>
                  <a:lnTo>
                    <a:pt x="111782" y="823"/>
                  </a:lnTo>
                  <a:lnTo>
                    <a:pt x="120144" y="0"/>
                  </a:lnTo>
                  <a:lnTo>
                    <a:pt x="128588" y="0"/>
                  </a:lnTo>
                  <a:lnTo>
                    <a:pt x="2024062" y="0"/>
                  </a:lnTo>
                  <a:lnTo>
                    <a:pt x="2032505" y="0"/>
                  </a:lnTo>
                  <a:lnTo>
                    <a:pt x="2040867" y="823"/>
                  </a:lnTo>
                  <a:lnTo>
                    <a:pt x="2081071" y="13018"/>
                  </a:lnTo>
                  <a:lnTo>
                    <a:pt x="2114987" y="37662"/>
                  </a:lnTo>
                  <a:lnTo>
                    <a:pt x="2120958" y="43632"/>
                  </a:lnTo>
                  <a:lnTo>
                    <a:pt x="2126288" y="50127"/>
                  </a:lnTo>
                  <a:lnTo>
                    <a:pt x="2130978" y="57147"/>
                  </a:lnTo>
                  <a:lnTo>
                    <a:pt x="2135670" y="64168"/>
                  </a:lnTo>
                  <a:lnTo>
                    <a:pt x="2150178" y="103501"/>
                  </a:lnTo>
                  <a:lnTo>
                    <a:pt x="2152650" y="120144"/>
                  </a:lnTo>
                  <a:lnTo>
                    <a:pt x="2152650" y="128587"/>
                  </a:lnTo>
                  <a:lnTo>
                    <a:pt x="2152650" y="1462087"/>
                  </a:lnTo>
                  <a:lnTo>
                    <a:pt x="2152650" y="1470530"/>
                  </a:lnTo>
                  <a:lnTo>
                    <a:pt x="2151826" y="1478892"/>
                  </a:lnTo>
                  <a:lnTo>
                    <a:pt x="2139630" y="1519095"/>
                  </a:lnTo>
                  <a:lnTo>
                    <a:pt x="2130978" y="1533526"/>
                  </a:lnTo>
                  <a:lnTo>
                    <a:pt x="2126288" y="1540546"/>
                  </a:lnTo>
                  <a:lnTo>
                    <a:pt x="2095501" y="1569003"/>
                  </a:lnTo>
                  <a:lnTo>
                    <a:pt x="2057428" y="1586556"/>
                  </a:lnTo>
                  <a:lnTo>
                    <a:pt x="2032505" y="1590674"/>
                  </a:lnTo>
                  <a:lnTo>
                    <a:pt x="2024062" y="1590674"/>
                  </a:lnTo>
                  <a:lnTo>
                    <a:pt x="128588" y="1590674"/>
                  </a:lnTo>
                  <a:lnTo>
                    <a:pt x="120144" y="1590674"/>
                  </a:lnTo>
                  <a:lnTo>
                    <a:pt x="111782" y="1589851"/>
                  </a:lnTo>
                  <a:lnTo>
                    <a:pt x="103500" y="1588203"/>
                  </a:lnTo>
                  <a:lnTo>
                    <a:pt x="95219" y="1586556"/>
                  </a:lnTo>
                  <a:lnTo>
                    <a:pt x="87178" y="1584117"/>
                  </a:lnTo>
                  <a:lnTo>
                    <a:pt x="79378" y="1580886"/>
                  </a:lnTo>
                  <a:lnTo>
                    <a:pt x="71578" y="1577655"/>
                  </a:lnTo>
                  <a:lnTo>
                    <a:pt x="37662" y="1553012"/>
                  </a:lnTo>
                  <a:lnTo>
                    <a:pt x="31691" y="1547041"/>
                  </a:lnTo>
                  <a:lnTo>
                    <a:pt x="26361" y="1540546"/>
                  </a:lnTo>
                  <a:lnTo>
                    <a:pt x="21670" y="1533526"/>
                  </a:lnTo>
                  <a:lnTo>
                    <a:pt x="16979" y="1526505"/>
                  </a:lnTo>
                  <a:lnTo>
                    <a:pt x="13018" y="1519095"/>
                  </a:lnTo>
                  <a:lnTo>
                    <a:pt x="9787" y="1511295"/>
                  </a:lnTo>
                  <a:lnTo>
                    <a:pt x="6556" y="1503494"/>
                  </a:lnTo>
                  <a:lnTo>
                    <a:pt x="4117" y="1495453"/>
                  </a:lnTo>
                  <a:lnTo>
                    <a:pt x="2470" y="1487173"/>
                  </a:lnTo>
                  <a:lnTo>
                    <a:pt x="823" y="1478892"/>
                  </a:lnTo>
                  <a:lnTo>
                    <a:pt x="0" y="1470530"/>
                  </a:lnTo>
                  <a:lnTo>
                    <a:pt x="0" y="1462087"/>
                  </a:lnTo>
                  <a:close/>
                </a:path>
              </a:pathLst>
            </a:custGeom>
            <a:ln w="9524">
              <a:solidFill>
                <a:srgbClr val="E7ECF1"/>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8" name="object 18"/>
          <p:cNvSpPr txBox="1"/>
          <p:nvPr/>
        </p:nvSpPr>
        <p:spPr>
          <a:xfrm>
            <a:off x="9726909" y="2452895"/>
            <a:ext cx="1553845" cy="987425"/>
          </a:xfrm>
          <a:prstGeom prst="rect">
            <a:avLst/>
          </a:prstGeom>
        </p:spPr>
        <p:txBody>
          <a:bodyPr vert="horz" wrap="square" lIns="0" tIns="258445" rIns="0" bIns="0" rtlCol="0">
            <a:spAutoFit/>
          </a:bodyPr>
          <a:lstStyle/>
          <a:p>
            <a:pPr algn="ctr">
              <a:lnSpc>
                <a:spcPct val="100000"/>
              </a:lnSpc>
              <a:spcBef>
                <a:spcPts val="2035"/>
              </a:spcBef>
            </a:pPr>
            <a:r>
              <a:rPr sz="3100" b="1" spc="1515" dirty="0">
                <a:solidFill>
                  <a:srgbClr val="E7863A"/>
                </a:solidFill>
                <a:latin typeface="Times New Roman" panose="02020603050405020304" pitchFamily="18" charset="0"/>
                <a:cs typeface="Times New Roman" panose="02020603050405020304" pitchFamily="18" charset="0"/>
              </a:rPr>
              <a:t>800</a:t>
            </a:r>
            <a:r>
              <a:rPr sz="1250" b="1" spc="1515" dirty="0">
                <a:solidFill>
                  <a:srgbClr val="E7863A"/>
                </a:solidFill>
                <a:latin typeface="Times New Roman" panose="02020603050405020304" pitchFamily="18" charset="0"/>
                <a:cs typeface="Times New Roman" panose="02020603050405020304" pitchFamily="18" charset="0"/>
              </a:rPr>
              <a:t>+</a:t>
            </a:r>
            <a:endParaRPr sz="1250">
              <a:latin typeface="Times New Roman" panose="02020603050405020304" pitchFamily="18" charset="0"/>
              <a:cs typeface="Times New Roman" panose="02020603050405020304" pitchFamily="18" charset="0"/>
            </a:endParaRPr>
          </a:p>
          <a:p>
            <a:pPr algn="ctr">
              <a:lnSpc>
                <a:spcPct val="100000"/>
              </a:lnSpc>
              <a:spcBef>
                <a:spcPts val="655"/>
              </a:spcBef>
            </a:pPr>
            <a:r>
              <a:rPr sz="1050" spc="-10" dirty="0">
                <a:solidFill>
                  <a:srgbClr val="6A798F"/>
                </a:solidFill>
                <a:latin typeface="Times New Roman" panose="02020603050405020304" pitchFamily="18" charset="0"/>
                <a:cs typeface="Times New Roman" panose="02020603050405020304" pitchFamily="18" charset="0"/>
              </a:rPr>
              <a:t>Entreprises</a:t>
            </a:r>
            <a:endParaRPr sz="1050">
              <a:latin typeface="Times New Roman" panose="02020603050405020304" pitchFamily="18" charset="0"/>
              <a:cs typeface="Times New Roman" panose="02020603050405020304" pitchFamily="18" charset="0"/>
            </a:endParaRPr>
          </a:p>
        </p:txBody>
      </p:sp>
      <p:grpSp>
        <p:nvGrpSpPr>
          <p:cNvPr id="19" name="object 19"/>
          <p:cNvGrpSpPr/>
          <p:nvPr/>
        </p:nvGrpSpPr>
        <p:grpSpPr>
          <a:xfrm>
            <a:off x="7105649" y="4076699"/>
            <a:ext cx="2162175" cy="1590675"/>
            <a:chOff x="7105649" y="4076699"/>
            <a:chExt cx="2162175" cy="1590675"/>
          </a:xfrm>
        </p:grpSpPr>
        <p:sp>
          <p:nvSpPr>
            <p:cNvPr id="20" name="object 20"/>
            <p:cNvSpPr/>
            <p:nvPr/>
          </p:nvSpPr>
          <p:spPr>
            <a:xfrm>
              <a:off x="7110411" y="4081462"/>
              <a:ext cx="2152650" cy="1581150"/>
            </a:xfrm>
            <a:custGeom>
              <a:avLst/>
              <a:gdLst/>
              <a:ahLst/>
              <a:cxnLst/>
              <a:rect l="l" t="t" r="r" b="b"/>
              <a:pathLst>
                <a:path w="2152650" h="1581150">
                  <a:moveTo>
                    <a:pt x="2032505" y="1581149"/>
                  </a:moveTo>
                  <a:lnTo>
                    <a:pt x="120143" y="1581149"/>
                  </a:lnTo>
                  <a:lnTo>
                    <a:pt x="111781" y="1580325"/>
                  </a:lnTo>
                  <a:lnTo>
                    <a:pt x="71577" y="1568129"/>
                  </a:lnTo>
                  <a:lnTo>
                    <a:pt x="31691" y="1537517"/>
                  </a:lnTo>
                  <a:lnTo>
                    <a:pt x="6556" y="1493969"/>
                  </a:lnTo>
                  <a:lnTo>
                    <a:pt x="0" y="1461005"/>
                  </a:lnTo>
                  <a:lnTo>
                    <a:pt x="0" y="1452562"/>
                  </a:lnTo>
                  <a:lnTo>
                    <a:pt x="0" y="120144"/>
                  </a:lnTo>
                  <a:lnTo>
                    <a:pt x="13018" y="71577"/>
                  </a:lnTo>
                  <a:lnTo>
                    <a:pt x="43632" y="31691"/>
                  </a:lnTo>
                  <a:lnTo>
                    <a:pt x="87178" y="6556"/>
                  </a:lnTo>
                  <a:lnTo>
                    <a:pt x="120143" y="0"/>
                  </a:lnTo>
                  <a:lnTo>
                    <a:pt x="2032505" y="0"/>
                  </a:lnTo>
                  <a:lnTo>
                    <a:pt x="2081069" y="13018"/>
                  </a:lnTo>
                  <a:lnTo>
                    <a:pt x="2120957" y="43631"/>
                  </a:lnTo>
                  <a:lnTo>
                    <a:pt x="2146091" y="87178"/>
                  </a:lnTo>
                  <a:lnTo>
                    <a:pt x="2152649" y="120144"/>
                  </a:lnTo>
                  <a:lnTo>
                    <a:pt x="2152649" y="1461005"/>
                  </a:lnTo>
                  <a:lnTo>
                    <a:pt x="2139629" y="1509569"/>
                  </a:lnTo>
                  <a:lnTo>
                    <a:pt x="2109017" y="1549457"/>
                  </a:lnTo>
                  <a:lnTo>
                    <a:pt x="2065469" y="1574592"/>
                  </a:lnTo>
                  <a:lnTo>
                    <a:pt x="2040867" y="1580325"/>
                  </a:lnTo>
                  <a:lnTo>
                    <a:pt x="2032505" y="1581149"/>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7110411" y="4081462"/>
              <a:ext cx="2152650" cy="1581150"/>
            </a:xfrm>
            <a:custGeom>
              <a:avLst/>
              <a:gdLst/>
              <a:ahLst/>
              <a:cxnLst/>
              <a:rect l="l" t="t" r="r" b="b"/>
              <a:pathLst>
                <a:path w="2152650" h="1581150">
                  <a:moveTo>
                    <a:pt x="0" y="1452562"/>
                  </a:moveTo>
                  <a:lnTo>
                    <a:pt x="0" y="128587"/>
                  </a:lnTo>
                  <a:lnTo>
                    <a:pt x="0" y="120144"/>
                  </a:lnTo>
                  <a:lnTo>
                    <a:pt x="823" y="111781"/>
                  </a:lnTo>
                  <a:lnTo>
                    <a:pt x="13018" y="71577"/>
                  </a:lnTo>
                  <a:lnTo>
                    <a:pt x="21670" y="57147"/>
                  </a:lnTo>
                  <a:lnTo>
                    <a:pt x="26361" y="50127"/>
                  </a:lnTo>
                  <a:lnTo>
                    <a:pt x="31691" y="43631"/>
                  </a:lnTo>
                  <a:lnTo>
                    <a:pt x="37662" y="37661"/>
                  </a:lnTo>
                  <a:lnTo>
                    <a:pt x="43632" y="31691"/>
                  </a:lnTo>
                  <a:lnTo>
                    <a:pt x="50127" y="26361"/>
                  </a:lnTo>
                  <a:lnTo>
                    <a:pt x="57147" y="21670"/>
                  </a:lnTo>
                  <a:lnTo>
                    <a:pt x="64166" y="16979"/>
                  </a:lnTo>
                  <a:lnTo>
                    <a:pt x="71577" y="13018"/>
                  </a:lnTo>
                  <a:lnTo>
                    <a:pt x="79378" y="9787"/>
                  </a:lnTo>
                  <a:lnTo>
                    <a:pt x="87178" y="6556"/>
                  </a:lnTo>
                  <a:lnTo>
                    <a:pt x="95219" y="4117"/>
                  </a:lnTo>
                  <a:lnTo>
                    <a:pt x="103500" y="2470"/>
                  </a:lnTo>
                  <a:lnTo>
                    <a:pt x="111781" y="823"/>
                  </a:lnTo>
                  <a:lnTo>
                    <a:pt x="120143" y="0"/>
                  </a:lnTo>
                  <a:lnTo>
                    <a:pt x="128587" y="0"/>
                  </a:lnTo>
                  <a:lnTo>
                    <a:pt x="2024062" y="0"/>
                  </a:lnTo>
                  <a:lnTo>
                    <a:pt x="2032505" y="0"/>
                  </a:lnTo>
                  <a:lnTo>
                    <a:pt x="2040867" y="823"/>
                  </a:lnTo>
                  <a:lnTo>
                    <a:pt x="2081069" y="13018"/>
                  </a:lnTo>
                  <a:lnTo>
                    <a:pt x="2095500" y="21670"/>
                  </a:lnTo>
                  <a:lnTo>
                    <a:pt x="2102521" y="26361"/>
                  </a:lnTo>
                  <a:lnTo>
                    <a:pt x="2109017" y="31691"/>
                  </a:lnTo>
                  <a:lnTo>
                    <a:pt x="2114987" y="37661"/>
                  </a:lnTo>
                  <a:lnTo>
                    <a:pt x="2120957" y="43631"/>
                  </a:lnTo>
                  <a:lnTo>
                    <a:pt x="2126287" y="50127"/>
                  </a:lnTo>
                  <a:lnTo>
                    <a:pt x="2130977" y="57147"/>
                  </a:lnTo>
                  <a:lnTo>
                    <a:pt x="2135668" y="64167"/>
                  </a:lnTo>
                  <a:lnTo>
                    <a:pt x="2150178" y="103500"/>
                  </a:lnTo>
                  <a:lnTo>
                    <a:pt x="2152649" y="120144"/>
                  </a:lnTo>
                  <a:lnTo>
                    <a:pt x="2152649" y="128587"/>
                  </a:lnTo>
                  <a:lnTo>
                    <a:pt x="2152649" y="1452562"/>
                  </a:lnTo>
                  <a:lnTo>
                    <a:pt x="2152649" y="1461005"/>
                  </a:lnTo>
                  <a:lnTo>
                    <a:pt x="2151826" y="1469367"/>
                  </a:lnTo>
                  <a:lnTo>
                    <a:pt x="2139629" y="1509569"/>
                  </a:lnTo>
                  <a:lnTo>
                    <a:pt x="2130977" y="1524001"/>
                  </a:lnTo>
                  <a:lnTo>
                    <a:pt x="2126287" y="1531021"/>
                  </a:lnTo>
                  <a:lnTo>
                    <a:pt x="2120957" y="1537517"/>
                  </a:lnTo>
                  <a:lnTo>
                    <a:pt x="2114987" y="1543487"/>
                  </a:lnTo>
                  <a:lnTo>
                    <a:pt x="2109017" y="1549457"/>
                  </a:lnTo>
                  <a:lnTo>
                    <a:pt x="2102521" y="1554787"/>
                  </a:lnTo>
                  <a:lnTo>
                    <a:pt x="2095500" y="1559477"/>
                  </a:lnTo>
                  <a:lnTo>
                    <a:pt x="2088480" y="1564168"/>
                  </a:lnTo>
                  <a:lnTo>
                    <a:pt x="2049148" y="1578678"/>
                  </a:lnTo>
                  <a:lnTo>
                    <a:pt x="2024062" y="1581149"/>
                  </a:lnTo>
                  <a:lnTo>
                    <a:pt x="128587" y="1581149"/>
                  </a:lnTo>
                  <a:lnTo>
                    <a:pt x="87178" y="1574592"/>
                  </a:lnTo>
                  <a:lnTo>
                    <a:pt x="50127" y="1554787"/>
                  </a:lnTo>
                  <a:lnTo>
                    <a:pt x="37662" y="1543487"/>
                  </a:lnTo>
                  <a:lnTo>
                    <a:pt x="31691" y="1537517"/>
                  </a:lnTo>
                  <a:lnTo>
                    <a:pt x="26361" y="1531021"/>
                  </a:lnTo>
                  <a:lnTo>
                    <a:pt x="21670" y="1524001"/>
                  </a:lnTo>
                  <a:lnTo>
                    <a:pt x="16979" y="1516980"/>
                  </a:lnTo>
                  <a:lnTo>
                    <a:pt x="2470" y="1477648"/>
                  </a:lnTo>
                  <a:lnTo>
                    <a:pt x="0" y="1461005"/>
                  </a:lnTo>
                  <a:lnTo>
                    <a:pt x="0" y="1452562"/>
                  </a:lnTo>
                  <a:close/>
                </a:path>
              </a:pathLst>
            </a:custGeom>
            <a:ln w="9524">
              <a:solidFill>
                <a:srgbClr val="E7ECF1"/>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22" name="object 22"/>
          <p:cNvSpPr txBox="1"/>
          <p:nvPr/>
        </p:nvSpPr>
        <p:spPr>
          <a:xfrm>
            <a:off x="7413227" y="4257368"/>
            <a:ext cx="1548130" cy="1139414"/>
          </a:xfrm>
          <a:prstGeom prst="rect">
            <a:avLst/>
          </a:prstGeom>
        </p:spPr>
        <p:txBody>
          <a:bodyPr vert="horz" wrap="square" lIns="0" tIns="15875" rIns="0" bIns="0" rtlCol="0">
            <a:spAutoFit/>
          </a:bodyPr>
          <a:lstStyle/>
          <a:p>
            <a:pPr marL="12700" algn="ctr">
              <a:lnSpc>
                <a:spcPts val="3360"/>
              </a:lnSpc>
              <a:spcBef>
                <a:spcPts val="125"/>
              </a:spcBef>
            </a:pPr>
            <a:r>
              <a:rPr sz="3100" b="1" spc="620" dirty="0">
                <a:solidFill>
                  <a:srgbClr val="E7863A"/>
                </a:solidFill>
                <a:latin typeface="Times New Roman" panose="02020603050405020304" pitchFamily="18" charset="0"/>
                <a:cs typeface="Times New Roman" panose="02020603050405020304" pitchFamily="18" charset="0"/>
              </a:rPr>
              <a:t>12</a:t>
            </a:r>
            <a:endParaRPr sz="3100">
              <a:latin typeface="Times New Roman" panose="02020603050405020304" pitchFamily="18" charset="0"/>
              <a:cs typeface="Times New Roman" panose="02020603050405020304" pitchFamily="18" charset="0"/>
            </a:endParaRPr>
          </a:p>
          <a:p>
            <a:pPr algn="ctr">
              <a:lnSpc>
                <a:spcPts val="3360"/>
              </a:lnSpc>
            </a:pPr>
            <a:r>
              <a:rPr sz="3100" b="1" spc="1500" dirty="0">
                <a:solidFill>
                  <a:srgbClr val="E7863A"/>
                </a:solidFill>
                <a:latin typeface="Times New Roman" panose="02020603050405020304" pitchFamily="18" charset="0"/>
                <a:cs typeface="Times New Roman" panose="02020603050405020304" pitchFamily="18" charset="0"/>
              </a:rPr>
              <a:t>000</a:t>
            </a:r>
            <a:r>
              <a:rPr sz="1250" b="1" spc="1500" dirty="0">
                <a:solidFill>
                  <a:srgbClr val="E7863A"/>
                </a:solidFill>
                <a:latin typeface="Times New Roman" panose="02020603050405020304" pitchFamily="18" charset="0"/>
                <a:cs typeface="Times New Roman" panose="02020603050405020304" pitchFamily="18" charset="0"/>
              </a:rPr>
              <a:t>+</a:t>
            </a:r>
            <a:endParaRPr sz="1250">
              <a:latin typeface="Times New Roman" panose="02020603050405020304" pitchFamily="18" charset="0"/>
              <a:cs typeface="Times New Roman" panose="02020603050405020304" pitchFamily="18" charset="0"/>
            </a:endParaRPr>
          </a:p>
          <a:p>
            <a:pPr algn="ctr">
              <a:lnSpc>
                <a:spcPct val="100000"/>
              </a:lnSpc>
              <a:spcBef>
                <a:spcPts val="655"/>
              </a:spcBef>
            </a:pPr>
            <a:r>
              <a:rPr sz="1050" spc="-10" dirty="0">
                <a:solidFill>
                  <a:srgbClr val="6A798F"/>
                </a:solidFill>
                <a:latin typeface="Times New Roman" panose="02020603050405020304" pitchFamily="18" charset="0"/>
                <a:cs typeface="Times New Roman" panose="02020603050405020304" pitchFamily="18" charset="0"/>
              </a:rPr>
              <a:t>Missions</a:t>
            </a:r>
            <a:endParaRPr sz="1050">
              <a:latin typeface="Times New Roman" panose="02020603050405020304" pitchFamily="18" charset="0"/>
              <a:cs typeface="Times New Roman" panose="02020603050405020304" pitchFamily="18" charset="0"/>
            </a:endParaRPr>
          </a:p>
        </p:txBody>
      </p:sp>
      <p:grpSp>
        <p:nvGrpSpPr>
          <p:cNvPr id="23" name="object 23"/>
          <p:cNvGrpSpPr/>
          <p:nvPr/>
        </p:nvGrpSpPr>
        <p:grpSpPr>
          <a:xfrm>
            <a:off x="9420223" y="4076699"/>
            <a:ext cx="2162175" cy="1590675"/>
            <a:chOff x="9420223" y="4076699"/>
            <a:chExt cx="2162175" cy="1590675"/>
          </a:xfrm>
        </p:grpSpPr>
        <p:sp>
          <p:nvSpPr>
            <p:cNvPr id="24" name="object 24"/>
            <p:cNvSpPr/>
            <p:nvPr/>
          </p:nvSpPr>
          <p:spPr>
            <a:xfrm>
              <a:off x="9424985" y="4081462"/>
              <a:ext cx="2152650" cy="1581150"/>
            </a:xfrm>
            <a:custGeom>
              <a:avLst/>
              <a:gdLst/>
              <a:ahLst/>
              <a:cxnLst/>
              <a:rect l="l" t="t" r="r" b="b"/>
              <a:pathLst>
                <a:path w="2152650" h="1581150">
                  <a:moveTo>
                    <a:pt x="2032505" y="1581149"/>
                  </a:moveTo>
                  <a:lnTo>
                    <a:pt x="120144" y="1581149"/>
                  </a:lnTo>
                  <a:lnTo>
                    <a:pt x="111782" y="1580325"/>
                  </a:lnTo>
                  <a:lnTo>
                    <a:pt x="71578" y="1568129"/>
                  </a:lnTo>
                  <a:lnTo>
                    <a:pt x="31691" y="1537517"/>
                  </a:lnTo>
                  <a:lnTo>
                    <a:pt x="6556" y="1493969"/>
                  </a:lnTo>
                  <a:lnTo>
                    <a:pt x="0" y="1461005"/>
                  </a:lnTo>
                  <a:lnTo>
                    <a:pt x="0" y="1452562"/>
                  </a:lnTo>
                  <a:lnTo>
                    <a:pt x="0" y="120144"/>
                  </a:lnTo>
                  <a:lnTo>
                    <a:pt x="13018" y="71577"/>
                  </a:lnTo>
                  <a:lnTo>
                    <a:pt x="43632" y="31691"/>
                  </a:lnTo>
                  <a:lnTo>
                    <a:pt x="87178" y="6556"/>
                  </a:lnTo>
                  <a:lnTo>
                    <a:pt x="120144" y="0"/>
                  </a:lnTo>
                  <a:lnTo>
                    <a:pt x="2032505" y="0"/>
                  </a:lnTo>
                  <a:lnTo>
                    <a:pt x="2081071" y="13018"/>
                  </a:lnTo>
                  <a:lnTo>
                    <a:pt x="2120958" y="43631"/>
                  </a:lnTo>
                  <a:lnTo>
                    <a:pt x="2146092" y="87178"/>
                  </a:lnTo>
                  <a:lnTo>
                    <a:pt x="2152650" y="120144"/>
                  </a:lnTo>
                  <a:lnTo>
                    <a:pt x="2152650" y="1461005"/>
                  </a:lnTo>
                  <a:lnTo>
                    <a:pt x="2139630" y="1509569"/>
                  </a:lnTo>
                  <a:lnTo>
                    <a:pt x="2109017" y="1549457"/>
                  </a:lnTo>
                  <a:lnTo>
                    <a:pt x="2065469" y="1574592"/>
                  </a:lnTo>
                  <a:lnTo>
                    <a:pt x="2040867" y="1580325"/>
                  </a:lnTo>
                  <a:lnTo>
                    <a:pt x="2032505" y="1581149"/>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5" name="object 25"/>
            <p:cNvSpPr/>
            <p:nvPr/>
          </p:nvSpPr>
          <p:spPr>
            <a:xfrm>
              <a:off x="9424985" y="4081462"/>
              <a:ext cx="2152650" cy="1581150"/>
            </a:xfrm>
            <a:custGeom>
              <a:avLst/>
              <a:gdLst/>
              <a:ahLst/>
              <a:cxnLst/>
              <a:rect l="l" t="t" r="r" b="b"/>
              <a:pathLst>
                <a:path w="2152650" h="1581150">
                  <a:moveTo>
                    <a:pt x="0" y="1452562"/>
                  </a:moveTo>
                  <a:lnTo>
                    <a:pt x="0" y="128587"/>
                  </a:lnTo>
                  <a:lnTo>
                    <a:pt x="0" y="120144"/>
                  </a:lnTo>
                  <a:lnTo>
                    <a:pt x="823" y="111781"/>
                  </a:lnTo>
                  <a:lnTo>
                    <a:pt x="13018" y="71577"/>
                  </a:lnTo>
                  <a:lnTo>
                    <a:pt x="37662" y="37661"/>
                  </a:lnTo>
                  <a:lnTo>
                    <a:pt x="43632" y="31691"/>
                  </a:lnTo>
                  <a:lnTo>
                    <a:pt x="50127" y="26361"/>
                  </a:lnTo>
                  <a:lnTo>
                    <a:pt x="57147" y="21670"/>
                  </a:lnTo>
                  <a:lnTo>
                    <a:pt x="64167" y="16979"/>
                  </a:lnTo>
                  <a:lnTo>
                    <a:pt x="71578" y="13018"/>
                  </a:lnTo>
                  <a:lnTo>
                    <a:pt x="79378" y="9787"/>
                  </a:lnTo>
                  <a:lnTo>
                    <a:pt x="87178" y="6556"/>
                  </a:lnTo>
                  <a:lnTo>
                    <a:pt x="95219" y="4117"/>
                  </a:lnTo>
                  <a:lnTo>
                    <a:pt x="103500" y="2470"/>
                  </a:lnTo>
                  <a:lnTo>
                    <a:pt x="111782" y="823"/>
                  </a:lnTo>
                  <a:lnTo>
                    <a:pt x="120144" y="0"/>
                  </a:lnTo>
                  <a:lnTo>
                    <a:pt x="128588" y="0"/>
                  </a:lnTo>
                  <a:lnTo>
                    <a:pt x="2024062" y="0"/>
                  </a:lnTo>
                  <a:lnTo>
                    <a:pt x="2032505" y="0"/>
                  </a:lnTo>
                  <a:lnTo>
                    <a:pt x="2040867" y="823"/>
                  </a:lnTo>
                  <a:lnTo>
                    <a:pt x="2081071" y="13018"/>
                  </a:lnTo>
                  <a:lnTo>
                    <a:pt x="2114987" y="37661"/>
                  </a:lnTo>
                  <a:lnTo>
                    <a:pt x="2120958" y="43631"/>
                  </a:lnTo>
                  <a:lnTo>
                    <a:pt x="2126288" y="50127"/>
                  </a:lnTo>
                  <a:lnTo>
                    <a:pt x="2130978" y="57147"/>
                  </a:lnTo>
                  <a:lnTo>
                    <a:pt x="2135670" y="64167"/>
                  </a:lnTo>
                  <a:lnTo>
                    <a:pt x="2150178" y="103500"/>
                  </a:lnTo>
                  <a:lnTo>
                    <a:pt x="2152650" y="120144"/>
                  </a:lnTo>
                  <a:lnTo>
                    <a:pt x="2152650" y="128587"/>
                  </a:lnTo>
                  <a:lnTo>
                    <a:pt x="2152650" y="1452562"/>
                  </a:lnTo>
                  <a:lnTo>
                    <a:pt x="2152650" y="1461005"/>
                  </a:lnTo>
                  <a:lnTo>
                    <a:pt x="2151826" y="1469367"/>
                  </a:lnTo>
                  <a:lnTo>
                    <a:pt x="2139630" y="1509569"/>
                  </a:lnTo>
                  <a:lnTo>
                    <a:pt x="2130978" y="1524001"/>
                  </a:lnTo>
                  <a:lnTo>
                    <a:pt x="2126288" y="1531021"/>
                  </a:lnTo>
                  <a:lnTo>
                    <a:pt x="2095501" y="1559477"/>
                  </a:lnTo>
                  <a:lnTo>
                    <a:pt x="2057428" y="1577031"/>
                  </a:lnTo>
                  <a:lnTo>
                    <a:pt x="2024062" y="1581149"/>
                  </a:lnTo>
                  <a:lnTo>
                    <a:pt x="128588" y="1581149"/>
                  </a:lnTo>
                  <a:lnTo>
                    <a:pt x="87178" y="1574592"/>
                  </a:lnTo>
                  <a:lnTo>
                    <a:pt x="50127" y="1554787"/>
                  </a:lnTo>
                  <a:lnTo>
                    <a:pt x="37662" y="1543487"/>
                  </a:lnTo>
                  <a:lnTo>
                    <a:pt x="31691" y="1537517"/>
                  </a:lnTo>
                  <a:lnTo>
                    <a:pt x="26361" y="1531021"/>
                  </a:lnTo>
                  <a:lnTo>
                    <a:pt x="21670" y="1524001"/>
                  </a:lnTo>
                  <a:lnTo>
                    <a:pt x="16979" y="1516980"/>
                  </a:lnTo>
                  <a:lnTo>
                    <a:pt x="2470" y="1477648"/>
                  </a:lnTo>
                  <a:lnTo>
                    <a:pt x="0" y="1461005"/>
                  </a:lnTo>
                  <a:lnTo>
                    <a:pt x="0" y="1452562"/>
                  </a:lnTo>
                  <a:close/>
                </a:path>
              </a:pathLst>
            </a:custGeom>
            <a:ln w="9524">
              <a:solidFill>
                <a:srgbClr val="E7ECF1"/>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26" name="object 26"/>
          <p:cNvSpPr txBox="1"/>
          <p:nvPr/>
        </p:nvSpPr>
        <p:spPr>
          <a:xfrm>
            <a:off x="10041085" y="4205495"/>
            <a:ext cx="925830" cy="987425"/>
          </a:xfrm>
          <a:prstGeom prst="rect">
            <a:avLst/>
          </a:prstGeom>
        </p:spPr>
        <p:txBody>
          <a:bodyPr vert="horz" wrap="square" lIns="0" tIns="258445" rIns="0" bIns="0" rtlCol="0">
            <a:spAutoFit/>
          </a:bodyPr>
          <a:lstStyle/>
          <a:p>
            <a:pPr algn="ctr">
              <a:lnSpc>
                <a:spcPct val="100000"/>
              </a:lnSpc>
              <a:spcBef>
                <a:spcPts val="2035"/>
              </a:spcBef>
            </a:pPr>
            <a:r>
              <a:rPr sz="3100" b="1" spc="935" dirty="0">
                <a:solidFill>
                  <a:srgbClr val="E7863A"/>
                </a:solidFill>
                <a:latin typeface="Times New Roman" panose="02020603050405020304" pitchFamily="18" charset="0"/>
                <a:cs typeface="Times New Roman" panose="02020603050405020304" pitchFamily="18" charset="0"/>
              </a:rPr>
              <a:t>15</a:t>
            </a:r>
            <a:r>
              <a:rPr sz="1250" b="1" spc="935" dirty="0">
                <a:solidFill>
                  <a:srgbClr val="E7863A"/>
                </a:solidFill>
                <a:latin typeface="Times New Roman" panose="02020603050405020304" pitchFamily="18" charset="0"/>
                <a:cs typeface="Times New Roman" panose="02020603050405020304" pitchFamily="18" charset="0"/>
              </a:rPr>
              <a:t>+</a:t>
            </a:r>
            <a:endParaRPr sz="1250">
              <a:latin typeface="Times New Roman" panose="02020603050405020304" pitchFamily="18" charset="0"/>
              <a:cs typeface="Times New Roman" panose="02020603050405020304" pitchFamily="18" charset="0"/>
            </a:endParaRPr>
          </a:p>
          <a:p>
            <a:pPr algn="ctr">
              <a:lnSpc>
                <a:spcPct val="100000"/>
              </a:lnSpc>
              <a:spcBef>
                <a:spcPts val="655"/>
              </a:spcBef>
            </a:pPr>
            <a:r>
              <a:rPr sz="1050" spc="-20" dirty="0">
                <a:solidFill>
                  <a:srgbClr val="6A798F"/>
                </a:solidFill>
                <a:latin typeface="Times New Roman" panose="02020603050405020304" pitchFamily="18" charset="0"/>
                <a:cs typeface="Times New Roman" panose="02020603050405020304" pitchFamily="18" charset="0"/>
              </a:rPr>
              <a:t>Pays</a:t>
            </a:r>
            <a:endParaRPr sz="1050">
              <a:latin typeface="Times New Roman" panose="02020603050405020304" pitchFamily="18" charset="0"/>
              <a:cs typeface="Times New Roman" panose="02020603050405020304" pitchFamily="18" charset="0"/>
            </a:endParaRPr>
          </a:p>
        </p:txBody>
      </p:sp>
      <p:pic>
        <p:nvPicPr>
          <p:cNvPr id="27" name="object 27"/>
          <p:cNvPicPr/>
          <p:nvPr/>
        </p:nvPicPr>
        <p:blipFill>
          <a:blip r:embed="rId3" cstate="print"/>
          <a:stretch>
            <a:fillRect/>
          </a:stretch>
        </p:blipFill>
        <p:spPr>
          <a:xfrm>
            <a:off x="0" y="0"/>
            <a:ext cx="12191999" cy="47624"/>
          </a:xfrm>
          <a:prstGeom prst="rect">
            <a:avLst/>
          </a:prstGeom>
        </p:spPr>
      </p:pic>
      <p:sp>
        <p:nvSpPr>
          <p:cNvPr id="28" name="object 28"/>
          <p:cNvSpPr txBox="1"/>
          <p:nvPr/>
        </p:nvSpPr>
        <p:spPr>
          <a:xfrm>
            <a:off x="11438880" y="6467429"/>
            <a:ext cx="155575" cy="146835"/>
          </a:xfrm>
          <a:prstGeom prst="rect">
            <a:avLst/>
          </a:prstGeom>
        </p:spPr>
        <p:txBody>
          <a:bodyPr vert="horz" wrap="square" lIns="0" tIns="15875" rIns="0" bIns="0" rtlCol="0">
            <a:spAutoFit/>
          </a:bodyPr>
          <a:lstStyle/>
          <a:p>
            <a:pPr marL="12700">
              <a:lnSpc>
                <a:spcPct val="100000"/>
              </a:lnSpc>
              <a:spcBef>
                <a:spcPts val="125"/>
              </a:spcBef>
            </a:pPr>
            <a:r>
              <a:rPr sz="850" spc="-25" dirty="0">
                <a:solidFill>
                  <a:srgbClr val="6A798F"/>
                </a:solidFill>
                <a:latin typeface="Times New Roman" panose="02020603050405020304" pitchFamily="18" charset="0"/>
                <a:cs typeface="Times New Roman" panose="02020603050405020304" pitchFamily="18" charset="0"/>
              </a:rPr>
              <a:t>03</a:t>
            </a:r>
            <a:endParaRPr sz="85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523830"/>
            <a:ext cx="1289685" cy="293029"/>
          </a:xfrm>
          <a:prstGeom prst="rect">
            <a:avLst/>
          </a:prstGeom>
        </p:spPr>
        <p:txBody>
          <a:bodyPr vert="horz" wrap="square" lIns="0" tIns="15875" rIns="0" bIns="0" rtlCol="0">
            <a:spAutoFit/>
          </a:bodyPr>
          <a:lstStyle/>
          <a:p>
            <a:pPr marL="12700">
              <a:lnSpc>
                <a:spcPct val="100000"/>
              </a:lnSpc>
              <a:spcBef>
                <a:spcPts val="125"/>
              </a:spcBef>
            </a:pPr>
            <a:r>
              <a:rPr sz="900" b="1" spc="-40" dirty="0">
                <a:solidFill>
                  <a:srgbClr val="E7863A"/>
                </a:solidFill>
                <a:latin typeface="Times New Roman" panose="02020603050405020304" pitchFamily="18" charset="0"/>
                <a:cs typeface="Times New Roman" panose="02020603050405020304" pitchFamily="18" charset="0"/>
              </a:rPr>
              <a:t>F</a:t>
            </a:r>
            <a:r>
              <a:rPr sz="900" b="1" spc="-85" dirty="0">
                <a:solidFill>
                  <a:srgbClr val="E7863A"/>
                </a:solidFill>
                <a:latin typeface="Times New Roman" panose="02020603050405020304" pitchFamily="18" charset="0"/>
                <a:cs typeface="Times New Roman" panose="02020603050405020304" pitchFamily="18" charset="0"/>
              </a:rPr>
              <a:t> </a:t>
            </a:r>
            <a:r>
              <a:rPr sz="900" b="1" spc="-20" dirty="0">
                <a:solidFill>
                  <a:srgbClr val="E7863A"/>
                </a:solidFill>
                <a:latin typeface="Times New Roman" panose="02020603050405020304" pitchFamily="18" charset="0"/>
                <a:cs typeface="Times New Roman" panose="02020603050405020304" pitchFamily="18" charset="0"/>
              </a:rPr>
              <a:t>O</a:t>
            </a:r>
            <a:r>
              <a:rPr sz="900" b="1" spc="-95" dirty="0">
                <a:solidFill>
                  <a:srgbClr val="E7863A"/>
                </a:solidFill>
                <a:latin typeface="Times New Roman" panose="02020603050405020304" pitchFamily="18" charset="0"/>
                <a:cs typeface="Times New Roman" panose="02020603050405020304" pitchFamily="18" charset="0"/>
              </a:rPr>
              <a:t> </a:t>
            </a:r>
            <a:r>
              <a:rPr sz="900" b="1" dirty="0">
                <a:solidFill>
                  <a:srgbClr val="E7863A"/>
                </a:solidFill>
                <a:latin typeface="Times New Roman" panose="02020603050405020304" pitchFamily="18" charset="0"/>
                <a:cs typeface="Times New Roman" panose="02020603050405020304" pitchFamily="18" charset="0"/>
              </a:rPr>
              <a:t>N</a:t>
            </a:r>
            <a:r>
              <a:rPr sz="900" b="1" spc="-75" dirty="0">
                <a:solidFill>
                  <a:srgbClr val="E7863A"/>
                </a:solidFill>
                <a:latin typeface="Times New Roman" panose="02020603050405020304" pitchFamily="18" charset="0"/>
                <a:cs typeface="Times New Roman" panose="02020603050405020304" pitchFamily="18" charset="0"/>
              </a:rPr>
              <a:t> </a:t>
            </a:r>
            <a:r>
              <a:rPr sz="900" b="1" dirty="0">
                <a:solidFill>
                  <a:srgbClr val="E7863A"/>
                </a:solidFill>
                <a:latin typeface="Times New Roman" panose="02020603050405020304" pitchFamily="18" charset="0"/>
                <a:cs typeface="Times New Roman" panose="02020603050405020304" pitchFamily="18" charset="0"/>
              </a:rPr>
              <a:t>C</a:t>
            </a:r>
            <a:r>
              <a:rPr sz="900" b="1" spc="-95" dirty="0">
                <a:solidFill>
                  <a:srgbClr val="E7863A"/>
                </a:solidFill>
                <a:latin typeface="Times New Roman" panose="02020603050405020304" pitchFamily="18" charset="0"/>
                <a:cs typeface="Times New Roman" panose="02020603050405020304" pitchFamily="18" charset="0"/>
              </a:rPr>
              <a:t> </a:t>
            </a:r>
            <a:r>
              <a:rPr sz="900" b="1" dirty="0">
                <a:solidFill>
                  <a:srgbClr val="E7863A"/>
                </a:solidFill>
                <a:latin typeface="Times New Roman" panose="02020603050405020304" pitchFamily="18" charset="0"/>
                <a:cs typeface="Times New Roman" panose="02020603050405020304" pitchFamily="18" charset="0"/>
              </a:rPr>
              <a:t>T</a:t>
            </a:r>
            <a:r>
              <a:rPr sz="900" b="1" spc="-95" dirty="0">
                <a:solidFill>
                  <a:srgbClr val="E7863A"/>
                </a:solidFill>
                <a:latin typeface="Times New Roman" panose="02020603050405020304" pitchFamily="18" charset="0"/>
                <a:cs typeface="Times New Roman" panose="02020603050405020304" pitchFamily="18" charset="0"/>
              </a:rPr>
              <a:t> </a:t>
            </a:r>
            <a:r>
              <a:rPr sz="900" b="1" spc="-55" dirty="0">
                <a:solidFill>
                  <a:srgbClr val="E7863A"/>
                </a:solidFill>
                <a:latin typeface="Times New Roman" panose="02020603050405020304" pitchFamily="18" charset="0"/>
                <a:cs typeface="Times New Roman" panose="02020603050405020304" pitchFamily="18" charset="0"/>
              </a:rPr>
              <a:t>I</a:t>
            </a:r>
            <a:r>
              <a:rPr sz="900" b="1" spc="-30" dirty="0">
                <a:solidFill>
                  <a:srgbClr val="E7863A"/>
                </a:solidFill>
                <a:latin typeface="Times New Roman" panose="02020603050405020304" pitchFamily="18" charset="0"/>
                <a:cs typeface="Times New Roman" panose="02020603050405020304" pitchFamily="18" charset="0"/>
              </a:rPr>
              <a:t> </a:t>
            </a:r>
            <a:r>
              <a:rPr sz="900" b="1" spc="-20" dirty="0">
                <a:solidFill>
                  <a:srgbClr val="E7863A"/>
                </a:solidFill>
                <a:latin typeface="Times New Roman" panose="02020603050405020304" pitchFamily="18" charset="0"/>
                <a:cs typeface="Times New Roman" panose="02020603050405020304" pitchFamily="18" charset="0"/>
              </a:rPr>
              <a:t>O</a:t>
            </a:r>
            <a:r>
              <a:rPr sz="900" b="1" spc="-95" dirty="0">
                <a:solidFill>
                  <a:srgbClr val="E7863A"/>
                </a:solidFill>
                <a:latin typeface="Times New Roman" panose="02020603050405020304" pitchFamily="18" charset="0"/>
                <a:cs typeface="Times New Roman" panose="02020603050405020304" pitchFamily="18" charset="0"/>
              </a:rPr>
              <a:t> </a:t>
            </a:r>
            <a:r>
              <a:rPr sz="900" b="1" dirty="0">
                <a:solidFill>
                  <a:srgbClr val="E7863A"/>
                </a:solidFill>
                <a:latin typeface="Times New Roman" panose="02020603050405020304" pitchFamily="18" charset="0"/>
                <a:cs typeface="Times New Roman" panose="02020603050405020304" pitchFamily="18" charset="0"/>
              </a:rPr>
              <a:t>N</a:t>
            </a:r>
            <a:r>
              <a:rPr sz="900" b="1" spc="-70" dirty="0">
                <a:solidFill>
                  <a:srgbClr val="E7863A"/>
                </a:solidFill>
                <a:latin typeface="Times New Roman" panose="02020603050405020304" pitchFamily="18" charset="0"/>
                <a:cs typeface="Times New Roman" panose="02020603050405020304" pitchFamily="18" charset="0"/>
              </a:rPr>
              <a:t> </a:t>
            </a:r>
            <a:r>
              <a:rPr sz="900" b="1" dirty="0">
                <a:solidFill>
                  <a:srgbClr val="E7863A"/>
                </a:solidFill>
                <a:latin typeface="Times New Roman" panose="02020603050405020304" pitchFamily="18" charset="0"/>
                <a:cs typeface="Times New Roman" panose="02020603050405020304" pitchFamily="18" charset="0"/>
              </a:rPr>
              <a:t>N</a:t>
            </a:r>
            <a:r>
              <a:rPr sz="900" b="1" spc="-75" dirty="0">
                <a:solidFill>
                  <a:srgbClr val="E7863A"/>
                </a:solidFill>
                <a:latin typeface="Times New Roman" panose="02020603050405020304" pitchFamily="18" charset="0"/>
                <a:cs typeface="Times New Roman" panose="02020603050405020304" pitchFamily="18" charset="0"/>
              </a:rPr>
              <a:t> </a:t>
            </a:r>
            <a:r>
              <a:rPr sz="900" b="1" spc="-80" dirty="0">
                <a:solidFill>
                  <a:srgbClr val="E7863A"/>
                </a:solidFill>
                <a:latin typeface="Times New Roman" panose="02020603050405020304" pitchFamily="18" charset="0"/>
                <a:cs typeface="Times New Roman" panose="02020603050405020304" pitchFamily="18" charset="0"/>
              </a:rPr>
              <a:t>E</a:t>
            </a:r>
            <a:r>
              <a:rPr sz="900" b="1" spc="-70" dirty="0">
                <a:solidFill>
                  <a:srgbClr val="E7863A"/>
                </a:solidFill>
                <a:latin typeface="Times New Roman" panose="02020603050405020304" pitchFamily="18" charset="0"/>
                <a:cs typeface="Times New Roman" panose="02020603050405020304" pitchFamily="18" charset="0"/>
              </a:rPr>
              <a:t> </a:t>
            </a:r>
            <a:r>
              <a:rPr sz="900" b="1" spc="70" dirty="0">
                <a:solidFill>
                  <a:srgbClr val="E7863A"/>
                </a:solidFill>
                <a:latin typeface="Times New Roman" panose="02020603050405020304" pitchFamily="18" charset="0"/>
                <a:cs typeface="Times New Roman" panose="02020603050405020304" pitchFamily="18" charset="0"/>
              </a:rPr>
              <a:t>M</a:t>
            </a:r>
            <a:r>
              <a:rPr sz="900" b="1" spc="-90" dirty="0">
                <a:solidFill>
                  <a:srgbClr val="E7863A"/>
                </a:solidFill>
                <a:latin typeface="Times New Roman" panose="02020603050405020304" pitchFamily="18" charset="0"/>
                <a:cs typeface="Times New Roman" panose="02020603050405020304" pitchFamily="18" charset="0"/>
              </a:rPr>
              <a:t> </a:t>
            </a:r>
            <a:r>
              <a:rPr sz="900" b="1" spc="-80" dirty="0">
                <a:solidFill>
                  <a:srgbClr val="E7863A"/>
                </a:solidFill>
                <a:latin typeface="Times New Roman" panose="02020603050405020304" pitchFamily="18" charset="0"/>
                <a:cs typeface="Times New Roman" panose="02020603050405020304" pitchFamily="18" charset="0"/>
              </a:rPr>
              <a:t>E</a:t>
            </a:r>
            <a:r>
              <a:rPr sz="900" b="1" spc="-75" dirty="0">
                <a:solidFill>
                  <a:srgbClr val="E7863A"/>
                </a:solidFill>
                <a:latin typeface="Times New Roman" panose="02020603050405020304" pitchFamily="18" charset="0"/>
                <a:cs typeface="Times New Roman" panose="02020603050405020304" pitchFamily="18" charset="0"/>
              </a:rPr>
              <a:t> </a:t>
            </a:r>
            <a:r>
              <a:rPr sz="900" b="1" dirty="0">
                <a:solidFill>
                  <a:srgbClr val="E7863A"/>
                </a:solidFill>
                <a:latin typeface="Times New Roman" panose="02020603050405020304" pitchFamily="18" charset="0"/>
                <a:cs typeface="Times New Roman" panose="02020603050405020304" pitchFamily="18" charset="0"/>
              </a:rPr>
              <a:t>N</a:t>
            </a:r>
            <a:r>
              <a:rPr sz="900" b="1" spc="-70" dirty="0">
                <a:solidFill>
                  <a:srgbClr val="E7863A"/>
                </a:solidFill>
                <a:latin typeface="Times New Roman" panose="02020603050405020304" pitchFamily="18" charset="0"/>
                <a:cs typeface="Times New Roman" panose="02020603050405020304" pitchFamily="18" charset="0"/>
              </a:rPr>
              <a:t> </a:t>
            </a:r>
            <a:r>
              <a:rPr sz="900" b="1" spc="-50" dirty="0">
                <a:solidFill>
                  <a:srgbClr val="E7863A"/>
                </a:solidFill>
                <a:latin typeface="Times New Roman" panose="02020603050405020304" pitchFamily="18" charset="0"/>
                <a:cs typeface="Times New Roman" panose="02020603050405020304" pitchFamily="18" charset="0"/>
              </a:rPr>
              <a:t>T</a:t>
            </a:r>
            <a:endParaRPr sz="900">
              <a:latin typeface="Times New Roman" panose="02020603050405020304" pitchFamily="18" charset="0"/>
              <a:cs typeface="Times New Roman" panose="02020603050405020304" pitchFamily="18" charset="0"/>
            </a:endParaRPr>
          </a:p>
        </p:txBody>
      </p:sp>
      <p:sp>
        <p:nvSpPr>
          <p:cNvPr id="3" name="object 3" descr="$PPTXTitle"/>
          <p:cNvSpPr txBox="1">
            <a:spLocks noGrp="1"/>
          </p:cNvSpPr>
          <p:nvPr>
            <p:ph type="title"/>
          </p:nvPr>
        </p:nvSpPr>
        <p:spPr>
          <a:xfrm>
            <a:off x="596899" y="708395"/>
            <a:ext cx="7116445" cy="446276"/>
          </a:xfrm>
          <a:prstGeom prst="rect">
            <a:avLst/>
          </a:prstGeom>
        </p:spPr>
        <p:txBody>
          <a:bodyPr vert="horz" wrap="square" lIns="0" tIns="15240" rIns="0" bIns="0" rtlCol="0">
            <a:spAutoFit/>
          </a:bodyPr>
          <a:lstStyle/>
          <a:p>
            <a:pPr marL="12700">
              <a:lnSpc>
                <a:spcPct val="100000"/>
              </a:lnSpc>
              <a:spcBef>
                <a:spcPts val="120"/>
              </a:spcBef>
            </a:pPr>
            <a:r>
              <a:rPr sz="2800" spc="1150" dirty="0">
                <a:latin typeface="Times New Roman" panose="02020603050405020304" pitchFamily="18" charset="0"/>
                <a:cs typeface="Times New Roman" panose="02020603050405020304" pitchFamily="18" charset="0"/>
              </a:rPr>
              <a:t>Comment</a:t>
            </a:r>
            <a:r>
              <a:rPr sz="2800" spc="-50" dirty="0">
                <a:latin typeface="Times New Roman" panose="02020603050405020304" pitchFamily="18" charset="0"/>
                <a:cs typeface="Times New Roman" panose="02020603050405020304" pitchFamily="18" charset="0"/>
              </a:rPr>
              <a:t> </a:t>
            </a:r>
            <a:r>
              <a:rPr sz="2800" spc="790" dirty="0">
                <a:latin typeface="Times New Roman" panose="02020603050405020304" pitchFamily="18" charset="0"/>
                <a:cs typeface="Times New Roman" panose="02020603050405020304" pitchFamily="18" charset="0"/>
              </a:rPr>
              <a:t>fonctionne</a:t>
            </a:r>
            <a:r>
              <a:rPr sz="2800" spc="-95" dirty="0">
                <a:latin typeface="Times New Roman" panose="02020603050405020304" pitchFamily="18" charset="0"/>
                <a:cs typeface="Times New Roman" panose="02020603050405020304" pitchFamily="18" charset="0"/>
              </a:rPr>
              <a:t> </a:t>
            </a:r>
            <a:r>
              <a:rPr sz="2800" spc="620" dirty="0">
                <a:latin typeface="Times New Roman" panose="02020603050405020304" pitchFamily="18" charset="0"/>
                <a:cs typeface="Times New Roman" panose="02020603050405020304" pitchFamily="18" charset="0"/>
              </a:rPr>
              <a:t>le</a:t>
            </a:r>
            <a:r>
              <a:rPr sz="2800" spc="-95" dirty="0">
                <a:latin typeface="Times New Roman" panose="02020603050405020304" pitchFamily="18" charset="0"/>
                <a:cs typeface="Times New Roman" panose="02020603050405020304" pitchFamily="18" charset="0"/>
              </a:rPr>
              <a:t> </a:t>
            </a:r>
            <a:r>
              <a:rPr sz="2800" spc="620" dirty="0">
                <a:latin typeface="Times New Roman" panose="02020603050405020304" pitchFamily="18" charset="0"/>
                <a:cs typeface="Times New Roman" panose="02020603050405020304" pitchFamily="18" charset="0"/>
              </a:rPr>
              <a:t>site</a:t>
            </a:r>
            <a:r>
              <a:rPr sz="2800" spc="-100" dirty="0">
                <a:latin typeface="Times New Roman" panose="02020603050405020304" pitchFamily="18" charset="0"/>
                <a:cs typeface="Times New Roman" panose="02020603050405020304" pitchFamily="18" charset="0"/>
              </a:rPr>
              <a:t> </a:t>
            </a:r>
            <a:r>
              <a:rPr sz="2800" spc="555" dirty="0">
                <a:latin typeface="Times New Roman" panose="02020603050405020304" pitchFamily="18" charset="0"/>
                <a:cs typeface="Times New Roman" panose="02020603050405020304" pitchFamily="18" charset="0"/>
              </a:rPr>
              <a:t>?</a:t>
            </a:r>
          </a:p>
        </p:txBody>
      </p:sp>
      <p:sp>
        <p:nvSpPr>
          <p:cNvPr id="4" name="object 4"/>
          <p:cNvSpPr txBox="1"/>
          <p:nvPr/>
        </p:nvSpPr>
        <p:spPr>
          <a:xfrm>
            <a:off x="596899" y="1205022"/>
            <a:ext cx="2602230"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6A798F"/>
                </a:solidFill>
                <a:latin typeface="Times New Roman" panose="02020603050405020304" pitchFamily="18" charset="0"/>
                <a:cs typeface="Times New Roman" panose="02020603050405020304" pitchFamily="18" charset="0"/>
              </a:rPr>
              <a:t>Une</a:t>
            </a:r>
            <a:r>
              <a:rPr sz="1200" spc="3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navigation</a:t>
            </a:r>
            <a:r>
              <a:rPr sz="1200" spc="7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intuitive</a:t>
            </a:r>
            <a:r>
              <a:rPr sz="1200" spc="3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en</a:t>
            </a:r>
            <a:r>
              <a:rPr sz="1200" spc="70" dirty="0">
                <a:solidFill>
                  <a:srgbClr val="6A798F"/>
                </a:solidFill>
                <a:latin typeface="Times New Roman" panose="02020603050405020304" pitchFamily="18" charset="0"/>
                <a:cs typeface="Times New Roman" panose="02020603050405020304" pitchFamily="18" charset="0"/>
              </a:rPr>
              <a:t> 4</a:t>
            </a:r>
            <a:r>
              <a:rPr sz="1200" spc="4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étapes</a:t>
            </a:r>
            <a:r>
              <a:rPr sz="1200" spc="35" dirty="0">
                <a:solidFill>
                  <a:srgbClr val="6A798F"/>
                </a:solidFill>
                <a:latin typeface="Times New Roman" panose="02020603050405020304" pitchFamily="18" charset="0"/>
                <a:cs typeface="Times New Roman" panose="02020603050405020304" pitchFamily="18" charset="0"/>
              </a:rPr>
              <a:t> </a:t>
            </a:r>
            <a:r>
              <a:rPr sz="1200" spc="-20" dirty="0">
                <a:solidFill>
                  <a:srgbClr val="6A798F"/>
                </a:solidFill>
                <a:latin typeface="Times New Roman" panose="02020603050405020304" pitchFamily="18" charset="0"/>
                <a:cs typeface="Times New Roman" panose="02020603050405020304" pitchFamily="18" charset="0"/>
              </a:rPr>
              <a:t>clés</a:t>
            </a:r>
            <a:endParaRPr sz="1200">
              <a:latin typeface="Times New Roman" panose="02020603050405020304" pitchFamily="18" charset="0"/>
              <a:cs typeface="Times New Roman" panose="02020603050405020304" pitchFamily="18" charset="0"/>
            </a:endParaRPr>
          </a:p>
        </p:txBody>
      </p:sp>
      <p:pic>
        <p:nvPicPr>
          <p:cNvPr id="5" name="object 5"/>
          <p:cNvPicPr/>
          <p:nvPr/>
        </p:nvPicPr>
        <p:blipFill>
          <a:blip r:embed="rId3" cstate="print"/>
          <a:stretch>
            <a:fillRect/>
          </a:stretch>
        </p:blipFill>
        <p:spPr>
          <a:xfrm>
            <a:off x="0" y="0"/>
            <a:ext cx="12191999" cy="47624"/>
          </a:xfrm>
          <a:prstGeom prst="rect">
            <a:avLst/>
          </a:prstGeom>
        </p:spPr>
      </p:pic>
      <p:sp>
        <p:nvSpPr>
          <p:cNvPr id="6" name="object 6"/>
          <p:cNvSpPr/>
          <p:nvPr/>
        </p:nvSpPr>
        <p:spPr>
          <a:xfrm>
            <a:off x="609599" y="1638299"/>
            <a:ext cx="6200775" cy="2438400"/>
          </a:xfrm>
          <a:custGeom>
            <a:avLst/>
            <a:gdLst/>
            <a:ahLst/>
            <a:cxnLst/>
            <a:rect l="l" t="t" r="r" b="b"/>
            <a:pathLst>
              <a:path w="6200775" h="2438400">
                <a:moveTo>
                  <a:pt x="6048374" y="2438399"/>
                </a:moveTo>
                <a:lnTo>
                  <a:pt x="152399" y="2438399"/>
                </a:lnTo>
                <a:lnTo>
                  <a:pt x="144912" y="2438216"/>
                </a:lnTo>
                <a:lnTo>
                  <a:pt x="101066" y="2429494"/>
                </a:lnTo>
                <a:lnTo>
                  <a:pt x="61607" y="2408403"/>
                </a:lnTo>
                <a:lnTo>
                  <a:pt x="29995" y="2376791"/>
                </a:lnTo>
                <a:lnTo>
                  <a:pt x="8904" y="2337333"/>
                </a:lnTo>
                <a:lnTo>
                  <a:pt x="182" y="2293486"/>
                </a:lnTo>
                <a:lnTo>
                  <a:pt x="0" y="2285999"/>
                </a:lnTo>
                <a:lnTo>
                  <a:pt x="0" y="152399"/>
                </a:lnTo>
                <a:lnTo>
                  <a:pt x="6560" y="108159"/>
                </a:lnTo>
                <a:lnTo>
                  <a:pt x="25683" y="67730"/>
                </a:lnTo>
                <a:lnTo>
                  <a:pt x="55717" y="34591"/>
                </a:lnTo>
                <a:lnTo>
                  <a:pt x="94078" y="11600"/>
                </a:lnTo>
                <a:lnTo>
                  <a:pt x="137462" y="732"/>
                </a:lnTo>
                <a:lnTo>
                  <a:pt x="152399" y="0"/>
                </a:lnTo>
                <a:lnTo>
                  <a:pt x="6048374" y="0"/>
                </a:lnTo>
                <a:lnTo>
                  <a:pt x="6092613" y="6560"/>
                </a:lnTo>
                <a:lnTo>
                  <a:pt x="6133042" y="25683"/>
                </a:lnTo>
                <a:lnTo>
                  <a:pt x="6166182" y="55717"/>
                </a:lnTo>
                <a:lnTo>
                  <a:pt x="6189172" y="94078"/>
                </a:lnTo>
                <a:lnTo>
                  <a:pt x="6200042" y="137461"/>
                </a:lnTo>
                <a:lnTo>
                  <a:pt x="6200774" y="152399"/>
                </a:lnTo>
                <a:lnTo>
                  <a:pt x="6200774" y="2285999"/>
                </a:lnTo>
                <a:lnTo>
                  <a:pt x="6194213" y="2330239"/>
                </a:lnTo>
                <a:lnTo>
                  <a:pt x="6175089" y="2370668"/>
                </a:lnTo>
                <a:lnTo>
                  <a:pt x="6145056" y="2403807"/>
                </a:lnTo>
                <a:lnTo>
                  <a:pt x="6106694" y="2426798"/>
                </a:lnTo>
                <a:lnTo>
                  <a:pt x="6063311" y="2437667"/>
                </a:lnTo>
                <a:lnTo>
                  <a:pt x="6048374" y="2438399"/>
                </a:lnTo>
                <a:close/>
              </a:path>
            </a:pathLst>
          </a:custGeom>
          <a:solidFill>
            <a:srgbClr val="E7863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7" name="object 7"/>
          <p:cNvSpPr txBox="1"/>
          <p:nvPr/>
        </p:nvSpPr>
        <p:spPr>
          <a:xfrm>
            <a:off x="863599" y="1899409"/>
            <a:ext cx="1087755" cy="184666"/>
          </a:xfrm>
          <a:prstGeom prst="rect">
            <a:avLst/>
          </a:prstGeom>
        </p:spPr>
        <p:txBody>
          <a:bodyPr vert="horz" wrap="square" lIns="0" tIns="15240" rIns="0" bIns="0" rtlCol="0">
            <a:spAutoFit/>
          </a:bodyPr>
          <a:lstStyle/>
          <a:p>
            <a:pPr marL="12700">
              <a:lnSpc>
                <a:spcPct val="100000"/>
              </a:lnSpc>
              <a:spcBef>
                <a:spcPts val="120"/>
              </a:spcBef>
            </a:pPr>
            <a:r>
              <a:rPr sz="1100" b="1" spc="535" dirty="0">
                <a:solidFill>
                  <a:srgbClr val="FEFEFE"/>
                </a:solidFill>
                <a:latin typeface="Times New Roman" panose="02020603050405020304" pitchFamily="18" charset="0"/>
                <a:cs typeface="Times New Roman" panose="02020603050405020304" pitchFamily="18" charset="0"/>
              </a:rPr>
              <a:t>ÉTAPE</a:t>
            </a:r>
            <a:r>
              <a:rPr sz="1100" b="1" spc="160" dirty="0">
                <a:solidFill>
                  <a:srgbClr val="FEFEFE"/>
                </a:solidFill>
                <a:latin typeface="Times New Roman" panose="02020603050405020304" pitchFamily="18" charset="0"/>
                <a:cs typeface="Times New Roman" panose="02020603050405020304" pitchFamily="18" charset="0"/>
              </a:rPr>
              <a:t> </a:t>
            </a:r>
            <a:r>
              <a:rPr sz="1100" b="1" spc="240" dirty="0">
                <a:solidFill>
                  <a:srgbClr val="FEFEFE"/>
                </a:solidFill>
                <a:latin typeface="Times New Roman" panose="02020603050405020304" pitchFamily="18" charset="0"/>
                <a:cs typeface="Times New Roman" panose="02020603050405020304" pitchFamily="18" charset="0"/>
              </a:rPr>
              <a:t>01</a:t>
            </a:r>
            <a:endParaRPr sz="1100">
              <a:latin typeface="Times New Roman" panose="02020603050405020304" pitchFamily="18" charset="0"/>
              <a:cs typeface="Times New Roman" panose="02020603050405020304" pitchFamily="18" charset="0"/>
            </a:endParaRPr>
          </a:p>
        </p:txBody>
      </p:sp>
      <p:grpSp>
        <p:nvGrpSpPr>
          <p:cNvPr id="8" name="object 8"/>
          <p:cNvGrpSpPr/>
          <p:nvPr/>
        </p:nvGrpSpPr>
        <p:grpSpPr>
          <a:xfrm>
            <a:off x="876299" y="2219324"/>
            <a:ext cx="457200" cy="457200"/>
            <a:chOff x="876299" y="2219324"/>
            <a:chExt cx="457200" cy="457200"/>
          </a:xfrm>
        </p:grpSpPr>
        <p:sp>
          <p:nvSpPr>
            <p:cNvPr id="9" name="object 9"/>
            <p:cNvSpPr/>
            <p:nvPr/>
          </p:nvSpPr>
          <p:spPr>
            <a:xfrm>
              <a:off x="876299" y="2219324"/>
              <a:ext cx="457200" cy="457200"/>
            </a:xfrm>
            <a:custGeom>
              <a:avLst/>
              <a:gdLst/>
              <a:ahLst/>
              <a:cxnLst/>
              <a:rect l="l" t="t" r="r" b="b"/>
              <a:pathLst>
                <a:path w="457200" h="457200">
                  <a:moveTo>
                    <a:pt x="350404" y="457199"/>
                  </a:moveTo>
                  <a:lnTo>
                    <a:pt x="106795" y="457199"/>
                  </a:lnTo>
                  <a:lnTo>
                    <a:pt x="99362" y="456467"/>
                  </a:lnTo>
                  <a:lnTo>
                    <a:pt x="57038" y="442106"/>
                  </a:lnTo>
                  <a:lnTo>
                    <a:pt x="23432" y="412641"/>
                  </a:lnTo>
                  <a:lnTo>
                    <a:pt x="3660" y="372559"/>
                  </a:lnTo>
                  <a:lnTo>
                    <a:pt x="0" y="350404"/>
                  </a:lnTo>
                  <a:lnTo>
                    <a:pt x="0" y="342899"/>
                  </a:lnTo>
                  <a:lnTo>
                    <a:pt x="0" y="106794"/>
                  </a:lnTo>
                  <a:lnTo>
                    <a:pt x="11572" y="63624"/>
                  </a:lnTo>
                  <a:lnTo>
                    <a:pt x="38784" y="28170"/>
                  </a:lnTo>
                  <a:lnTo>
                    <a:pt x="77493" y="5828"/>
                  </a:lnTo>
                  <a:lnTo>
                    <a:pt x="106795" y="0"/>
                  </a:lnTo>
                  <a:lnTo>
                    <a:pt x="350404" y="0"/>
                  </a:lnTo>
                  <a:lnTo>
                    <a:pt x="393574" y="11572"/>
                  </a:lnTo>
                  <a:lnTo>
                    <a:pt x="429029" y="38784"/>
                  </a:lnTo>
                  <a:lnTo>
                    <a:pt x="451371" y="77492"/>
                  </a:lnTo>
                  <a:lnTo>
                    <a:pt x="457200" y="106794"/>
                  </a:lnTo>
                  <a:lnTo>
                    <a:pt x="457200" y="350404"/>
                  </a:lnTo>
                  <a:lnTo>
                    <a:pt x="445627" y="393573"/>
                  </a:lnTo>
                  <a:lnTo>
                    <a:pt x="418415" y="429028"/>
                  </a:lnTo>
                  <a:lnTo>
                    <a:pt x="379706" y="451371"/>
                  </a:lnTo>
                  <a:lnTo>
                    <a:pt x="357837" y="456467"/>
                  </a:lnTo>
                  <a:lnTo>
                    <a:pt x="350404" y="457199"/>
                  </a:lnTo>
                  <a:close/>
                </a:path>
              </a:pathLst>
            </a:custGeom>
            <a:solidFill>
              <a:srgbClr val="FFFFFF">
                <a:alpha val="1999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10" name="object 10"/>
            <p:cNvPicPr/>
            <p:nvPr/>
          </p:nvPicPr>
          <p:blipFill>
            <a:blip r:embed="rId4" cstate="print"/>
            <a:stretch>
              <a:fillRect/>
            </a:stretch>
          </p:blipFill>
          <p:spPr>
            <a:xfrm>
              <a:off x="996949" y="2368549"/>
              <a:ext cx="215900" cy="158750"/>
            </a:xfrm>
            <a:prstGeom prst="rect">
              <a:avLst/>
            </a:prstGeom>
          </p:spPr>
        </p:pic>
      </p:grpSp>
      <p:sp>
        <p:nvSpPr>
          <p:cNvPr id="11" name="object 11"/>
          <p:cNvSpPr txBox="1"/>
          <p:nvPr/>
        </p:nvSpPr>
        <p:spPr>
          <a:xfrm>
            <a:off x="863599" y="2765418"/>
            <a:ext cx="1594485" cy="262251"/>
          </a:xfrm>
          <a:prstGeom prst="rect">
            <a:avLst/>
          </a:prstGeom>
        </p:spPr>
        <p:txBody>
          <a:bodyPr vert="horz" wrap="square" lIns="0" tIns="15875" rIns="0" bIns="0" rtlCol="0">
            <a:spAutoFit/>
          </a:bodyPr>
          <a:lstStyle/>
          <a:p>
            <a:pPr marL="12700">
              <a:lnSpc>
                <a:spcPct val="100000"/>
              </a:lnSpc>
              <a:spcBef>
                <a:spcPts val="125"/>
              </a:spcBef>
            </a:pPr>
            <a:r>
              <a:rPr sz="1600" b="1" spc="120" dirty="0">
                <a:solidFill>
                  <a:srgbClr val="FFFFFF"/>
                </a:solidFill>
                <a:latin typeface="Times New Roman" panose="02020603050405020304" pitchFamily="18" charset="0"/>
                <a:cs typeface="Times New Roman" panose="02020603050405020304" pitchFamily="18" charset="0"/>
              </a:rPr>
              <a:t>Créer</a:t>
            </a:r>
            <a:r>
              <a:rPr sz="1600" b="1" spc="-70" dirty="0">
                <a:solidFill>
                  <a:srgbClr val="FFFFFF"/>
                </a:solidFill>
                <a:latin typeface="Times New Roman" panose="02020603050405020304" pitchFamily="18" charset="0"/>
                <a:cs typeface="Times New Roman" panose="02020603050405020304" pitchFamily="18" charset="0"/>
              </a:rPr>
              <a:t> </a:t>
            </a:r>
            <a:r>
              <a:rPr sz="1600" b="1" spc="85" dirty="0">
                <a:solidFill>
                  <a:srgbClr val="FFFFFF"/>
                </a:solidFill>
                <a:latin typeface="Times New Roman" panose="02020603050405020304" pitchFamily="18" charset="0"/>
                <a:cs typeface="Times New Roman" panose="02020603050405020304" pitchFamily="18" charset="0"/>
              </a:rPr>
              <a:t>son</a:t>
            </a:r>
            <a:r>
              <a:rPr sz="1600" b="1" spc="-45" dirty="0">
                <a:solidFill>
                  <a:srgbClr val="FFFFFF"/>
                </a:solidFill>
                <a:latin typeface="Times New Roman" panose="02020603050405020304" pitchFamily="18" charset="0"/>
                <a:cs typeface="Times New Roman" panose="02020603050405020304" pitchFamily="18" charset="0"/>
              </a:rPr>
              <a:t> </a:t>
            </a:r>
            <a:r>
              <a:rPr sz="1600" b="1" spc="50" dirty="0">
                <a:solidFill>
                  <a:srgbClr val="FFFFFF"/>
                </a:solidFill>
                <a:latin typeface="Times New Roman" panose="02020603050405020304" pitchFamily="18" charset="0"/>
                <a:cs typeface="Times New Roman" panose="02020603050405020304" pitchFamily="18" charset="0"/>
              </a:rPr>
              <a:t>profil</a:t>
            </a:r>
            <a:endParaRPr sz="1600">
              <a:latin typeface="Times New Roman" panose="02020603050405020304" pitchFamily="18" charset="0"/>
              <a:cs typeface="Times New Roman" panose="02020603050405020304" pitchFamily="18" charset="0"/>
            </a:endParaRPr>
          </a:p>
        </p:txBody>
      </p:sp>
      <p:sp>
        <p:nvSpPr>
          <p:cNvPr id="12" name="object 12"/>
          <p:cNvSpPr txBox="1"/>
          <p:nvPr/>
        </p:nvSpPr>
        <p:spPr>
          <a:xfrm>
            <a:off x="863599" y="3110612"/>
            <a:ext cx="5664200" cy="452816"/>
          </a:xfrm>
          <a:prstGeom prst="rect">
            <a:avLst/>
          </a:prstGeom>
        </p:spPr>
        <p:txBody>
          <a:bodyPr vert="horz" wrap="square" lIns="0" tIns="12700" rIns="0" bIns="0" rtlCol="0">
            <a:spAutoFit/>
          </a:bodyPr>
          <a:lstStyle/>
          <a:p>
            <a:pPr marL="12700" marR="5080">
              <a:lnSpc>
                <a:spcPct val="125000"/>
              </a:lnSpc>
              <a:spcBef>
                <a:spcPts val="100"/>
              </a:spcBef>
            </a:pPr>
            <a:r>
              <a:rPr sz="1200" spc="-10" dirty="0">
                <a:solidFill>
                  <a:srgbClr val="FEFEFE"/>
                </a:solidFill>
                <a:latin typeface="Times New Roman" panose="02020603050405020304" pitchFamily="18" charset="0"/>
                <a:cs typeface="Times New Roman" panose="02020603050405020304" pitchFamily="18" charset="0"/>
              </a:rPr>
              <a:t>L</a:t>
            </a:r>
            <a:r>
              <a:rPr sz="1100" spc="-10" dirty="0">
                <a:solidFill>
                  <a:srgbClr val="FEFEFE"/>
                </a:solidFill>
                <a:latin typeface="Times New Roman" panose="02020603050405020304" pitchFamily="18" charset="0"/>
                <a:cs typeface="Times New Roman" panose="02020603050405020304" pitchFamily="18" charset="0"/>
              </a:rPr>
              <a:t>'</a:t>
            </a:r>
            <a:r>
              <a:rPr sz="1200" spc="-10" dirty="0">
                <a:solidFill>
                  <a:srgbClr val="FEFEFE"/>
                </a:solidFill>
                <a:latin typeface="Times New Roman" panose="02020603050405020304" pitchFamily="18" charset="0"/>
                <a:cs typeface="Times New Roman" panose="02020603050405020304" pitchFamily="18" charset="0"/>
              </a:rPr>
              <a:t>utilisateur</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s</a:t>
            </a:r>
            <a:r>
              <a:rPr sz="1100" dirty="0">
                <a:solidFill>
                  <a:srgbClr val="FEFEFE"/>
                </a:solidFill>
                <a:latin typeface="Times New Roman" panose="02020603050405020304" pitchFamily="18" charset="0"/>
                <a:cs typeface="Times New Roman" panose="02020603050405020304" pitchFamily="18" charset="0"/>
              </a:rPr>
              <a:t>'</a:t>
            </a:r>
            <a:r>
              <a:rPr sz="1200" dirty="0">
                <a:solidFill>
                  <a:srgbClr val="FEFEFE"/>
                </a:solidFill>
                <a:latin typeface="Times New Roman" panose="02020603050405020304" pitchFamily="18" charset="0"/>
                <a:cs typeface="Times New Roman" panose="02020603050405020304" pitchFamily="18" charset="0"/>
              </a:rPr>
              <a:t>inscrit</a:t>
            </a:r>
            <a:r>
              <a:rPr sz="1200" spc="-2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gratuitement</a:t>
            </a:r>
            <a:r>
              <a:rPr sz="1200" spc="-3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et</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complète</a:t>
            </a:r>
            <a:r>
              <a:rPr sz="1200" spc="-1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son</a:t>
            </a:r>
            <a:r>
              <a:rPr sz="1200" spc="1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profil</a:t>
            </a:r>
            <a:r>
              <a:rPr sz="1200" spc="5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avec</a:t>
            </a:r>
            <a:r>
              <a:rPr sz="1200" spc="-1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ses compétences</a:t>
            </a:r>
            <a:r>
              <a:rPr sz="1100" spc="-10" dirty="0">
                <a:solidFill>
                  <a:srgbClr val="FEFEFE"/>
                </a:solidFill>
                <a:latin typeface="Times New Roman" panose="02020603050405020304" pitchFamily="18" charset="0"/>
                <a:cs typeface="Times New Roman" panose="02020603050405020304" pitchFamily="18" charset="0"/>
              </a:rPr>
              <a:t>,</a:t>
            </a:r>
            <a:r>
              <a:rPr sz="1100" spc="6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son</a:t>
            </a:r>
            <a:r>
              <a:rPr sz="1200" spc="1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portfolio </a:t>
            </a:r>
            <a:r>
              <a:rPr sz="1200" dirty="0">
                <a:solidFill>
                  <a:srgbClr val="FEFEFE"/>
                </a:solidFill>
                <a:latin typeface="Times New Roman" panose="02020603050405020304" pitchFamily="18" charset="0"/>
                <a:cs typeface="Times New Roman" panose="02020603050405020304" pitchFamily="18" charset="0"/>
              </a:rPr>
              <a:t>et</a:t>
            </a:r>
            <a:r>
              <a:rPr sz="1200" spc="-4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ses</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tarifs</a:t>
            </a:r>
            <a:r>
              <a:rPr sz="1100" dirty="0">
                <a:solidFill>
                  <a:srgbClr val="FEFEFE"/>
                </a:solidFill>
                <a:latin typeface="Times New Roman" panose="02020603050405020304" pitchFamily="18" charset="0"/>
                <a:cs typeface="Times New Roman" panose="02020603050405020304" pitchFamily="18" charset="0"/>
              </a:rPr>
              <a:t>.</a:t>
            </a:r>
            <a:r>
              <a:rPr sz="1100" spc="4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C</a:t>
            </a:r>
            <a:r>
              <a:rPr sz="1100" dirty="0">
                <a:solidFill>
                  <a:srgbClr val="FEFEFE"/>
                </a:solidFill>
                <a:latin typeface="Times New Roman" panose="02020603050405020304" pitchFamily="18" charset="0"/>
                <a:cs typeface="Times New Roman" panose="02020603050405020304" pitchFamily="18" charset="0"/>
              </a:rPr>
              <a:t>'</a:t>
            </a:r>
            <a:r>
              <a:rPr sz="1200" dirty="0">
                <a:solidFill>
                  <a:srgbClr val="FEFEFE"/>
                </a:solidFill>
                <a:latin typeface="Times New Roman" panose="02020603050405020304" pitchFamily="18" charset="0"/>
                <a:cs typeface="Times New Roman" panose="02020603050405020304" pitchFamily="18" charset="0"/>
              </a:rPr>
              <a:t>est</a:t>
            </a:r>
            <a:r>
              <a:rPr sz="1200" spc="-4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la</a:t>
            </a:r>
            <a:r>
              <a:rPr sz="1200" spc="-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première</a:t>
            </a:r>
            <a:r>
              <a:rPr sz="1200" spc="-3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étape</a:t>
            </a:r>
            <a:r>
              <a:rPr sz="1200" spc="-3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indispensable</a:t>
            </a:r>
            <a:r>
              <a:rPr sz="1200" spc="-3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pour</a:t>
            </a:r>
            <a:r>
              <a:rPr sz="1200" spc="-4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accéder</a:t>
            </a:r>
            <a:r>
              <a:rPr sz="1200" spc="-3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aux</a:t>
            </a:r>
            <a:r>
              <a:rPr sz="1200" spc="-4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missions</a:t>
            </a:r>
            <a:r>
              <a:rPr sz="1100" spc="-10" dirty="0">
                <a:solidFill>
                  <a:srgbClr val="FEFEFE"/>
                </a:solidFill>
                <a:latin typeface="Times New Roman" panose="02020603050405020304" pitchFamily="18" charset="0"/>
                <a:cs typeface="Times New Roman" panose="02020603050405020304" pitchFamily="18" charset="0"/>
              </a:rPr>
              <a:t>.</a:t>
            </a:r>
            <a:endParaRPr sz="1100">
              <a:latin typeface="Times New Roman" panose="02020603050405020304" pitchFamily="18" charset="0"/>
              <a:cs typeface="Times New Roman" panose="02020603050405020304" pitchFamily="18" charset="0"/>
            </a:endParaRPr>
          </a:p>
        </p:txBody>
      </p:sp>
      <p:sp>
        <p:nvSpPr>
          <p:cNvPr id="13" name="object 13"/>
          <p:cNvSpPr/>
          <p:nvPr/>
        </p:nvSpPr>
        <p:spPr>
          <a:xfrm>
            <a:off x="5762624" y="3028949"/>
            <a:ext cx="1047750" cy="1047750"/>
          </a:xfrm>
          <a:custGeom>
            <a:avLst/>
            <a:gdLst/>
            <a:ahLst/>
            <a:cxnLst/>
            <a:rect l="l" t="t" r="r" b="b"/>
            <a:pathLst>
              <a:path w="1047750" h="1047750">
                <a:moveTo>
                  <a:pt x="895350" y="1047750"/>
                </a:moveTo>
                <a:lnTo>
                  <a:pt x="119621" y="1047750"/>
                </a:lnTo>
                <a:lnTo>
                  <a:pt x="112366" y="1037175"/>
                </a:lnTo>
                <a:lnTo>
                  <a:pt x="86620" y="995393"/>
                </a:lnTo>
                <a:lnTo>
                  <a:pt x="64013" y="951821"/>
                </a:lnTo>
                <a:lnTo>
                  <a:pt x="44673" y="906704"/>
                </a:lnTo>
                <a:lnTo>
                  <a:pt x="28709" y="860297"/>
                </a:lnTo>
                <a:lnTo>
                  <a:pt x="16200" y="812840"/>
                </a:lnTo>
                <a:lnTo>
                  <a:pt x="7215" y="764582"/>
                </a:lnTo>
                <a:lnTo>
                  <a:pt x="1805" y="715794"/>
                </a:lnTo>
                <a:lnTo>
                  <a:pt x="0" y="666749"/>
                </a:lnTo>
                <a:lnTo>
                  <a:pt x="200" y="650382"/>
                </a:lnTo>
                <a:lnTo>
                  <a:pt x="3210" y="601396"/>
                </a:lnTo>
                <a:lnTo>
                  <a:pt x="9814" y="552765"/>
                </a:lnTo>
                <a:lnTo>
                  <a:pt x="19980" y="504742"/>
                </a:lnTo>
                <a:lnTo>
                  <a:pt x="33652" y="457598"/>
                </a:lnTo>
                <a:lnTo>
                  <a:pt x="50752" y="411595"/>
                </a:lnTo>
                <a:lnTo>
                  <a:pt x="71189" y="366976"/>
                </a:lnTo>
                <a:lnTo>
                  <a:pt x="94857" y="323972"/>
                </a:lnTo>
                <a:lnTo>
                  <a:pt x="121627" y="282825"/>
                </a:lnTo>
                <a:lnTo>
                  <a:pt x="151344" y="243768"/>
                </a:lnTo>
                <a:lnTo>
                  <a:pt x="183854" y="207002"/>
                </a:lnTo>
                <a:lnTo>
                  <a:pt x="218987" y="172720"/>
                </a:lnTo>
                <a:lnTo>
                  <a:pt x="256547" y="141117"/>
                </a:lnTo>
                <a:lnTo>
                  <a:pt x="296322" y="112367"/>
                </a:lnTo>
                <a:lnTo>
                  <a:pt x="338105" y="86621"/>
                </a:lnTo>
                <a:lnTo>
                  <a:pt x="381676" y="64014"/>
                </a:lnTo>
                <a:lnTo>
                  <a:pt x="426793" y="44674"/>
                </a:lnTo>
                <a:lnTo>
                  <a:pt x="473202" y="28710"/>
                </a:lnTo>
                <a:lnTo>
                  <a:pt x="520658" y="16201"/>
                </a:lnTo>
                <a:lnTo>
                  <a:pt x="568917" y="7216"/>
                </a:lnTo>
                <a:lnTo>
                  <a:pt x="617706" y="1806"/>
                </a:lnTo>
                <a:lnTo>
                  <a:pt x="666749" y="0"/>
                </a:lnTo>
                <a:lnTo>
                  <a:pt x="683117" y="200"/>
                </a:lnTo>
                <a:lnTo>
                  <a:pt x="732102" y="3210"/>
                </a:lnTo>
                <a:lnTo>
                  <a:pt x="780733" y="9815"/>
                </a:lnTo>
                <a:lnTo>
                  <a:pt x="828756" y="19981"/>
                </a:lnTo>
                <a:lnTo>
                  <a:pt x="875902" y="33653"/>
                </a:lnTo>
                <a:lnTo>
                  <a:pt x="921903" y="50753"/>
                </a:lnTo>
                <a:lnTo>
                  <a:pt x="966523" y="71190"/>
                </a:lnTo>
                <a:lnTo>
                  <a:pt x="1009527" y="94859"/>
                </a:lnTo>
                <a:lnTo>
                  <a:pt x="1047750" y="119622"/>
                </a:lnTo>
                <a:lnTo>
                  <a:pt x="1047750" y="895350"/>
                </a:lnTo>
                <a:lnTo>
                  <a:pt x="1041223" y="939523"/>
                </a:lnTo>
                <a:lnTo>
                  <a:pt x="1022089" y="980034"/>
                </a:lnTo>
                <a:lnTo>
                  <a:pt x="991984" y="1013216"/>
                </a:lnTo>
                <a:lnTo>
                  <a:pt x="953670" y="1036149"/>
                </a:lnTo>
                <a:lnTo>
                  <a:pt x="910362" y="1047024"/>
                </a:lnTo>
                <a:lnTo>
                  <a:pt x="895350" y="1047750"/>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grpSp>
        <p:nvGrpSpPr>
          <p:cNvPr id="14" name="object 14"/>
          <p:cNvGrpSpPr/>
          <p:nvPr/>
        </p:nvGrpSpPr>
        <p:grpSpPr>
          <a:xfrm>
            <a:off x="7000874" y="1638299"/>
            <a:ext cx="4581525" cy="2438400"/>
            <a:chOff x="7000874" y="1638299"/>
            <a:chExt cx="4581525" cy="2438400"/>
          </a:xfrm>
        </p:grpSpPr>
        <p:sp>
          <p:nvSpPr>
            <p:cNvPr id="15" name="object 15"/>
            <p:cNvSpPr/>
            <p:nvPr/>
          </p:nvSpPr>
          <p:spPr>
            <a:xfrm>
              <a:off x="7005636" y="1643062"/>
              <a:ext cx="4572000" cy="2428875"/>
            </a:xfrm>
            <a:custGeom>
              <a:avLst/>
              <a:gdLst/>
              <a:ahLst/>
              <a:cxnLst/>
              <a:rect l="l" t="t" r="r" b="b"/>
              <a:pathLst>
                <a:path w="4572000" h="2428875">
                  <a:moveTo>
                    <a:pt x="4424362" y="2428874"/>
                  </a:moveTo>
                  <a:lnTo>
                    <a:pt x="147637" y="2428874"/>
                  </a:lnTo>
                  <a:lnTo>
                    <a:pt x="140384" y="2428697"/>
                  </a:lnTo>
                  <a:lnTo>
                    <a:pt x="97906" y="2420247"/>
                  </a:lnTo>
                  <a:lnTo>
                    <a:pt x="59681" y="2399815"/>
                  </a:lnTo>
                  <a:lnTo>
                    <a:pt x="29057" y="2369191"/>
                  </a:lnTo>
                  <a:lnTo>
                    <a:pt x="8625" y="2330966"/>
                  </a:lnTo>
                  <a:lnTo>
                    <a:pt x="177" y="2288490"/>
                  </a:lnTo>
                  <a:lnTo>
                    <a:pt x="0" y="2281237"/>
                  </a:lnTo>
                  <a:lnTo>
                    <a:pt x="0" y="147637"/>
                  </a:lnTo>
                  <a:lnTo>
                    <a:pt x="6355" y="104779"/>
                  </a:lnTo>
                  <a:lnTo>
                    <a:pt x="24881" y="65614"/>
                  </a:lnTo>
                  <a:lnTo>
                    <a:pt x="53975" y="33510"/>
                  </a:lnTo>
                  <a:lnTo>
                    <a:pt x="91138" y="11238"/>
                  </a:lnTo>
                  <a:lnTo>
                    <a:pt x="133165" y="709"/>
                  </a:lnTo>
                  <a:lnTo>
                    <a:pt x="147637" y="0"/>
                  </a:lnTo>
                  <a:lnTo>
                    <a:pt x="4424362" y="0"/>
                  </a:lnTo>
                  <a:lnTo>
                    <a:pt x="4467218" y="6355"/>
                  </a:lnTo>
                  <a:lnTo>
                    <a:pt x="4506383" y="24881"/>
                  </a:lnTo>
                  <a:lnTo>
                    <a:pt x="4538487" y="53976"/>
                  </a:lnTo>
                  <a:lnTo>
                    <a:pt x="4560759" y="91138"/>
                  </a:lnTo>
                  <a:lnTo>
                    <a:pt x="4571289" y="133166"/>
                  </a:lnTo>
                  <a:lnTo>
                    <a:pt x="4571999" y="147637"/>
                  </a:lnTo>
                  <a:lnTo>
                    <a:pt x="4571999" y="2281237"/>
                  </a:lnTo>
                  <a:lnTo>
                    <a:pt x="4565642" y="2324094"/>
                  </a:lnTo>
                  <a:lnTo>
                    <a:pt x="4547116" y="2363259"/>
                  </a:lnTo>
                  <a:lnTo>
                    <a:pt x="4518023" y="2395363"/>
                  </a:lnTo>
                  <a:lnTo>
                    <a:pt x="4480859" y="2417635"/>
                  </a:lnTo>
                  <a:lnTo>
                    <a:pt x="4438832" y="2428165"/>
                  </a:lnTo>
                  <a:lnTo>
                    <a:pt x="4424362" y="2428874"/>
                  </a:lnTo>
                  <a:close/>
                </a:path>
              </a:pathLst>
            </a:custGeom>
            <a:solidFill>
              <a:srgbClr val="F6F7F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16" name="object 16"/>
            <p:cNvSpPr/>
            <p:nvPr/>
          </p:nvSpPr>
          <p:spPr>
            <a:xfrm>
              <a:off x="7005636" y="1643062"/>
              <a:ext cx="4572000" cy="2428875"/>
            </a:xfrm>
            <a:custGeom>
              <a:avLst/>
              <a:gdLst/>
              <a:ahLst/>
              <a:cxnLst/>
              <a:rect l="l" t="t" r="r" b="b"/>
              <a:pathLst>
                <a:path w="4572000" h="2428875">
                  <a:moveTo>
                    <a:pt x="0" y="2281237"/>
                  </a:moveTo>
                  <a:lnTo>
                    <a:pt x="0" y="147637"/>
                  </a:lnTo>
                  <a:lnTo>
                    <a:pt x="177" y="140384"/>
                  </a:lnTo>
                  <a:lnTo>
                    <a:pt x="8625" y="97907"/>
                  </a:lnTo>
                  <a:lnTo>
                    <a:pt x="29057" y="59682"/>
                  </a:lnTo>
                  <a:lnTo>
                    <a:pt x="59681" y="29058"/>
                  </a:lnTo>
                  <a:lnTo>
                    <a:pt x="97907" y="8626"/>
                  </a:lnTo>
                  <a:lnTo>
                    <a:pt x="140384" y="177"/>
                  </a:lnTo>
                  <a:lnTo>
                    <a:pt x="147637" y="0"/>
                  </a:lnTo>
                  <a:lnTo>
                    <a:pt x="4424362" y="0"/>
                  </a:lnTo>
                  <a:lnTo>
                    <a:pt x="4467218" y="6355"/>
                  </a:lnTo>
                  <a:lnTo>
                    <a:pt x="4506383" y="24881"/>
                  </a:lnTo>
                  <a:lnTo>
                    <a:pt x="4538487" y="53976"/>
                  </a:lnTo>
                  <a:lnTo>
                    <a:pt x="4560759" y="91138"/>
                  </a:lnTo>
                  <a:lnTo>
                    <a:pt x="4571289" y="133166"/>
                  </a:lnTo>
                  <a:lnTo>
                    <a:pt x="4571999" y="147637"/>
                  </a:lnTo>
                  <a:lnTo>
                    <a:pt x="4571999" y="2281237"/>
                  </a:lnTo>
                  <a:lnTo>
                    <a:pt x="4565642" y="2324094"/>
                  </a:lnTo>
                  <a:lnTo>
                    <a:pt x="4547116" y="2363259"/>
                  </a:lnTo>
                  <a:lnTo>
                    <a:pt x="4518023" y="2395363"/>
                  </a:lnTo>
                  <a:lnTo>
                    <a:pt x="4480859" y="2417635"/>
                  </a:lnTo>
                  <a:lnTo>
                    <a:pt x="4438832" y="2428165"/>
                  </a:lnTo>
                  <a:lnTo>
                    <a:pt x="4424362" y="2428874"/>
                  </a:lnTo>
                  <a:lnTo>
                    <a:pt x="147637" y="2428874"/>
                  </a:lnTo>
                  <a:lnTo>
                    <a:pt x="104778" y="2422518"/>
                  </a:lnTo>
                  <a:lnTo>
                    <a:pt x="65613" y="2403992"/>
                  </a:lnTo>
                  <a:lnTo>
                    <a:pt x="33510" y="2374898"/>
                  </a:lnTo>
                  <a:lnTo>
                    <a:pt x="11237" y="2337735"/>
                  </a:lnTo>
                  <a:lnTo>
                    <a:pt x="708" y="2295708"/>
                  </a:lnTo>
                  <a:lnTo>
                    <a:pt x="0" y="2281237"/>
                  </a:lnTo>
                  <a:close/>
                </a:path>
              </a:pathLst>
            </a:custGeom>
            <a:ln w="9524">
              <a:solidFill>
                <a:srgbClr val="E7ECF1"/>
              </a:solidFill>
            </a:ln>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grpSp>
      <p:sp>
        <p:nvSpPr>
          <p:cNvPr id="17" name="object 17"/>
          <p:cNvSpPr txBox="1"/>
          <p:nvPr/>
        </p:nvSpPr>
        <p:spPr>
          <a:xfrm>
            <a:off x="7263357" y="1908934"/>
            <a:ext cx="1161415" cy="184666"/>
          </a:xfrm>
          <a:prstGeom prst="rect">
            <a:avLst/>
          </a:prstGeom>
        </p:spPr>
        <p:txBody>
          <a:bodyPr vert="horz" wrap="square" lIns="0" tIns="15240" rIns="0" bIns="0" rtlCol="0">
            <a:spAutoFit/>
          </a:bodyPr>
          <a:lstStyle/>
          <a:p>
            <a:pPr marL="12700">
              <a:lnSpc>
                <a:spcPct val="100000"/>
              </a:lnSpc>
              <a:spcBef>
                <a:spcPts val="120"/>
              </a:spcBef>
            </a:pPr>
            <a:r>
              <a:rPr sz="1100" b="1" spc="535" dirty="0">
                <a:solidFill>
                  <a:srgbClr val="E7863A"/>
                </a:solidFill>
                <a:latin typeface="Times New Roman" panose="02020603050405020304" pitchFamily="18" charset="0"/>
                <a:cs typeface="Times New Roman" panose="02020603050405020304" pitchFamily="18" charset="0"/>
              </a:rPr>
              <a:t>ÉTAPE</a:t>
            </a:r>
            <a:r>
              <a:rPr sz="1100" b="1" spc="160" dirty="0">
                <a:solidFill>
                  <a:srgbClr val="E7863A"/>
                </a:solidFill>
                <a:latin typeface="Times New Roman" panose="02020603050405020304" pitchFamily="18" charset="0"/>
                <a:cs typeface="Times New Roman" panose="02020603050405020304" pitchFamily="18" charset="0"/>
              </a:rPr>
              <a:t> </a:t>
            </a:r>
            <a:r>
              <a:rPr sz="1100" b="1" spc="530" dirty="0">
                <a:solidFill>
                  <a:srgbClr val="E7863A"/>
                </a:solidFill>
                <a:latin typeface="Times New Roman" panose="02020603050405020304" pitchFamily="18" charset="0"/>
                <a:cs typeface="Times New Roman" panose="02020603050405020304" pitchFamily="18" charset="0"/>
              </a:rPr>
              <a:t>02</a:t>
            </a:r>
            <a:endParaRPr sz="1100">
              <a:latin typeface="Times New Roman" panose="02020603050405020304" pitchFamily="18" charset="0"/>
              <a:cs typeface="Times New Roman" panose="02020603050405020304" pitchFamily="18" charset="0"/>
            </a:endParaRPr>
          </a:p>
        </p:txBody>
      </p:sp>
      <p:grpSp>
        <p:nvGrpSpPr>
          <p:cNvPr id="18" name="object 18"/>
          <p:cNvGrpSpPr/>
          <p:nvPr/>
        </p:nvGrpSpPr>
        <p:grpSpPr>
          <a:xfrm>
            <a:off x="7277098" y="2228850"/>
            <a:ext cx="457200" cy="457200"/>
            <a:chOff x="7277098" y="2228850"/>
            <a:chExt cx="457200" cy="457200"/>
          </a:xfrm>
        </p:grpSpPr>
        <p:sp>
          <p:nvSpPr>
            <p:cNvPr id="19" name="object 19"/>
            <p:cNvSpPr/>
            <p:nvPr/>
          </p:nvSpPr>
          <p:spPr>
            <a:xfrm>
              <a:off x="7277098" y="2228850"/>
              <a:ext cx="457200" cy="457200"/>
            </a:xfrm>
            <a:custGeom>
              <a:avLst/>
              <a:gdLst/>
              <a:ahLst/>
              <a:cxnLst/>
              <a:rect l="l" t="t" r="r" b="b"/>
              <a:pathLst>
                <a:path w="457200" h="457200">
                  <a:moveTo>
                    <a:pt x="350405" y="457199"/>
                  </a:moveTo>
                  <a:lnTo>
                    <a:pt x="106795" y="457199"/>
                  </a:lnTo>
                  <a:lnTo>
                    <a:pt x="99362" y="456467"/>
                  </a:lnTo>
                  <a:lnTo>
                    <a:pt x="57037" y="442105"/>
                  </a:lnTo>
                  <a:lnTo>
                    <a:pt x="23431" y="412641"/>
                  </a:lnTo>
                  <a:lnTo>
                    <a:pt x="3659" y="372559"/>
                  </a:lnTo>
                  <a:lnTo>
                    <a:pt x="0" y="350404"/>
                  </a:lnTo>
                  <a:lnTo>
                    <a:pt x="0" y="342899"/>
                  </a:lnTo>
                  <a:lnTo>
                    <a:pt x="0" y="106794"/>
                  </a:lnTo>
                  <a:lnTo>
                    <a:pt x="11571" y="63624"/>
                  </a:lnTo>
                  <a:lnTo>
                    <a:pt x="38783" y="28170"/>
                  </a:lnTo>
                  <a:lnTo>
                    <a:pt x="77492" y="5828"/>
                  </a:lnTo>
                  <a:lnTo>
                    <a:pt x="106795" y="0"/>
                  </a:lnTo>
                  <a:lnTo>
                    <a:pt x="350405" y="0"/>
                  </a:lnTo>
                  <a:lnTo>
                    <a:pt x="393574" y="11572"/>
                  </a:lnTo>
                  <a:lnTo>
                    <a:pt x="429029" y="38784"/>
                  </a:lnTo>
                  <a:lnTo>
                    <a:pt x="451371" y="77492"/>
                  </a:lnTo>
                  <a:lnTo>
                    <a:pt x="457199" y="106794"/>
                  </a:lnTo>
                  <a:lnTo>
                    <a:pt x="457199" y="350404"/>
                  </a:lnTo>
                  <a:lnTo>
                    <a:pt x="445626" y="393573"/>
                  </a:lnTo>
                  <a:lnTo>
                    <a:pt x="418415" y="429028"/>
                  </a:lnTo>
                  <a:lnTo>
                    <a:pt x="379706" y="451370"/>
                  </a:lnTo>
                  <a:lnTo>
                    <a:pt x="357838" y="456467"/>
                  </a:lnTo>
                  <a:lnTo>
                    <a:pt x="350405" y="457199"/>
                  </a:lnTo>
                  <a:close/>
                </a:path>
              </a:pathLst>
            </a:custGeom>
            <a:solidFill>
              <a:srgbClr val="FFF2EB"/>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20" name="object 20"/>
            <p:cNvPicPr/>
            <p:nvPr/>
          </p:nvPicPr>
          <p:blipFill>
            <a:blip r:embed="rId5" cstate="print"/>
            <a:stretch>
              <a:fillRect/>
            </a:stretch>
          </p:blipFill>
          <p:spPr>
            <a:xfrm>
              <a:off x="7418932" y="2371724"/>
              <a:ext cx="168275" cy="168275"/>
            </a:xfrm>
            <a:prstGeom prst="rect">
              <a:avLst/>
            </a:prstGeom>
          </p:spPr>
        </p:pic>
      </p:grpSp>
      <p:sp>
        <p:nvSpPr>
          <p:cNvPr id="21" name="object 21"/>
          <p:cNvSpPr txBox="1"/>
          <p:nvPr/>
        </p:nvSpPr>
        <p:spPr>
          <a:xfrm>
            <a:off x="7263357" y="2774943"/>
            <a:ext cx="2190115" cy="262251"/>
          </a:xfrm>
          <a:prstGeom prst="rect">
            <a:avLst/>
          </a:prstGeom>
        </p:spPr>
        <p:txBody>
          <a:bodyPr vert="horz" wrap="square" lIns="0" tIns="15875" rIns="0" bIns="0" rtlCol="0">
            <a:spAutoFit/>
          </a:bodyPr>
          <a:lstStyle/>
          <a:p>
            <a:pPr marL="12700">
              <a:lnSpc>
                <a:spcPct val="100000"/>
              </a:lnSpc>
              <a:spcBef>
                <a:spcPts val="125"/>
              </a:spcBef>
            </a:pPr>
            <a:r>
              <a:rPr sz="1600" b="1" spc="95" dirty="0">
                <a:solidFill>
                  <a:srgbClr val="1B294A"/>
                </a:solidFill>
                <a:latin typeface="Times New Roman" panose="02020603050405020304" pitchFamily="18" charset="0"/>
                <a:cs typeface="Times New Roman" panose="02020603050405020304" pitchFamily="18" charset="0"/>
              </a:rPr>
              <a:t>Explorer</a:t>
            </a:r>
            <a:r>
              <a:rPr sz="1600" b="1" spc="-55" dirty="0">
                <a:solidFill>
                  <a:srgbClr val="1B294A"/>
                </a:solidFill>
                <a:latin typeface="Times New Roman" panose="02020603050405020304" pitchFamily="18" charset="0"/>
                <a:cs typeface="Times New Roman" panose="02020603050405020304" pitchFamily="18" charset="0"/>
              </a:rPr>
              <a:t> </a:t>
            </a:r>
            <a:r>
              <a:rPr sz="1600" b="1" spc="55" dirty="0">
                <a:solidFill>
                  <a:srgbClr val="1B294A"/>
                </a:solidFill>
                <a:latin typeface="Times New Roman" panose="02020603050405020304" pitchFamily="18" charset="0"/>
                <a:cs typeface="Times New Roman" panose="02020603050405020304" pitchFamily="18" charset="0"/>
              </a:rPr>
              <a:t>les</a:t>
            </a:r>
            <a:r>
              <a:rPr sz="1600" b="1" spc="-45" dirty="0">
                <a:solidFill>
                  <a:srgbClr val="1B294A"/>
                </a:solidFill>
                <a:latin typeface="Times New Roman" panose="02020603050405020304" pitchFamily="18" charset="0"/>
                <a:cs typeface="Times New Roman" panose="02020603050405020304" pitchFamily="18" charset="0"/>
              </a:rPr>
              <a:t> </a:t>
            </a:r>
            <a:r>
              <a:rPr sz="1600" b="1" spc="60" dirty="0">
                <a:solidFill>
                  <a:srgbClr val="1B294A"/>
                </a:solidFill>
                <a:latin typeface="Times New Roman" panose="02020603050405020304" pitchFamily="18" charset="0"/>
                <a:cs typeface="Times New Roman" panose="02020603050405020304" pitchFamily="18" charset="0"/>
              </a:rPr>
              <a:t>missions</a:t>
            </a:r>
            <a:endParaRPr sz="1600">
              <a:latin typeface="Times New Roman" panose="02020603050405020304" pitchFamily="18" charset="0"/>
              <a:cs typeface="Times New Roman" panose="02020603050405020304" pitchFamily="18" charset="0"/>
            </a:endParaRPr>
          </a:p>
        </p:txBody>
      </p:sp>
      <p:sp>
        <p:nvSpPr>
          <p:cNvPr id="22" name="object 22"/>
          <p:cNvSpPr txBox="1"/>
          <p:nvPr/>
        </p:nvSpPr>
        <p:spPr>
          <a:xfrm>
            <a:off x="7263357" y="3120137"/>
            <a:ext cx="4014470" cy="683649"/>
          </a:xfrm>
          <a:prstGeom prst="rect">
            <a:avLst/>
          </a:prstGeom>
        </p:spPr>
        <p:txBody>
          <a:bodyPr vert="horz" wrap="square" lIns="0" tIns="12700" rIns="0" bIns="0" rtlCol="0">
            <a:spAutoFit/>
          </a:bodyPr>
          <a:lstStyle/>
          <a:p>
            <a:pPr marL="12700" marR="5080">
              <a:lnSpc>
                <a:spcPct val="125000"/>
              </a:lnSpc>
              <a:spcBef>
                <a:spcPts val="100"/>
              </a:spcBef>
            </a:pPr>
            <a:r>
              <a:rPr sz="1200" dirty="0">
                <a:solidFill>
                  <a:srgbClr val="3A4556"/>
                </a:solidFill>
                <a:latin typeface="Times New Roman" panose="02020603050405020304" pitchFamily="18" charset="0"/>
                <a:cs typeface="Times New Roman" panose="02020603050405020304" pitchFamily="18" charset="0"/>
              </a:rPr>
              <a:t>Un</a:t>
            </a:r>
            <a:r>
              <a:rPr sz="1200" spc="1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système</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de</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filtres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permet</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de</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parcourir</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offres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par</a:t>
            </a:r>
            <a:r>
              <a:rPr sz="1200" spc="-3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catégorie </a:t>
            </a:r>
            <a:r>
              <a:rPr sz="1100" spc="-10" dirty="0">
                <a:solidFill>
                  <a:srgbClr val="3A4556"/>
                </a:solidFill>
                <a:latin typeface="Times New Roman" panose="02020603050405020304" pitchFamily="18" charset="0"/>
                <a:cs typeface="Times New Roman" panose="02020603050405020304" pitchFamily="18" charset="0"/>
              </a:rPr>
              <a:t>(</a:t>
            </a:r>
            <a:r>
              <a:rPr sz="1200" spc="-10" dirty="0">
                <a:solidFill>
                  <a:srgbClr val="3A4556"/>
                </a:solidFill>
                <a:latin typeface="Times New Roman" panose="02020603050405020304" pitchFamily="18" charset="0"/>
                <a:cs typeface="Times New Roman" panose="02020603050405020304" pitchFamily="18" charset="0"/>
              </a:rPr>
              <a:t>Développement</a:t>
            </a:r>
            <a:r>
              <a:rPr sz="1100" spc="-10" dirty="0">
                <a:solidFill>
                  <a:srgbClr val="3A4556"/>
                </a:solidFill>
                <a:latin typeface="Times New Roman" panose="02020603050405020304" pitchFamily="18" charset="0"/>
                <a:cs typeface="Times New Roman" panose="02020603050405020304" pitchFamily="18" charset="0"/>
              </a:rPr>
              <a:t>,</a:t>
            </a:r>
            <a:r>
              <a:rPr sz="1100" spc="10" dirty="0">
                <a:solidFill>
                  <a:srgbClr val="3A4556"/>
                </a:solidFill>
                <a:latin typeface="Times New Roman" panose="02020603050405020304" pitchFamily="18" charset="0"/>
                <a:cs typeface="Times New Roman" panose="02020603050405020304" pitchFamily="18" charset="0"/>
              </a:rPr>
              <a:t> </a:t>
            </a:r>
            <a:r>
              <a:rPr sz="1200" spc="-20" dirty="0">
                <a:solidFill>
                  <a:srgbClr val="3A4556"/>
                </a:solidFill>
                <a:latin typeface="Times New Roman" panose="02020603050405020304" pitchFamily="18" charset="0"/>
                <a:cs typeface="Times New Roman" panose="02020603050405020304" pitchFamily="18" charset="0"/>
              </a:rPr>
              <a:t>Design</a:t>
            </a:r>
            <a:r>
              <a:rPr sz="1100" spc="-20" dirty="0">
                <a:solidFill>
                  <a:srgbClr val="3A4556"/>
                </a:solidFill>
                <a:latin typeface="Times New Roman" panose="02020603050405020304" pitchFamily="18" charset="0"/>
                <a:cs typeface="Times New Roman" panose="02020603050405020304" pitchFamily="18" charset="0"/>
              </a:rPr>
              <a:t>,</a:t>
            </a:r>
            <a:r>
              <a:rPr sz="1100" spc="15" dirty="0">
                <a:solidFill>
                  <a:srgbClr val="3A4556"/>
                </a:solidFill>
                <a:latin typeface="Times New Roman" panose="02020603050405020304" pitchFamily="18" charset="0"/>
                <a:cs typeface="Times New Roman" panose="02020603050405020304" pitchFamily="18" charset="0"/>
              </a:rPr>
              <a:t> </a:t>
            </a:r>
            <a:r>
              <a:rPr sz="1200" spc="-20" dirty="0">
                <a:solidFill>
                  <a:srgbClr val="3A4556"/>
                </a:solidFill>
                <a:latin typeface="Times New Roman" panose="02020603050405020304" pitchFamily="18" charset="0"/>
                <a:cs typeface="Times New Roman" panose="02020603050405020304" pitchFamily="18" charset="0"/>
              </a:rPr>
              <a:t>Data</a:t>
            </a:r>
            <a:r>
              <a:rPr sz="1100" spc="-20" dirty="0">
                <a:solidFill>
                  <a:srgbClr val="3A4556"/>
                </a:solidFill>
                <a:latin typeface="Times New Roman" panose="02020603050405020304" pitchFamily="18" charset="0"/>
                <a:cs typeface="Times New Roman" panose="02020603050405020304" pitchFamily="18" charset="0"/>
              </a:rPr>
              <a:t>,</a:t>
            </a:r>
            <a:r>
              <a:rPr sz="1100" spc="15"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Marketing</a:t>
            </a:r>
            <a:r>
              <a:rPr sz="1100" spc="-10" dirty="0">
                <a:solidFill>
                  <a:srgbClr val="3A4556"/>
                </a:solidFill>
                <a:latin typeface="Times New Roman" panose="02020603050405020304" pitchFamily="18" charset="0"/>
                <a:cs typeface="Times New Roman" panose="02020603050405020304" pitchFamily="18" charset="0"/>
              </a:rPr>
              <a:t>,</a:t>
            </a:r>
            <a:r>
              <a:rPr sz="1100" spc="15" dirty="0">
                <a:solidFill>
                  <a:srgbClr val="3A4556"/>
                </a:solidFill>
                <a:latin typeface="Times New Roman" panose="02020603050405020304" pitchFamily="18" charset="0"/>
                <a:cs typeface="Times New Roman" panose="02020603050405020304" pitchFamily="18" charset="0"/>
              </a:rPr>
              <a:t> </a:t>
            </a:r>
            <a:r>
              <a:rPr sz="1200" spc="-25" dirty="0">
                <a:solidFill>
                  <a:srgbClr val="3A4556"/>
                </a:solidFill>
                <a:latin typeface="Times New Roman" panose="02020603050405020304" pitchFamily="18" charset="0"/>
                <a:cs typeface="Times New Roman" panose="02020603050405020304" pitchFamily="18" charset="0"/>
              </a:rPr>
              <a:t>DevOps</a:t>
            </a:r>
            <a:r>
              <a:rPr sz="1100" spc="-25" dirty="0">
                <a:solidFill>
                  <a:srgbClr val="3A4556"/>
                </a:solidFill>
                <a:latin typeface="Times New Roman" panose="02020603050405020304" pitchFamily="18" charset="0"/>
                <a:cs typeface="Times New Roman" panose="02020603050405020304" pitchFamily="18" charset="0"/>
              </a:rPr>
              <a:t>),</a:t>
            </a:r>
            <a:r>
              <a:rPr sz="11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par</a:t>
            </a:r>
            <a:r>
              <a:rPr sz="1200" spc="-5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pays</a:t>
            </a:r>
            <a:r>
              <a:rPr sz="1200" spc="-50" dirty="0">
                <a:solidFill>
                  <a:srgbClr val="3A4556"/>
                </a:solidFill>
                <a:latin typeface="Times New Roman" panose="02020603050405020304" pitchFamily="18" charset="0"/>
                <a:cs typeface="Times New Roman" panose="02020603050405020304" pitchFamily="18" charset="0"/>
              </a:rPr>
              <a:t> </a:t>
            </a:r>
            <a:r>
              <a:rPr sz="1200" spc="-25" dirty="0">
                <a:solidFill>
                  <a:srgbClr val="3A4556"/>
                </a:solidFill>
                <a:latin typeface="Times New Roman" panose="02020603050405020304" pitchFamily="18" charset="0"/>
                <a:cs typeface="Times New Roman" panose="02020603050405020304" pitchFamily="18" charset="0"/>
              </a:rPr>
              <a:t>ou </a:t>
            </a:r>
            <a:r>
              <a:rPr sz="1200" dirty="0">
                <a:solidFill>
                  <a:srgbClr val="3A4556"/>
                </a:solidFill>
                <a:latin typeface="Times New Roman" panose="02020603050405020304" pitchFamily="18" charset="0"/>
                <a:cs typeface="Times New Roman" panose="02020603050405020304" pitchFamily="18" charset="0"/>
              </a:rPr>
              <a:t>par</a:t>
            </a:r>
            <a:r>
              <a:rPr sz="1200" spc="-45"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niveau</a:t>
            </a:r>
            <a:r>
              <a:rPr sz="1200" dirty="0">
                <a:solidFill>
                  <a:srgbClr val="3A4556"/>
                </a:solidFill>
                <a:latin typeface="Times New Roman" panose="02020603050405020304" pitchFamily="18" charset="0"/>
                <a:cs typeface="Times New Roman" panose="02020603050405020304" pitchFamily="18" charset="0"/>
              </a:rPr>
              <a:t> de</a:t>
            </a:r>
            <a:r>
              <a:rPr sz="1200" spc="-4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rémunération</a:t>
            </a:r>
            <a:r>
              <a:rPr sz="1100" spc="-10" dirty="0">
                <a:solidFill>
                  <a:srgbClr val="3A4556"/>
                </a:solidFill>
                <a:latin typeface="Times New Roman" panose="02020603050405020304" pitchFamily="18" charset="0"/>
                <a:cs typeface="Times New Roman" panose="02020603050405020304" pitchFamily="18" charset="0"/>
              </a:rPr>
              <a:t>.</a:t>
            </a:r>
            <a:endParaRPr sz="1100">
              <a:latin typeface="Times New Roman" panose="02020603050405020304" pitchFamily="18" charset="0"/>
              <a:cs typeface="Times New Roman" panose="02020603050405020304" pitchFamily="18" charset="0"/>
            </a:endParaRPr>
          </a:p>
        </p:txBody>
      </p:sp>
      <p:sp>
        <p:nvSpPr>
          <p:cNvPr id="23" name="object 23"/>
          <p:cNvSpPr/>
          <p:nvPr/>
        </p:nvSpPr>
        <p:spPr>
          <a:xfrm>
            <a:off x="614362" y="4271962"/>
            <a:ext cx="6191250" cy="2238375"/>
          </a:xfrm>
          <a:custGeom>
            <a:avLst/>
            <a:gdLst/>
            <a:ahLst/>
            <a:cxnLst/>
            <a:rect l="l" t="t" r="r" b="b"/>
            <a:pathLst>
              <a:path w="6191250" h="2238375">
                <a:moveTo>
                  <a:pt x="0" y="2090737"/>
                </a:moveTo>
                <a:lnTo>
                  <a:pt x="0" y="147637"/>
                </a:lnTo>
                <a:lnTo>
                  <a:pt x="177" y="140384"/>
                </a:lnTo>
                <a:lnTo>
                  <a:pt x="8626" y="97907"/>
                </a:lnTo>
                <a:lnTo>
                  <a:pt x="29058" y="59681"/>
                </a:lnTo>
                <a:lnTo>
                  <a:pt x="59682" y="29058"/>
                </a:lnTo>
                <a:lnTo>
                  <a:pt x="97907" y="8625"/>
                </a:lnTo>
                <a:lnTo>
                  <a:pt x="140384" y="177"/>
                </a:lnTo>
                <a:lnTo>
                  <a:pt x="147637" y="0"/>
                </a:lnTo>
                <a:lnTo>
                  <a:pt x="6043612" y="0"/>
                </a:lnTo>
                <a:lnTo>
                  <a:pt x="6086468" y="6355"/>
                </a:lnTo>
                <a:lnTo>
                  <a:pt x="6125634" y="24881"/>
                </a:lnTo>
                <a:lnTo>
                  <a:pt x="6157738" y="53975"/>
                </a:lnTo>
                <a:lnTo>
                  <a:pt x="6180010" y="91138"/>
                </a:lnTo>
                <a:lnTo>
                  <a:pt x="6190539" y="133166"/>
                </a:lnTo>
                <a:lnTo>
                  <a:pt x="6191249" y="147637"/>
                </a:lnTo>
                <a:lnTo>
                  <a:pt x="6191249" y="2090737"/>
                </a:lnTo>
                <a:lnTo>
                  <a:pt x="6184892" y="2133594"/>
                </a:lnTo>
                <a:lnTo>
                  <a:pt x="6166367" y="2172760"/>
                </a:lnTo>
                <a:lnTo>
                  <a:pt x="6137272" y="2204863"/>
                </a:lnTo>
                <a:lnTo>
                  <a:pt x="6100109" y="2227135"/>
                </a:lnTo>
                <a:lnTo>
                  <a:pt x="6058083" y="2237665"/>
                </a:lnTo>
                <a:lnTo>
                  <a:pt x="6043612" y="2238374"/>
                </a:lnTo>
                <a:lnTo>
                  <a:pt x="147637" y="2238374"/>
                </a:lnTo>
                <a:lnTo>
                  <a:pt x="104779" y="2232018"/>
                </a:lnTo>
                <a:lnTo>
                  <a:pt x="65614" y="2213492"/>
                </a:lnTo>
                <a:lnTo>
                  <a:pt x="33510" y="2184398"/>
                </a:lnTo>
                <a:lnTo>
                  <a:pt x="11238" y="2147235"/>
                </a:lnTo>
                <a:lnTo>
                  <a:pt x="709" y="2105208"/>
                </a:lnTo>
                <a:lnTo>
                  <a:pt x="0" y="2090737"/>
                </a:lnTo>
                <a:close/>
              </a:path>
            </a:pathLst>
          </a:custGeom>
          <a:ln w="9524">
            <a:solidFill>
              <a:srgbClr val="E7ECF1"/>
            </a:solidFill>
          </a:ln>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24" name="object 24"/>
          <p:cNvSpPr txBox="1"/>
          <p:nvPr/>
        </p:nvSpPr>
        <p:spPr>
          <a:xfrm>
            <a:off x="873124" y="4537833"/>
            <a:ext cx="1170305" cy="184666"/>
          </a:xfrm>
          <a:prstGeom prst="rect">
            <a:avLst/>
          </a:prstGeom>
        </p:spPr>
        <p:txBody>
          <a:bodyPr vert="horz" wrap="square" lIns="0" tIns="15240" rIns="0" bIns="0" rtlCol="0">
            <a:spAutoFit/>
          </a:bodyPr>
          <a:lstStyle/>
          <a:p>
            <a:pPr marL="12700">
              <a:lnSpc>
                <a:spcPct val="100000"/>
              </a:lnSpc>
              <a:spcBef>
                <a:spcPts val="120"/>
              </a:spcBef>
            </a:pPr>
            <a:r>
              <a:rPr sz="1100" b="1" spc="535" dirty="0">
                <a:solidFill>
                  <a:srgbClr val="E7863A"/>
                </a:solidFill>
                <a:latin typeface="Times New Roman" panose="02020603050405020304" pitchFamily="18" charset="0"/>
                <a:cs typeface="Times New Roman" panose="02020603050405020304" pitchFamily="18" charset="0"/>
              </a:rPr>
              <a:t>ÉTAPE</a:t>
            </a:r>
            <a:r>
              <a:rPr sz="1100" b="1" spc="160" dirty="0">
                <a:solidFill>
                  <a:srgbClr val="E7863A"/>
                </a:solidFill>
                <a:latin typeface="Times New Roman" panose="02020603050405020304" pitchFamily="18" charset="0"/>
                <a:cs typeface="Times New Roman" panose="02020603050405020304" pitchFamily="18" charset="0"/>
              </a:rPr>
              <a:t> </a:t>
            </a:r>
            <a:r>
              <a:rPr sz="1100" b="1" spc="565" dirty="0">
                <a:solidFill>
                  <a:srgbClr val="E7863A"/>
                </a:solidFill>
                <a:latin typeface="Times New Roman" panose="02020603050405020304" pitchFamily="18" charset="0"/>
                <a:cs typeface="Times New Roman" panose="02020603050405020304" pitchFamily="18" charset="0"/>
              </a:rPr>
              <a:t>03</a:t>
            </a:r>
            <a:endParaRPr sz="1100">
              <a:latin typeface="Times New Roman" panose="02020603050405020304" pitchFamily="18" charset="0"/>
              <a:cs typeface="Times New Roman" panose="02020603050405020304" pitchFamily="18" charset="0"/>
            </a:endParaRPr>
          </a:p>
        </p:txBody>
      </p:sp>
      <p:grpSp>
        <p:nvGrpSpPr>
          <p:cNvPr id="25" name="object 25"/>
          <p:cNvGrpSpPr/>
          <p:nvPr/>
        </p:nvGrpSpPr>
        <p:grpSpPr>
          <a:xfrm>
            <a:off x="885824" y="4857749"/>
            <a:ext cx="457200" cy="457200"/>
            <a:chOff x="885824" y="4857749"/>
            <a:chExt cx="457200" cy="457200"/>
          </a:xfrm>
        </p:grpSpPr>
        <p:sp>
          <p:nvSpPr>
            <p:cNvPr id="26" name="object 26"/>
            <p:cNvSpPr/>
            <p:nvPr/>
          </p:nvSpPr>
          <p:spPr>
            <a:xfrm>
              <a:off x="885824" y="4857749"/>
              <a:ext cx="457200" cy="457200"/>
            </a:xfrm>
            <a:custGeom>
              <a:avLst/>
              <a:gdLst/>
              <a:ahLst/>
              <a:cxnLst/>
              <a:rect l="l" t="t" r="r" b="b"/>
              <a:pathLst>
                <a:path w="457200" h="457200">
                  <a:moveTo>
                    <a:pt x="350404" y="457199"/>
                  </a:moveTo>
                  <a:lnTo>
                    <a:pt x="106794" y="457199"/>
                  </a:lnTo>
                  <a:lnTo>
                    <a:pt x="99361" y="456467"/>
                  </a:lnTo>
                  <a:lnTo>
                    <a:pt x="57038" y="442105"/>
                  </a:lnTo>
                  <a:lnTo>
                    <a:pt x="23432" y="412641"/>
                  </a:lnTo>
                  <a:lnTo>
                    <a:pt x="3660" y="372559"/>
                  </a:lnTo>
                  <a:lnTo>
                    <a:pt x="0" y="350404"/>
                  </a:lnTo>
                  <a:lnTo>
                    <a:pt x="0" y="342899"/>
                  </a:lnTo>
                  <a:lnTo>
                    <a:pt x="0" y="106794"/>
                  </a:lnTo>
                  <a:lnTo>
                    <a:pt x="11572" y="63625"/>
                  </a:lnTo>
                  <a:lnTo>
                    <a:pt x="38784" y="28170"/>
                  </a:lnTo>
                  <a:lnTo>
                    <a:pt x="77492" y="5828"/>
                  </a:lnTo>
                  <a:lnTo>
                    <a:pt x="106794" y="0"/>
                  </a:lnTo>
                  <a:lnTo>
                    <a:pt x="350404" y="0"/>
                  </a:lnTo>
                  <a:lnTo>
                    <a:pt x="393574" y="11572"/>
                  </a:lnTo>
                  <a:lnTo>
                    <a:pt x="429028" y="38784"/>
                  </a:lnTo>
                  <a:lnTo>
                    <a:pt x="451371" y="77492"/>
                  </a:lnTo>
                  <a:lnTo>
                    <a:pt x="457199" y="106794"/>
                  </a:lnTo>
                  <a:lnTo>
                    <a:pt x="457199" y="350404"/>
                  </a:lnTo>
                  <a:lnTo>
                    <a:pt x="445627" y="393573"/>
                  </a:lnTo>
                  <a:lnTo>
                    <a:pt x="418415" y="429028"/>
                  </a:lnTo>
                  <a:lnTo>
                    <a:pt x="379706" y="451370"/>
                  </a:lnTo>
                  <a:lnTo>
                    <a:pt x="357837" y="456467"/>
                  </a:lnTo>
                  <a:lnTo>
                    <a:pt x="350404" y="457199"/>
                  </a:lnTo>
                  <a:close/>
                </a:path>
              </a:pathLst>
            </a:custGeom>
            <a:solidFill>
              <a:srgbClr val="FFF2EB"/>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27" name="object 27"/>
            <p:cNvPicPr/>
            <p:nvPr/>
          </p:nvPicPr>
          <p:blipFill>
            <a:blip r:embed="rId6" cstate="print"/>
            <a:stretch>
              <a:fillRect/>
            </a:stretch>
          </p:blipFill>
          <p:spPr>
            <a:xfrm>
              <a:off x="1019174" y="4991099"/>
              <a:ext cx="190500" cy="190500"/>
            </a:xfrm>
            <a:prstGeom prst="rect">
              <a:avLst/>
            </a:prstGeom>
          </p:spPr>
        </p:pic>
      </p:grpSp>
      <p:sp>
        <p:nvSpPr>
          <p:cNvPr id="28" name="object 28"/>
          <p:cNvSpPr txBox="1"/>
          <p:nvPr/>
        </p:nvSpPr>
        <p:spPr>
          <a:xfrm>
            <a:off x="873124" y="5403843"/>
            <a:ext cx="1127760" cy="262251"/>
          </a:xfrm>
          <a:prstGeom prst="rect">
            <a:avLst/>
          </a:prstGeom>
        </p:spPr>
        <p:txBody>
          <a:bodyPr vert="horz" wrap="square" lIns="0" tIns="15875" rIns="0" bIns="0" rtlCol="0">
            <a:spAutoFit/>
          </a:bodyPr>
          <a:lstStyle/>
          <a:p>
            <a:pPr marL="12700">
              <a:lnSpc>
                <a:spcPct val="100000"/>
              </a:lnSpc>
              <a:spcBef>
                <a:spcPts val="125"/>
              </a:spcBef>
            </a:pPr>
            <a:r>
              <a:rPr sz="1600" b="1" spc="100" dirty="0">
                <a:solidFill>
                  <a:srgbClr val="1B294A"/>
                </a:solidFill>
                <a:latin typeface="Times New Roman" panose="02020603050405020304" pitchFamily="18" charset="0"/>
                <a:cs typeface="Times New Roman" panose="02020603050405020304" pitchFamily="18" charset="0"/>
              </a:rPr>
              <a:t>Collaborer</a:t>
            </a:r>
            <a:endParaRPr sz="1600">
              <a:latin typeface="Times New Roman" panose="02020603050405020304" pitchFamily="18" charset="0"/>
              <a:cs typeface="Times New Roman" panose="02020603050405020304" pitchFamily="18" charset="0"/>
            </a:endParaRPr>
          </a:p>
        </p:txBody>
      </p:sp>
      <p:sp>
        <p:nvSpPr>
          <p:cNvPr id="29" name="object 29"/>
          <p:cNvSpPr txBox="1"/>
          <p:nvPr/>
        </p:nvSpPr>
        <p:spPr>
          <a:xfrm>
            <a:off x="873124" y="5749037"/>
            <a:ext cx="5639435" cy="452816"/>
          </a:xfrm>
          <a:prstGeom prst="rect">
            <a:avLst/>
          </a:prstGeom>
        </p:spPr>
        <p:txBody>
          <a:bodyPr vert="horz" wrap="square" lIns="0" tIns="12700" rIns="0" bIns="0" rtlCol="0">
            <a:spAutoFit/>
          </a:bodyPr>
          <a:lstStyle/>
          <a:p>
            <a:pPr marL="12700" marR="5715">
              <a:lnSpc>
                <a:spcPct val="125000"/>
              </a:lnSpc>
              <a:spcBef>
                <a:spcPts val="100"/>
              </a:spcBef>
            </a:pPr>
            <a:r>
              <a:rPr sz="1200" spc="-10" dirty="0">
                <a:solidFill>
                  <a:srgbClr val="3A4556"/>
                </a:solidFill>
                <a:latin typeface="Times New Roman" panose="02020603050405020304" pitchFamily="18" charset="0"/>
                <a:cs typeface="Times New Roman" panose="02020603050405020304" pitchFamily="18" charset="0"/>
              </a:rPr>
              <a:t>Une</a:t>
            </a:r>
            <a:r>
              <a:rPr sz="1200" spc="-30" dirty="0">
                <a:solidFill>
                  <a:srgbClr val="3A4556"/>
                </a:solidFill>
                <a:latin typeface="Times New Roman" panose="02020603050405020304" pitchFamily="18" charset="0"/>
                <a:cs typeface="Times New Roman" panose="02020603050405020304" pitchFamily="18" charset="0"/>
              </a:rPr>
              <a:t> </a:t>
            </a:r>
            <a:r>
              <a:rPr sz="1200" spc="-20" dirty="0">
                <a:solidFill>
                  <a:srgbClr val="3A4556"/>
                </a:solidFill>
                <a:latin typeface="Times New Roman" panose="02020603050405020304" pitchFamily="18" charset="0"/>
                <a:cs typeface="Times New Roman" panose="02020603050405020304" pitchFamily="18" charset="0"/>
              </a:rPr>
              <a:t>messagerie</a:t>
            </a:r>
            <a:r>
              <a:rPr sz="1200" spc="-3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intégrée</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permet</a:t>
            </a:r>
            <a:r>
              <a:rPr sz="1200" spc="-4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aux</a:t>
            </a:r>
            <a:r>
              <a:rPr sz="1200" spc="-4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freelances</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et</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aux</a:t>
            </a:r>
            <a:r>
              <a:rPr sz="1200" spc="-4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clients</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a:t>
            </a:r>
            <a:r>
              <a:rPr sz="1100" dirty="0">
                <a:solidFill>
                  <a:srgbClr val="3A4556"/>
                </a:solidFill>
                <a:latin typeface="Times New Roman" panose="02020603050405020304" pitchFamily="18" charset="0"/>
                <a:cs typeface="Times New Roman" panose="02020603050405020304" pitchFamily="18" charset="0"/>
              </a:rPr>
              <a:t>'</a:t>
            </a:r>
            <a:r>
              <a:rPr sz="1200" dirty="0">
                <a:solidFill>
                  <a:srgbClr val="3A4556"/>
                </a:solidFill>
                <a:latin typeface="Times New Roman" panose="02020603050405020304" pitchFamily="18" charset="0"/>
                <a:cs typeface="Times New Roman" panose="02020603050405020304" pitchFamily="18" charset="0"/>
              </a:rPr>
              <a:t>échanger</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directement</a:t>
            </a:r>
            <a:r>
              <a:rPr sz="1200" spc="-4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sur</a:t>
            </a:r>
            <a:r>
              <a:rPr sz="1200" spc="-30" dirty="0">
                <a:solidFill>
                  <a:srgbClr val="3A4556"/>
                </a:solidFill>
                <a:latin typeface="Times New Roman" panose="02020603050405020304" pitchFamily="18" charset="0"/>
                <a:cs typeface="Times New Roman" panose="02020603050405020304" pitchFamily="18" charset="0"/>
              </a:rPr>
              <a:t> </a:t>
            </a:r>
            <a:r>
              <a:rPr sz="1200" spc="-25" dirty="0">
                <a:solidFill>
                  <a:srgbClr val="3A4556"/>
                </a:solidFill>
                <a:latin typeface="Times New Roman" panose="02020603050405020304" pitchFamily="18" charset="0"/>
                <a:cs typeface="Times New Roman" panose="02020603050405020304" pitchFamily="18" charset="0"/>
              </a:rPr>
              <a:t>la </a:t>
            </a:r>
            <a:r>
              <a:rPr sz="1200" dirty="0">
                <a:solidFill>
                  <a:srgbClr val="3A4556"/>
                </a:solidFill>
                <a:latin typeface="Times New Roman" panose="02020603050405020304" pitchFamily="18" charset="0"/>
                <a:cs typeface="Times New Roman" panose="02020603050405020304" pitchFamily="18" charset="0"/>
              </a:rPr>
              <a:t>plateforme</a:t>
            </a:r>
            <a:r>
              <a:rPr sz="1100" dirty="0">
                <a:solidFill>
                  <a:srgbClr val="3A4556"/>
                </a:solidFill>
                <a:latin typeface="Times New Roman" panose="02020603050405020304" pitchFamily="18" charset="0"/>
                <a:cs typeface="Times New Roman" panose="02020603050405020304" pitchFamily="18" charset="0"/>
              </a:rPr>
              <a:t>,</a:t>
            </a:r>
            <a:r>
              <a:rPr sz="1100" spc="30" dirty="0">
                <a:solidFill>
                  <a:srgbClr val="3A4556"/>
                </a:solidFill>
                <a:latin typeface="Times New Roman" panose="02020603050405020304" pitchFamily="18" charset="0"/>
                <a:cs typeface="Times New Roman" panose="02020603050405020304" pitchFamily="18" charset="0"/>
              </a:rPr>
              <a:t> </a:t>
            </a:r>
            <a:r>
              <a:rPr sz="1200" spc="-20" dirty="0">
                <a:solidFill>
                  <a:srgbClr val="3A4556"/>
                </a:solidFill>
                <a:latin typeface="Times New Roman" panose="02020603050405020304" pitchFamily="18" charset="0"/>
                <a:cs typeface="Times New Roman" panose="02020603050405020304" pitchFamily="18" charset="0"/>
              </a:rPr>
              <a:t>sans</a:t>
            </a:r>
            <a:r>
              <a:rPr sz="1200" spc="-3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avoir</a:t>
            </a:r>
            <a:r>
              <a:rPr sz="1200" spc="-4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à</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utiliser</a:t>
            </a:r>
            <a:r>
              <a:rPr sz="1200" spc="-4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a:t>
            </a:r>
            <a:r>
              <a:rPr sz="1100" dirty="0">
                <a:solidFill>
                  <a:srgbClr val="3A4556"/>
                </a:solidFill>
                <a:latin typeface="Times New Roman" panose="02020603050405020304" pitchFamily="18" charset="0"/>
                <a:cs typeface="Times New Roman" panose="02020603050405020304" pitchFamily="18" charset="0"/>
              </a:rPr>
              <a:t>'</a:t>
            </a:r>
            <a:r>
              <a:rPr sz="1200" dirty="0">
                <a:solidFill>
                  <a:srgbClr val="3A4556"/>
                </a:solidFill>
                <a:latin typeface="Times New Roman" panose="02020603050405020304" pitchFamily="18" charset="0"/>
                <a:cs typeface="Times New Roman" panose="02020603050405020304" pitchFamily="18" charset="0"/>
              </a:rPr>
              <a:t>outils</a:t>
            </a:r>
            <a:r>
              <a:rPr sz="1200" spc="-35"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externes</a:t>
            </a:r>
            <a:r>
              <a:rPr sz="1100" spc="-10" dirty="0">
                <a:solidFill>
                  <a:srgbClr val="3A4556"/>
                </a:solidFill>
                <a:latin typeface="Times New Roman" panose="02020603050405020304" pitchFamily="18" charset="0"/>
                <a:cs typeface="Times New Roman" panose="02020603050405020304" pitchFamily="18" charset="0"/>
              </a:rPr>
              <a:t>.</a:t>
            </a:r>
            <a:endParaRPr sz="1100">
              <a:latin typeface="Times New Roman" panose="02020603050405020304" pitchFamily="18" charset="0"/>
              <a:cs typeface="Times New Roman" panose="02020603050405020304" pitchFamily="18" charset="0"/>
            </a:endParaRPr>
          </a:p>
        </p:txBody>
      </p:sp>
      <p:sp>
        <p:nvSpPr>
          <p:cNvPr id="30" name="object 30"/>
          <p:cNvSpPr/>
          <p:nvPr/>
        </p:nvSpPr>
        <p:spPr>
          <a:xfrm>
            <a:off x="7000874" y="4267199"/>
            <a:ext cx="4581525" cy="2409825"/>
          </a:xfrm>
          <a:custGeom>
            <a:avLst/>
            <a:gdLst/>
            <a:ahLst/>
            <a:cxnLst/>
            <a:rect l="l" t="t" r="r" b="b"/>
            <a:pathLst>
              <a:path w="4581525" h="2409825">
                <a:moveTo>
                  <a:pt x="4429124" y="2409824"/>
                </a:moveTo>
                <a:lnTo>
                  <a:pt x="152399" y="2409824"/>
                </a:lnTo>
                <a:lnTo>
                  <a:pt x="144912" y="2409641"/>
                </a:lnTo>
                <a:lnTo>
                  <a:pt x="101064" y="2400919"/>
                </a:lnTo>
                <a:lnTo>
                  <a:pt x="61606" y="2379829"/>
                </a:lnTo>
                <a:lnTo>
                  <a:pt x="29994" y="2348216"/>
                </a:lnTo>
                <a:lnTo>
                  <a:pt x="8903" y="2308758"/>
                </a:lnTo>
                <a:lnTo>
                  <a:pt x="182" y="2264911"/>
                </a:lnTo>
                <a:lnTo>
                  <a:pt x="0" y="2257424"/>
                </a:lnTo>
                <a:lnTo>
                  <a:pt x="0" y="152399"/>
                </a:lnTo>
                <a:lnTo>
                  <a:pt x="6559" y="108159"/>
                </a:lnTo>
                <a:lnTo>
                  <a:pt x="25682" y="67730"/>
                </a:lnTo>
                <a:lnTo>
                  <a:pt x="55716" y="34591"/>
                </a:lnTo>
                <a:lnTo>
                  <a:pt x="94077" y="11600"/>
                </a:lnTo>
                <a:lnTo>
                  <a:pt x="137461" y="732"/>
                </a:lnTo>
                <a:lnTo>
                  <a:pt x="152399" y="0"/>
                </a:lnTo>
                <a:lnTo>
                  <a:pt x="4429124" y="0"/>
                </a:lnTo>
                <a:lnTo>
                  <a:pt x="4473363" y="6560"/>
                </a:lnTo>
                <a:lnTo>
                  <a:pt x="4513791" y="25683"/>
                </a:lnTo>
                <a:lnTo>
                  <a:pt x="4546931" y="55716"/>
                </a:lnTo>
                <a:lnTo>
                  <a:pt x="4569921" y="94078"/>
                </a:lnTo>
                <a:lnTo>
                  <a:pt x="4580791" y="137461"/>
                </a:lnTo>
                <a:lnTo>
                  <a:pt x="4581524" y="152399"/>
                </a:lnTo>
                <a:lnTo>
                  <a:pt x="4581524" y="2257424"/>
                </a:lnTo>
                <a:lnTo>
                  <a:pt x="4574961" y="2301664"/>
                </a:lnTo>
                <a:lnTo>
                  <a:pt x="4555838" y="2342093"/>
                </a:lnTo>
                <a:lnTo>
                  <a:pt x="4525805" y="2375232"/>
                </a:lnTo>
                <a:lnTo>
                  <a:pt x="4487444" y="2398223"/>
                </a:lnTo>
                <a:lnTo>
                  <a:pt x="4444061" y="2409092"/>
                </a:lnTo>
                <a:lnTo>
                  <a:pt x="4429124" y="2409824"/>
                </a:lnTo>
                <a:close/>
              </a:path>
            </a:pathLst>
          </a:custGeom>
          <a:solidFill>
            <a:srgbClr val="1B294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31" name="object 31"/>
          <p:cNvSpPr txBox="1"/>
          <p:nvPr/>
        </p:nvSpPr>
        <p:spPr>
          <a:xfrm>
            <a:off x="7253832" y="4528308"/>
            <a:ext cx="1176020" cy="184666"/>
          </a:xfrm>
          <a:prstGeom prst="rect">
            <a:avLst/>
          </a:prstGeom>
        </p:spPr>
        <p:txBody>
          <a:bodyPr vert="horz" wrap="square" lIns="0" tIns="15240" rIns="0" bIns="0" rtlCol="0">
            <a:spAutoFit/>
          </a:bodyPr>
          <a:lstStyle/>
          <a:p>
            <a:pPr marL="12700">
              <a:lnSpc>
                <a:spcPct val="100000"/>
              </a:lnSpc>
              <a:spcBef>
                <a:spcPts val="120"/>
              </a:spcBef>
            </a:pPr>
            <a:r>
              <a:rPr sz="1100" b="1" spc="535" dirty="0">
                <a:solidFill>
                  <a:srgbClr val="E7863A"/>
                </a:solidFill>
                <a:latin typeface="Times New Roman" panose="02020603050405020304" pitchFamily="18" charset="0"/>
                <a:cs typeface="Times New Roman" panose="02020603050405020304" pitchFamily="18" charset="0"/>
              </a:rPr>
              <a:t>ÉTAPE</a:t>
            </a:r>
            <a:r>
              <a:rPr sz="1100" b="1" spc="160" dirty="0">
                <a:solidFill>
                  <a:srgbClr val="E7863A"/>
                </a:solidFill>
                <a:latin typeface="Times New Roman" panose="02020603050405020304" pitchFamily="18" charset="0"/>
                <a:cs typeface="Times New Roman" panose="02020603050405020304" pitchFamily="18" charset="0"/>
              </a:rPr>
              <a:t> </a:t>
            </a:r>
            <a:r>
              <a:rPr sz="1100" b="1" spc="590" dirty="0">
                <a:solidFill>
                  <a:srgbClr val="E7863A"/>
                </a:solidFill>
                <a:latin typeface="Times New Roman" panose="02020603050405020304" pitchFamily="18" charset="0"/>
                <a:cs typeface="Times New Roman" panose="02020603050405020304" pitchFamily="18" charset="0"/>
              </a:rPr>
              <a:t>04</a:t>
            </a:r>
            <a:endParaRPr sz="1100">
              <a:latin typeface="Times New Roman" panose="02020603050405020304" pitchFamily="18" charset="0"/>
              <a:cs typeface="Times New Roman" panose="02020603050405020304" pitchFamily="18" charset="0"/>
            </a:endParaRPr>
          </a:p>
        </p:txBody>
      </p:sp>
      <p:grpSp>
        <p:nvGrpSpPr>
          <p:cNvPr id="32" name="object 32"/>
          <p:cNvGrpSpPr/>
          <p:nvPr/>
        </p:nvGrpSpPr>
        <p:grpSpPr>
          <a:xfrm>
            <a:off x="7000875" y="4267200"/>
            <a:ext cx="762000" cy="1038225"/>
            <a:chOff x="7000875" y="4267200"/>
            <a:chExt cx="762000" cy="1038225"/>
          </a:xfrm>
        </p:grpSpPr>
        <p:sp>
          <p:nvSpPr>
            <p:cNvPr id="33" name="object 33"/>
            <p:cNvSpPr/>
            <p:nvPr/>
          </p:nvSpPr>
          <p:spPr>
            <a:xfrm>
              <a:off x="7267573" y="4848224"/>
              <a:ext cx="457200" cy="457200"/>
            </a:xfrm>
            <a:custGeom>
              <a:avLst/>
              <a:gdLst/>
              <a:ahLst/>
              <a:cxnLst/>
              <a:rect l="l" t="t" r="r" b="b"/>
              <a:pathLst>
                <a:path w="457200" h="457200">
                  <a:moveTo>
                    <a:pt x="350405" y="457199"/>
                  </a:moveTo>
                  <a:lnTo>
                    <a:pt x="106794" y="457199"/>
                  </a:lnTo>
                  <a:lnTo>
                    <a:pt x="99361" y="456467"/>
                  </a:lnTo>
                  <a:lnTo>
                    <a:pt x="57037" y="442106"/>
                  </a:lnTo>
                  <a:lnTo>
                    <a:pt x="23432" y="412641"/>
                  </a:lnTo>
                  <a:lnTo>
                    <a:pt x="3660" y="372559"/>
                  </a:lnTo>
                  <a:lnTo>
                    <a:pt x="0" y="350404"/>
                  </a:lnTo>
                  <a:lnTo>
                    <a:pt x="0" y="342899"/>
                  </a:lnTo>
                  <a:lnTo>
                    <a:pt x="0" y="106794"/>
                  </a:lnTo>
                  <a:lnTo>
                    <a:pt x="11571" y="63624"/>
                  </a:lnTo>
                  <a:lnTo>
                    <a:pt x="38784" y="28170"/>
                  </a:lnTo>
                  <a:lnTo>
                    <a:pt x="77492" y="5828"/>
                  </a:lnTo>
                  <a:lnTo>
                    <a:pt x="106794" y="0"/>
                  </a:lnTo>
                  <a:lnTo>
                    <a:pt x="350405" y="0"/>
                  </a:lnTo>
                  <a:lnTo>
                    <a:pt x="393574" y="11572"/>
                  </a:lnTo>
                  <a:lnTo>
                    <a:pt x="429028" y="38784"/>
                  </a:lnTo>
                  <a:lnTo>
                    <a:pt x="451371" y="77492"/>
                  </a:lnTo>
                  <a:lnTo>
                    <a:pt x="457199" y="106794"/>
                  </a:lnTo>
                  <a:lnTo>
                    <a:pt x="457199" y="350404"/>
                  </a:lnTo>
                  <a:lnTo>
                    <a:pt x="445627" y="393573"/>
                  </a:lnTo>
                  <a:lnTo>
                    <a:pt x="418415" y="429028"/>
                  </a:lnTo>
                  <a:lnTo>
                    <a:pt x="379706" y="451370"/>
                  </a:lnTo>
                  <a:lnTo>
                    <a:pt x="357838" y="456467"/>
                  </a:lnTo>
                  <a:lnTo>
                    <a:pt x="350405" y="457199"/>
                  </a:lnTo>
                  <a:close/>
                </a:path>
              </a:pathLst>
            </a:custGeom>
            <a:solidFill>
              <a:srgbClr val="E7863A">
                <a:alpha val="14898"/>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34" name="object 34"/>
            <p:cNvPicPr/>
            <p:nvPr/>
          </p:nvPicPr>
          <p:blipFill>
            <a:blip r:embed="rId7" cstate="print"/>
            <a:stretch>
              <a:fillRect/>
            </a:stretch>
          </p:blipFill>
          <p:spPr>
            <a:xfrm>
              <a:off x="7399883" y="4997449"/>
              <a:ext cx="190500" cy="158750"/>
            </a:xfrm>
            <a:prstGeom prst="rect">
              <a:avLst/>
            </a:prstGeom>
          </p:spPr>
        </p:pic>
        <p:sp>
          <p:nvSpPr>
            <p:cNvPr id="35" name="object 35"/>
            <p:cNvSpPr/>
            <p:nvPr/>
          </p:nvSpPr>
          <p:spPr>
            <a:xfrm>
              <a:off x="7000875" y="4267200"/>
              <a:ext cx="762000" cy="762000"/>
            </a:xfrm>
            <a:custGeom>
              <a:avLst/>
              <a:gdLst/>
              <a:ahLst/>
              <a:cxnLst/>
              <a:rect l="l" t="t" r="r" b="b"/>
              <a:pathLst>
                <a:path w="762000" h="762000">
                  <a:moveTo>
                    <a:pt x="285749" y="761999"/>
                  </a:moveTo>
                  <a:lnTo>
                    <a:pt x="239068" y="759706"/>
                  </a:lnTo>
                  <a:lnTo>
                    <a:pt x="192837" y="752848"/>
                  </a:lnTo>
                  <a:lnTo>
                    <a:pt x="147501" y="741492"/>
                  </a:lnTo>
                  <a:lnTo>
                    <a:pt x="103495" y="725747"/>
                  </a:lnTo>
                  <a:lnTo>
                    <a:pt x="61245" y="705764"/>
                  </a:lnTo>
                  <a:lnTo>
                    <a:pt x="21158" y="681737"/>
                  </a:lnTo>
                  <a:lnTo>
                    <a:pt x="0" y="666720"/>
                  </a:lnTo>
                  <a:lnTo>
                    <a:pt x="0" y="152399"/>
                  </a:lnTo>
                  <a:lnTo>
                    <a:pt x="6524" y="108226"/>
                  </a:lnTo>
                  <a:lnTo>
                    <a:pt x="25659" y="67714"/>
                  </a:lnTo>
                  <a:lnTo>
                    <a:pt x="55764" y="34533"/>
                  </a:lnTo>
                  <a:lnTo>
                    <a:pt x="94308" y="11517"/>
                  </a:lnTo>
                  <a:lnTo>
                    <a:pt x="137386" y="725"/>
                  </a:lnTo>
                  <a:lnTo>
                    <a:pt x="152399" y="0"/>
                  </a:lnTo>
                  <a:lnTo>
                    <a:pt x="666718" y="0"/>
                  </a:lnTo>
                  <a:lnTo>
                    <a:pt x="694242" y="40908"/>
                  </a:lnTo>
                  <a:lnTo>
                    <a:pt x="716274" y="82126"/>
                  </a:lnTo>
                  <a:lnTo>
                    <a:pt x="734159" y="125305"/>
                  </a:lnTo>
                  <a:lnTo>
                    <a:pt x="747726" y="170030"/>
                  </a:lnTo>
                  <a:lnTo>
                    <a:pt x="756845" y="215869"/>
                  </a:lnTo>
                  <a:lnTo>
                    <a:pt x="761426" y="262381"/>
                  </a:lnTo>
                  <a:lnTo>
                    <a:pt x="761999" y="285749"/>
                  </a:lnTo>
                  <a:lnTo>
                    <a:pt x="761856" y="297441"/>
                  </a:lnTo>
                  <a:lnTo>
                    <a:pt x="758417" y="344051"/>
                  </a:lnTo>
                  <a:lnTo>
                    <a:pt x="750426" y="390099"/>
                  </a:lnTo>
                  <a:lnTo>
                    <a:pt x="737960" y="435143"/>
                  </a:lnTo>
                  <a:lnTo>
                    <a:pt x="721139" y="478748"/>
                  </a:lnTo>
                  <a:lnTo>
                    <a:pt x="700126" y="520496"/>
                  </a:lnTo>
                  <a:lnTo>
                    <a:pt x="675121" y="559981"/>
                  </a:lnTo>
                  <a:lnTo>
                    <a:pt x="646367" y="596826"/>
                  </a:lnTo>
                  <a:lnTo>
                    <a:pt x="614140" y="630674"/>
                  </a:lnTo>
                  <a:lnTo>
                    <a:pt x="578750" y="661202"/>
                  </a:lnTo>
                  <a:lnTo>
                    <a:pt x="540538" y="688113"/>
                  </a:lnTo>
                  <a:lnTo>
                    <a:pt x="499872" y="711149"/>
                  </a:lnTo>
                  <a:lnTo>
                    <a:pt x="457145" y="730088"/>
                  </a:lnTo>
                  <a:lnTo>
                    <a:pt x="412767" y="744749"/>
                  </a:lnTo>
                  <a:lnTo>
                    <a:pt x="367166" y="754989"/>
                  </a:lnTo>
                  <a:lnTo>
                    <a:pt x="320781" y="760709"/>
                  </a:lnTo>
                  <a:lnTo>
                    <a:pt x="285749" y="761999"/>
                  </a:lnTo>
                  <a:close/>
                </a:path>
              </a:pathLst>
            </a:custGeom>
            <a:solidFill>
              <a:srgbClr val="E7863A">
                <a:alpha val="587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grpSp>
      <p:sp>
        <p:nvSpPr>
          <p:cNvPr id="36" name="object 36"/>
          <p:cNvSpPr txBox="1"/>
          <p:nvPr/>
        </p:nvSpPr>
        <p:spPr>
          <a:xfrm>
            <a:off x="7253832" y="5394318"/>
            <a:ext cx="1033780" cy="262251"/>
          </a:xfrm>
          <a:prstGeom prst="rect">
            <a:avLst/>
          </a:prstGeom>
        </p:spPr>
        <p:txBody>
          <a:bodyPr vert="horz" wrap="square" lIns="0" tIns="15875" rIns="0" bIns="0" rtlCol="0">
            <a:spAutoFit/>
          </a:bodyPr>
          <a:lstStyle/>
          <a:p>
            <a:pPr marL="12700">
              <a:lnSpc>
                <a:spcPct val="100000"/>
              </a:lnSpc>
              <a:spcBef>
                <a:spcPts val="125"/>
              </a:spcBef>
            </a:pPr>
            <a:r>
              <a:rPr sz="1600" b="1" spc="125" dirty="0">
                <a:solidFill>
                  <a:srgbClr val="FFFFFF"/>
                </a:solidFill>
                <a:latin typeface="Times New Roman" panose="02020603050405020304" pitchFamily="18" charset="0"/>
                <a:cs typeface="Times New Roman" panose="02020603050405020304" pitchFamily="18" charset="0"/>
              </a:rPr>
              <a:t>Être</a:t>
            </a:r>
            <a:r>
              <a:rPr sz="1600" b="1" spc="-85" dirty="0">
                <a:solidFill>
                  <a:srgbClr val="FFFFFF"/>
                </a:solidFill>
                <a:latin typeface="Times New Roman" panose="02020603050405020304" pitchFamily="18" charset="0"/>
                <a:cs typeface="Times New Roman" panose="02020603050405020304" pitchFamily="18" charset="0"/>
              </a:rPr>
              <a:t> </a:t>
            </a:r>
            <a:r>
              <a:rPr sz="1600" b="1" spc="155" dirty="0">
                <a:solidFill>
                  <a:srgbClr val="FFFFFF"/>
                </a:solidFill>
                <a:latin typeface="Times New Roman" panose="02020603050405020304" pitchFamily="18" charset="0"/>
                <a:cs typeface="Times New Roman" panose="02020603050405020304" pitchFamily="18" charset="0"/>
              </a:rPr>
              <a:t>payé</a:t>
            </a:r>
            <a:endParaRPr sz="1600">
              <a:latin typeface="Times New Roman" panose="02020603050405020304" pitchFamily="18" charset="0"/>
              <a:cs typeface="Times New Roman" panose="02020603050405020304" pitchFamily="18" charset="0"/>
            </a:endParaRPr>
          </a:p>
        </p:txBody>
      </p:sp>
      <p:sp>
        <p:nvSpPr>
          <p:cNvPr id="37" name="object 37"/>
          <p:cNvSpPr txBox="1"/>
          <p:nvPr/>
        </p:nvSpPr>
        <p:spPr>
          <a:xfrm>
            <a:off x="7253832" y="5739512"/>
            <a:ext cx="4014470" cy="683649"/>
          </a:xfrm>
          <a:prstGeom prst="rect">
            <a:avLst/>
          </a:prstGeom>
        </p:spPr>
        <p:txBody>
          <a:bodyPr vert="horz" wrap="square" lIns="0" tIns="12700" rIns="0" bIns="0" rtlCol="0">
            <a:spAutoFit/>
          </a:bodyPr>
          <a:lstStyle/>
          <a:p>
            <a:pPr marL="12700" marR="5080">
              <a:lnSpc>
                <a:spcPct val="125000"/>
              </a:lnSpc>
              <a:spcBef>
                <a:spcPts val="100"/>
              </a:spcBef>
            </a:pPr>
            <a:r>
              <a:rPr sz="1200" dirty="0">
                <a:solidFill>
                  <a:srgbClr val="FEFEFE"/>
                </a:solidFill>
                <a:latin typeface="Times New Roman" panose="02020603050405020304" pitchFamily="18" charset="0"/>
                <a:cs typeface="Times New Roman" panose="02020603050405020304" pitchFamily="18" charset="0"/>
              </a:rPr>
              <a:t>Le</a:t>
            </a:r>
            <a:r>
              <a:rPr sz="1200" spc="-4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paiement</a:t>
            </a:r>
            <a:r>
              <a:rPr sz="1200" spc="-5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est</a:t>
            </a:r>
            <a:r>
              <a:rPr sz="1200" spc="-50"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sécurisé</a:t>
            </a:r>
            <a:r>
              <a:rPr sz="1200" spc="-4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via</a:t>
            </a:r>
            <a:r>
              <a:rPr sz="1200" spc="-1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un</a:t>
            </a:r>
            <a:r>
              <a:rPr sz="1200" spc="-10" dirty="0">
                <a:solidFill>
                  <a:srgbClr val="FEFEFE"/>
                </a:solidFill>
                <a:latin typeface="Times New Roman" panose="02020603050405020304" pitchFamily="18" charset="0"/>
                <a:cs typeface="Times New Roman" panose="02020603050405020304" pitchFamily="18" charset="0"/>
              </a:rPr>
              <a:t> système</a:t>
            </a:r>
            <a:r>
              <a:rPr sz="1200" spc="-4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d</a:t>
            </a:r>
            <a:r>
              <a:rPr sz="1100" dirty="0">
                <a:solidFill>
                  <a:srgbClr val="FEFEFE"/>
                </a:solidFill>
                <a:latin typeface="Times New Roman" panose="02020603050405020304" pitchFamily="18" charset="0"/>
                <a:cs typeface="Times New Roman" panose="02020603050405020304" pitchFamily="18" charset="0"/>
              </a:rPr>
              <a:t>'</a:t>
            </a:r>
            <a:r>
              <a:rPr sz="1200" dirty="0">
                <a:solidFill>
                  <a:srgbClr val="FEFEFE"/>
                </a:solidFill>
                <a:latin typeface="Times New Roman" panose="02020603050405020304" pitchFamily="18" charset="0"/>
                <a:cs typeface="Times New Roman" panose="02020603050405020304" pitchFamily="18" charset="0"/>
              </a:rPr>
              <a:t>escrow</a:t>
            </a:r>
            <a:r>
              <a:rPr sz="1100" dirty="0">
                <a:solidFill>
                  <a:srgbClr val="FEFEFE"/>
                </a:solidFill>
                <a:latin typeface="Times New Roman" panose="02020603050405020304" pitchFamily="18" charset="0"/>
                <a:cs typeface="Times New Roman" panose="02020603050405020304" pitchFamily="18" charset="0"/>
              </a:rPr>
              <a:t>.</a:t>
            </a:r>
            <a:r>
              <a:rPr sz="1100" spc="3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Mobile</a:t>
            </a:r>
            <a:r>
              <a:rPr sz="1200" spc="-4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Money </a:t>
            </a:r>
            <a:r>
              <a:rPr sz="1200" dirty="0">
                <a:solidFill>
                  <a:srgbClr val="FEFEFE"/>
                </a:solidFill>
                <a:latin typeface="Times New Roman" panose="02020603050405020304" pitchFamily="18" charset="0"/>
                <a:cs typeface="Times New Roman" panose="02020603050405020304" pitchFamily="18" charset="0"/>
              </a:rPr>
              <a:t>est</a:t>
            </a:r>
            <a:r>
              <a:rPr sz="1200" spc="-6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accepté</a:t>
            </a:r>
            <a:r>
              <a:rPr sz="1100" dirty="0">
                <a:solidFill>
                  <a:srgbClr val="FEFEFE"/>
                </a:solidFill>
                <a:latin typeface="Times New Roman" panose="02020603050405020304" pitchFamily="18" charset="0"/>
                <a:cs typeface="Times New Roman" panose="02020603050405020304" pitchFamily="18" charset="0"/>
              </a:rPr>
              <a:t>,</a:t>
            </a:r>
            <a:r>
              <a:rPr sz="1100" spc="2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ce</a:t>
            </a:r>
            <a:r>
              <a:rPr sz="1200" spc="-5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qui</a:t>
            </a:r>
            <a:r>
              <a:rPr sz="1200" spc="-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est</a:t>
            </a:r>
            <a:r>
              <a:rPr sz="1200" spc="-5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essentiel</a:t>
            </a:r>
            <a:r>
              <a:rPr sz="1200" spc="1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en</a:t>
            </a:r>
            <a:r>
              <a:rPr sz="1200" spc="-2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Afrique</a:t>
            </a:r>
            <a:r>
              <a:rPr sz="1100" dirty="0">
                <a:solidFill>
                  <a:srgbClr val="FEFEFE"/>
                </a:solidFill>
                <a:latin typeface="Times New Roman" panose="02020603050405020304" pitchFamily="18" charset="0"/>
                <a:cs typeface="Times New Roman" panose="02020603050405020304" pitchFamily="18" charset="0"/>
              </a:rPr>
              <a:t>.</a:t>
            </a:r>
            <a:r>
              <a:rPr sz="1100" spc="20"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Une</a:t>
            </a:r>
            <a:r>
              <a:rPr sz="1200" spc="-50"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commission</a:t>
            </a:r>
            <a:r>
              <a:rPr sz="1200" spc="-15" dirty="0">
                <a:solidFill>
                  <a:srgbClr val="FEFEFE"/>
                </a:solidFill>
                <a:latin typeface="Times New Roman" panose="02020603050405020304" pitchFamily="18" charset="0"/>
                <a:cs typeface="Times New Roman" panose="02020603050405020304" pitchFamily="18" charset="0"/>
              </a:rPr>
              <a:t> </a:t>
            </a:r>
            <a:r>
              <a:rPr sz="1200" spc="-25" dirty="0">
                <a:solidFill>
                  <a:srgbClr val="FEFEFE"/>
                </a:solidFill>
                <a:latin typeface="Times New Roman" panose="02020603050405020304" pitchFamily="18" charset="0"/>
                <a:cs typeface="Times New Roman" panose="02020603050405020304" pitchFamily="18" charset="0"/>
              </a:rPr>
              <a:t>de </a:t>
            </a:r>
            <a:r>
              <a:rPr sz="1100" dirty="0">
                <a:solidFill>
                  <a:srgbClr val="FEFEFE"/>
                </a:solidFill>
                <a:latin typeface="Times New Roman" panose="02020603050405020304" pitchFamily="18" charset="0"/>
                <a:cs typeface="Times New Roman" panose="02020603050405020304" pitchFamily="18" charset="0"/>
              </a:rPr>
              <a:t>10%</a:t>
            </a:r>
            <a:r>
              <a:rPr sz="1100" spc="-2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est</a:t>
            </a:r>
            <a:r>
              <a:rPr sz="1200" spc="-6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prélevée</a:t>
            </a:r>
            <a:r>
              <a:rPr sz="1100" spc="-10" dirty="0">
                <a:solidFill>
                  <a:srgbClr val="FEFEFE"/>
                </a:solidFill>
                <a:latin typeface="Times New Roman" panose="02020603050405020304" pitchFamily="18" charset="0"/>
                <a:cs typeface="Times New Roman" panose="02020603050405020304" pitchFamily="18" charset="0"/>
              </a:rPr>
              <a:t>.</a:t>
            </a:r>
            <a:endParaRPr sz="1100">
              <a:latin typeface="Times New Roman" panose="02020603050405020304" pitchFamily="18" charset="0"/>
              <a:cs typeface="Times New Roman" panose="02020603050405020304" pitchFamily="18" charset="0"/>
            </a:endParaRPr>
          </a:p>
        </p:txBody>
      </p:sp>
      <p:sp>
        <p:nvSpPr>
          <p:cNvPr id="38" name="object 38"/>
          <p:cNvSpPr txBox="1"/>
          <p:nvPr/>
        </p:nvSpPr>
        <p:spPr>
          <a:xfrm>
            <a:off x="11435903" y="6467204"/>
            <a:ext cx="158750" cy="154529"/>
          </a:xfrm>
          <a:prstGeom prst="rect">
            <a:avLst/>
          </a:prstGeom>
        </p:spPr>
        <p:txBody>
          <a:bodyPr vert="horz" wrap="square" lIns="0" tIns="15875" rIns="0" bIns="0" rtlCol="0">
            <a:spAutoFit/>
          </a:bodyPr>
          <a:lstStyle/>
          <a:p>
            <a:pPr marL="12700">
              <a:lnSpc>
                <a:spcPct val="100000"/>
              </a:lnSpc>
              <a:spcBef>
                <a:spcPts val="125"/>
              </a:spcBef>
            </a:pPr>
            <a:r>
              <a:rPr sz="900" spc="-25" dirty="0">
                <a:solidFill>
                  <a:srgbClr val="6A798F"/>
                </a:solidFill>
                <a:latin typeface="Times New Roman" panose="02020603050405020304" pitchFamily="18" charset="0"/>
                <a:cs typeface="Times New Roman" panose="02020603050405020304" pitchFamily="18" charset="0"/>
              </a:rPr>
              <a:t>04</a:t>
            </a:r>
            <a:endParaRPr sz="9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523830"/>
            <a:ext cx="1789430" cy="146835"/>
          </a:xfrm>
          <a:prstGeom prst="rect">
            <a:avLst/>
          </a:prstGeom>
        </p:spPr>
        <p:txBody>
          <a:bodyPr vert="horz" wrap="square" lIns="0" tIns="15875" rIns="0" bIns="0" rtlCol="0">
            <a:spAutoFit/>
          </a:bodyPr>
          <a:lstStyle/>
          <a:p>
            <a:pPr marL="12700">
              <a:lnSpc>
                <a:spcPct val="100000"/>
              </a:lnSpc>
              <a:spcBef>
                <a:spcPts val="125"/>
              </a:spcBef>
            </a:pPr>
            <a:r>
              <a:rPr sz="850" b="1" spc="-80" dirty="0">
                <a:solidFill>
                  <a:srgbClr val="E7863A"/>
                </a:solidFill>
                <a:latin typeface="Times New Roman" panose="02020603050405020304" pitchFamily="18" charset="0"/>
                <a:cs typeface="Times New Roman" panose="02020603050405020304" pitchFamily="18" charset="0"/>
              </a:rPr>
              <a:t>E</a:t>
            </a:r>
            <a:r>
              <a:rPr sz="850" b="1" spc="-85" dirty="0">
                <a:solidFill>
                  <a:srgbClr val="E7863A"/>
                </a:solidFill>
                <a:latin typeface="Times New Roman" panose="02020603050405020304" pitchFamily="18" charset="0"/>
                <a:cs typeface="Times New Roman" panose="02020603050405020304" pitchFamily="18" charset="0"/>
              </a:rPr>
              <a:t> </a:t>
            </a:r>
            <a:r>
              <a:rPr sz="850" b="1" spc="70" dirty="0">
                <a:solidFill>
                  <a:srgbClr val="E7863A"/>
                </a:solidFill>
                <a:latin typeface="Times New Roman" panose="02020603050405020304" pitchFamily="18" charset="0"/>
                <a:cs typeface="Times New Roman" panose="02020603050405020304" pitchFamily="18" charset="0"/>
              </a:rPr>
              <a:t>XP</a:t>
            </a:r>
            <a:r>
              <a:rPr sz="850" b="1" spc="-95"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É </a:t>
            </a:r>
            <a:r>
              <a:rPr sz="850" b="1" spc="-50" dirty="0">
                <a:solidFill>
                  <a:srgbClr val="E7863A"/>
                </a:solidFill>
                <a:latin typeface="Times New Roman" panose="02020603050405020304" pitchFamily="18" charset="0"/>
                <a:cs typeface="Times New Roman" panose="02020603050405020304" pitchFamily="18" charset="0"/>
              </a:rPr>
              <a:t>R</a:t>
            </a:r>
            <a:r>
              <a:rPr sz="850" b="1" spc="-114"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I</a:t>
            </a:r>
            <a:r>
              <a:rPr sz="850" b="1" spc="-40"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 </a:t>
            </a:r>
            <a:r>
              <a:rPr sz="850" b="1" dirty="0">
                <a:solidFill>
                  <a:srgbClr val="E7863A"/>
                </a:solidFill>
                <a:latin typeface="Times New Roman" panose="02020603050405020304" pitchFamily="18" charset="0"/>
                <a:cs typeface="Times New Roman" panose="02020603050405020304" pitchFamily="18" charset="0"/>
              </a:rPr>
              <a:t>N</a:t>
            </a:r>
            <a:r>
              <a:rPr sz="850" b="1" spc="-8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C</a:t>
            </a:r>
            <a:r>
              <a:rPr sz="850" b="1" spc="-10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E</a:t>
            </a:r>
            <a:r>
              <a:rPr sz="850" b="1" spc="275" dirty="0">
                <a:solidFill>
                  <a:srgbClr val="E7863A"/>
                </a:solidFill>
                <a:latin typeface="Times New Roman" panose="02020603050405020304" pitchFamily="18" charset="0"/>
                <a:cs typeface="Times New Roman" panose="02020603050405020304" pitchFamily="18" charset="0"/>
              </a:rPr>
              <a:t> </a:t>
            </a:r>
            <a:r>
              <a:rPr sz="850" b="1" spc="-20" dirty="0">
                <a:solidFill>
                  <a:srgbClr val="E7863A"/>
                </a:solidFill>
                <a:latin typeface="Times New Roman" panose="02020603050405020304" pitchFamily="18" charset="0"/>
                <a:cs typeface="Times New Roman" panose="02020603050405020304" pitchFamily="18" charset="0"/>
              </a:rPr>
              <a:t>U</a:t>
            </a:r>
            <a:r>
              <a:rPr sz="850" b="1" spc="-8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T</a:t>
            </a:r>
            <a:r>
              <a:rPr sz="850" b="1" spc="-100"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I</a:t>
            </a:r>
            <a:r>
              <a:rPr sz="850" b="1" spc="-40"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L</a:t>
            </a:r>
            <a:r>
              <a:rPr sz="850" b="1" spc="-90"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I</a:t>
            </a:r>
            <a:r>
              <a:rPr sz="850" b="1" spc="-40" dirty="0">
                <a:solidFill>
                  <a:srgbClr val="E7863A"/>
                </a:solidFill>
                <a:latin typeface="Times New Roman" panose="02020603050405020304" pitchFamily="18" charset="0"/>
                <a:cs typeface="Times New Roman" panose="02020603050405020304" pitchFamily="18" charset="0"/>
              </a:rPr>
              <a:t> </a:t>
            </a:r>
            <a:r>
              <a:rPr sz="850" b="1" spc="-30" dirty="0">
                <a:solidFill>
                  <a:srgbClr val="E7863A"/>
                </a:solidFill>
                <a:latin typeface="Times New Roman" panose="02020603050405020304" pitchFamily="18" charset="0"/>
                <a:cs typeface="Times New Roman" panose="02020603050405020304" pitchFamily="18" charset="0"/>
              </a:rPr>
              <a:t>S</a:t>
            </a:r>
            <a:r>
              <a:rPr sz="850" b="1" spc="-110" dirty="0">
                <a:solidFill>
                  <a:srgbClr val="E7863A"/>
                </a:solidFill>
                <a:latin typeface="Times New Roman" panose="02020603050405020304" pitchFamily="18" charset="0"/>
                <a:cs typeface="Times New Roman" panose="02020603050405020304" pitchFamily="18" charset="0"/>
              </a:rPr>
              <a:t> </a:t>
            </a:r>
            <a:r>
              <a:rPr sz="850" b="1" spc="60" dirty="0">
                <a:solidFill>
                  <a:srgbClr val="E7863A"/>
                </a:solidFill>
                <a:latin typeface="Times New Roman" panose="02020603050405020304" pitchFamily="18" charset="0"/>
                <a:cs typeface="Times New Roman" panose="02020603050405020304" pitchFamily="18" charset="0"/>
              </a:rPr>
              <a:t>AT</a:t>
            </a:r>
            <a:r>
              <a:rPr sz="850" b="1" spc="-105"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 </a:t>
            </a:r>
            <a:r>
              <a:rPr sz="850" b="1" spc="-20" dirty="0">
                <a:solidFill>
                  <a:srgbClr val="E7863A"/>
                </a:solidFill>
                <a:latin typeface="Times New Roman" panose="02020603050405020304" pitchFamily="18" charset="0"/>
                <a:cs typeface="Times New Roman" panose="02020603050405020304" pitchFamily="18" charset="0"/>
              </a:rPr>
              <a:t>U</a:t>
            </a:r>
            <a:r>
              <a:rPr sz="850" b="1" spc="-80"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R</a:t>
            </a:r>
            <a:endParaRPr sz="850">
              <a:latin typeface="Times New Roman" panose="02020603050405020304" pitchFamily="18" charset="0"/>
              <a:cs typeface="Times New Roman" panose="02020603050405020304" pitchFamily="18" charset="0"/>
            </a:endParaRPr>
          </a:p>
        </p:txBody>
      </p:sp>
      <p:sp>
        <p:nvSpPr>
          <p:cNvPr id="3" name="object 3" descr="$PPTXTitle"/>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80" dirty="0">
                <a:latin typeface="Times New Roman" panose="02020603050405020304" pitchFamily="18" charset="0"/>
                <a:cs typeface="Times New Roman" panose="02020603050405020304" pitchFamily="18" charset="0"/>
              </a:rPr>
              <a:t>P</a:t>
            </a:r>
            <a:r>
              <a:rPr lang="fr-FR" spc="780" dirty="0">
                <a:latin typeface="Times New Roman" panose="02020603050405020304" pitchFamily="18" charset="0"/>
                <a:cs typeface="Times New Roman" panose="02020603050405020304" pitchFamily="18" charset="0"/>
              </a:rPr>
              <a:t>a</a:t>
            </a:r>
            <a:r>
              <a:rPr spc="780" dirty="0" err="1">
                <a:latin typeface="Times New Roman" panose="02020603050405020304" pitchFamily="18" charset="0"/>
                <a:cs typeface="Times New Roman" panose="02020603050405020304" pitchFamily="18" charset="0"/>
              </a:rPr>
              <a:t>rcours</a:t>
            </a:r>
            <a:r>
              <a:rPr lang="fr-FR" spc="780"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 </a:t>
            </a:r>
            <a:r>
              <a:rPr spc="585" dirty="0">
                <a:latin typeface="Times New Roman" panose="02020603050405020304" pitchFamily="18" charset="0"/>
                <a:cs typeface="Times New Roman" panose="02020603050405020304" pitchFamily="18" charset="0"/>
              </a:rPr>
              <a:t>utilisateur</a:t>
            </a:r>
          </a:p>
        </p:txBody>
      </p:sp>
      <p:pic>
        <p:nvPicPr>
          <p:cNvPr id="4" name="object 4"/>
          <p:cNvPicPr/>
          <p:nvPr/>
        </p:nvPicPr>
        <p:blipFill>
          <a:blip r:embed="rId3" cstate="print"/>
          <a:stretch>
            <a:fillRect/>
          </a:stretch>
        </p:blipFill>
        <p:spPr>
          <a:xfrm>
            <a:off x="0" y="0"/>
            <a:ext cx="12191999" cy="47624"/>
          </a:xfrm>
          <a:prstGeom prst="rect">
            <a:avLst/>
          </a:prstGeom>
        </p:spPr>
      </p:pic>
      <p:grpSp>
        <p:nvGrpSpPr>
          <p:cNvPr id="5" name="object 5"/>
          <p:cNvGrpSpPr/>
          <p:nvPr/>
        </p:nvGrpSpPr>
        <p:grpSpPr>
          <a:xfrm>
            <a:off x="237489" y="1166673"/>
            <a:ext cx="11239500" cy="2207260"/>
            <a:chOff x="0" y="1097280"/>
            <a:chExt cx="11239500" cy="2207260"/>
          </a:xfrm>
        </p:grpSpPr>
        <p:sp>
          <p:nvSpPr>
            <p:cNvPr id="6" name="object 6"/>
            <p:cNvSpPr/>
            <p:nvPr/>
          </p:nvSpPr>
          <p:spPr>
            <a:xfrm>
              <a:off x="952499" y="3238499"/>
              <a:ext cx="10287000" cy="38100"/>
            </a:xfrm>
            <a:custGeom>
              <a:avLst/>
              <a:gdLst/>
              <a:ahLst/>
              <a:cxnLst/>
              <a:rect l="l" t="t" r="r" b="b"/>
              <a:pathLst>
                <a:path w="10287000" h="38100">
                  <a:moveTo>
                    <a:pt x="10270474" y="38099"/>
                  </a:moveTo>
                  <a:lnTo>
                    <a:pt x="16523" y="38099"/>
                  </a:lnTo>
                  <a:lnTo>
                    <a:pt x="14093" y="37616"/>
                  </a:lnTo>
                  <a:lnTo>
                    <a:pt x="0" y="21576"/>
                  </a:lnTo>
                  <a:lnTo>
                    <a:pt x="0" y="19049"/>
                  </a:lnTo>
                  <a:lnTo>
                    <a:pt x="0" y="16523"/>
                  </a:lnTo>
                  <a:lnTo>
                    <a:pt x="16523" y="0"/>
                  </a:lnTo>
                  <a:lnTo>
                    <a:pt x="10270474" y="0"/>
                  </a:lnTo>
                  <a:lnTo>
                    <a:pt x="10286998" y="16523"/>
                  </a:lnTo>
                  <a:lnTo>
                    <a:pt x="10286998" y="21576"/>
                  </a:lnTo>
                  <a:lnTo>
                    <a:pt x="10272904" y="37616"/>
                  </a:lnTo>
                  <a:lnTo>
                    <a:pt x="10270474" y="38099"/>
                  </a:lnTo>
                  <a:close/>
                </a:path>
              </a:pathLst>
            </a:custGeom>
            <a:solidFill>
              <a:srgbClr val="E7EC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7" name="object 7"/>
            <p:cNvPicPr/>
            <p:nvPr/>
          </p:nvPicPr>
          <p:blipFill>
            <a:blip r:embed="rId4" cstate="print"/>
            <a:stretch>
              <a:fillRect/>
            </a:stretch>
          </p:blipFill>
          <p:spPr>
            <a:xfrm>
              <a:off x="952499" y="3238499"/>
              <a:ext cx="10286998" cy="38099"/>
            </a:xfrm>
            <a:prstGeom prst="rect">
              <a:avLst/>
            </a:prstGeom>
          </p:spPr>
        </p:pic>
        <p:sp>
          <p:nvSpPr>
            <p:cNvPr id="8" name="object 8"/>
            <p:cNvSpPr/>
            <p:nvPr/>
          </p:nvSpPr>
          <p:spPr>
            <a:xfrm>
              <a:off x="0" y="1097280"/>
              <a:ext cx="1960245" cy="2207260"/>
            </a:xfrm>
            <a:custGeom>
              <a:avLst/>
              <a:gdLst/>
              <a:ahLst/>
              <a:cxnLst/>
              <a:rect l="l" t="t" r="r" b="b"/>
              <a:pathLst>
                <a:path w="1960245" h="2207260">
                  <a:moveTo>
                    <a:pt x="1959863" y="2206751"/>
                  </a:moveTo>
                  <a:lnTo>
                    <a:pt x="0" y="2206751"/>
                  </a:lnTo>
                  <a:lnTo>
                    <a:pt x="0" y="0"/>
                  </a:lnTo>
                  <a:lnTo>
                    <a:pt x="1959863" y="0"/>
                  </a:lnTo>
                  <a:lnTo>
                    <a:pt x="1959863" y="55244"/>
                  </a:lnTo>
                  <a:lnTo>
                    <a:pt x="114299" y="55244"/>
                  </a:lnTo>
                  <a:lnTo>
                    <a:pt x="103978" y="55743"/>
                  </a:lnTo>
                  <a:lnTo>
                    <a:pt x="64859" y="67630"/>
                  </a:lnTo>
                  <a:lnTo>
                    <a:pt x="33267" y="93583"/>
                  </a:lnTo>
                  <a:lnTo>
                    <a:pt x="14011" y="129650"/>
                  </a:lnTo>
                  <a:lnTo>
                    <a:pt x="9524" y="160019"/>
                  </a:lnTo>
                  <a:lnTo>
                    <a:pt x="9524" y="2026919"/>
                  </a:lnTo>
                  <a:lnTo>
                    <a:pt x="17500" y="2067015"/>
                  </a:lnTo>
                  <a:lnTo>
                    <a:pt x="40212" y="2101006"/>
                  </a:lnTo>
                  <a:lnTo>
                    <a:pt x="74204" y="2123719"/>
                  </a:lnTo>
                  <a:lnTo>
                    <a:pt x="114299" y="2131694"/>
                  </a:lnTo>
                  <a:lnTo>
                    <a:pt x="1959863" y="2131694"/>
                  </a:lnTo>
                  <a:lnTo>
                    <a:pt x="1959863" y="2206751"/>
                  </a:lnTo>
                  <a:close/>
                </a:path>
                <a:path w="1960245" h="2207260">
                  <a:moveTo>
                    <a:pt x="1959863" y="2131694"/>
                  </a:moveTo>
                  <a:lnTo>
                    <a:pt x="1790699" y="2131694"/>
                  </a:lnTo>
                  <a:lnTo>
                    <a:pt x="1801021" y="2131196"/>
                  </a:lnTo>
                  <a:lnTo>
                    <a:pt x="1811144" y="2129700"/>
                  </a:lnTo>
                  <a:lnTo>
                    <a:pt x="1848920" y="2114053"/>
                  </a:lnTo>
                  <a:lnTo>
                    <a:pt x="1877833" y="2085140"/>
                  </a:lnTo>
                  <a:lnTo>
                    <a:pt x="1893480" y="2047364"/>
                  </a:lnTo>
                  <a:lnTo>
                    <a:pt x="1895474" y="2026919"/>
                  </a:lnTo>
                  <a:lnTo>
                    <a:pt x="1895474" y="160019"/>
                  </a:lnTo>
                  <a:lnTo>
                    <a:pt x="1887499" y="119924"/>
                  </a:lnTo>
                  <a:lnTo>
                    <a:pt x="1864786" y="85932"/>
                  </a:lnTo>
                  <a:lnTo>
                    <a:pt x="1830795" y="63220"/>
                  </a:lnTo>
                  <a:lnTo>
                    <a:pt x="1790699" y="55244"/>
                  </a:lnTo>
                  <a:lnTo>
                    <a:pt x="1959863" y="55244"/>
                  </a:lnTo>
                  <a:lnTo>
                    <a:pt x="1959863" y="2131694"/>
                  </a:lnTo>
                  <a:close/>
                </a:path>
              </a:pathLst>
            </a:custGeom>
            <a:solidFill>
              <a:srgbClr val="000000">
                <a:alpha val="587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p:nvPr/>
          </p:nvSpPr>
          <p:spPr>
            <a:xfrm>
              <a:off x="0" y="1142999"/>
              <a:ext cx="1905000" cy="2095500"/>
            </a:xfrm>
            <a:custGeom>
              <a:avLst/>
              <a:gdLst/>
              <a:ahLst/>
              <a:cxnLst/>
              <a:rect l="l" t="t" r="r" b="b"/>
              <a:pathLst>
                <a:path w="1905000" h="2095500">
                  <a:moveTo>
                    <a:pt x="1798204" y="2095499"/>
                  </a:moveTo>
                  <a:lnTo>
                    <a:pt x="106794" y="2095499"/>
                  </a:lnTo>
                  <a:lnTo>
                    <a:pt x="99362" y="2094767"/>
                  </a:lnTo>
                  <a:lnTo>
                    <a:pt x="57038" y="2080406"/>
                  </a:lnTo>
                  <a:lnTo>
                    <a:pt x="23432" y="2050941"/>
                  </a:lnTo>
                  <a:lnTo>
                    <a:pt x="3660" y="2010859"/>
                  </a:lnTo>
                  <a:lnTo>
                    <a:pt x="0" y="1988704"/>
                  </a:lnTo>
                  <a:lnTo>
                    <a:pt x="0" y="1981199"/>
                  </a:lnTo>
                  <a:lnTo>
                    <a:pt x="0" y="106794"/>
                  </a:lnTo>
                  <a:lnTo>
                    <a:pt x="11572" y="63625"/>
                  </a:lnTo>
                  <a:lnTo>
                    <a:pt x="38784" y="28170"/>
                  </a:lnTo>
                  <a:lnTo>
                    <a:pt x="77493" y="5828"/>
                  </a:lnTo>
                  <a:lnTo>
                    <a:pt x="106794" y="0"/>
                  </a:lnTo>
                  <a:lnTo>
                    <a:pt x="1798204" y="0"/>
                  </a:lnTo>
                  <a:lnTo>
                    <a:pt x="1841374" y="11572"/>
                  </a:lnTo>
                  <a:lnTo>
                    <a:pt x="1876828" y="38784"/>
                  </a:lnTo>
                  <a:lnTo>
                    <a:pt x="1899171" y="77492"/>
                  </a:lnTo>
                  <a:lnTo>
                    <a:pt x="1904999" y="106794"/>
                  </a:lnTo>
                  <a:lnTo>
                    <a:pt x="1904999" y="1988704"/>
                  </a:lnTo>
                  <a:lnTo>
                    <a:pt x="1893426" y="2031873"/>
                  </a:lnTo>
                  <a:lnTo>
                    <a:pt x="1866215" y="2067328"/>
                  </a:lnTo>
                  <a:lnTo>
                    <a:pt x="1827506" y="2089670"/>
                  </a:lnTo>
                  <a:lnTo>
                    <a:pt x="1805637" y="2094767"/>
                  </a:lnTo>
                  <a:lnTo>
                    <a:pt x="1798204" y="2095499"/>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p:nvPr/>
          </p:nvSpPr>
          <p:spPr>
            <a:xfrm>
              <a:off x="171449" y="1362075"/>
              <a:ext cx="504825" cy="180975"/>
            </a:xfrm>
            <a:custGeom>
              <a:avLst/>
              <a:gdLst/>
              <a:ahLst/>
              <a:cxnLst/>
              <a:rect l="l" t="t" r="r" b="b"/>
              <a:pathLst>
                <a:path w="504825" h="180975">
                  <a:moveTo>
                    <a:pt x="420278" y="180974"/>
                  </a:moveTo>
                  <a:lnTo>
                    <a:pt x="84546" y="180974"/>
                  </a:lnTo>
                  <a:lnTo>
                    <a:pt x="78661" y="180395"/>
                  </a:lnTo>
                  <a:lnTo>
                    <a:pt x="35275" y="162423"/>
                  </a:lnTo>
                  <a:lnTo>
                    <a:pt x="9161" y="130604"/>
                  </a:lnTo>
                  <a:lnTo>
                    <a:pt x="0" y="96428"/>
                  </a:lnTo>
                  <a:lnTo>
                    <a:pt x="0" y="90487"/>
                  </a:lnTo>
                  <a:lnTo>
                    <a:pt x="0" y="84545"/>
                  </a:lnTo>
                  <a:lnTo>
                    <a:pt x="11948" y="45155"/>
                  </a:lnTo>
                  <a:lnTo>
                    <a:pt x="45155" y="11948"/>
                  </a:lnTo>
                  <a:lnTo>
                    <a:pt x="84546" y="0"/>
                  </a:lnTo>
                  <a:lnTo>
                    <a:pt x="420278" y="0"/>
                  </a:lnTo>
                  <a:lnTo>
                    <a:pt x="459669" y="11948"/>
                  </a:lnTo>
                  <a:lnTo>
                    <a:pt x="492875" y="45155"/>
                  </a:lnTo>
                  <a:lnTo>
                    <a:pt x="504824" y="84545"/>
                  </a:lnTo>
                  <a:lnTo>
                    <a:pt x="504824" y="96428"/>
                  </a:lnTo>
                  <a:lnTo>
                    <a:pt x="492875" y="135819"/>
                  </a:lnTo>
                  <a:lnTo>
                    <a:pt x="459669" y="169025"/>
                  </a:lnTo>
                  <a:lnTo>
                    <a:pt x="426163" y="180395"/>
                  </a:lnTo>
                  <a:lnTo>
                    <a:pt x="420278" y="180974"/>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1" name="object 11"/>
          <p:cNvSpPr txBox="1"/>
          <p:nvPr/>
        </p:nvSpPr>
        <p:spPr>
          <a:xfrm>
            <a:off x="468630" y="1349161"/>
            <a:ext cx="369570" cy="138499"/>
          </a:xfrm>
          <a:prstGeom prst="rect">
            <a:avLst/>
          </a:prstGeom>
        </p:spPr>
        <p:txBody>
          <a:bodyPr vert="horz" wrap="square" lIns="0" tIns="15240" rIns="0" bIns="0" rtlCol="0">
            <a:spAutoFit/>
          </a:bodyPr>
          <a:lstStyle/>
          <a:p>
            <a:pPr marL="12700">
              <a:lnSpc>
                <a:spcPct val="100000"/>
              </a:lnSpc>
              <a:spcBef>
                <a:spcPts val="120"/>
              </a:spcBef>
            </a:pPr>
            <a:r>
              <a:rPr sz="800" b="1" spc="-20" dirty="0">
                <a:solidFill>
                  <a:srgbClr val="E7863A"/>
                </a:solidFill>
                <a:latin typeface="Times New Roman" panose="02020603050405020304" pitchFamily="18" charset="0"/>
                <a:cs typeface="Times New Roman" panose="02020603050405020304" pitchFamily="18" charset="0"/>
              </a:rPr>
              <a:t>Accueil</a:t>
            </a:r>
            <a:endParaRPr sz="800" dirty="0">
              <a:latin typeface="Times New Roman" panose="02020603050405020304" pitchFamily="18" charset="0"/>
              <a:cs typeface="Times New Roman" panose="02020603050405020304" pitchFamily="18" charset="0"/>
            </a:endParaRPr>
          </a:p>
        </p:txBody>
      </p:sp>
      <p:sp>
        <p:nvSpPr>
          <p:cNvPr id="12" name="object 12"/>
          <p:cNvSpPr txBox="1"/>
          <p:nvPr/>
        </p:nvSpPr>
        <p:spPr>
          <a:xfrm>
            <a:off x="458215" y="1559910"/>
            <a:ext cx="1352550" cy="347467"/>
          </a:xfrm>
          <a:prstGeom prst="rect">
            <a:avLst/>
          </a:prstGeom>
        </p:spPr>
        <p:txBody>
          <a:bodyPr vert="horz" wrap="square" lIns="0" tIns="12065" rIns="0" bIns="0" rtlCol="0">
            <a:spAutoFit/>
          </a:bodyPr>
          <a:lstStyle/>
          <a:p>
            <a:pPr marL="12700" marR="5080">
              <a:lnSpc>
                <a:spcPct val="102299"/>
              </a:lnSpc>
              <a:spcBef>
                <a:spcPts val="95"/>
              </a:spcBef>
            </a:pPr>
            <a:r>
              <a:rPr sz="1100" b="1" spc="285" dirty="0">
                <a:solidFill>
                  <a:srgbClr val="1B294A"/>
                </a:solidFill>
                <a:latin typeface="Times New Roman" panose="02020603050405020304" pitchFamily="18" charset="0"/>
                <a:cs typeface="Times New Roman" panose="02020603050405020304" pitchFamily="18" charset="0"/>
              </a:rPr>
              <a:t>Arrivée</a:t>
            </a:r>
            <a:r>
              <a:rPr sz="1100" b="1" spc="-40" dirty="0">
                <a:solidFill>
                  <a:srgbClr val="1B294A"/>
                </a:solidFill>
                <a:latin typeface="Times New Roman" panose="02020603050405020304" pitchFamily="18" charset="0"/>
                <a:cs typeface="Times New Roman" panose="02020603050405020304" pitchFamily="18" charset="0"/>
              </a:rPr>
              <a:t> </a:t>
            </a:r>
            <a:r>
              <a:rPr sz="1100" b="1" spc="275" dirty="0">
                <a:solidFill>
                  <a:srgbClr val="1B294A"/>
                </a:solidFill>
                <a:latin typeface="Times New Roman" panose="02020603050405020304" pitchFamily="18" charset="0"/>
                <a:cs typeface="Times New Roman" panose="02020603050405020304" pitchFamily="18" charset="0"/>
              </a:rPr>
              <a:t>sur</a:t>
            </a:r>
            <a:r>
              <a:rPr sz="1100" b="1" spc="-10" dirty="0">
                <a:solidFill>
                  <a:srgbClr val="1B294A"/>
                </a:solidFill>
                <a:latin typeface="Times New Roman" panose="02020603050405020304" pitchFamily="18" charset="0"/>
                <a:cs typeface="Times New Roman" panose="02020603050405020304" pitchFamily="18" charset="0"/>
              </a:rPr>
              <a:t> </a:t>
            </a:r>
            <a:r>
              <a:rPr sz="1100" b="1" spc="250" dirty="0">
                <a:solidFill>
                  <a:srgbClr val="1B294A"/>
                </a:solidFill>
                <a:latin typeface="Times New Roman" panose="02020603050405020304" pitchFamily="18" charset="0"/>
                <a:cs typeface="Times New Roman" panose="02020603050405020304" pitchFamily="18" charset="0"/>
              </a:rPr>
              <a:t>le </a:t>
            </a:r>
            <a:r>
              <a:rPr sz="1100" b="1" spc="254" dirty="0">
                <a:solidFill>
                  <a:srgbClr val="1B294A"/>
                </a:solidFill>
                <a:latin typeface="Times New Roman" panose="02020603050405020304" pitchFamily="18" charset="0"/>
                <a:cs typeface="Times New Roman" panose="02020603050405020304" pitchFamily="18" charset="0"/>
              </a:rPr>
              <a:t>site</a:t>
            </a:r>
            <a:endParaRPr sz="11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458216" y="1926610"/>
            <a:ext cx="1569720" cy="891911"/>
          </a:xfrm>
          <a:prstGeom prst="rect">
            <a:avLst/>
          </a:prstGeom>
        </p:spPr>
        <p:txBody>
          <a:bodyPr vert="horz" wrap="square" lIns="0" tIns="15875" rIns="0" bIns="0" rtlCol="0">
            <a:spAutoFit/>
          </a:bodyPr>
          <a:lstStyle/>
          <a:p>
            <a:pPr marL="12700" marR="5080">
              <a:lnSpc>
                <a:spcPct val="122400"/>
              </a:lnSpc>
              <a:spcBef>
                <a:spcPts val="125"/>
              </a:spcBef>
            </a:pPr>
            <a:r>
              <a:rPr sz="950" dirty="0">
                <a:solidFill>
                  <a:srgbClr val="3A4556"/>
                </a:solidFill>
                <a:latin typeface="Times New Roman" panose="02020603050405020304" pitchFamily="18" charset="0"/>
                <a:cs typeface="Times New Roman" panose="02020603050405020304" pitchFamily="18" charset="0"/>
              </a:rPr>
              <a:t>Le</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visiteur</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découvre</a:t>
            </a:r>
            <a:r>
              <a:rPr sz="950" spc="40"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le </a:t>
            </a:r>
            <a:r>
              <a:rPr sz="950" dirty="0">
                <a:solidFill>
                  <a:srgbClr val="3A4556"/>
                </a:solidFill>
                <a:latin typeface="Times New Roman" panose="02020603050405020304" pitchFamily="18" charset="0"/>
                <a:cs typeface="Times New Roman" panose="02020603050405020304" pitchFamily="18" charset="0"/>
              </a:rPr>
              <a:t>slogan,</a:t>
            </a:r>
            <a:r>
              <a:rPr sz="950" spc="5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les</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statistiques</a:t>
            </a:r>
            <a:r>
              <a:rPr sz="950" spc="5" dirty="0">
                <a:solidFill>
                  <a:srgbClr val="3A4556"/>
                </a:solidFill>
                <a:latin typeface="Times New Roman" panose="02020603050405020304" pitchFamily="18" charset="0"/>
                <a:cs typeface="Times New Roman" panose="02020603050405020304" pitchFamily="18" charset="0"/>
              </a:rPr>
              <a:t> </a:t>
            </a:r>
            <a:r>
              <a:rPr sz="950" spc="-20" dirty="0">
                <a:solidFill>
                  <a:srgbClr val="3A4556"/>
                </a:solidFill>
                <a:latin typeface="Times New Roman" panose="02020603050405020304" pitchFamily="18" charset="0"/>
                <a:cs typeface="Times New Roman" panose="02020603050405020304" pitchFamily="18" charset="0"/>
              </a:rPr>
              <a:t>clés </a:t>
            </a:r>
            <a:r>
              <a:rPr sz="950" dirty="0">
                <a:solidFill>
                  <a:srgbClr val="3A4556"/>
                </a:solidFill>
                <a:latin typeface="Times New Roman" panose="02020603050405020304" pitchFamily="18" charset="0"/>
                <a:cs typeface="Times New Roman" panose="02020603050405020304" pitchFamily="18" charset="0"/>
              </a:rPr>
              <a:t>et</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les</a:t>
            </a:r>
            <a:r>
              <a:rPr sz="950" spc="3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deux</a:t>
            </a:r>
            <a:r>
              <a:rPr sz="950" spc="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boutons</a:t>
            </a:r>
            <a:r>
              <a:rPr sz="950" spc="50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d'entrée.</a:t>
            </a:r>
            <a:r>
              <a:rPr sz="950" spc="10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Première </a:t>
            </a:r>
            <a:r>
              <a:rPr sz="950" dirty="0">
                <a:solidFill>
                  <a:srgbClr val="3A4556"/>
                </a:solidFill>
                <a:latin typeface="Times New Roman" panose="02020603050405020304" pitchFamily="18" charset="0"/>
                <a:cs typeface="Times New Roman" panose="02020603050405020304" pitchFamily="18" charset="0"/>
              </a:rPr>
              <a:t>impression</a:t>
            </a:r>
            <a:r>
              <a:rPr sz="950" spc="6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positive</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grâce</a:t>
            </a:r>
            <a:r>
              <a:rPr sz="950" spc="30"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au </a:t>
            </a:r>
            <a:r>
              <a:rPr sz="950" dirty="0">
                <a:solidFill>
                  <a:srgbClr val="3A4556"/>
                </a:solidFill>
                <a:latin typeface="Times New Roman" panose="02020603050405020304" pitchFamily="18" charset="0"/>
                <a:cs typeface="Times New Roman" panose="02020603050405020304" pitchFamily="18" charset="0"/>
              </a:rPr>
              <a:t>design</a:t>
            </a:r>
            <a:r>
              <a:rPr sz="950" spc="3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moderne.</a:t>
            </a:r>
            <a:endParaRPr sz="950" dirty="0">
              <a:latin typeface="Times New Roman" panose="02020603050405020304" pitchFamily="18" charset="0"/>
              <a:cs typeface="Times New Roman" panose="02020603050405020304" pitchFamily="18" charset="0"/>
            </a:endParaRPr>
          </a:p>
        </p:txBody>
      </p:sp>
      <p:grpSp>
        <p:nvGrpSpPr>
          <p:cNvPr id="14" name="object 14"/>
          <p:cNvGrpSpPr/>
          <p:nvPr/>
        </p:nvGrpSpPr>
        <p:grpSpPr>
          <a:xfrm>
            <a:off x="2097023" y="3535679"/>
            <a:ext cx="2014855" cy="2207260"/>
            <a:chOff x="2097023" y="3535679"/>
            <a:chExt cx="2014855" cy="2207260"/>
          </a:xfrm>
        </p:grpSpPr>
        <p:sp>
          <p:nvSpPr>
            <p:cNvPr id="15" name="object 15"/>
            <p:cNvSpPr/>
            <p:nvPr/>
          </p:nvSpPr>
          <p:spPr>
            <a:xfrm>
              <a:off x="2097023" y="3535679"/>
              <a:ext cx="2014855" cy="2207260"/>
            </a:xfrm>
            <a:custGeom>
              <a:avLst/>
              <a:gdLst/>
              <a:ahLst/>
              <a:cxnLst/>
              <a:rect l="l" t="t" r="r" b="b"/>
              <a:pathLst>
                <a:path w="2014854" h="2207260">
                  <a:moveTo>
                    <a:pt x="2014727" y="2206751"/>
                  </a:moveTo>
                  <a:lnTo>
                    <a:pt x="0" y="2206751"/>
                  </a:lnTo>
                  <a:lnTo>
                    <a:pt x="0" y="0"/>
                  </a:lnTo>
                  <a:lnTo>
                    <a:pt x="2014727" y="0"/>
                  </a:lnTo>
                  <a:lnTo>
                    <a:pt x="2014727" y="55244"/>
                  </a:lnTo>
                  <a:lnTo>
                    <a:pt x="169925" y="55244"/>
                  </a:lnTo>
                  <a:lnTo>
                    <a:pt x="159604" y="55743"/>
                  </a:lnTo>
                  <a:lnTo>
                    <a:pt x="120485" y="67630"/>
                  </a:lnTo>
                  <a:lnTo>
                    <a:pt x="88892" y="93583"/>
                  </a:lnTo>
                  <a:lnTo>
                    <a:pt x="69637" y="129650"/>
                  </a:lnTo>
                  <a:lnTo>
                    <a:pt x="65150" y="160019"/>
                  </a:lnTo>
                  <a:lnTo>
                    <a:pt x="65150" y="2026919"/>
                  </a:lnTo>
                  <a:lnTo>
                    <a:pt x="73126" y="2067014"/>
                  </a:lnTo>
                  <a:lnTo>
                    <a:pt x="95838" y="2101006"/>
                  </a:lnTo>
                  <a:lnTo>
                    <a:pt x="129830" y="2123718"/>
                  </a:lnTo>
                  <a:lnTo>
                    <a:pt x="169925" y="2131694"/>
                  </a:lnTo>
                  <a:lnTo>
                    <a:pt x="2014727" y="2131694"/>
                  </a:lnTo>
                  <a:lnTo>
                    <a:pt x="2014727" y="2206751"/>
                  </a:lnTo>
                  <a:close/>
                </a:path>
                <a:path w="2014854" h="2207260">
                  <a:moveTo>
                    <a:pt x="2014727" y="2131694"/>
                  </a:moveTo>
                  <a:lnTo>
                    <a:pt x="1846325" y="2131694"/>
                  </a:lnTo>
                  <a:lnTo>
                    <a:pt x="1856647" y="2131196"/>
                  </a:lnTo>
                  <a:lnTo>
                    <a:pt x="1866770" y="2129700"/>
                  </a:lnTo>
                  <a:lnTo>
                    <a:pt x="1904546" y="2114052"/>
                  </a:lnTo>
                  <a:lnTo>
                    <a:pt x="1933459" y="2085140"/>
                  </a:lnTo>
                  <a:lnTo>
                    <a:pt x="1949106" y="2047363"/>
                  </a:lnTo>
                  <a:lnTo>
                    <a:pt x="1951100" y="2026919"/>
                  </a:lnTo>
                  <a:lnTo>
                    <a:pt x="1951100" y="160019"/>
                  </a:lnTo>
                  <a:lnTo>
                    <a:pt x="1943125" y="119923"/>
                  </a:lnTo>
                  <a:lnTo>
                    <a:pt x="1920412" y="85932"/>
                  </a:lnTo>
                  <a:lnTo>
                    <a:pt x="1886420" y="63219"/>
                  </a:lnTo>
                  <a:lnTo>
                    <a:pt x="1846325" y="55244"/>
                  </a:lnTo>
                  <a:lnTo>
                    <a:pt x="2014727" y="55244"/>
                  </a:lnTo>
                  <a:lnTo>
                    <a:pt x="2014727" y="2131694"/>
                  </a:lnTo>
                  <a:close/>
                </a:path>
              </a:pathLst>
            </a:custGeom>
            <a:solidFill>
              <a:srgbClr val="000000">
                <a:alpha val="587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2152649" y="3581399"/>
              <a:ext cx="1905000" cy="2095500"/>
            </a:xfrm>
            <a:custGeom>
              <a:avLst/>
              <a:gdLst/>
              <a:ahLst/>
              <a:cxnLst/>
              <a:rect l="l" t="t" r="r" b="b"/>
              <a:pathLst>
                <a:path w="1905000" h="2095500">
                  <a:moveTo>
                    <a:pt x="1798204" y="2095499"/>
                  </a:moveTo>
                  <a:lnTo>
                    <a:pt x="106794" y="2095499"/>
                  </a:lnTo>
                  <a:lnTo>
                    <a:pt x="99361" y="2094767"/>
                  </a:lnTo>
                  <a:lnTo>
                    <a:pt x="57038" y="2080405"/>
                  </a:lnTo>
                  <a:lnTo>
                    <a:pt x="23432" y="2050941"/>
                  </a:lnTo>
                  <a:lnTo>
                    <a:pt x="3660" y="2010859"/>
                  </a:lnTo>
                  <a:lnTo>
                    <a:pt x="0" y="1988704"/>
                  </a:lnTo>
                  <a:lnTo>
                    <a:pt x="0" y="1981199"/>
                  </a:lnTo>
                  <a:lnTo>
                    <a:pt x="0" y="106794"/>
                  </a:lnTo>
                  <a:lnTo>
                    <a:pt x="11572" y="63624"/>
                  </a:lnTo>
                  <a:lnTo>
                    <a:pt x="38784" y="28170"/>
                  </a:lnTo>
                  <a:lnTo>
                    <a:pt x="77492" y="5828"/>
                  </a:lnTo>
                  <a:lnTo>
                    <a:pt x="106794" y="0"/>
                  </a:lnTo>
                  <a:lnTo>
                    <a:pt x="1798204" y="0"/>
                  </a:lnTo>
                  <a:lnTo>
                    <a:pt x="1841373" y="11572"/>
                  </a:lnTo>
                  <a:lnTo>
                    <a:pt x="1876828" y="38783"/>
                  </a:lnTo>
                  <a:lnTo>
                    <a:pt x="1899170" y="77492"/>
                  </a:lnTo>
                  <a:lnTo>
                    <a:pt x="1904999" y="106794"/>
                  </a:lnTo>
                  <a:lnTo>
                    <a:pt x="1904999" y="1988704"/>
                  </a:lnTo>
                  <a:lnTo>
                    <a:pt x="1893426" y="2031874"/>
                  </a:lnTo>
                  <a:lnTo>
                    <a:pt x="1866215" y="2067328"/>
                  </a:lnTo>
                  <a:lnTo>
                    <a:pt x="1827506" y="2089671"/>
                  </a:lnTo>
                  <a:lnTo>
                    <a:pt x="1805637" y="2094767"/>
                  </a:lnTo>
                  <a:lnTo>
                    <a:pt x="1798204" y="2095499"/>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2324099" y="3800475"/>
              <a:ext cx="657225" cy="180975"/>
            </a:xfrm>
            <a:custGeom>
              <a:avLst/>
              <a:gdLst/>
              <a:ahLst/>
              <a:cxnLst/>
              <a:rect l="l" t="t" r="r" b="b"/>
              <a:pathLst>
                <a:path w="657225" h="180975">
                  <a:moveTo>
                    <a:pt x="572678" y="180974"/>
                  </a:moveTo>
                  <a:lnTo>
                    <a:pt x="84546" y="180974"/>
                  </a:lnTo>
                  <a:lnTo>
                    <a:pt x="78661" y="180395"/>
                  </a:lnTo>
                  <a:lnTo>
                    <a:pt x="35275" y="162423"/>
                  </a:lnTo>
                  <a:lnTo>
                    <a:pt x="9161" y="130603"/>
                  </a:lnTo>
                  <a:lnTo>
                    <a:pt x="0" y="96428"/>
                  </a:lnTo>
                  <a:lnTo>
                    <a:pt x="0" y="90487"/>
                  </a:lnTo>
                  <a:lnTo>
                    <a:pt x="0" y="84545"/>
                  </a:lnTo>
                  <a:lnTo>
                    <a:pt x="11948" y="45154"/>
                  </a:lnTo>
                  <a:lnTo>
                    <a:pt x="45155" y="11948"/>
                  </a:lnTo>
                  <a:lnTo>
                    <a:pt x="84546" y="0"/>
                  </a:lnTo>
                  <a:lnTo>
                    <a:pt x="572678" y="0"/>
                  </a:lnTo>
                  <a:lnTo>
                    <a:pt x="612069" y="11948"/>
                  </a:lnTo>
                  <a:lnTo>
                    <a:pt x="645275" y="45154"/>
                  </a:lnTo>
                  <a:lnTo>
                    <a:pt x="657225" y="84545"/>
                  </a:lnTo>
                  <a:lnTo>
                    <a:pt x="657225" y="96428"/>
                  </a:lnTo>
                  <a:lnTo>
                    <a:pt x="645275" y="135818"/>
                  </a:lnTo>
                  <a:lnTo>
                    <a:pt x="612069" y="169025"/>
                  </a:lnTo>
                  <a:lnTo>
                    <a:pt x="578563" y="180395"/>
                  </a:lnTo>
                  <a:lnTo>
                    <a:pt x="572678" y="180974"/>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8" name="object 18"/>
          <p:cNvSpPr txBox="1"/>
          <p:nvPr/>
        </p:nvSpPr>
        <p:spPr>
          <a:xfrm>
            <a:off x="2387599" y="3807367"/>
            <a:ext cx="527685" cy="138499"/>
          </a:xfrm>
          <a:prstGeom prst="rect">
            <a:avLst/>
          </a:prstGeom>
        </p:spPr>
        <p:txBody>
          <a:bodyPr vert="horz" wrap="square" lIns="0" tIns="15240" rIns="0" bIns="0" rtlCol="0">
            <a:spAutoFit/>
          </a:bodyPr>
          <a:lstStyle/>
          <a:p>
            <a:pPr marL="12700">
              <a:lnSpc>
                <a:spcPct val="100000"/>
              </a:lnSpc>
              <a:spcBef>
                <a:spcPts val="120"/>
              </a:spcBef>
            </a:pPr>
            <a:r>
              <a:rPr sz="800" b="1" spc="-10" dirty="0">
                <a:solidFill>
                  <a:srgbClr val="E7863A"/>
                </a:solidFill>
                <a:latin typeface="Times New Roman" panose="02020603050405020304" pitchFamily="18" charset="0"/>
                <a:cs typeface="Times New Roman" panose="02020603050405020304" pitchFamily="18" charset="0"/>
              </a:rPr>
              <a:t>Navigation</a:t>
            </a:r>
            <a:endParaRPr sz="800">
              <a:latin typeface="Times New Roman" panose="02020603050405020304" pitchFamily="18" charset="0"/>
              <a:cs typeface="Times New Roman" panose="02020603050405020304" pitchFamily="18" charset="0"/>
            </a:endParaRPr>
          </a:p>
        </p:txBody>
      </p:sp>
      <p:sp>
        <p:nvSpPr>
          <p:cNvPr id="19" name="object 19"/>
          <p:cNvSpPr txBox="1"/>
          <p:nvPr/>
        </p:nvSpPr>
        <p:spPr>
          <a:xfrm>
            <a:off x="2311399" y="4006813"/>
            <a:ext cx="1216660" cy="540385"/>
          </a:xfrm>
          <a:prstGeom prst="rect">
            <a:avLst/>
          </a:prstGeom>
        </p:spPr>
        <p:txBody>
          <a:bodyPr vert="horz" wrap="square" lIns="0" tIns="12065" rIns="0" bIns="0" rtlCol="0">
            <a:spAutoFit/>
          </a:bodyPr>
          <a:lstStyle/>
          <a:p>
            <a:pPr marL="12700" marR="5080">
              <a:lnSpc>
                <a:spcPct val="102299"/>
              </a:lnSpc>
              <a:spcBef>
                <a:spcPts val="95"/>
              </a:spcBef>
            </a:pPr>
            <a:r>
              <a:rPr sz="1100" b="1" spc="335" dirty="0">
                <a:solidFill>
                  <a:srgbClr val="1B294A"/>
                </a:solidFill>
                <a:latin typeface="Times New Roman" panose="02020603050405020304" pitchFamily="18" charset="0"/>
                <a:cs typeface="Times New Roman" panose="02020603050405020304" pitchFamily="18" charset="0"/>
              </a:rPr>
              <a:t>Navigation </a:t>
            </a:r>
            <a:r>
              <a:rPr sz="1100" b="1" spc="270" dirty="0">
                <a:solidFill>
                  <a:srgbClr val="1B294A"/>
                </a:solidFill>
                <a:latin typeface="Times New Roman" panose="02020603050405020304" pitchFamily="18" charset="0"/>
                <a:cs typeface="Times New Roman" panose="02020603050405020304" pitchFamily="18" charset="0"/>
              </a:rPr>
              <a:t>vers </a:t>
            </a:r>
            <a:r>
              <a:rPr sz="1100" b="1" spc="345" dirty="0">
                <a:solidFill>
                  <a:srgbClr val="1B294A"/>
                </a:solidFill>
                <a:latin typeface="Times New Roman" panose="02020603050405020304" pitchFamily="18" charset="0"/>
                <a:cs typeface="Times New Roman" panose="02020603050405020304" pitchFamily="18" charset="0"/>
              </a:rPr>
              <a:t>Freelances</a:t>
            </a:r>
            <a:endParaRPr sz="1100">
              <a:latin typeface="Times New Roman" panose="02020603050405020304" pitchFamily="18" charset="0"/>
              <a:cs typeface="Times New Roman" panose="02020603050405020304" pitchFamily="18" charset="0"/>
            </a:endParaRPr>
          </a:p>
        </p:txBody>
      </p:sp>
      <p:sp>
        <p:nvSpPr>
          <p:cNvPr id="20" name="object 20"/>
          <p:cNvSpPr txBox="1"/>
          <p:nvPr/>
        </p:nvSpPr>
        <p:spPr>
          <a:xfrm>
            <a:off x="2311399" y="4583911"/>
            <a:ext cx="1579880" cy="901700"/>
          </a:xfrm>
          <a:prstGeom prst="rect">
            <a:avLst/>
          </a:prstGeom>
        </p:spPr>
        <p:txBody>
          <a:bodyPr vert="horz" wrap="square" lIns="0" tIns="6985" rIns="0" bIns="0" rtlCol="0">
            <a:spAutoFit/>
          </a:bodyPr>
          <a:lstStyle/>
          <a:p>
            <a:pPr marL="12700" marR="5080">
              <a:lnSpc>
                <a:spcPct val="121700"/>
              </a:lnSpc>
              <a:spcBef>
                <a:spcPts val="55"/>
              </a:spcBef>
            </a:pPr>
            <a:r>
              <a:rPr sz="950" spc="-35" dirty="0">
                <a:solidFill>
                  <a:srgbClr val="3A4556"/>
                </a:solidFill>
                <a:latin typeface="Times New Roman" panose="02020603050405020304" pitchFamily="18" charset="0"/>
                <a:cs typeface="Times New Roman" panose="02020603050405020304" pitchFamily="18" charset="0"/>
              </a:rPr>
              <a:t>En</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cliquant</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sur</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le menu</a:t>
            </a:r>
            <a:r>
              <a:rPr sz="950" spc="3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ou</a:t>
            </a:r>
            <a:r>
              <a:rPr sz="950" spc="25"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le </a:t>
            </a:r>
            <a:r>
              <a:rPr sz="950" spc="-30" dirty="0">
                <a:solidFill>
                  <a:srgbClr val="3A4556"/>
                </a:solidFill>
                <a:latin typeface="Times New Roman" panose="02020603050405020304" pitchFamily="18" charset="0"/>
                <a:cs typeface="Times New Roman" panose="02020603050405020304" pitchFamily="18" charset="0"/>
              </a:rPr>
              <a:t>CTA,</a:t>
            </a:r>
            <a:r>
              <a:rPr sz="950" spc="5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a:t>
            </a:r>
            <a:r>
              <a:rPr sz="950" spc="-17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utilisateur</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accède</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à</a:t>
            </a:r>
            <a:r>
              <a:rPr sz="950" spc="25"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la </a:t>
            </a:r>
            <a:r>
              <a:rPr sz="950" dirty="0">
                <a:solidFill>
                  <a:srgbClr val="3A4556"/>
                </a:solidFill>
                <a:latin typeface="Times New Roman" panose="02020603050405020304" pitchFamily="18" charset="0"/>
                <a:cs typeface="Times New Roman" panose="02020603050405020304" pitchFamily="18" charset="0"/>
              </a:rPr>
              <a:t>grille</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des</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profils.</a:t>
            </a:r>
            <a:r>
              <a:rPr sz="950" spc="8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Filtres</a:t>
            </a:r>
            <a:r>
              <a:rPr sz="950" spc="25"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par </a:t>
            </a:r>
            <a:r>
              <a:rPr sz="950" dirty="0">
                <a:solidFill>
                  <a:srgbClr val="3A4556"/>
                </a:solidFill>
                <a:latin typeface="Times New Roman" panose="02020603050405020304" pitchFamily="18" charset="0"/>
                <a:cs typeface="Times New Roman" panose="02020603050405020304" pitchFamily="18" charset="0"/>
              </a:rPr>
              <a:t>catégorie</a:t>
            </a:r>
            <a:r>
              <a:rPr sz="950" spc="-3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t>
            </a:r>
            <a:r>
              <a:rPr sz="950" spc="2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Dev,</a:t>
            </a:r>
            <a:r>
              <a:rPr sz="950" spc="3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Design,</a:t>
            </a:r>
            <a:r>
              <a:rPr sz="950" spc="50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Data,</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Marketing,</a:t>
            </a:r>
            <a:r>
              <a:rPr sz="950" spc="1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DevOps.</a:t>
            </a:r>
            <a:endParaRPr sz="950">
              <a:latin typeface="Times New Roman" panose="02020603050405020304" pitchFamily="18" charset="0"/>
              <a:cs typeface="Times New Roman" panose="02020603050405020304" pitchFamily="18" charset="0"/>
            </a:endParaRPr>
          </a:p>
        </p:txBody>
      </p:sp>
      <p:grpSp>
        <p:nvGrpSpPr>
          <p:cNvPr id="21" name="object 21"/>
          <p:cNvGrpSpPr/>
          <p:nvPr/>
        </p:nvGrpSpPr>
        <p:grpSpPr>
          <a:xfrm>
            <a:off x="4251959" y="1097280"/>
            <a:ext cx="2011680" cy="2207260"/>
            <a:chOff x="4251959" y="1097280"/>
            <a:chExt cx="2011680" cy="2207260"/>
          </a:xfrm>
        </p:grpSpPr>
        <p:sp>
          <p:nvSpPr>
            <p:cNvPr id="22" name="object 22"/>
            <p:cNvSpPr/>
            <p:nvPr/>
          </p:nvSpPr>
          <p:spPr>
            <a:xfrm>
              <a:off x="4251959" y="1097280"/>
              <a:ext cx="2011680" cy="2207260"/>
            </a:xfrm>
            <a:custGeom>
              <a:avLst/>
              <a:gdLst/>
              <a:ahLst/>
              <a:cxnLst/>
              <a:rect l="l" t="t" r="r" b="b"/>
              <a:pathLst>
                <a:path w="2011679" h="2207260">
                  <a:moveTo>
                    <a:pt x="2011679" y="2206751"/>
                  </a:moveTo>
                  <a:lnTo>
                    <a:pt x="0" y="2206751"/>
                  </a:lnTo>
                  <a:lnTo>
                    <a:pt x="0" y="0"/>
                  </a:lnTo>
                  <a:lnTo>
                    <a:pt x="2011679" y="0"/>
                  </a:lnTo>
                  <a:lnTo>
                    <a:pt x="2011679" y="55244"/>
                  </a:lnTo>
                  <a:lnTo>
                    <a:pt x="167639" y="55244"/>
                  </a:lnTo>
                  <a:lnTo>
                    <a:pt x="157318" y="55743"/>
                  </a:lnTo>
                  <a:lnTo>
                    <a:pt x="118199" y="67630"/>
                  </a:lnTo>
                  <a:lnTo>
                    <a:pt x="86606" y="93583"/>
                  </a:lnTo>
                  <a:lnTo>
                    <a:pt x="67350" y="129650"/>
                  </a:lnTo>
                  <a:lnTo>
                    <a:pt x="62864" y="160019"/>
                  </a:lnTo>
                  <a:lnTo>
                    <a:pt x="62864" y="2026919"/>
                  </a:lnTo>
                  <a:lnTo>
                    <a:pt x="70839" y="2067015"/>
                  </a:lnTo>
                  <a:lnTo>
                    <a:pt x="93552" y="2101006"/>
                  </a:lnTo>
                  <a:lnTo>
                    <a:pt x="127543" y="2123719"/>
                  </a:lnTo>
                  <a:lnTo>
                    <a:pt x="167639" y="2131694"/>
                  </a:lnTo>
                  <a:lnTo>
                    <a:pt x="2011679" y="2131694"/>
                  </a:lnTo>
                  <a:lnTo>
                    <a:pt x="2011679" y="2206751"/>
                  </a:lnTo>
                  <a:close/>
                </a:path>
                <a:path w="2011679" h="2207260">
                  <a:moveTo>
                    <a:pt x="2011679" y="2131694"/>
                  </a:moveTo>
                  <a:lnTo>
                    <a:pt x="1844039" y="2131694"/>
                  </a:lnTo>
                  <a:lnTo>
                    <a:pt x="1854360" y="2131196"/>
                  </a:lnTo>
                  <a:lnTo>
                    <a:pt x="1864483" y="2129700"/>
                  </a:lnTo>
                  <a:lnTo>
                    <a:pt x="1902260" y="2114053"/>
                  </a:lnTo>
                  <a:lnTo>
                    <a:pt x="1931173" y="2085140"/>
                  </a:lnTo>
                  <a:lnTo>
                    <a:pt x="1946820" y="2047364"/>
                  </a:lnTo>
                  <a:lnTo>
                    <a:pt x="1948814" y="2026919"/>
                  </a:lnTo>
                  <a:lnTo>
                    <a:pt x="1948814" y="160019"/>
                  </a:lnTo>
                  <a:lnTo>
                    <a:pt x="1940838" y="119924"/>
                  </a:lnTo>
                  <a:lnTo>
                    <a:pt x="1918127" y="85932"/>
                  </a:lnTo>
                  <a:lnTo>
                    <a:pt x="1884134" y="63220"/>
                  </a:lnTo>
                  <a:lnTo>
                    <a:pt x="1844039" y="55244"/>
                  </a:lnTo>
                  <a:lnTo>
                    <a:pt x="2011679" y="55244"/>
                  </a:lnTo>
                  <a:lnTo>
                    <a:pt x="2011679" y="2131694"/>
                  </a:lnTo>
                  <a:close/>
                </a:path>
              </a:pathLst>
            </a:custGeom>
            <a:solidFill>
              <a:srgbClr val="000000">
                <a:alpha val="587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3" name="object 23"/>
            <p:cNvSpPr/>
            <p:nvPr/>
          </p:nvSpPr>
          <p:spPr>
            <a:xfrm>
              <a:off x="4305299" y="1142999"/>
              <a:ext cx="1905000" cy="2095500"/>
            </a:xfrm>
            <a:custGeom>
              <a:avLst/>
              <a:gdLst/>
              <a:ahLst/>
              <a:cxnLst/>
              <a:rect l="l" t="t" r="r" b="b"/>
              <a:pathLst>
                <a:path w="1905000" h="2095500">
                  <a:moveTo>
                    <a:pt x="1798204" y="2095499"/>
                  </a:moveTo>
                  <a:lnTo>
                    <a:pt x="106794" y="2095499"/>
                  </a:lnTo>
                  <a:lnTo>
                    <a:pt x="99361" y="2094767"/>
                  </a:lnTo>
                  <a:lnTo>
                    <a:pt x="57037" y="2080406"/>
                  </a:lnTo>
                  <a:lnTo>
                    <a:pt x="23432" y="2050941"/>
                  </a:lnTo>
                  <a:lnTo>
                    <a:pt x="3660" y="2010859"/>
                  </a:lnTo>
                  <a:lnTo>
                    <a:pt x="0" y="1988704"/>
                  </a:lnTo>
                  <a:lnTo>
                    <a:pt x="0" y="1981199"/>
                  </a:lnTo>
                  <a:lnTo>
                    <a:pt x="0" y="106794"/>
                  </a:lnTo>
                  <a:lnTo>
                    <a:pt x="11572" y="63625"/>
                  </a:lnTo>
                  <a:lnTo>
                    <a:pt x="38784" y="28170"/>
                  </a:lnTo>
                  <a:lnTo>
                    <a:pt x="77492" y="5828"/>
                  </a:lnTo>
                  <a:lnTo>
                    <a:pt x="106794" y="0"/>
                  </a:lnTo>
                  <a:lnTo>
                    <a:pt x="1798204" y="0"/>
                  </a:lnTo>
                  <a:lnTo>
                    <a:pt x="1841373" y="11572"/>
                  </a:lnTo>
                  <a:lnTo>
                    <a:pt x="1876828" y="38784"/>
                  </a:lnTo>
                  <a:lnTo>
                    <a:pt x="1899170" y="77492"/>
                  </a:lnTo>
                  <a:lnTo>
                    <a:pt x="1904999" y="106794"/>
                  </a:lnTo>
                  <a:lnTo>
                    <a:pt x="1904999" y="1988704"/>
                  </a:lnTo>
                  <a:lnTo>
                    <a:pt x="1893426" y="2031873"/>
                  </a:lnTo>
                  <a:lnTo>
                    <a:pt x="1866214" y="2067328"/>
                  </a:lnTo>
                  <a:lnTo>
                    <a:pt x="1827505" y="2089670"/>
                  </a:lnTo>
                  <a:lnTo>
                    <a:pt x="1805637" y="2094767"/>
                  </a:lnTo>
                  <a:lnTo>
                    <a:pt x="1798204" y="2095499"/>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4" name="object 24"/>
            <p:cNvSpPr/>
            <p:nvPr/>
          </p:nvSpPr>
          <p:spPr>
            <a:xfrm>
              <a:off x="4476749" y="1362075"/>
              <a:ext cx="400050" cy="180975"/>
            </a:xfrm>
            <a:custGeom>
              <a:avLst/>
              <a:gdLst/>
              <a:ahLst/>
              <a:cxnLst/>
              <a:rect l="l" t="t" r="r" b="b"/>
              <a:pathLst>
                <a:path w="400050" h="180975">
                  <a:moveTo>
                    <a:pt x="315503" y="180974"/>
                  </a:moveTo>
                  <a:lnTo>
                    <a:pt x="84545" y="180974"/>
                  </a:lnTo>
                  <a:lnTo>
                    <a:pt x="78661" y="180395"/>
                  </a:lnTo>
                  <a:lnTo>
                    <a:pt x="35274" y="162423"/>
                  </a:lnTo>
                  <a:lnTo>
                    <a:pt x="9161" y="130604"/>
                  </a:lnTo>
                  <a:lnTo>
                    <a:pt x="0" y="96428"/>
                  </a:lnTo>
                  <a:lnTo>
                    <a:pt x="0" y="90487"/>
                  </a:lnTo>
                  <a:lnTo>
                    <a:pt x="0" y="84545"/>
                  </a:lnTo>
                  <a:lnTo>
                    <a:pt x="11949" y="45155"/>
                  </a:lnTo>
                  <a:lnTo>
                    <a:pt x="45155" y="11948"/>
                  </a:lnTo>
                  <a:lnTo>
                    <a:pt x="84545" y="0"/>
                  </a:lnTo>
                  <a:lnTo>
                    <a:pt x="315503" y="0"/>
                  </a:lnTo>
                  <a:lnTo>
                    <a:pt x="354894" y="11948"/>
                  </a:lnTo>
                  <a:lnTo>
                    <a:pt x="388100" y="45155"/>
                  </a:lnTo>
                  <a:lnTo>
                    <a:pt x="400049" y="84545"/>
                  </a:lnTo>
                  <a:lnTo>
                    <a:pt x="400049" y="96428"/>
                  </a:lnTo>
                  <a:lnTo>
                    <a:pt x="388100" y="135819"/>
                  </a:lnTo>
                  <a:lnTo>
                    <a:pt x="354894" y="169025"/>
                  </a:lnTo>
                  <a:lnTo>
                    <a:pt x="321388" y="180395"/>
                  </a:lnTo>
                  <a:lnTo>
                    <a:pt x="315503" y="180974"/>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25" name="object 25"/>
          <p:cNvSpPr txBox="1"/>
          <p:nvPr/>
        </p:nvSpPr>
        <p:spPr>
          <a:xfrm>
            <a:off x="468630" y="6386204"/>
            <a:ext cx="4211320" cy="309059"/>
          </a:xfrm>
          <a:prstGeom prst="rect">
            <a:avLst/>
          </a:prstGeom>
        </p:spPr>
        <p:txBody>
          <a:bodyPr vert="horz" wrap="square" lIns="0" tIns="13970" rIns="0" bIns="0" rtlCol="0">
            <a:spAutoFit/>
          </a:bodyPr>
          <a:lstStyle/>
          <a:p>
            <a:pPr marL="12700">
              <a:lnSpc>
                <a:spcPts val="1405"/>
              </a:lnSpc>
              <a:spcBef>
                <a:spcPts val="110"/>
              </a:spcBef>
            </a:pPr>
            <a:r>
              <a:rPr sz="1200" dirty="0">
                <a:solidFill>
                  <a:srgbClr val="6A798F"/>
                </a:solidFill>
                <a:latin typeface="Times New Roman" panose="02020603050405020304" pitchFamily="18" charset="0"/>
                <a:cs typeface="Times New Roman" panose="02020603050405020304" pitchFamily="18" charset="0"/>
              </a:rPr>
              <a:t>Ce</a:t>
            </a:r>
            <a:r>
              <a:rPr sz="1200" spc="-2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que</a:t>
            </a:r>
            <a:r>
              <a:rPr sz="1200" spc="-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voit</a:t>
            </a:r>
            <a:r>
              <a:rPr sz="1200" spc="-3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et</a:t>
            </a:r>
            <a:r>
              <a:rPr sz="1200" spc="-2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fait</a:t>
            </a:r>
            <a:r>
              <a:rPr sz="1200" spc="-2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un</a:t>
            </a:r>
            <a:r>
              <a:rPr sz="1200" spc="2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visiteur,</a:t>
            </a:r>
            <a:r>
              <a:rPr sz="1200" spc="5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étape</a:t>
            </a:r>
            <a:r>
              <a:rPr sz="1200" spc="-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par</a:t>
            </a:r>
            <a:r>
              <a:rPr sz="1200" spc="-20" dirty="0">
                <a:solidFill>
                  <a:srgbClr val="6A798F"/>
                </a:solidFill>
                <a:latin typeface="Times New Roman" panose="02020603050405020304" pitchFamily="18" charset="0"/>
                <a:cs typeface="Times New Roman" panose="02020603050405020304" pitchFamily="18" charset="0"/>
              </a:rPr>
              <a:t> étape</a:t>
            </a:r>
            <a:endParaRPr sz="1200" dirty="0">
              <a:latin typeface="Times New Roman" panose="02020603050405020304" pitchFamily="18" charset="0"/>
              <a:cs typeface="Times New Roman" panose="02020603050405020304" pitchFamily="18" charset="0"/>
            </a:endParaRPr>
          </a:p>
          <a:p>
            <a:pPr marR="5080" algn="r">
              <a:lnSpc>
                <a:spcPts val="930"/>
              </a:lnSpc>
            </a:pPr>
            <a:endParaRPr sz="800" dirty="0">
              <a:latin typeface="Times New Roman" panose="02020603050405020304" pitchFamily="18" charset="0"/>
              <a:cs typeface="Times New Roman" panose="02020603050405020304" pitchFamily="18" charset="0"/>
            </a:endParaRPr>
          </a:p>
        </p:txBody>
      </p:sp>
      <p:sp>
        <p:nvSpPr>
          <p:cNvPr id="26" name="object 26"/>
          <p:cNvSpPr txBox="1"/>
          <p:nvPr/>
        </p:nvSpPr>
        <p:spPr>
          <a:xfrm>
            <a:off x="4464049" y="1568413"/>
            <a:ext cx="1393190" cy="354584"/>
          </a:xfrm>
          <a:prstGeom prst="rect">
            <a:avLst/>
          </a:prstGeom>
        </p:spPr>
        <p:txBody>
          <a:bodyPr vert="horz" wrap="square" lIns="0" tIns="15875" rIns="0" bIns="0" rtlCol="0">
            <a:spAutoFit/>
          </a:bodyPr>
          <a:lstStyle/>
          <a:p>
            <a:pPr marL="12700">
              <a:lnSpc>
                <a:spcPct val="100000"/>
              </a:lnSpc>
              <a:spcBef>
                <a:spcPts val="125"/>
              </a:spcBef>
            </a:pPr>
            <a:r>
              <a:rPr sz="1100" b="1" spc="320" dirty="0">
                <a:solidFill>
                  <a:srgbClr val="1B294A"/>
                </a:solidFill>
                <a:latin typeface="Times New Roman" panose="02020603050405020304" pitchFamily="18" charset="0"/>
                <a:cs typeface="Times New Roman" panose="02020603050405020304" pitchFamily="18" charset="0"/>
              </a:rPr>
              <a:t>Consultation</a:t>
            </a:r>
            <a:endParaRPr sz="1100">
              <a:latin typeface="Times New Roman" panose="02020603050405020304" pitchFamily="18" charset="0"/>
              <a:cs typeface="Times New Roman" panose="02020603050405020304" pitchFamily="18" charset="0"/>
            </a:endParaRPr>
          </a:p>
          <a:p>
            <a:pPr marL="12700">
              <a:lnSpc>
                <a:spcPct val="100000"/>
              </a:lnSpc>
              <a:spcBef>
                <a:spcPts val="30"/>
              </a:spcBef>
            </a:pPr>
            <a:r>
              <a:rPr sz="1100" b="1" spc="335" dirty="0">
                <a:solidFill>
                  <a:srgbClr val="1B294A"/>
                </a:solidFill>
                <a:latin typeface="Times New Roman" panose="02020603050405020304" pitchFamily="18" charset="0"/>
                <a:cs typeface="Times New Roman" panose="02020603050405020304" pitchFamily="18" charset="0"/>
              </a:rPr>
              <a:t>d'un</a:t>
            </a:r>
            <a:r>
              <a:rPr sz="1100" b="1" spc="-20" dirty="0">
                <a:solidFill>
                  <a:srgbClr val="1B294A"/>
                </a:solidFill>
                <a:latin typeface="Times New Roman" panose="02020603050405020304" pitchFamily="18" charset="0"/>
                <a:cs typeface="Times New Roman" panose="02020603050405020304" pitchFamily="18" charset="0"/>
              </a:rPr>
              <a:t> </a:t>
            </a:r>
            <a:r>
              <a:rPr sz="1100" b="1" spc="235" dirty="0">
                <a:solidFill>
                  <a:srgbClr val="1B294A"/>
                </a:solidFill>
                <a:latin typeface="Times New Roman" panose="02020603050405020304" pitchFamily="18" charset="0"/>
                <a:cs typeface="Times New Roman" panose="02020603050405020304" pitchFamily="18" charset="0"/>
              </a:rPr>
              <a:t>profil</a:t>
            </a:r>
            <a:endParaRPr sz="1100">
              <a:latin typeface="Times New Roman" panose="02020603050405020304" pitchFamily="18" charset="0"/>
              <a:cs typeface="Times New Roman" panose="02020603050405020304" pitchFamily="18" charset="0"/>
            </a:endParaRPr>
          </a:p>
        </p:txBody>
      </p:sp>
      <p:sp>
        <p:nvSpPr>
          <p:cNvPr id="27" name="object 27"/>
          <p:cNvSpPr txBox="1"/>
          <p:nvPr/>
        </p:nvSpPr>
        <p:spPr>
          <a:xfrm>
            <a:off x="4464049" y="1955011"/>
            <a:ext cx="1465580" cy="1092200"/>
          </a:xfrm>
          <a:prstGeom prst="rect">
            <a:avLst/>
          </a:prstGeom>
        </p:spPr>
        <p:txBody>
          <a:bodyPr vert="horz" wrap="square" lIns="0" tIns="15875" rIns="0" bIns="0" rtlCol="0">
            <a:spAutoFit/>
          </a:bodyPr>
          <a:lstStyle/>
          <a:p>
            <a:pPr marL="12700" marR="5080">
              <a:lnSpc>
                <a:spcPct val="122400"/>
              </a:lnSpc>
              <a:spcBef>
                <a:spcPts val="125"/>
              </a:spcBef>
            </a:pPr>
            <a:r>
              <a:rPr sz="950" dirty="0">
                <a:solidFill>
                  <a:srgbClr val="3A4556"/>
                </a:solidFill>
                <a:latin typeface="Times New Roman" panose="02020603050405020304" pitchFamily="18" charset="0"/>
                <a:cs typeface="Times New Roman" panose="02020603050405020304" pitchFamily="18" charset="0"/>
              </a:rPr>
              <a:t>Chaque</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carte</a:t>
            </a:r>
            <a:r>
              <a:rPr sz="950" spc="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freelance </a:t>
            </a:r>
            <a:r>
              <a:rPr sz="950" dirty="0">
                <a:solidFill>
                  <a:srgbClr val="3A4556"/>
                </a:solidFill>
                <a:latin typeface="Times New Roman" panose="02020603050405020304" pitchFamily="18" charset="0"/>
                <a:cs typeface="Times New Roman" panose="02020603050405020304" pitchFamily="18" charset="0"/>
              </a:rPr>
              <a:t>affiche :</a:t>
            </a:r>
            <a:r>
              <a:rPr sz="950" spc="6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photo,</a:t>
            </a:r>
            <a:r>
              <a:rPr sz="950" spc="75" dirty="0">
                <a:solidFill>
                  <a:srgbClr val="3A4556"/>
                </a:solidFill>
                <a:latin typeface="Times New Roman" panose="02020603050405020304" pitchFamily="18" charset="0"/>
                <a:cs typeface="Times New Roman" panose="02020603050405020304" pitchFamily="18" charset="0"/>
              </a:rPr>
              <a:t> </a:t>
            </a:r>
            <a:r>
              <a:rPr sz="950" spc="-20" dirty="0">
                <a:solidFill>
                  <a:srgbClr val="3A4556"/>
                </a:solidFill>
                <a:latin typeface="Times New Roman" panose="02020603050405020304" pitchFamily="18" charset="0"/>
                <a:cs typeface="Times New Roman" panose="02020603050405020304" pitchFamily="18" charset="0"/>
              </a:rPr>
              <a:t>nom, </a:t>
            </a:r>
            <a:r>
              <a:rPr sz="950" dirty="0">
                <a:solidFill>
                  <a:srgbClr val="3A4556"/>
                </a:solidFill>
                <a:latin typeface="Times New Roman" panose="02020603050405020304" pitchFamily="18" charset="0"/>
                <a:cs typeface="Times New Roman" panose="02020603050405020304" pitchFamily="18" charset="0"/>
              </a:rPr>
              <a:t>spécialité,</a:t>
            </a:r>
            <a:r>
              <a:rPr sz="950" spc="4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bio,</a:t>
            </a:r>
            <a:r>
              <a:rPr sz="950" spc="5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note</a:t>
            </a:r>
            <a:r>
              <a:rPr sz="950" spc="-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étoilée </a:t>
            </a:r>
            <a:r>
              <a:rPr sz="950" dirty="0">
                <a:solidFill>
                  <a:srgbClr val="3A4556"/>
                </a:solidFill>
                <a:latin typeface="Times New Roman" panose="02020603050405020304" pitchFamily="18" charset="0"/>
                <a:cs typeface="Times New Roman" panose="02020603050405020304" pitchFamily="18" charset="0"/>
              </a:rPr>
              <a:t>et</a:t>
            </a:r>
            <a:r>
              <a:rPr sz="950" spc="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tarif</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horaire</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en</a:t>
            </a:r>
            <a:r>
              <a:rPr sz="950" spc="65" dirty="0">
                <a:solidFill>
                  <a:srgbClr val="3A4556"/>
                </a:solidFill>
                <a:latin typeface="Times New Roman" panose="02020603050405020304" pitchFamily="18" charset="0"/>
                <a:cs typeface="Times New Roman" panose="02020603050405020304" pitchFamily="18" charset="0"/>
              </a:rPr>
              <a:t> </a:t>
            </a:r>
            <a:r>
              <a:rPr sz="950" spc="-20" dirty="0">
                <a:solidFill>
                  <a:srgbClr val="3A4556"/>
                </a:solidFill>
                <a:latin typeface="Times New Roman" panose="02020603050405020304" pitchFamily="18" charset="0"/>
                <a:cs typeface="Times New Roman" panose="02020603050405020304" pitchFamily="18" charset="0"/>
              </a:rPr>
              <a:t>FCFA. </a:t>
            </a:r>
            <a:r>
              <a:rPr sz="950" dirty="0">
                <a:solidFill>
                  <a:srgbClr val="3A4556"/>
                </a:solidFill>
                <a:latin typeface="Times New Roman" panose="02020603050405020304" pitchFamily="18" charset="0"/>
                <a:cs typeface="Times New Roman" panose="02020603050405020304" pitchFamily="18" charset="0"/>
              </a:rPr>
              <a:t>Bouton</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Voir</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le profil</a:t>
            </a:r>
            <a:r>
              <a:rPr sz="950" spc="60" dirty="0">
                <a:solidFill>
                  <a:srgbClr val="3A4556"/>
                </a:solidFill>
                <a:latin typeface="Times New Roman" panose="02020603050405020304" pitchFamily="18" charset="0"/>
                <a:cs typeface="Times New Roman" panose="02020603050405020304" pitchFamily="18" charset="0"/>
              </a:rPr>
              <a:t> </a:t>
            </a:r>
            <a:r>
              <a:rPr sz="950" spc="-50" dirty="0">
                <a:solidFill>
                  <a:srgbClr val="3A4556"/>
                </a:solidFill>
                <a:latin typeface="Times New Roman" panose="02020603050405020304" pitchFamily="18" charset="0"/>
                <a:cs typeface="Times New Roman" panose="02020603050405020304" pitchFamily="18" charset="0"/>
              </a:rPr>
              <a:t>»</a:t>
            </a:r>
            <a:r>
              <a:rPr sz="950" dirty="0">
                <a:solidFill>
                  <a:srgbClr val="3A4556"/>
                </a:solidFill>
                <a:latin typeface="Times New Roman" panose="02020603050405020304" pitchFamily="18" charset="0"/>
                <a:cs typeface="Times New Roman" panose="02020603050405020304" pitchFamily="18" charset="0"/>
              </a:rPr>
              <a:t> ouvre</a:t>
            </a:r>
            <a:r>
              <a:rPr sz="950" spc="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une</a:t>
            </a:r>
            <a:r>
              <a:rPr sz="950" spc="2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modale.</a:t>
            </a:r>
            <a:endParaRPr sz="950">
              <a:latin typeface="Times New Roman" panose="02020603050405020304" pitchFamily="18" charset="0"/>
              <a:cs typeface="Times New Roman" panose="02020603050405020304" pitchFamily="18" charset="0"/>
            </a:endParaRPr>
          </a:p>
        </p:txBody>
      </p:sp>
      <p:grpSp>
        <p:nvGrpSpPr>
          <p:cNvPr id="28" name="object 28"/>
          <p:cNvGrpSpPr/>
          <p:nvPr/>
        </p:nvGrpSpPr>
        <p:grpSpPr>
          <a:xfrm>
            <a:off x="6403847" y="3535679"/>
            <a:ext cx="2014855" cy="2024380"/>
            <a:chOff x="6403847" y="3535679"/>
            <a:chExt cx="2014855" cy="2024380"/>
          </a:xfrm>
        </p:grpSpPr>
        <p:sp>
          <p:nvSpPr>
            <p:cNvPr id="29" name="object 29"/>
            <p:cNvSpPr/>
            <p:nvPr/>
          </p:nvSpPr>
          <p:spPr>
            <a:xfrm>
              <a:off x="6403847" y="3535679"/>
              <a:ext cx="2014855" cy="2024380"/>
            </a:xfrm>
            <a:custGeom>
              <a:avLst/>
              <a:gdLst/>
              <a:ahLst/>
              <a:cxnLst/>
              <a:rect l="l" t="t" r="r" b="b"/>
              <a:pathLst>
                <a:path w="2014854" h="2024379">
                  <a:moveTo>
                    <a:pt x="2014727" y="2023871"/>
                  </a:moveTo>
                  <a:lnTo>
                    <a:pt x="0" y="2023871"/>
                  </a:lnTo>
                  <a:lnTo>
                    <a:pt x="0" y="0"/>
                  </a:lnTo>
                  <a:lnTo>
                    <a:pt x="2014727" y="0"/>
                  </a:lnTo>
                  <a:lnTo>
                    <a:pt x="2014727" y="55244"/>
                  </a:lnTo>
                  <a:lnTo>
                    <a:pt x="168401" y="55244"/>
                  </a:lnTo>
                  <a:lnTo>
                    <a:pt x="158080" y="55743"/>
                  </a:lnTo>
                  <a:lnTo>
                    <a:pt x="118960" y="67630"/>
                  </a:lnTo>
                  <a:lnTo>
                    <a:pt x="87368" y="93583"/>
                  </a:lnTo>
                  <a:lnTo>
                    <a:pt x="68112" y="129650"/>
                  </a:lnTo>
                  <a:lnTo>
                    <a:pt x="63626" y="160019"/>
                  </a:lnTo>
                  <a:lnTo>
                    <a:pt x="63626" y="1845944"/>
                  </a:lnTo>
                  <a:lnTo>
                    <a:pt x="71601" y="1886039"/>
                  </a:lnTo>
                  <a:lnTo>
                    <a:pt x="94314" y="1920032"/>
                  </a:lnTo>
                  <a:lnTo>
                    <a:pt x="128305" y="1942743"/>
                  </a:lnTo>
                  <a:lnTo>
                    <a:pt x="168401" y="1950719"/>
                  </a:lnTo>
                  <a:lnTo>
                    <a:pt x="2014727" y="1950719"/>
                  </a:lnTo>
                  <a:lnTo>
                    <a:pt x="2014727" y="2023871"/>
                  </a:lnTo>
                  <a:close/>
                </a:path>
                <a:path w="2014854" h="2024379">
                  <a:moveTo>
                    <a:pt x="2014727" y="1950719"/>
                  </a:moveTo>
                  <a:lnTo>
                    <a:pt x="1844801" y="1950719"/>
                  </a:lnTo>
                  <a:lnTo>
                    <a:pt x="1855123" y="1950221"/>
                  </a:lnTo>
                  <a:lnTo>
                    <a:pt x="1865245" y="1948725"/>
                  </a:lnTo>
                  <a:lnTo>
                    <a:pt x="1903022" y="1933078"/>
                  </a:lnTo>
                  <a:lnTo>
                    <a:pt x="1931934" y="1904165"/>
                  </a:lnTo>
                  <a:lnTo>
                    <a:pt x="1947582" y="1866388"/>
                  </a:lnTo>
                  <a:lnTo>
                    <a:pt x="1949576" y="1845944"/>
                  </a:lnTo>
                  <a:lnTo>
                    <a:pt x="1949576" y="160019"/>
                  </a:lnTo>
                  <a:lnTo>
                    <a:pt x="1941600" y="119923"/>
                  </a:lnTo>
                  <a:lnTo>
                    <a:pt x="1918888" y="85932"/>
                  </a:lnTo>
                  <a:lnTo>
                    <a:pt x="1884896" y="63219"/>
                  </a:lnTo>
                  <a:lnTo>
                    <a:pt x="1844801" y="55244"/>
                  </a:lnTo>
                  <a:lnTo>
                    <a:pt x="2014727" y="55244"/>
                  </a:lnTo>
                  <a:lnTo>
                    <a:pt x="2014727" y="1950719"/>
                  </a:lnTo>
                  <a:close/>
                </a:path>
              </a:pathLst>
            </a:custGeom>
            <a:solidFill>
              <a:srgbClr val="000000">
                <a:alpha val="587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0" name="object 30"/>
            <p:cNvSpPr/>
            <p:nvPr/>
          </p:nvSpPr>
          <p:spPr>
            <a:xfrm>
              <a:off x="6457949" y="3581399"/>
              <a:ext cx="1905000" cy="1914525"/>
            </a:xfrm>
            <a:custGeom>
              <a:avLst/>
              <a:gdLst/>
              <a:ahLst/>
              <a:cxnLst/>
              <a:rect l="l" t="t" r="r" b="b"/>
              <a:pathLst>
                <a:path w="1905000" h="1914525">
                  <a:moveTo>
                    <a:pt x="1798204" y="1914524"/>
                  </a:moveTo>
                  <a:lnTo>
                    <a:pt x="106795" y="1914524"/>
                  </a:lnTo>
                  <a:lnTo>
                    <a:pt x="99361" y="1913792"/>
                  </a:lnTo>
                  <a:lnTo>
                    <a:pt x="57038" y="1899430"/>
                  </a:lnTo>
                  <a:lnTo>
                    <a:pt x="23431" y="1869965"/>
                  </a:lnTo>
                  <a:lnTo>
                    <a:pt x="3659" y="1829884"/>
                  </a:lnTo>
                  <a:lnTo>
                    <a:pt x="0" y="1807729"/>
                  </a:lnTo>
                  <a:lnTo>
                    <a:pt x="0" y="1800224"/>
                  </a:lnTo>
                  <a:lnTo>
                    <a:pt x="0" y="106794"/>
                  </a:lnTo>
                  <a:lnTo>
                    <a:pt x="11571" y="63624"/>
                  </a:lnTo>
                  <a:lnTo>
                    <a:pt x="38784" y="28170"/>
                  </a:lnTo>
                  <a:lnTo>
                    <a:pt x="77492" y="5828"/>
                  </a:lnTo>
                  <a:lnTo>
                    <a:pt x="106795" y="0"/>
                  </a:lnTo>
                  <a:lnTo>
                    <a:pt x="1798204" y="0"/>
                  </a:lnTo>
                  <a:lnTo>
                    <a:pt x="1841374" y="11572"/>
                  </a:lnTo>
                  <a:lnTo>
                    <a:pt x="1876827" y="38783"/>
                  </a:lnTo>
                  <a:lnTo>
                    <a:pt x="1899169" y="77492"/>
                  </a:lnTo>
                  <a:lnTo>
                    <a:pt x="1904999" y="106794"/>
                  </a:lnTo>
                  <a:lnTo>
                    <a:pt x="1904999" y="1807729"/>
                  </a:lnTo>
                  <a:lnTo>
                    <a:pt x="1893426" y="1850898"/>
                  </a:lnTo>
                  <a:lnTo>
                    <a:pt x="1866214" y="1886353"/>
                  </a:lnTo>
                  <a:lnTo>
                    <a:pt x="1827506" y="1908695"/>
                  </a:lnTo>
                  <a:lnTo>
                    <a:pt x="1805637" y="1913792"/>
                  </a:lnTo>
                  <a:lnTo>
                    <a:pt x="1798204" y="19145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1" name="object 31"/>
            <p:cNvSpPr/>
            <p:nvPr/>
          </p:nvSpPr>
          <p:spPr>
            <a:xfrm>
              <a:off x="6629398" y="3800475"/>
              <a:ext cx="419100" cy="180975"/>
            </a:xfrm>
            <a:custGeom>
              <a:avLst/>
              <a:gdLst/>
              <a:ahLst/>
              <a:cxnLst/>
              <a:rect l="l" t="t" r="r" b="b"/>
              <a:pathLst>
                <a:path w="419100" h="180975">
                  <a:moveTo>
                    <a:pt x="334554" y="180974"/>
                  </a:moveTo>
                  <a:lnTo>
                    <a:pt x="84545" y="180974"/>
                  </a:lnTo>
                  <a:lnTo>
                    <a:pt x="78661" y="180395"/>
                  </a:lnTo>
                  <a:lnTo>
                    <a:pt x="35274" y="162423"/>
                  </a:lnTo>
                  <a:lnTo>
                    <a:pt x="9161" y="130603"/>
                  </a:lnTo>
                  <a:lnTo>
                    <a:pt x="0" y="96428"/>
                  </a:lnTo>
                  <a:lnTo>
                    <a:pt x="0" y="90487"/>
                  </a:lnTo>
                  <a:lnTo>
                    <a:pt x="0" y="84545"/>
                  </a:lnTo>
                  <a:lnTo>
                    <a:pt x="11948" y="45154"/>
                  </a:lnTo>
                  <a:lnTo>
                    <a:pt x="45154" y="11948"/>
                  </a:lnTo>
                  <a:lnTo>
                    <a:pt x="84545" y="0"/>
                  </a:lnTo>
                  <a:lnTo>
                    <a:pt x="334554" y="0"/>
                  </a:lnTo>
                  <a:lnTo>
                    <a:pt x="373944" y="11948"/>
                  </a:lnTo>
                  <a:lnTo>
                    <a:pt x="407150" y="45154"/>
                  </a:lnTo>
                  <a:lnTo>
                    <a:pt x="419099" y="84545"/>
                  </a:lnTo>
                  <a:lnTo>
                    <a:pt x="419099" y="96428"/>
                  </a:lnTo>
                  <a:lnTo>
                    <a:pt x="407150" y="135818"/>
                  </a:lnTo>
                  <a:lnTo>
                    <a:pt x="373944" y="169025"/>
                  </a:lnTo>
                  <a:lnTo>
                    <a:pt x="340439" y="180395"/>
                  </a:lnTo>
                  <a:lnTo>
                    <a:pt x="334554" y="180974"/>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32" name="object 32"/>
          <p:cNvSpPr txBox="1"/>
          <p:nvPr/>
        </p:nvSpPr>
        <p:spPr>
          <a:xfrm>
            <a:off x="6692899" y="3807367"/>
            <a:ext cx="293370" cy="138499"/>
          </a:xfrm>
          <a:prstGeom prst="rect">
            <a:avLst/>
          </a:prstGeom>
        </p:spPr>
        <p:txBody>
          <a:bodyPr vert="horz" wrap="square" lIns="0" tIns="15240" rIns="0" bIns="0" rtlCol="0">
            <a:spAutoFit/>
          </a:bodyPr>
          <a:lstStyle/>
          <a:p>
            <a:pPr marL="12700">
              <a:lnSpc>
                <a:spcPct val="100000"/>
              </a:lnSpc>
              <a:spcBef>
                <a:spcPts val="120"/>
              </a:spcBef>
            </a:pPr>
            <a:r>
              <a:rPr sz="800" b="1" spc="-10" dirty="0">
                <a:solidFill>
                  <a:srgbClr val="E7863A"/>
                </a:solidFill>
                <a:latin typeface="Times New Roman" panose="02020603050405020304" pitchFamily="18" charset="0"/>
                <a:cs typeface="Times New Roman" panose="02020603050405020304" pitchFamily="18" charset="0"/>
              </a:rPr>
              <a:t>Tarifs</a:t>
            </a:r>
            <a:endParaRPr sz="800">
              <a:latin typeface="Times New Roman" panose="02020603050405020304" pitchFamily="18" charset="0"/>
              <a:cs typeface="Times New Roman" panose="02020603050405020304" pitchFamily="18" charset="0"/>
            </a:endParaRPr>
          </a:p>
        </p:txBody>
      </p:sp>
      <p:sp>
        <p:nvSpPr>
          <p:cNvPr id="33" name="object 33"/>
          <p:cNvSpPr txBox="1"/>
          <p:nvPr/>
        </p:nvSpPr>
        <p:spPr>
          <a:xfrm>
            <a:off x="6616699" y="4006813"/>
            <a:ext cx="1282065" cy="354584"/>
          </a:xfrm>
          <a:prstGeom prst="rect">
            <a:avLst/>
          </a:prstGeom>
        </p:spPr>
        <p:txBody>
          <a:bodyPr vert="horz" wrap="square" lIns="0" tIns="15875" rIns="0" bIns="0" rtlCol="0">
            <a:spAutoFit/>
          </a:bodyPr>
          <a:lstStyle/>
          <a:p>
            <a:pPr marL="12700">
              <a:lnSpc>
                <a:spcPct val="100000"/>
              </a:lnSpc>
              <a:spcBef>
                <a:spcPts val="125"/>
              </a:spcBef>
            </a:pPr>
            <a:r>
              <a:rPr sz="1100" b="1" spc="370" dirty="0">
                <a:solidFill>
                  <a:srgbClr val="1B294A"/>
                </a:solidFill>
                <a:latin typeface="Times New Roman" panose="02020603050405020304" pitchFamily="18" charset="0"/>
                <a:cs typeface="Times New Roman" panose="02020603050405020304" pitchFamily="18" charset="0"/>
              </a:rPr>
              <a:t>Découverte</a:t>
            </a:r>
            <a:endParaRPr sz="1100">
              <a:latin typeface="Times New Roman" panose="02020603050405020304" pitchFamily="18" charset="0"/>
              <a:cs typeface="Times New Roman" panose="02020603050405020304" pitchFamily="18" charset="0"/>
            </a:endParaRPr>
          </a:p>
          <a:p>
            <a:pPr marL="12700">
              <a:lnSpc>
                <a:spcPct val="100000"/>
              </a:lnSpc>
              <a:spcBef>
                <a:spcPts val="30"/>
              </a:spcBef>
            </a:pPr>
            <a:r>
              <a:rPr sz="1100" b="1" spc="400" dirty="0">
                <a:solidFill>
                  <a:srgbClr val="1B294A"/>
                </a:solidFill>
                <a:latin typeface="Times New Roman" panose="02020603050405020304" pitchFamily="18" charset="0"/>
                <a:cs typeface="Times New Roman" panose="02020603050405020304" pitchFamily="18" charset="0"/>
              </a:rPr>
              <a:t>des</a:t>
            </a:r>
            <a:r>
              <a:rPr sz="1100" b="1" spc="-15" dirty="0">
                <a:solidFill>
                  <a:srgbClr val="1B294A"/>
                </a:solidFill>
                <a:latin typeface="Times New Roman" panose="02020603050405020304" pitchFamily="18" charset="0"/>
                <a:cs typeface="Times New Roman" panose="02020603050405020304" pitchFamily="18" charset="0"/>
              </a:rPr>
              <a:t> </a:t>
            </a:r>
            <a:r>
              <a:rPr sz="1100" b="1" spc="260" dirty="0">
                <a:solidFill>
                  <a:srgbClr val="1B294A"/>
                </a:solidFill>
                <a:latin typeface="Times New Roman" panose="02020603050405020304" pitchFamily="18" charset="0"/>
                <a:cs typeface="Times New Roman" panose="02020603050405020304" pitchFamily="18" charset="0"/>
              </a:rPr>
              <a:t>tarifs</a:t>
            </a:r>
            <a:endParaRPr sz="1100">
              <a:latin typeface="Times New Roman" panose="02020603050405020304" pitchFamily="18" charset="0"/>
              <a:cs typeface="Times New Roman" panose="02020603050405020304" pitchFamily="18" charset="0"/>
            </a:endParaRPr>
          </a:p>
        </p:txBody>
      </p:sp>
      <p:sp>
        <p:nvSpPr>
          <p:cNvPr id="34" name="object 34"/>
          <p:cNvSpPr txBox="1"/>
          <p:nvPr/>
        </p:nvSpPr>
        <p:spPr>
          <a:xfrm>
            <a:off x="6616699" y="4393411"/>
            <a:ext cx="1539875" cy="920750"/>
          </a:xfrm>
          <a:prstGeom prst="rect">
            <a:avLst/>
          </a:prstGeom>
        </p:spPr>
        <p:txBody>
          <a:bodyPr vert="horz" wrap="square" lIns="0" tIns="12065" rIns="0" bIns="0" rtlCol="0">
            <a:spAutoFit/>
          </a:bodyPr>
          <a:lstStyle/>
          <a:p>
            <a:pPr marL="12700" marR="81280">
              <a:lnSpc>
                <a:spcPct val="125000"/>
              </a:lnSpc>
              <a:spcBef>
                <a:spcPts val="95"/>
              </a:spcBef>
            </a:pPr>
            <a:r>
              <a:rPr sz="950" dirty="0">
                <a:solidFill>
                  <a:srgbClr val="3A4556"/>
                </a:solidFill>
                <a:latin typeface="Times New Roman" panose="02020603050405020304" pitchFamily="18" charset="0"/>
                <a:cs typeface="Times New Roman" panose="02020603050405020304" pitchFamily="18" charset="0"/>
              </a:rPr>
              <a:t>Trois</a:t>
            </a:r>
            <a:r>
              <a:rPr sz="950" spc="-4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plans</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 Gratuit,</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Pro</a:t>
            </a:r>
            <a:r>
              <a:rPr sz="950" spc="-45"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(9 </a:t>
            </a:r>
            <a:r>
              <a:rPr sz="950" dirty="0">
                <a:solidFill>
                  <a:srgbClr val="3A4556"/>
                </a:solidFill>
                <a:latin typeface="Times New Roman" panose="02020603050405020304" pitchFamily="18" charset="0"/>
                <a:cs typeface="Times New Roman" panose="02020603050405020304" pitchFamily="18" charset="0"/>
              </a:rPr>
              <a:t>900</a:t>
            </a:r>
            <a:r>
              <a:rPr sz="950" spc="25" dirty="0">
                <a:solidFill>
                  <a:srgbClr val="3A4556"/>
                </a:solidFill>
                <a:latin typeface="Times New Roman" panose="02020603050405020304" pitchFamily="18" charset="0"/>
                <a:cs typeface="Times New Roman" panose="02020603050405020304" pitchFamily="18" charset="0"/>
              </a:rPr>
              <a:t> </a:t>
            </a:r>
            <a:r>
              <a:rPr sz="950" spc="-20" dirty="0">
                <a:solidFill>
                  <a:srgbClr val="3A4556"/>
                </a:solidFill>
                <a:latin typeface="Times New Roman" panose="02020603050405020304" pitchFamily="18" charset="0"/>
                <a:cs typeface="Times New Roman" panose="02020603050405020304" pitchFamily="18" charset="0"/>
              </a:rPr>
              <a:t>FCFA/mois)</a:t>
            </a:r>
            <a:r>
              <a:rPr sz="950" spc="105"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et</a:t>
            </a:r>
            <a:endParaRPr sz="950">
              <a:latin typeface="Times New Roman" panose="02020603050405020304" pitchFamily="18" charset="0"/>
              <a:cs typeface="Times New Roman" panose="02020603050405020304" pitchFamily="18" charset="0"/>
            </a:endParaRPr>
          </a:p>
          <a:p>
            <a:pPr marL="12700" marR="5080">
              <a:lnSpc>
                <a:spcPct val="121700"/>
              </a:lnSpc>
              <a:spcBef>
                <a:spcPts val="35"/>
              </a:spcBef>
            </a:pPr>
            <a:r>
              <a:rPr sz="950" dirty="0">
                <a:solidFill>
                  <a:srgbClr val="3A4556"/>
                </a:solidFill>
                <a:latin typeface="Times New Roman" panose="02020603050405020304" pitchFamily="18" charset="0"/>
                <a:cs typeface="Times New Roman" panose="02020603050405020304" pitchFamily="18" charset="0"/>
              </a:rPr>
              <a:t>Entreprise</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(29</a:t>
            </a:r>
            <a:r>
              <a:rPr sz="950" spc="10"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900 </a:t>
            </a:r>
            <a:r>
              <a:rPr sz="950" spc="-20" dirty="0">
                <a:solidFill>
                  <a:srgbClr val="3A4556"/>
                </a:solidFill>
                <a:latin typeface="Times New Roman" panose="02020603050405020304" pitchFamily="18" charset="0"/>
                <a:cs typeface="Times New Roman" panose="02020603050405020304" pitchFamily="18" charset="0"/>
              </a:rPr>
              <a:t>FCFA/mois).</a:t>
            </a:r>
            <a:r>
              <a:rPr sz="950" spc="5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Section</a:t>
            </a:r>
            <a:r>
              <a:rPr sz="950" spc="30" dirty="0">
                <a:solidFill>
                  <a:srgbClr val="3A4556"/>
                </a:solidFill>
                <a:latin typeface="Times New Roman" panose="02020603050405020304" pitchFamily="18" charset="0"/>
                <a:cs typeface="Times New Roman" panose="02020603050405020304" pitchFamily="18" charset="0"/>
              </a:rPr>
              <a:t> </a:t>
            </a:r>
            <a:r>
              <a:rPr sz="950" spc="-90" dirty="0">
                <a:solidFill>
                  <a:srgbClr val="3A4556"/>
                </a:solidFill>
                <a:latin typeface="Times New Roman" panose="02020603050405020304" pitchFamily="18" charset="0"/>
                <a:cs typeface="Times New Roman" panose="02020603050405020304" pitchFamily="18" charset="0"/>
              </a:rPr>
              <a:t>FAQ</a:t>
            </a:r>
            <a:r>
              <a:rPr sz="950" spc="-5"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en </a:t>
            </a:r>
            <a:r>
              <a:rPr sz="950" spc="-10" dirty="0">
                <a:solidFill>
                  <a:srgbClr val="3A4556"/>
                </a:solidFill>
                <a:latin typeface="Times New Roman" panose="02020603050405020304" pitchFamily="18" charset="0"/>
                <a:cs typeface="Times New Roman" panose="02020603050405020304" pitchFamily="18" charset="0"/>
              </a:rPr>
              <a:t>accordéon.</a:t>
            </a:r>
            <a:endParaRPr sz="950">
              <a:latin typeface="Times New Roman" panose="02020603050405020304" pitchFamily="18" charset="0"/>
              <a:cs typeface="Times New Roman" panose="02020603050405020304" pitchFamily="18" charset="0"/>
            </a:endParaRPr>
          </a:p>
        </p:txBody>
      </p:sp>
      <p:grpSp>
        <p:nvGrpSpPr>
          <p:cNvPr id="35" name="object 35"/>
          <p:cNvGrpSpPr/>
          <p:nvPr/>
        </p:nvGrpSpPr>
        <p:grpSpPr>
          <a:xfrm>
            <a:off x="8555735" y="1280159"/>
            <a:ext cx="2014855" cy="2024380"/>
            <a:chOff x="8555735" y="1280159"/>
            <a:chExt cx="2014855" cy="2024380"/>
          </a:xfrm>
        </p:grpSpPr>
        <p:sp>
          <p:nvSpPr>
            <p:cNvPr id="36" name="object 36"/>
            <p:cNvSpPr/>
            <p:nvPr/>
          </p:nvSpPr>
          <p:spPr>
            <a:xfrm>
              <a:off x="8555735" y="1280159"/>
              <a:ext cx="2014855" cy="2024380"/>
            </a:xfrm>
            <a:custGeom>
              <a:avLst/>
              <a:gdLst/>
              <a:ahLst/>
              <a:cxnLst/>
              <a:rect l="l" t="t" r="r" b="b"/>
              <a:pathLst>
                <a:path w="2014854" h="2024379">
                  <a:moveTo>
                    <a:pt x="2014727" y="2023871"/>
                  </a:moveTo>
                  <a:lnTo>
                    <a:pt x="0" y="2023871"/>
                  </a:lnTo>
                  <a:lnTo>
                    <a:pt x="0" y="0"/>
                  </a:lnTo>
                  <a:lnTo>
                    <a:pt x="2014727" y="0"/>
                  </a:lnTo>
                  <a:lnTo>
                    <a:pt x="2014727" y="53339"/>
                  </a:lnTo>
                  <a:lnTo>
                    <a:pt x="169163" y="53339"/>
                  </a:lnTo>
                  <a:lnTo>
                    <a:pt x="158842" y="53838"/>
                  </a:lnTo>
                  <a:lnTo>
                    <a:pt x="119722" y="65725"/>
                  </a:lnTo>
                  <a:lnTo>
                    <a:pt x="88129" y="91678"/>
                  </a:lnTo>
                  <a:lnTo>
                    <a:pt x="68874" y="127745"/>
                  </a:lnTo>
                  <a:lnTo>
                    <a:pt x="64388" y="158114"/>
                  </a:lnTo>
                  <a:lnTo>
                    <a:pt x="64388" y="1844039"/>
                  </a:lnTo>
                  <a:lnTo>
                    <a:pt x="72364" y="1884135"/>
                  </a:lnTo>
                  <a:lnTo>
                    <a:pt x="95075" y="1918126"/>
                  </a:lnTo>
                  <a:lnTo>
                    <a:pt x="129067" y="1940839"/>
                  </a:lnTo>
                  <a:lnTo>
                    <a:pt x="169163" y="1948814"/>
                  </a:lnTo>
                  <a:lnTo>
                    <a:pt x="2014727" y="1948814"/>
                  </a:lnTo>
                  <a:lnTo>
                    <a:pt x="2014727" y="2023871"/>
                  </a:lnTo>
                  <a:close/>
                </a:path>
                <a:path w="2014854" h="2024379">
                  <a:moveTo>
                    <a:pt x="2014727" y="1948814"/>
                  </a:moveTo>
                  <a:lnTo>
                    <a:pt x="1845563" y="1948814"/>
                  </a:lnTo>
                  <a:lnTo>
                    <a:pt x="1855884" y="1948316"/>
                  </a:lnTo>
                  <a:lnTo>
                    <a:pt x="1866007" y="1946820"/>
                  </a:lnTo>
                  <a:lnTo>
                    <a:pt x="1903783" y="1931173"/>
                  </a:lnTo>
                  <a:lnTo>
                    <a:pt x="1932696" y="1902260"/>
                  </a:lnTo>
                  <a:lnTo>
                    <a:pt x="1948343" y="1864484"/>
                  </a:lnTo>
                  <a:lnTo>
                    <a:pt x="1950338" y="1844039"/>
                  </a:lnTo>
                  <a:lnTo>
                    <a:pt x="1950338" y="158114"/>
                  </a:lnTo>
                  <a:lnTo>
                    <a:pt x="1942361" y="118019"/>
                  </a:lnTo>
                  <a:lnTo>
                    <a:pt x="1919650" y="84027"/>
                  </a:lnTo>
                  <a:lnTo>
                    <a:pt x="1885658" y="61315"/>
                  </a:lnTo>
                  <a:lnTo>
                    <a:pt x="1845563" y="53339"/>
                  </a:lnTo>
                  <a:lnTo>
                    <a:pt x="2014727" y="53339"/>
                  </a:lnTo>
                  <a:lnTo>
                    <a:pt x="2014727" y="1948814"/>
                  </a:lnTo>
                  <a:close/>
                </a:path>
              </a:pathLst>
            </a:custGeom>
            <a:solidFill>
              <a:srgbClr val="000000">
                <a:alpha val="587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7" name="object 37"/>
            <p:cNvSpPr/>
            <p:nvPr/>
          </p:nvSpPr>
          <p:spPr>
            <a:xfrm>
              <a:off x="8610599" y="1323974"/>
              <a:ext cx="1905000" cy="1914525"/>
            </a:xfrm>
            <a:custGeom>
              <a:avLst/>
              <a:gdLst/>
              <a:ahLst/>
              <a:cxnLst/>
              <a:rect l="l" t="t" r="r" b="b"/>
              <a:pathLst>
                <a:path w="1905000" h="1914525">
                  <a:moveTo>
                    <a:pt x="1798204" y="1914524"/>
                  </a:moveTo>
                  <a:lnTo>
                    <a:pt x="106794" y="1914524"/>
                  </a:lnTo>
                  <a:lnTo>
                    <a:pt x="99360" y="1913792"/>
                  </a:lnTo>
                  <a:lnTo>
                    <a:pt x="57037" y="1899431"/>
                  </a:lnTo>
                  <a:lnTo>
                    <a:pt x="23432" y="1869966"/>
                  </a:lnTo>
                  <a:lnTo>
                    <a:pt x="3659" y="1829884"/>
                  </a:lnTo>
                  <a:lnTo>
                    <a:pt x="0" y="1807729"/>
                  </a:lnTo>
                  <a:lnTo>
                    <a:pt x="0" y="1800224"/>
                  </a:lnTo>
                  <a:lnTo>
                    <a:pt x="0" y="106794"/>
                  </a:lnTo>
                  <a:lnTo>
                    <a:pt x="11572" y="63625"/>
                  </a:lnTo>
                  <a:lnTo>
                    <a:pt x="38783" y="28170"/>
                  </a:lnTo>
                  <a:lnTo>
                    <a:pt x="77492" y="5828"/>
                  </a:lnTo>
                  <a:lnTo>
                    <a:pt x="106794" y="0"/>
                  </a:lnTo>
                  <a:lnTo>
                    <a:pt x="1798204" y="0"/>
                  </a:lnTo>
                  <a:lnTo>
                    <a:pt x="1841372" y="11572"/>
                  </a:lnTo>
                  <a:lnTo>
                    <a:pt x="1876829" y="38784"/>
                  </a:lnTo>
                  <a:lnTo>
                    <a:pt x="1899169" y="77492"/>
                  </a:lnTo>
                  <a:lnTo>
                    <a:pt x="1904998" y="106794"/>
                  </a:lnTo>
                  <a:lnTo>
                    <a:pt x="1904998" y="1807729"/>
                  </a:lnTo>
                  <a:lnTo>
                    <a:pt x="1893426" y="1850898"/>
                  </a:lnTo>
                  <a:lnTo>
                    <a:pt x="1866213" y="1886353"/>
                  </a:lnTo>
                  <a:lnTo>
                    <a:pt x="1827505" y="1908695"/>
                  </a:lnTo>
                  <a:lnTo>
                    <a:pt x="1805636" y="1913792"/>
                  </a:lnTo>
                  <a:lnTo>
                    <a:pt x="1798204" y="19145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8" name="object 38"/>
            <p:cNvSpPr/>
            <p:nvPr/>
          </p:nvSpPr>
          <p:spPr>
            <a:xfrm>
              <a:off x="8782048" y="1543049"/>
              <a:ext cx="523875" cy="180975"/>
            </a:xfrm>
            <a:custGeom>
              <a:avLst/>
              <a:gdLst/>
              <a:ahLst/>
              <a:cxnLst/>
              <a:rect l="l" t="t" r="r" b="b"/>
              <a:pathLst>
                <a:path w="523875" h="180975">
                  <a:moveTo>
                    <a:pt x="439328" y="180974"/>
                  </a:moveTo>
                  <a:lnTo>
                    <a:pt x="84545" y="180974"/>
                  </a:lnTo>
                  <a:lnTo>
                    <a:pt x="78661" y="180395"/>
                  </a:lnTo>
                  <a:lnTo>
                    <a:pt x="35275" y="162423"/>
                  </a:lnTo>
                  <a:lnTo>
                    <a:pt x="9161" y="130604"/>
                  </a:lnTo>
                  <a:lnTo>
                    <a:pt x="0" y="96428"/>
                  </a:lnTo>
                  <a:lnTo>
                    <a:pt x="0" y="90487"/>
                  </a:lnTo>
                  <a:lnTo>
                    <a:pt x="0" y="84545"/>
                  </a:lnTo>
                  <a:lnTo>
                    <a:pt x="11948" y="45155"/>
                  </a:lnTo>
                  <a:lnTo>
                    <a:pt x="45155" y="11948"/>
                  </a:lnTo>
                  <a:lnTo>
                    <a:pt x="84545" y="0"/>
                  </a:lnTo>
                  <a:lnTo>
                    <a:pt x="439328" y="0"/>
                  </a:lnTo>
                  <a:lnTo>
                    <a:pt x="478719" y="11948"/>
                  </a:lnTo>
                  <a:lnTo>
                    <a:pt x="511925" y="45155"/>
                  </a:lnTo>
                  <a:lnTo>
                    <a:pt x="523874" y="84545"/>
                  </a:lnTo>
                  <a:lnTo>
                    <a:pt x="523874" y="96428"/>
                  </a:lnTo>
                  <a:lnTo>
                    <a:pt x="511925" y="135819"/>
                  </a:lnTo>
                  <a:lnTo>
                    <a:pt x="478719" y="169025"/>
                  </a:lnTo>
                  <a:lnTo>
                    <a:pt x="445213" y="180395"/>
                  </a:lnTo>
                  <a:lnTo>
                    <a:pt x="439328" y="180974"/>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39" name="object 39"/>
          <p:cNvSpPr txBox="1"/>
          <p:nvPr/>
        </p:nvSpPr>
        <p:spPr>
          <a:xfrm>
            <a:off x="8845549" y="1549942"/>
            <a:ext cx="396875" cy="138499"/>
          </a:xfrm>
          <a:prstGeom prst="rect">
            <a:avLst/>
          </a:prstGeom>
        </p:spPr>
        <p:txBody>
          <a:bodyPr vert="horz" wrap="square" lIns="0" tIns="15240" rIns="0" bIns="0" rtlCol="0">
            <a:spAutoFit/>
          </a:bodyPr>
          <a:lstStyle/>
          <a:p>
            <a:pPr marL="12700">
              <a:lnSpc>
                <a:spcPct val="100000"/>
              </a:lnSpc>
              <a:spcBef>
                <a:spcPts val="120"/>
              </a:spcBef>
            </a:pPr>
            <a:r>
              <a:rPr sz="800" b="1" spc="-10" dirty="0">
                <a:solidFill>
                  <a:srgbClr val="E7863A"/>
                </a:solidFill>
                <a:latin typeface="Times New Roman" panose="02020603050405020304" pitchFamily="18" charset="0"/>
                <a:cs typeface="Times New Roman" panose="02020603050405020304" pitchFamily="18" charset="0"/>
              </a:rPr>
              <a:t>Contact</a:t>
            </a:r>
            <a:endParaRPr sz="800">
              <a:latin typeface="Times New Roman" panose="02020603050405020304" pitchFamily="18" charset="0"/>
              <a:cs typeface="Times New Roman" panose="02020603050405020304" pitchFamily="18" charset="0"/>
            </a:endParaRPr>
          </a:p>
        </p:txBody>
      </p:sp>
      <p:sp>
        <p:nvSpPr>
          <p:cNvPr id="40" name="object 40"/>
          <p:cNvSpPr txBox="1"/>
          <p:nvPr/>
        </p:nvSpPr>
        <p:spPr>
          <a:xfrm>
            <a:off x="8769349" y="1749388"/>
            <a:ext cx="1565910" cy="1106329"/>
          </a:xfrm>
          <a:prstGeom prst="rect">
            <a:avLst/>
          </a:prstGeom>
        </p:spPr>
        <p:txBody>
          <a:bodyPr vert="horz" wrap="square" lIns="0" tIns="12065" rIns="0" bIns="0" rtlCol="0">
            <a:spAutoFit/>
          </a:bodyPr>
          <a:lstStyle/>
          <a:p>
            <a:pPr marL="12700" marR="5080">
              <a:lnSpc>
                <a:spcPct val="102299"/>
              </a:lnSpc>
              <a:spcBef>
                <a:spcPts val="95"/>
              </a:spcBef>
            </a:pPr>
            <a:r>
              <a:rPr sz="1100" b="1" spc="440" dirty="0">
                <a:solidFill>
                  <a:srgbClr val="1B294A"/>
                </a:solidFill>
                <a:latin typeface="Times New Roman" panose="02020603050405020304" pitchFamily="18" charset="0"/>
                <a:cs typeface="Times New Roman" panose="02020603050405020304" pitchFamily="18" charset="0"/>
              </a:rPr>
              <a:t>Page</a:t>
            </a:r>
            <a:r>
              <a:rPr sz="1100" b="1" spc="-35" dirty="0">
                <a:solidFill>
                  <a:srgbClr val="1B294A"/>
                </a:solidFill>
                <a:latin typeface="Times New Roman" panose="02020603050405020304" pitchFamily="18" charset="0"/>
                <a:cs typeface="Times New Roman" panose="02020603050405020304" pitchFamily="18" charset="0"/>
              </a:rPr>
              <a:t> </a:t>
            </a:r>
            <a:r>
              <a:rPr sz="1100" b="1" spc="525" dirty="0">
                <a:solidFill>
                  <a:srgbClr val="1B294A"/>
                </a:solidFill>
                <a:latin typeface="Times New Roman" panose="02020603050405020304" pitchFamily="18" charset="0"/>
                <a:cs typeface="Times New Roman" panose="02020603050405020304" pitchFamily="18" charset="0"/>
              </a:rPr>
              <a:t>À</a:t>
            </a:r>
            <a:r>
              <a:rPr sz="1100" b="1" spc="-80" dirty="0">
                <a:solidFill>
                  <a:srgbClr val="1B294A"/>
                </a:solidFill>
                <a:latin typeface="Times New Roman" panose="02020603050405020304" pitchFamily="18" charset="0"/>
                <a:cs typeface="Times New Roman" panose="02020603050405020304" pitchFamily="18" charset="0"/>
              </a:rPr>
              <a:t> </a:t>
            </a:r>
            <a:r>
              <a:rPr sz="1100" b="1" spc="345" dirty="0">
                <a:solidFill>
                  <a:srgbClr val="1B294A"/>
                </a:solidFill>
                <a:latin typeface="Times New Roman" panose="02020603050405020304" pitchFamily="18" charset="0"/>
                <a:cs typeface="Times New Roman" panose="02020603050405020304" pitchFamily="18" charset="0"/>
              </a:rPr>
              <a:t>propos </a:t>
            </a:r>
            <a:r>
              <a:rPr sz="1100" b="1" spc="370" dirty="0">
                <a:solidFill>
                  <a:srgbClr val="1B294A"/>
                </a:solidFill>
                <a:latin typeface="Times New Roman" panose="02020603050405020304" pitchFamily="18" charset="0"/>
                <a:cs typeface="Times New Roman" panose="02020603050405020304" pitchFamily="18" charset="0"/>
              </a:rPr>
              <a:t>et</a:t>
            </a:r>
            <a:r>
              <a:rPr sz="1100" b="1" spc="-20" dirty="0">
                <a:solidFill>
                  <a:srgbClr val="1B294A"/>
                </a:solidFill>
                <a:latin typeface="Times New Roman" panose="02020603050405020304" pitchFamily="18" charset="0"/>
                <a:cs typeface="Times New Roman" panose="02020603050405020304" pitchFamily="18" charset="0"/>
              </a:rPr>
              <a:t> </a:t>
            </a:r>
            <a:r>
              <a:rPr sz="1100" b="1" spc="400" dirty="0">
                <a:solidFill>
                  <a:srgbClr val="1B294A"/>
                </a:solidFill>
                <a:latin typeface="Times New Roman" panose="02020603050405020304" pitchFamily="18" charset="0"/>
                <a:cs typeface="Times New Roman" panose="02020603050405020304" pitchFamily="18" charset="0"/>
              </a:rPr>
              <a:t>Contact</a:t>
            </a:r>
            <a:endParaRPr sz="1100">
              <a:latin typeface="Times New Roman" panose="02020603050405020304" pitchFamily="18" charset="0"/>
              <a:cs typeface="Times New Roman" panose="02020603050405020304" pitchFamily="18" charset="0"/>
            </a:endParaRPr>
          </a:p>
          <a:p>
            <a:pPr marL="12700" marR="10160">
              <a:lnSpc>
                <a:spcPct val="121700"/>
              </a:lnSpc>
              <a:spcBef>
                <a:spcPts val="380"/>
              </a:spcBef>
            </a:pPr>
            <a:r>
              <a:rPr sz="950" spc="-60" dirty="0">
                <a:solidFill>
                  <a:srgbClr val="3A4556"/>
                </a:solidFill>
                <a:latin typeface="Times New Roman" panose="02020603050405020304" pitchFamily="18" charset="0"/>
                <a:cs typeface="Times New Roman" panose="02020603050405020304" pitchFamily="18" charset="0"/>
              </a:rPr>
              <a:t>L'</a:t>
            </a:r>
            <a:r>
              <a:rPr sz="950" spc="-15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utilisateur</a:t>
            </a:r>
            <a:r>
              <a:rPr sz="950" spc="4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apprend</a:t>
            </a:r>
            <a:r>
              <a:rPr sz="950" spc="50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a:t>
            </a:r>
            <a:r>
              <a:rPr sz="950" spc="-16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histoire</a:t>
            </a:r>
            <a:r>
              <a:rPr sz="950" spc="3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d'AfriTalent,</a:t>
            </a:r>
            <a:r>
              <a:rPr sz="950" spc="50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l'équipe</a:t>
            </a:r>
            <a:r>
              <a:rPr sz="950" spc="3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(4</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membres),</a:t>
            </a:r>
            <a:r>
              <a:rPr sz="950" spc="100"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les </a:t>
            </a:r>
            <a:r>
              <a:rPr sz="950" dirty="0">
                <a:solidFill>
                  <a:srgbClr val="3A4556"/>
                </a:solidFill>
                <a:latin typeface="Times New Roman" panose="02020603050405020304" pitchFamily="18" charset="0"/>
                <a:cs typeface="Times New Roman" panose="02020603050405020304" pitchFamily="18" charset="0"/>
              </a:rPr>
              <a:t>valeurs</a:t>
            </a:r>
            <a:r>
              <a:rPr sz="950" spc="6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et</a:t>
            </a:r>
            <a:r>
              <a:rPr sz="950" spc="4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peut</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contacter</a:t>
            </a:r>
            <a:r>
              <a:rPr sz="950" spc="50"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via </a:t>
            </a:r>
            <a:r>
              <a:rPr sz="950" dirty="0">
                <a:solidFill>
                  <a:srgbClr val="3A4556"/>
                </a:solidFill>
                <a:latin typeface="Times New Roman" panose="02020603050405020304" pitchFamily="18" charset="0"/>
                <a:cs typeface="Times New Roman" panose="02020603050405020304" pitchFamily="18" charset="0"/>
              </a:rPr>
              <a:t>le</a:t>
            </a:r>
            <a:r>
              <a:rPr sz="950" spc="-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formulaire.</a:t>
            </a:r>
            <a:endParaRPr sz="950">
              <a:latin typeface="Times New Roman" panose="02020603050405020304" pitchFamily="18" charset="0"/>
              <a:cs typeface="Times New Roman" panose="02020603050405020304" pitchFamily="18" charset="0"/>
            </a:endParaRPr>
          </a:p>
        </p:txBody>
      </p:sp>
      <p:sp>
        <p:nvSpPr>
          <p:cNvPr id="41" name="object 41"/>
          <p:cNvSpPr txBox="1"/>
          <p:nvPr/>
        </p:nvSpPr>
        <p:spPr>
          <a:xfrm>
            <a:off x="11259393" y="6467317"/>
            <a:ext cx="329565" cy="146835"/>
          </a:xfrm>
          <a:prstGeom prst="rect">
            <a:avLst/>
          </a:prstGeom>
        </p:spPr>
        <p:txBody>
          <a:bodyPr vert="horz" wrap="square" lIns="0" tIns="15875" rIns="0" bIns="0" rtlCol="0">
            <a:spAutoFit/>
          </a:bodyPr>
          <a:lstStyle/>
          <a:p>
            <a:pPr marL="12700">
              <a:lnSpc>
                <a:spcPct val="100000"/>
              </a:lnSpc>
              <a:spcBef>
                <a:spcPts val="125"/>
              </a:spcBef>
            </a:pPr>
            <a:r>
              <a:rPr sz="850" dirty="0">
                <a:solidFill>
                  <a:srgbClr val="6A798F"/>
                </a:solidFill>
                <a:latin typeface="Times New Roman" panose="02020603050405020304" pitchFamily="18" charset="0"/>
                <a:cs typeface="Times New Roman" panose="02020603050405020304" pitchFamily="18" charset="0"/>
              </a:rPr>
              <a:t>05</a:t>
            </a:r>
            <a:r>
              <a:rPr sz="850" spc="35" dirty="0">
                <a:solidFill>
                  <a:srgbClr val="6A798F"/>
                </a:solidFill>
                <a:latin typeface="Times New Roman" panose="02020603050405020304" pitchFamily="18" charset="0"/>
                <a:cs typeface="Times New Roman" panose="02020603050405020304" pitchFamily="18" charset="0"/>
              </a:rPr>
              <a:t> </a:t>
            </a:r>
            <a:r>
              <a:rPr sz="850" spc="60" dirty="0">
                <a:solidFill>
                  <a:srgbClr val="6A798F"/>
                </a:solidFill>
                <a:latin typeface="Times New Roman" panose="02020603050405020304" pitchFamily="18" charset="0"/>
                <a:cs typeface="Times New Roman" panose="02020603050405020304" pitchFamily="18" charset="0"/>
              </a:rPr>
              <a:t>/</a:t>
            </a:r>
            <a:r>
              <a:rPr sz="850" spc="15" dirty="0">
                <a:solidFill>
                  <a:srgbClr val="6A798F"/>
                </a:solidFill>
                <a:latin typeface="Times New Roman" panose="02020603050405020304" pitchFamily="18" charset="0"/>
                <a:cs typeface="Times New Roman" panose="02020603050405020304" pitchFamily="18" charset="0"/>
              </a:rPr>
              <a:t> </a:t>
            </a:r>
            <a:r>
              <a:rPr sz="850" spc="-135" dirty="0">
                <a:solidFill>
                  <a:srgbClr val="6A798F"/>
                </a:solidFill>
                <a:latin typeface="Times New Roman" panose="02020603050405020304" pitchFamily="18" charset="0"/>
                <a:cs typeface="Times New Roman" panose="02020603050405020304" pitchFamily="18" charset="0"/>
              </a:rPr>
              <a:t>11</a:t>
            </a:r>
            <a:endParaRPr sz="850">
              <a:latin typeface="Times New Roman" panose="02020603050405020304" pitchFamily="18" charset="0"/>
              <a:cs typeface="Times New Roman" panose="02020603050405020304" pitchFamily="18" charset="0"/>
            </a:endParaRPr>
          </a:p>
        </p:txBody>
      </p:sp>
      <p:grpSp>
        <p:nvGrpSpPr>
          <p:cNvPr id="42" name="object 42"/>
          <p:cNvGrpSpPr/>
          <p:nvPr/>
        </p:nvGrpSpPr>
        <p:grpSpPr>
          <a:xfrm>
            <a:off x="838200" y="3020567"/>
            <a:ext cx="512445" cy="512445"/>
            <a:chOff x="838200" y="3020567"/>
            <a:chExt cx="512445" cy="512445"/>
          </a:xfrm>
        </p:grpSpPr>
        <p:sp>
          <p:nvSpPr>
            <p:cNvPr id="43" name="object 43"/>
            <p:cNvSpPr/>
            <p:nvPr/>
          </p:nvSpPr>
          <p:spPr>
            <a:xfrm>
              <a:off x="838200" y="3020567"/>
              <a:ext cx="512445" cy="512445"/>
            </a:xfrm>
            <a:custGeom>
              <a:avLst/>
              <a:gdLst/>
              <a:ahLst/>
              <a:cxnLst/>
              <a:rect l="l" t="t" r="r" b="b"/>
              <a:pathLst>
                <a:path w="512444" h="512445">
                  <a:moveTo>
                    <a:pt x="512063" y="512063"/>
                  </a:moveTo>
                  <a:lnTo>
                    <a:pt x="0" y="512063"/>
                  </a:lnTo>
                  <a:lnTo>
                    <a:pt x="0" y="0"/>
                  </a:lnTo>
                  <a:lnTo>
                    <a:pt x="512063" y="0"/>
                  </a:lnTo>
                  <a:lnTo>
                    <a:pt x="512063" y="94106"/>
                  </a:lnTo>
                  <a:lnTo>
                    <a:pt x="257174" y="94106"/>
                  </a:lnTo>
                  <a:lnTo>
                    <a:pt x="243100" y="94786"/>
                  </a:lnTo>
                  <a:lnTo>
                    <a:pt x="202498" y="104982"/>
                  </a:lnTo>
                  <a:lnTo>
                    <a:pt x="166579" y="126482"/>
                  </a:lnTo>
                  <a:lnTo>
                    <a:pt x="138356" y="157589"/>
                  </a:lnTo>
                  <a:lnTo>
                    <a:pt x="120417" y="195569"/>
                  </a:lnTo>
                  <a:lnTo>
                    <a:pt x="114299" y="236981"/>
                  </a:lnTo>
                  <a:lnTo>
                    <a:pt x="114979" y="251056"/>
                  </a:lnTo>
                  <a:lnTo>
                    <a:pt x="125175" y="291657"/>
                  </a:lnTo>
                  <a:lnTo>
                    <a:pt x="146675" y="327576"/>
                  </a:lnTo>
                  <a:lnTo>
                    <a:pt x="177782" y="355800"/>
                  </a:lnTo>
                  <a:lnTo>
                    <a:pt x="215762" y="373739"/>
                  </a:lnTo>
                  <a:lnTo>
                    <a:pt x="257174" y="379856"/>
                  </a:lnTo>
                  <a:lnTo>
                    <a:pt x="512063" y="379856"/>
                  </a:lnTo>
                  <a:lnTo>
                    <a:pt x="512063" y="512063"/>
                  </a:lnTo>
                  <a:close/>
                </a:path>
                <a:path w="512444" h="512445">
                  <a:moveTo>
                    <a:pt x="512063" y="379856"/>
                  </a:moveTo>
                  <a:lnTo>
                    <a:pt x="257174" y="379856"/>
                  </a:lnTo>
                  <a:lnTo>
                    <a:pt x="271249" y="379177"/>
                  </a:lnTo>
                  <a:lnTo>
                    <a:pt x="285053" y="377137"/>
                  </a:lnTo>
                  <a:lnTo>
                    <a:pt x="324593" y="362966"/>
                  </a:lnTo>
                  <a:lnTo>
                    <a:pt x="358202" y="338009"/>
                  </a:lnTo>
                  <a:lnTo>
                    <a:pt x="383159" y="304400"/>
                  </a:lnTo>
                  <a:lnTo>
                    <a:pt x="397330" y="264860"/>
                  </a:lnTo>
                  <a:lnTo>
                    <a:pt x="400049" y="236981"/>
                  </a:lnTo>
                  <a:lnTo>
                    <a:pt x="399370" y="222907"/>
                  </a:lnTo>
                  <a:lnTo>
                    <a:pt x="389174" y="182305"/>
                  </a:lnTo>
                  <a:lnTo>
                    <a:pt x="367674" y="146386"/>
                  </a:lnTo>
                  <a:lnTo>
                    <a:pt x="336566" y="118163"/>
                  </a:lnTo>
                  <a:lnTo>
                    <a:pt x="298587" y="100224"/>
                  </a:lnTo>
                  <a:lnTo>
                    <a:pt x="257174" y="94106"/>
                  </a:lnTo>
                  <a:lnTo>
                    <a:pt x="512063" y="94106"/>
                  </a:lnTo>
                  <a:lnTo>
                    <a:pt x="512063" y="379856"/>
                  </a:lnTo>
                  <a:close/>
                </a:path>
              </a:pathLst>
            </a:custGeom>
            <a:solidFill>
              <a:srgbClr val="000000">
                <a:alpha val="14898"/>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4" name="object 44"/>
            <p:cNvSpPr/>
            <p:nvPr/>
          </p:nvSpPr>
          <p:spPr>
            <a:xfrm>
              <a:off x="962024" y="3124199"/>
              <a:ext cx="266700" cy="266700"/>
            </a:xfrm>
            <a:custGeom>
              <a:avLst/>
              <a:gdLst/>
              <a:ahLst/>
              <a:cxnLst/>
              <a:rect l="l" t="t" r="r" b="b"/>
              <a:pathLst>
                <a:path w="266700" h="266700">
                  <a:moveTo>
                    <a:pt x="133349" y="266699"/>
                  </a:moveTo>
                  <a:lnTo>
                    <a:pt x="94639" y="260959"/>
                  </a:lnTo>
                  <a:lnTo>
                    <a:pt x="59264" y="244226"/>
                  </a:lnTo>
                  <a:lnTo>
                    <a:pt x="30267" y="217946"/>
                  </a:lnTo>
                  <a:lnTo>
                    <a:pt x="10150" y="184380"/>
                  </a:lnTo>
                  <a:lnTo>
                    <a:pt x="640" y="146420"/>
                  </a:lnTo>
                  <a:lnTo>
                    <a:pt x="0" y="133349"/>
                  </a:lnTo>
                  <a:lnTo>
                    <a:pt x="160" y="126798"/>
                  </a:lnTo>
                  <a:lnTo>
                    <a:pt x="7791" y="88432"/>
                  </a:lnTo>
                  <a:lnTo>
                    <a:pt x="26246" y="53906"/>
                  </a:lnTo>
                  <a:lnTo>
                    <a:pt x="53906" y="26246"/>
                  </a:lnTo>
                  <a:lnTo>
                    <a:pt x="88432" y="7791"/>
                  </a:lnTo>
                  <a:lnTo>
                    <a:pt x="126798" y="160"/>
                  </a:lnTo>
                  <a:lnTo>
                    <a:pt x="133349" y="0"/>
                  </a:lnTo>
                  <a:lnTo>
                    <a:pt x="139901" y="160"/>
                  </a:lnTo>
                  <a:lnTo>
                    <a:pt x="178266" y="7791"/>
                  </a:lnTo>
                  <a:lnTo>
                    <a:pt x="212793" y="26246"/>
                  </a:lnTo>
                  <a:lnTo>
                    <a:pt x="240453" y="53906"/>
                  </a:lnTo>
                  <a:lnTo>
                    <a:pt x="258908" y="88432"/>
                  </a:lnTo>
                  <a:lnTo>
                    <a:pt x="266539" y="126798"/>
                  </a:lnTo>
                  <a:lnTo>
                    <a:pt x="266699" y="133349"/>
                  </a:lnTo>
                  <a:lnTo>
                    <a:pt x="266539" y="139900"/>
                  </a:lnTo>
                  <a:lnTo>
                    <a:pt x="258908" y="178266"/>
                  </a:lnTo>
                  <a:lnTo>
                    <a:pt x="240453" y="212792"/>
                  </a:lnTo>
                  <a:lnTo>
                    <a:pt x="212793" y="240453"/>
                  </a:lnTo>
                  <a:lnTo>
                    <a:pt x="178266" y="258907"/>
                  </a:lnTo>
                  <a:lnTo>
                    <a:pt x="139901"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5" name="object 45"/>
            <p:cNvSpPr/>
            <p:nvPr/>
          </p:nvSpPr>
          <p:spPr>
            <a:xfrm>
              <a:off x="962024" y="3124199"/>
              <a:ext cx="266700" cy="266700"/>
            </a:xfrm>
            <a:custGeom>
              <a:avLst/>
              <a:gdLst/>
              <a:ahLst/>
              <a:cxnLst/>
              <a:rect l="l" t="t" r="r" b="b"/>
              <a:pathLst>
                <a:path w="266700" h="266700">
                  <a:moveTo>
                    <a:pt x="266699" y="133349"/>
                  </a:moveTo>
                  <a:lnTo>
                    <a:pt x="260959" y="172059"/>
                  </a:lnTo>
                  <a:lnTo>
                    <a:pt x="244226" y="207434"/>
                  </a:lnTo>
                  <a:lnTo>
                    <a:pt x="217947" y="236431"/>
                  </a:lnTo>
                  <a:lnTo>
                    <a:pt x="184380" y="256548"/>
                  </a:lnTo>
                  <a:lnTo>
                    <a:pt x="146420" y="266059"/>
                  </a:lnTo>
                  <a:lnTo>
                    <a:pt x="133349" y="266699"/>
                  </a:lnTo>
                  <a:lnTo>
                    <a:pt x="126798" y="266539"/>
                  </a:lnTo>
                  <a:lnTo>
                    <a:pt x="88432" y="258907"/>
                  </a:lnTo>
                  <a:lnTo>
                    <a:pt x="53906" y="240453"/>
                  </a:lnTo>
                  <a:lnTo>
                    <a:pt x="26246" y="212792"/>
                  </a:lnTo>
                  <a:lnTo>
                    <a:pt x="7791" y="178266"/>
                  </a:lnTo>
                  <a:lnTo>
                    <a:pt x="160" y="139900"/>
                  </a:lnTo>
                  <a:lnTo>
                    <a:pt x="0" y="133349"/>
                  </a:lnTo>
                  <a:lnTo>
                    <a:pt x="160" y="126798"/>
                  </a:lnTo>
                  <a:lnTo>
                    <a:pt x="7791" y="88432"/>
                  </a:lnTo>
                  <a:lnTo>
                    <a:pt x="26246" y="53906"/>
                  </a:lnTo>
                  <a:lnTo>
                    <a:pt x="53906" y="26246"/>
                  </a:lnTo>
                  <a:lnTo>
                    <a:pt x="88432" y="7791"/>
                  </a:lnTo>
                  <a:lnTo>
                    <a:pt x="126798" y="160"/>
                  </a:lnTo>
                  <a:lnTo>
                    <a:pt x="133349" y="0"/>
                  </a:lnTo>
                  <a:lnTo>
                    <a:pt x="139901" y="160"/>
                  </a:lnTo>
                  <a:lnTo>
                    <a:pt x="178266" y="7791"/>
                  </a:lnTo>
                  <a:lnTo>
                    <a:pt x="212793" y="26246"/>
                  </a:lnTo>
                  <a:lnTo>
                    <a:pt x="240453" y="53906"/>
                  </a:lnTo>
                  <a:lnTo>
                    <a:pt x="258908" y="88432"/>
                  </a:lnTo>
                  <a:lnTo>
                    <a:pt x="266539" y="126798"/>
                  </a:lnTo>
                  <a:lnTo>
                    <a:pt x="266699" y="133349"/>
                  </a:lnTo>
                  <a:close/>
                </a:path>
              </a:pathLst>
            </a:custGeom>
            <a:ln w="38099">
              <a:solidFill>
                <a:srgbClr val="FFFF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46" name="object 46"/>
          <p:cNvSpPr txBox="1"/>
          <p:nvPr/>
        </p:nvSpPr>
        <p:spPr>
          <a:xfrm>
            <a:off x="1049783" y="3167904"/>
            <a:ext cx="87630" cy="139782"/>
          </a:xfrm>
          <a:prstGeom prst="rect">
            <a:avLst/>
          </a:prstGeom>
        </p:spPr>
        <p:txBody>
          <a:bodyPr vert="horz" wrap="square" lIns="0" tIns="16510" rIns="0" bIns="0" rtlCol="0">
            <a:spAutoFit/>
          </a:bodyPr>
          <a:lstStyle/>
          <a:p>
            <a:pPr marL="12700">
              <a:lnSpc>
                <a:spcPct val="100000"/>
              </a:lnSpc>
              <a:spcBef>
                <a:spcPts val="130"/>
              </a:spcBef>
            </a:pPr>
            <a:r>
              <a:rPr sz="800" b="1" spc="-50" dirty="0">
                <a:solidFill>
                  <a:srgbClr val="FFFFFF"/>
                </a:solidFill>
                <a:latin typeface="Times New Roman" panose="02020603050405020304" pitchFamily="18" charset="0"/>
                <a:cs typeface="Times New Roman" panose="02020603050405020304" pitchFamily="18" charset="0"/>
              </a:rPr>
              <a:t>1</a:t>
            </a:r>
            <a:endParaRPr sz="800">
              <a:latin typeface="Times New Roman" panose="02020603050405020304" pitchFamily="18" charset="0"/>
              <a:cs typeface="Times New Roman" panose="02020603050405020304" pitchFamily="18" charset="0"/>
            </a:endParaRPr>
          </a:p>
        </p:txBody>
      </p:sp>
      <p:grpSp>
        <p:nvGrpSpPr>
          <p:cNvPr id="47" name="object 47"/>
          <p:cNvGrpSpPr/>
          <p:nvPr/>
        </p:nvGrpSpPr>
        <p:grpSpPr>
          <a:xfrm>
            <a:off x="2993135" y="3020567"/>
            <a:ext cx="512445" cy="512445"/>
            <a:chOff x="2993135" y="3020567"/>
            <a:chExt cx="512445" cy="512445"/>
          </a:xfrm>
        </p:grpSpPr>
        <p:sp>
          <p:nvSpPr>
            <p:cNvPr id="48" name="object 48"/>
            <p:cNvSpPr/>
            <p:nvPr/>
          </p:nvSpPr>
          <p:spPr>
            <a:xfrm>
              <a:off x="2993135" y="3020567"/>
              <a:ext cx="512445" cy="512445"/>
            </a:xfrm>
            <a:custGeom>
              <a:avLst/>
              <a:gdLst/>
              <a:ahLst/>
              <a:cxnLst/>
              <a:rect l="l" t="t" r="r" b="b"/>
              <a:pathLst>
                <a:path w="512445" h="512445">
                  <a:moveTo>
                    <a:pt x="512063" y="512063"/>
                  </a:moveTo>
                  <a:lnTo>
                    <a:pt x="0" y="512063"/>
                  </a:lnTo>
                  <a:lnTo>
                    <a:pt x="0" y="0"/>
                  </a:lnTo>
                  <a:lnTo>
                    <a:pt x="512063" y="0"/>
                  </a:lnTo>
                  <a:lnTo>
                    <a:pt x="512063" y="94106"/>
                  </a:lnTo>
                  <a:lnTo>
                    <a:pt x="254888" y="94106"/>
                  </a:lnTo>
                  <a:lnTo>
                    <a:pt x="240814" y="94786"/>
                  </a:lnTo>
                  <a:lnTo>
                    <a:pt x="200211" y="104982"/>
                  </a:lnTo>
                  <a:lnTo>
                    <a:pt x="164293" y="126482"/>
                  </a:lnTo>
                  <a:lnTo>
                    <a:pt x="136070" y="157589"/>
                  </a:lnTo>
                  <a:lnTo>
                    <a:pt x="118131" y="195569"/>
                  </a:lnTo>
                  <a:lnTo>
                    <a:pt x="112013" y="236981"/>
                  </a:lnTo>
                  <a:lnTo>
                    <a:pt x="112693" y="251056"/>
                  </a:lnTo>
                  <a:lnTo>
                    <a:pt x="122889" y="291657"/>
                  </a:lnTo>
                  <a:lnTo>
                    <a:pt x="144389" y="327576"/>
                  </a:lnTo>
                  <a:lnTo>
                    <a:pt x="175496" y="355800"/>
                  </a:lnTo>
                  <a:lnTo>
                    <a:pt x="213476" y="373739"/>
                  </a:lnTo>
                  <a:lnTo>
                    <a:pt x="254888" y="379856"/>
                  </a:lnTo>
                  <a:lnTo>
                    <a:pt x="512063" y="379856"/>
                  </a:lnTo>
                  <a:lnTo>
                    <a:pt x="512063" y="512063"/>
                  </a:lnTo>
                  <a:close/>
                </a:path>
                <a:path w="512445" h="512445">
                  <a:moveTo>
                    <a:pt x="512063" y="379856"/>
                  </a:moveTo>
                  <a:lnTo>
                    <a:pt x="254888" y="379856"/>
                  </a:lnTo>
                  <a:lnTo>
                    <a:pt x="268963" y="379177"/>
                  </a:lnTo>
                  <a:lnTo>
                    <a:pt x="282767" y="377137"/>
                  </a:lnTo>
                  <a:lnTo>
                    <a:pt x="322307" y="362966"/>
                  </a:lnTo>
                  <a:lnTo>
                    <a:pt x="355916" y="338009"/>
                  </a:lnTo>
                  <a:lnTo>
                    <a:pt x="380873" y="304400"/>
                  </a:lnTo>
                  <a:lnTo>
                    <a:pt x="395044" y="264860"/>
                  </a:lnTo>
                  <a:lnTo>
                    <a:pt x="397763" y="236981"/>
                  </a:lnTo>
                  <a:lnTo>
                    <a:pt x="397084" y="222907"/>
                  </a:lnTo>
                  <a:lnTo>
                    <a:pt x="386887" y="182305"/>
                  </a:lnTo>
                  <a:lnTo>
                    <a:pt x="365388" y="146386"/>
                  </a:lnTo>
                  <a:lnTo>
                    <a:pt x="334280" y="118163"/>
                  </a:lnTo>
                  <a:lnTo>
                    <a:pt x="296301" y="100224"/>
                  </a:lnTo>
                  <a:lnTo>
                    <a:pt x="254888" y="94106"/>
                  </a:lnTo>
                  <a:lnTo>
                    <a:pt x="512063" y="94106"/>
                  </a:lnTo>
                  <a:lnTo>
                    <a:pt x="512063" y="379856"/>
                  </a:lnTo>
                  <a:close/>
                </a:path>
              </a:pathLst>
            </a:custGeom>
            <a:solidFill>
              <a:srgbClr val="000000">
                <a:alpha val="14898"/>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9" name="object 49"/>
            <p:cNvSpPr/>
            <p:nvPr/>
          </p:nvSpPr>
          <p:spPr>
            <a:xfrm>
              <a:off x="3114674" y="3124199"/>
              <a:ext cx="266700" cy="266700"/>
            </a:xfrm>
            <a:custGeom>
              <a:avLst/>
              <a:gdLst/>
              <a:ahLst/>
              <a:cxnLst/>
              <a:rect l="l" t="t" r="r" b="b"/>
              <a:pathLst>
                <a:path w="266700" h="266700">
                  <a:moveTo>
                    <a:pt x="133349" y="266699"/>
                  </a:moveTo>
                  <a:lnTo>
                    <a:pt x="94639" y="260959"/>
                  </a:lnTo>
                  <a:lnTo>
                    <a:pt x="59264" y="244226"/>
                  </a:lnTo>
                  <a:lnTo>
                    <a:pt x="30267" y="217946"/>
                  </a:lnTo>
                  <a:lnTo>
                    <a:pt x="10150" y="184380"/>
                  </a:lnTo>
                  <a:lnTo>
                    <a:pt x="640" y="146420"/>
                  </a:lnTo>
                  <a:lnTo>
                    <a:pt x="0" y="133349"/>
                  </a:lnTo>
                  <a:lnTo>
                    <a:pt x="160" y="126798"/>
                  </a:lnTo>
                  <a:lnTo>
                    <a:pt x="7791" y="88432"/>
                  </a:lnTo>
                  <a:lnTo>
                    <a:pt x="26245" y="53906"/>
                  </a:lnTo>
                  <a:lnTo>
                    <a:pt x="53905" y="26246"/>
                  </a:lnTo>
                  <a:lnTo>
                    <a:pt x="88432" y="7791"/>
                  </a:lnTo>
                  <a:lnTo>
                    <a:pt x="126798" y="160"/>
                  </a:lnTo>
                  <a:lnTo>
                    <a:pt x="133349" y="0"/>
                  </a:lnTo>
                  <a:lnTo>
                    <a:pt x="139900" y="160"/>
                  </a:lnTo>
                  <a:lnTo>
                    <a:pt x="178266" y="7791"/>
                  </a:lnTo>
                  <a:lnTo>
                    <a:pt x="212793" y="26246"/>
                  </a:lnTo>
                  <a:lnTo>
                    <a:pt x="240453" y="53906"/>
                  </a:lnTo>
                  <a:lnTo>
                    <a:pt x="258907" y="88432"/>
                  </a:lnTo>
                  <a:lnTo>
                    <a:pt x="266539" y="126798"/>
                  </a:lnTo>
                  <a:lnTo>
                    <a:pt x="266699" y="133349"/>
                  </a:lnTo>
                  <a:lnTo>
                    <a:pt x="266539" y="139900"/>
                  </a:lnTo>
                  <a:lnTo>
                    <a:pt x="258907" y="178266"/>
                  </a:lnTo>
                  <a:lnTo>
                    <a:pt x="240453" y="212792"/>
                  </a:lnTo>
                  <a:lnTo>
                    <a:pt x="212792" y="240453"/>
                  </a:lnTo>
                  <a:lnTo>
                    <a:pt x="178266" y="258907"/>
                  </a:lnTo>
                  <a:lnTo>
                    <a:pt x="139900"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0" name="object 50"/>
            <p:cNvSpPr/>
            <p:nvPr/>
          </p:nvSpPr>
          <p:spPr>
            <a:xfrm>
              <a:off x="3114674" y="3124199"/>
              <a:ext cx="266700" cy="266700"/>
            </a:xfrm>
            <a:custGeom>
              <a:avLst/>
              <a:gdLst/>
              <a:ahLst/>
              <a:cxnLst/>
              <a:rect l="l" t="t" r="r" b="b"/>
              <a:pathLst>
                <a:path w="266700" h="266700">
                  <a:moveTo>
                    <a:pt x="266699" y="133349"/>
                  </a:moveTo>
                  <a:lnTo>
                    <a:pt x="260958" y="172059"/>
                  </a:lnTo>
                  <a:lnTo>
                    <a:pt x="244225" y="207434"/>
                  </a:lnTo>
                  <a:lnTo>
                    <a:pt x="217946" y="236431"/>
                  </a:lnTo>
                  <a:lnTo>
                    <a:pt x="184380" y="256548"/>
                  </a:lnTo>
                  <a:lnTo>
                    <a:pt x="146420" y="266059"/>
                  </a:lnTo>
                  <a:lnTo>
                    <a:pt x="133349" y="266699"/>
                  </a:lnTo>
                  <a:lnTo>
                    <a:pt x="126798" y="266539"/>
                  </a:lnTo>
                  <a:lnTo>
                    <a:pt x="88432" y="258907"/>
                  </a:lnTo>
                  <a:lnTo>
                    <a:pt x="53905" y="240453"/>
                  </a:lnTo>
                  <a:lnTo>
                    <a:pt x="26245" y="212792"/>
                  </a:lnTo>
                  <a:lnTo>
                    <a:pt x="7791" y="178266"/>
                  </a:lnTo>
                  <a:lnTo>
                    <a:pt x="160" y="139900"/>
                  </a:lnTo>
                  <a:lnTo>
                    <a:pt x="0" y="133349"/>
                  </a:lnTo>
                  <a:lnTo>
                    <a:pt x="160" y="126798"/>
                  </a:lnTo>
                  <a:lnTo>
                    <a:pt x="7791" y="88432"/>
                  </a:lnTo>
                  <a:lnTo>
                    <a:pt x="26245" y="53906"/>
                  </a:lnTo>
                  <a:lnTo>
                    <a:pt x="53905" y="26246"/>
                  </a:lnTo>
                  <a:lnTo>
                    <a:pt x="88432" y="7791"/>
                  </a:lnTo>
                  <a:lnTo>
                    <a:pt x="126798" y="160"/>
                  </a:lnTo>
                  <a:lnTo>
                    <a:pt x="133349" y="0"/>
                  </a:lnTo>
                  <a:lnTo>
                    <a:pt x="139900" y="160"/>
                  </a:lnTo>
                  <a:lnTo>
                    <a:pt x="178266" y="7791"/>
                  </a:lnTo>
                  <a:lnTo>
                    <a:pt x="212793" y="26246"/>
                  </a:lnTo>
                  <a:lnTo>
                    <a:pt x="240453" y="53906"/>
                  </a:lnTo>
                  <a:lnTo>
                    <a:pt x="258907" y="88432"/>
                  </a:lnTo>
                  <a:lnTo>
                    <a:pt x="266539" y="126798"/>
                  </a:lnTo>
                  <a:lnTo>
                    <a:pt x="266699" y="133349"/>
                  </a:lnTo>
                  <a:close/>
                </a:path>
              </a:pathLst>
            </a:custGeom>
            <a:ln w="38099">
              <a:solidFill>
                <a:srgbClr val="FFFF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51" name="object 51"/>
          <p:cNvSpPr txBox="1"/>
          <p:nvPr/>
        </p:nvSpPr>
        <p:spPr>
          <a:xfrm>
            <a:off x="3173114" y="3167904"/>
            <a:ext cx="156210" cy="139782"/>
          </a:xfrm>
          <a:prstGeom prst="rect">
            <a:avLst/>
          </a:prstGeom>
        </p:spPr>
        <p:txBody>
          <a:bodyPr vert="horz" wrap="square" lIns="0" tIns="16510" rIns="0" bIns="0" rtlCol="0">
            <a:spAutoFit/>
          </a:bodyPr>
          <a:lstStyle/>
          <a:p>
            <a:pPr marL="12700">
              <a:lnSpc>
                <a:spcPct val="100000"/>
              </a:lnSpc>
              <a:spcBef>
                <a:spcPts val="130"/>
              </a:spcBef>
            </a:pPr>
            <a:r>
              <a:rPr sz="800" b="1" spc="540" dirty="0">
                <a:solidFill>
                  <a:srgbClr val="FFFFFF"/>
                </a:solidFill>
                <a:latin typeface="Times New Roman" panose="02020603050405020304" pitchFamily="18" charset="0"/>
                <a:cs typeface="Times New Roman" panose="02020603050405020304" pitchFamily="18" charset="0"/>
              </a:rPr>
              <a:t>2</a:t>
            </a:r>
            <a:endParaRPr sz="800">
              <a:latin typeface="Times New Roman" panose="02020603050405020304" pitchFamily="18" charset="0"/>
              <a:cs typeface="Times New Roman" panose="02020603050405020304" pitchFamily="18" charset="0"/>
            </a:endParaRPr>
          </a:p>
        </p:txBody>
      </p:sp>
      <p:grpSp>
        <p:nvGrpSpPr>
          <p:cNvPr id="52" name="object 52"/>
          <p:cNvGrpSpPr/>
          <p:nvPr/>
        </p:nvGrpSpPr>
        <p:grpSpPr>
          <a:xfrm>
            <a:off x="5145023" y="3020567"/>
            <a:ext cx="512445" cy="512445"/>
            <a:chOff x="5145023" y="3020567"/>
            <a:chExt cx="512445" cy="512445"/>
          </a:xfrm>
        </p:grpSpPr>
        <p:sp>
          <p:nvSpPr>
            <p:cNvPr id="53" name="object 53"/>
            <p:cNvSpPr/>
            <p:nvPr/>
          </p:nvSpPr>
          <p:spPr>
            <a:xfrm>
              <a:off x="5145023" y="3020567"/>
              <a:ext cx="512445" cy="512445"/>
            </a:xfrm>
            <a:custGeom>
              <a:avLst/>
              <a:gdLst/>
              <a:ahLst/>
              <a:cxnLst/>
              <a:rect l="l" t="t" r="r" b="b"/>
              <a:pathLst>
                <a:path w="512445" h="512445">
                  <a:moveTo>
                    <a:pt x="512063" y="512063"/>
                  </a:moveTo>
                  <a:lnTo>
                    <a:pt x="0" y="512063"/>
                  </a:lnTo>
                  <a:lnTo>
                    <a:pt x="0" y="0"/>
                  </a:lnTo>
                  <a:lnTo>
                    <a:pt x="512063" y="0"/>
                  </a:lnTo>
                  <a:lnTo>
                    <a:pt x="512063" y="94106"/>
                  </a:lnTo>
                  <a:lnTo>
                    <a:pt x="255650" y="94106"/>
                  </a:lnTo>
                  <a:lnTo>
                    <a:pt x="241575" y="94786"/>
                  </a:lnTo>
                  <a:lnTo>
                    <a:pt x="200973" y="104982"/>
                  </a:lnTo>
                  <a:lnTo>
                    <a:pt x="165055" y="126482"/>
                  </a:lnTo>
                  <a:lnTo>
                    <a:pt x="136832" y="157589"/>
                  </a:lnTo>
                  <a:lnTo>
                    <a:pt x="118893" y="195569"/>
                  </a:lnTo>
                  <a:lnTo>
                    <a:pt x="112775" y="236981"/>
                  </a:lnTo>
                  <a:lnTo>
                    <a:pt x="113455" y="251056"/>
                  </a:lnTo>
                  <a:lnTo>
                    <a:pt x="123651" y="291657"/>
                  </a:lnTo>
                  <a:lnTo>
                    <a:pt x="145151" y="327576"/>
                  </a:lnTo>
                  <a:lnTo>
                    <a:pt x="176258" y="355800"/>
                  </a:lnTo>
                  <a:lnTo>
                    <a:pt x="214238" y="373739"/>
                  </a:lnTo>
                  <a:lnTo>
                    <a:pt x="255650" y="379856"/>
                  </a:lnTo>
                  <a:lnTo>
                    <a:pt x="512063" y="379856"/>
                  </a:lnTo>
                  <a:lnTo>
                    <a:pt x="512063" y="512063"/>
                  </a:lnTo>
                  <a:close/>
                </a:path>
                <a:path w="512445" h="512445">
                  <a:moveTo>
                    <a:pt x="512063" y="379856"/>
                  </a:moveTo>
                  <a:lnTo>
                    <a:pt x="255650" y="379856"/>
                  </a:lnTo>
                  <a:lnTo>
                    <a:pt x="269725" y="379177"/>
                  </a:lnTo>
                  <a:lnTo>
                    <a:pt x="283529" y="377137"/>
                  </a:lnTo>
                  <a:lnTo>
                    <a:pt x="323069" y="362966"/>
                  </a:lnTo>
                  <a:lnTo>
                    <a:pt x="356678" y="338009"/>
                  </a:lnTo>
                  <a:lnTo>
                    <a:pt x="381635" y="304400"/>
                  </a:lnTo>
                  <a:lnTo>
                    <a:pt x="395806" y="264860"/>
                  </a:lnTo>
                  <a:lnTo>
                    <a:pt x="398525" y="236981"/>
                  </a:lnTo>
                  <a:lnTo>
                    <a:pt x="397845" y="222907"/>
                  </a:lnTo>
                  <a:lnTo>
                    <a:pt x="387649" y="182305"/>
                  </a:lnTo>
                  <a:lnTo>
                    <a:pt x="366149" y="146386"/>
                  </a:lnTo>
                  <a:lnTo>
                    <a:pt x="335042" y="118163"/>
                  </a:lnTo>
                  <a:lnTo>
                    <a:pt x="297062" y="100224"/>
                  </a:lnTo>
                  <a:lnTo>
                    <a:pt x="255650" y="94106"/>
                  </a:lnTo>
                  <a:lnTo>
                    <a:pt x="512063" y="94106"/>
                  </a:lnTo>
                  <a:lnTo>
                    <a:pt x="512063" y="379856"/>
                  </a:lnTo>
                  <a:close/>
                </a:path>
              </a:pathLst>
            </a:custGeom>
            <a:solidFill>
              <a:srgbClr val="000000">
                <a:alpha val="14898"/>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4" name="object 54"/>
            <p:cNvSpPr/>
            <p:nvPr/>
          </p:nvSpPr>
          <p:spPr>
            <a:xfrm>
              <a:off x="5267324" y="3124199"/>
              <a:ext cx="266700" cy="266700"/>
            </a:xfrm>
            <a:custGeom>
              <a:avLst/>
              <a:gdLst/>
              <a:ahLst/>
              <a:cxnLst/>
              <a:rect l="l" t="t" r="r" b="b"/>
              <a:pathLst>
                <a:path w="266700" h="266700">
                  <a:moveTo>
                    <a:pt x="133349" y="266699"/>
                  </a:moveTo>
                  <a:lnTo>
                    <a:pt x="94639" y="260959"/>
                  </a:lnTo>
                  <a:lnTo>
                    <a:pt x="59263" y="244226"/>
                  </a:lnTo>
                  <a:lnTo>
                    <a:pt x="30267" y="217946"/>
                  </a:lnTo>
                  <a:lnTo>
                    <a:pt x="10149" y="184380"/>
                  </a:lnTo>
                  <a:lnTo>
                    <a:pt x="640" y="146420"/>
                  </a:lnTo>
                  <a:lnTo>
                    <a:pt x="0" y="133349"/>
                  </a:lnTo>
                  <a:lnTo>
                    <a:pt x="159" y="126798"/>
                  </a:lnTo>
                  <a:lnTo>
                    <a:pt x="7790" y="88432"/>
                  </a:lnTo>
                  <a:lnTo>
                    <a:pt x="26245" y="53906"/>
                  </a:lnTo>
                  <a:lnTo>
                    <a:pt x="53905" y="26246"/>
                  </a:lnTo>
                  <a:lnTo>
                    <a:pt x="88432" y="7791"/>
                  </a:lnTo>
                  <a:lnTo>
                    <a:pt x="126798" y="160"/>
                  </a:lnTo>
                  <a:lnTo>
                    <a:pt x="133349" y="0"/>
                  </a:lnTo>
                  <a:lnTo>
                    <a:pt x="139901" y="160"/>
                  </a:lnTo>
                  <a:lnTo>
                    <a:pt x="178266" y="7791"/>
                  </a:lnTo>
                  <a:lnTo>
                    <a:pt x="212792" y="26246"/>
                  </a:lnTo>
                  <a:lnTo>
                    <a:pt x="240453" y="53906"/>
                  </a:lnTo>
                  <a:lnTo>
                    <a:pt x="258907" y="88432"/>
                  </a:lnTo>
                  <a:lnTo>
                    <a:pt x="266539" y="126798"/>
                  </a:lnTo>
                  <a:lnTo>
                    <a:pt x="266699" y="133349"/>
                  </a:lnTo>
                  <a:lnTo>
                    <a:pt x="266539" y="139900"/>
                  </a:lnTo>
                  <a:lnTo>
                    <a:pt x="258907" y="178266"/>
                  </a:lnTo>
                  <a:lnTo>
                    <a:pt x="240453" y="212792"/>
                  </a:lnTo>
                  <a:lnTo>
                    <a:pt x="212792" y="240453"/>
                  </a:lnTo>
                  <a:lnTo>
                    <a:pt x="178266" y="258907"/>
                  </a:lnTo>
                  <a:lnTo>
                    <a:pt x="139901"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5" name="object 55"/>
            <p:cNvSpPr/>
            <p:nvPr/>
          </p:nvSpPr>
          <p:spPr>
            <a:xfrm>
              <a:off x="5267324" y="3124199"/>
              <a:ext cx="266700" cy="266700"/>
            </a:xfrm>
            <a:custGeom>
              <a:avLst/>
              <a:gdLst/>
              <a:ahLst/>
              <a:cxnLst/>
              <a:rect l="l" t="t" r="r" b="b"/>
              <a:pathLst>
                <a:path w="266700" h="266700">
                  <a:moveTo>
                    <a:pt x="266699" y="133349"/>
                  </a:moveTo>
                  <a:lnTo>
                    <a:pt x="260958" y="172059"/>
                  </a:lnTo>
                  <a:lnTo>
                    <a:pt x="244225" y="207434"/>
                  </a:lnTo>
                  <a:lnTo>
                    <a:pt x="217946" y="236431"/>
                  </a:lnTo>
                  <a:lnTo>
                    <a:pt x="184379" y="256548"/>
                  </a:lnTo>
                  <a:lnTo>
                    <a:pt x="146420" y="266059"/>
                  </a:lnTo>
                  <a:lnTo>
                    <a:pt x="133349" y="266699"/>
                  </a:lnTo>
                  <a:lnTo>
                    <a:pt x="126798" y="266539"/>
                  </a:lnTo>
                  <a:lnTo>
                    <a:pt x="88432" y="258907"/>
                  </a:lnTo>
                  <a:lnTo>
                    <a:pt x="53905" y="240453"/>
                  </a:lnTo>
                  <a:lnTo>
                    <a:pt x="26245" y="212792"/>
                  </a:lnTo>
                  <a:lnTo>
                    <a:pt x="7790" y="178266"/>
                  </a:lnTo>
                  <a:lnTo>
                    <a:pt x="159" y="139900"/>
                  </a:lnTo>
                  <a:lnTo>
                    <a:pt x="0" y="133349"/>
                  </a:lnTo>
                  <a:lnTo>
                    <a:pt x="159" y="126798"/>
                  </a:lnTo>
                  <a:lnTo>
                    <a:pt x="7790" y="88432"/>
                  </a:lnTo>
                  <a:lnTo>
                    <a:pt x="26245" y="53906"/>
                  </a:lnTo>
                  <a:lnTo>
                    <a:pt x="53905" y="26246"/>
                  </a:lnTo>
                  <a:lnTo>
                    <a:pt x="88432" y="7791"/>
                  </a:lnTo>
                  <a:lnTo>
                    <a:pt x="126798" y="160"/>
                  </a:lnTo>
                  <a:lnTo>
                    <a:pt x="133349" y="0"/>
                  </a:lnTo>
                  <a:lnTo>
                    <a:pt x="139901" y="160"/>
                  </a:lnTo>
                  <a:lnTo>
                    <a:pt x="178266" y="7791"/>
                  </a:lnTo>
                  <a:lnTo>
                    <a:pt x="212792" y="26246"/>
                  </a:lnTo>
                  <a:lnTo>
                    <a:pt x="240453" y="53906"/>
                  </a:lnTo>
                  <a:lnTo>
                    <a:pt x="258907" y="88432"/>
                  </a:lnTo>
                  <a:lnTo>
                    <a:pt x="266539" y="126798"/>
                  </a:lnTo>
                  <a:lnTo>
                    <a:pt x="266699" y="133349"/>
                  </a:lnTo>
                  <a:close/>
                </a:path>
              </a:pathLst>
            </a:custGeom>
            <a:ln w="38099">
              <a:solidFill>
                <a:srgbClr val="FFFF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56" name="object 56"/>
          <p:cNvSpPr txBox="1"/>
          <p:nvPr/>
        </p:nvSpPr>
        <p:spPr>
          <a:xfrm>
            <a:off x="5322639" y="3167904"/>
            <a:ext cx="164465" cy="139782"/>
          </a:xfrm>
          <a:prstGeom prst="rect">
            <a:avLst/>
          </a:prstGeom>
        </p:spPr>
        <p:txBody>
          <a:bodyPr vert="horz" wrap="square" lIns="0" tIns="16510" rIns="0" bIns="0" rtlCol="0">
            <a:spAutoFit/>
          </a:bodyPr>
          <a:lstStyle/>
          <a:p>
            <a:pPr marL="12700">
              <a:lnSpc>
                <a:spcPct val="100000"/>
              </a:lnSpc>
              <a:spcBef>
                <a:spcPts val="130"/>
              </a:spcBef>
            </a:pPr>
            <a:r>
              <a:rPr sz="800" b="1" spc="605" dirty="0">
                <a:solidFill>
                  <a:srgbClr val="FFFFFF"/>
                </a:solidFill>
                <a:latin typeface="Times New Roman" panose="02020603050405020304" pitchFamily="18" charset="0"/>
                <a:cs typeface="Times New Roman" panose="02020603050405020304" pitchFamily="18" charset="0"/>
              </a:rPr>
              <a:t>3</a:t>
            </a:r>
            <a:endParaRPr sz="800">
              <a:latin typeface="Times New Roman" panose="02020603050405020304" pitchFamily="18" charset="0"/>
              <a:cs typeface="Times New Roman" panose="02020603050405020304" pitchFamily="18" charset="0"/>
            </a:endParaRPr>
          </a:p>
        </p:txBody>
      </p:sp>
      <p:grpSp>
        <p:nvGrpSpPr>
          <p:cNvPr id="57" name="object 57"/>
          <p:cNvGrpSpPr/>
          <p:nvPr/>
        </p:nvGrpSpPr>
        <p:grpSpPr>
          <a:xfrm>
            <a:off x="7296911" y="3020567"/>
            <a:ext cx="512445" cy="512445"/>
            <a:chOff x="7296911" y="3020567"/>
            <a:chExt cx="512445" cy="512445"/>
          </a:xfrm>
        </p:grpSpPr>
        <p:sp>
          <p:nvSpPr>
            <p:cNvPr id="58" name="object 58"/>
            <p:cNvSpPr/>
            <p:nvPr/>
          </p:nvSpPr>
          <p:spPr>
            <a:xfrm>
              <a:off x="7296911" y="3020567"/>
              <a:ext cx="512445" cy="512445"/>
            </a:xfrm>
            <a:custGeom>
              <a:avLst/>
              <a:gdLst/>
              <a:ahLst/>
              <a:cxnLst/>
              <a:rect l="l" t="t" r="r" b="b"/>
              <a:pathLst>
                <a:path w="512445" h="512445">
                  <a:moveTo>
                    <a:pt x="512063" y="512063"/>
                  </a:moveTo>
                  <a:lnTo>
                    <a:pt x="0" y="512063"/>
                  </a:lnTo>
                  <a:lnTo>
                    <a:pt x="0" y="0"/>
                  </a:lnTo>
                  <a:lnTo>
                    <a:pt x="512063" y="0"/>
                  </a:lnTo>
                  <a:lnTo>
                    <a:pt x="512063" y="94106"/>
                  </a:lnTo>
                  <a:lnTo>
                    <a:pt x="256412" y="94106"/>
                  </a:lnTo>
                  <a:lnTo>
                    <a:pt x="242337" y="94786"/>
                  </a:lnTo>
                  <a:lnTo>
                    <a:pt x="201734" y="104982"/>
                  </a:lnTo>
                  <a:lnTo>
                    <a:pt x="165817" y="126482"/>
                  </a:lnTo>
                  <a:lnTo>
                    <a:pt x="137593" y="157589"/>
                  </a:lnTo>
                  <a:lnTo>
                    <a:pt x="119654" y="195569"/>
                  </a:lnTo>
                  <a:lnTo>
                    <a:pt x="113537" y="236981"/>
                  </a:lnTo>
                  <a:lnTo>
                    <a:pt x="114217" y="251056"/>
                  </a:lnTo>
                  <a:lnTo>
                    <a:pt x="124412" y="291657"/>
                  </a:lnTo>
                  <a:lnTo>
                    <a:pt x="145912" y="327576"/>
                  </a:lnTo>
                  <a:lnTo>
                    <a:pt x="177019" y="355800"/>
                  </a:lnTo>
                  <a:lnTo>
                    <a:pt x="214999" y="373739"/>
                  </a:lnTo>
                  <a:lnTo>
                    <a:pt x="256412" y="379856"/>
                  </a:lnTo>
                  <a:lnTo>
                    <a:pt x="512063" y="379856"/>
                  </a:lnTo>
                  <a:lnTo>
                    <a:pt x="512063" y="512063"/>
                  </a:lnTo>
                  <a:close/>
                </a:path>
                <a:path w="512445" h="512445">
                  <a:moveTo>
                    <a:pt x="512063" y="379856"/>
                  </a:moveTo>
                  <a:lnTo>
                    <a:pt x="256412" y="379856"/>
                  </a:lnTo>
                  <a:lnTo>
                    <a:pt x="270486" y="379177"/>
                  </a:lnTo>
                  <a:lnTo>
                    <a:pt x="284290" y="377137"/>
                  </a:lnTo>
                  <a:lnTo>
                    <a:pt x="323830" y="362966"/>
                  </a:lnTo>
                  <a:lnTo>
                    <a:pt x="357439" y="338009"/>
                  </a:lnTo>
                  <a:lnTo>
                    <a:pt x="382396" y="304400"/>
                  </a:lnTo>
                  <a:lnTo>
                    <a:pt x="396568" y="264860"/>
                  </a:lnTo>
                  <a:lnTo>
                    <a:pt x="399287" y="236981"/>
                  </a:lnTo>
                  <a:lnTo>
                    <a:pt x="398607" y="222907"/>
                  </a:lnTo>
                  <a:lnTo>
                    <a:pt x="388410" y="182305"/>
                  </a:lnTo>
                  <a:lnTo>
                    <a:pt x="366911" y="146386"/>
                  </a:lnTo>
                  <a:lnTo>
                    <a:pt x="335803" y="118163"/>
                  </a:lnTo>
                  <a:lnTo>
                    <a:pt x="297823" y="100224"/>
                  </a:lnTo>
                  <a:lnTo>
                    <a:pt x="256412" y="94106"/>
                  </a:lnTo>
                  <a:lnTo>
                    <a:pt x="512063" y="94106"/>
                  </a:lnTo>
                  <a:lnTo>
                    <a:pt x="512063" y="379856"/>
                  </a:lnTo>
                  <a:close/>
                </a:path>
              </a:pathLst>
            </a:custGeom>
            <a:solidFill>
              <a:srgbClr val="000000">
                <a:alpha val="14898"/>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9" name="object 59"/>
            <p:cNvSpPr/>
            <p:nvPr/>
          </p:nvSpPr>
          <p:spPr>
            <a:xfrm>
              <a:off x="7419974" y="3124199"/>
              <a:ext cx="266700" cy="266700"/>
            </a:xfrm>
            <a:custGeom>
              <a:avLst/>
              <a:gdLst/>
              <a:ahLst/>
              <a:cxnLst/>
              <a:rect l="l" t="t" r="r" b="b"/>
              <a:pathLst>
                <a:path w="266700" h="266700">
                  <a:moveTo>
                    <a:pt x="133349" y="266699"/>
                  </a:moveTo>
                  <a:lnTo>
                    <a:pt x="94639" y="260959"/>
                  </a:lnTo>
                  <a:lnTo>
                    <a:pt x="59264" y="244226"/>
                  </a:lnTo>
                  <a:lnTo>
                    <a:pt x="30267" y="217946"/>
                  </a:lnTo>
                  <a:lnTo>
                    <a:pt x="10149" y="184380"/>
                  </a:lnTo>
                  <a:lnTo>
                    <a:pt x="640" y="146420"/>
                  </a:lnTo>
                  <a:lnTo>
                    <a:pt x="0" y="133349"/>
                  </a:lnTo>
                  <a:lnTo>
                    <a:pt x="160" y="126798"/>
                  </a:lnTo>
                  <a:lnTo>
                    <a:pt x="7790" y="88432"/>
                  </a:lnTo>
                  <a:lnTo>
                    <a:pt x="26245" y="53906"/>
                  </a:lnTo>
                  <a:lnTo>
                    <a:pt x="53905" y="26246"/>
                  </a:lnTo>
                  <a:lnTo>
                    <a:pt x="88432" y="7791"/>
                  </a:lnTo>
                  <a:lnTo>
                    <a:pt x="126798" y="160"/>
                  </a:lnTo>
                  <a:lnTo>
                    <a:pt x="133349" y="0"/>
                  </a:lnTo>
                  <a:lnTo>
                    <a:pt x="139900" y="160"/>
                  </a:lnTo>
                  <a:lnTo>
                    <a:pt x="178266" y="7791"/>
                  </a:lnTo>
                  <a:lnTo>
                    <a:pt x="212793" y="26246"/>
                  </a:lnTo>
                  <a:lnTo>
                    <a:pt x="240453" y="53906"/>
                  </a:lnTo>
                  <a:lnTo>
                    <a:pt x="258907" y="88432"/>
                  </a:lnTo>
                  <a:lnTo>
                    <a:pt x="266539" y="126798"/>
                  </a:lnTo>
                  <a:lnTo>
                    <a:pt x="266699" y="133349"/>
                  </a:lnTo>
                  <a:lnTo>
                    <a:pt x="266539" y="139900"/>
                  </a:lnTo>
                  <a:lnTo>
                    <a:pt x="258907" y="178266"/>
                  </a:lnTo>
                  <a:lnTo>
                    <a:pt x="240453" y="212792"/>
                  </a:lnTo>
                  <a:lnTo>
                    <a:pt x="212793" y="240453"/>
                  </a:lnTo>
                  <a:lnTo>
                    <a:pt x="178266" y="258907"/>
                  </a:lnTo>
                  <a:lnTo>
                    <a:pt x="139901"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0" name="object 60"/>
            <p:cNvSpPr/>
            <p:nvPr/>
          </p:nvSpPr>
          <p:spPr>
            <a:xfrm>
              <a:off x="7419974" y="3124199"/>
              <a:ext cx="266700" cy="266700"/>
            </a:xfrm>
            <a:custGeom>
              <a:avLst/>
              <a:gdLst/>
              <a:ahLst/>
              <a:cxnLst/>
              <a:rect l="l" t="t" r="r" b="b"/>
              <a:pathLst>
                <a:path w="266700" h="266700">
                  <a:moveTo>
                    <a:pt x="266699" y="133349"/>
                  </a:moveTo>
                  <a:lnTo>
                    <a:pt x="260958" y="172059"/>
                  </a:lnTo>
                  <a:lnTo>
                    <a:pt x="244225" y="207434"/>
                  </a:lnTo>
                  <a:lnTo>
                    <a:pt x="217947" y="236431"/>
                  </a:lnTo>
                  <a:lnTo>
                    <a:pt x="184380" y="256548"/>
                  </a:lnTo>
                  <a:lnTo>
                    <a:pt x="146420" y="266059"/>
                  </a:lnTo>
                  <a:lnTo>
                    <a:pt x="133349" y="266699"/>
                  </a:lnTo>
                  <a:lnTo>
                    <a:pt x="126798" y="266539"/>
                  </a:lnTo>
                  <a:lnTo>
                    <a:pt x="88432" y="258907"/>
                  </a:lnTo>
                  <a:lnTo>
                    <a:pt x="53906" y="240453"/>
                  </a:lnTo>
                  <a:lnTo>
                    <a:pt x="26245" y="212792"/>
                  </a:lnTo>
                  <a:lnTo>
                    <a:pt x="7790" y="178266"/>
                  </a:lnTo>
                  <a:lnTo>
                    <a:pt x="160" y="139900"/>
                  </a:lnTo>
                  <a:lnTo>
                    <a:pt x="0" y="133349"/>
                  </a:lnTo>
                  <a:lnTo>
                    <a:pt x="160" y="126798"/>
                  </a:lnTo>
                  <a:lnTo>
                    <a:pt x="7790" y="88432"/>
                  </a:lnTo>
                  <a:lnTo>
                    <a:pt x="26245" y="53906"/>
                  </a:lnTo>
                  <a:lnTo>
                    <a:pt x="53905" y="26246"/>
                  </a:lnTo>
                  <a:lnTo>
                    <a:pt x="88432" y="7791"/>
                  </a:lnTo>
                  <a:lnTo>
                    <a:pt x="126798" y="160"/>
                  </a:lnTo>
                  <a:lnTo>
                    <a:pt x="133349" y="0"/>
                  </a:lnTo>
                  <a:lnTo>
                    <a:pt x="139900" y="160"/>
                  </a:lnTo>
                  <a:lnTo>
                    <a:pt x="178266" y="7791"/>
                  </a:lnTo>
                  <a:lnTo>
                    <a:pt x="212793" y="26246"/>
                  </a:lnTo>
                  <a:lnTo>
                    <a:pt x="240453" y="53906"/>
                  </a:lnTo>
                  <a:lnTo>
                    <a:pt x="258907" y="88432"/>
                  </a:lnTo>
                  <a:lnTo>
                    <a:pt x="266539" y="126798"/>
                  </a:lnTo>
                  <a:lnTo>
                    <a:pt x="266699" y="133349"/>
                  </a:lnTo>
                  <a:close/>
                </a:path>
              </a:pathLst>
            </a:custGeom>
            <a:ln w="38099">
              <a:solidFill>
                <a:srgbClr val="FFFF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61" name="object 61"/>
          <p:cNvSpPr txBox="1"/>
          <p:nvPr/>
        </p:nvSpPr>
        <p:spPr>
          <a:xfrm>
            <a:off x="7472758" y="3167904"/>
            <a:ext cx="170180" cy="139782"/>
          </a:xfrm>
          <a:prstGeom prst="rect">
            <a:avLst/>
          </a:prstGeom>
        </p:spPr>
        <p:txBody>
          <a:bodyPr vert="horz" wrap="square" lIns="0" tIns="16510" rIns="0" bIns="0" rtlCol="0">
            <a:spAutoFit/>
          </a:bodyPr>
          <a:lstStyle/>
          <a:p>
            <a:pPr marL="12700">
              <a:lnSpc>
                <a:spcPct val="100000"/>
              </a:lnSpc>
              <a:spcBef>
                <a:spcPts val="130"/>
              </a:spcBef>
            </a:pPr>
            <a:r>
              <a:rPr sz="800" b="1" spc="655" dirty="0">
                <a:solidFill>
                  <a:srgbClr val="FFFFFF"/>
                </a:solidFill>
                <a:latin typeface="Times New Roman" panose="02020603050405020304" pitchFamily="18" charset="0"/>
                <a:cs typeface="Times New Roman" panose="02020603050405020304" pitchFamily="18" charset="0"/>
              </a:rPr>
              <a:t>4</a:t>
            </a:r>
            <a:endParaRPr sz="800">
              <a:latin typeface="Times New Roman" panose="02020603050405020304" pitchFamily="18" charset="0"/>
              <a:cs typeface="Times New Roman" panose="02020603050405020304" pitchFamily="18" charset="0"/>
            </a:endParaRPr>
          </a:p>
        </p:txBody>
      </p:sp>
      <p:grpSp>
        <p:nvGrpSpPr>
          <p:cNvPr id="62" name="object 62"/>
          <p:cNvGrpSpPr/>
          <p:nvPr/>
        </p:nvGrpSpPr>
        <p:grpSpPr>
          <a:xfrm>
            <a:off x="9448800" y="3020567"/>
            <a:ext cx="512445" cy="512445"/>
            <a:chOff x="9448800" y="3020567"/>
            <a:chExt cx="512445" cy="512445"/>
          </a:xfrm>
        </p:grpSpPr>
        <p:sp>
          <p:nvSpPr>
            <p:cNvPr id="63" name="object 63"/>
            <p:cNvSpPr/>
            <p:nvPr/>
          </p:nvSpPr>
          <p:spPr>
            <a:xfrm>
              <a:off x="9448800" y="3020567"/>
              <a:ext cx="512445" cy="512445"/>
            </a:xfrm>
            <a:custGeom>
              <a:avLst/>
              <a:gdLst/>
              <a:ahLst/>
              <a:cxnLst/>
              <a:rect l="l" t="t" r="r" b="b"/>
              <a:pathLst>
                <a:path w="512445" h="512445">
                  <a:moveTo>
                    <a:pt x="512063" y="512063"/>
                  </a:moveTo>
                  <a:lnTo>
                    <a:pt x="0" y="512063"/>
                  </a:lnTo>
                  <a:lnTo>
                    <a:pt x="0" y="0"/>
                  </a:lnTo>
                  <a:lnTo>
                    <a:pt x="512063" y="0"/>
                  </a:lnTo>
                  <a:lnTo>
                    <a:pt x="512063" y="94106"/>
                  </a:lnTo>
                  <a:lnTo>
                    <a:pt x="257174" y="94106"/>
                  </a:lnTo>
                  <a:lnTo>
                    <a:pt x="243100" y="94786"/>
                  </a:lnTo>
                  <a:lnTo>
                    <a:pt x="202498" y="104982"/>
                  </a:lnTo>
                  <a:lnTo>
                    <a:pt x="166579" y="126482"/>
                  </a:lnTo>
                  <a:lnTo>
                    <a:pt x="138355" y="157589"/>
                  </a:lnTo>
                  <a:lnTo>
                    <a:pt x="120416" y="195569"/>
                  </a:lnTo>
                  <a:lnTo>
                    <a:pt x="114299" y="236981"/>
                  </a:lnTo>
                  <a:lnTo>
                    <a:pt x="114979" y="251056"/>
                  </a:lnTo>
                  <a:lnTo>
                    <a:pt x="125174" y="291657"/>
                  </a:lnTo>
                  <a:lnTo>
                    <a:pt x="146674" y="327576"/>
                  </a:lnTo>
                  <a:lnTo>
                    <a:pt x="177782" y="355800"/>
                  </a:lnTo>
                  <a:lnTo>
                    <a:pt x="215761" y="373739"/>
                  </a:lnTo>
                  <a:lnTo>
                    <a:pt x="257174" y="379856"/>
                  </a:lnTo>
                  <a:lnTo>
                    <a:pt x="512063" y="379856"/>
                  </a:lnTo>
                  <a:lnTo>
                    <a:pt x="512063" y="512063"/>
                  </a:lnTo>
                  <a:close/>
                </a:path>
                <a:path w="512445" h="512445">
                  <a:moveTo>
                    <a:pt x="512063" y="379856"/>
                  </a:moveTo>
                  <a:lnTo>
                    <a:pt x="257174" y="379856"/>
                  </a:lnTo>
                  <a:lnTo>
                    <a:pt x="271249" y="379177"/>
                  </a:lnTo>
                  <a:lnTo>
                    <a:pt x="285053" y="377137"/>
                  </a:lnTo>
                  <a:lnTo>
                    <a:pt x="324592" y="362966"/>
                  </a:lnTo>
                  <a:lnTo>
                    <a:pt x="358202" y="338009"/>
                  </a:lnTo>
                  <a:lnTo>
                    <a:pt x="383158" y="304400"/>
                  </a:lnTo>
                  <a:lnTo>
                    <a:pt x="397330" y="264860"/>
                  </a:lnTo>
                  <a:lnTo>
                    <a:pt x="400049" y="236981"/>
                  </a:lnTo>
                  <a:lnTo>
                    <a:pt x="399369" y="222907"/>
                  </a:lnTo>
                  <a:lnTo>
                    <a:pt x="389172" y="182305"/>
                  </a:lnTo>
                  <a:lnTo>
                    <a:pt x="367673" y="146386"/>
                  </a:lnTo>
                  <a:lnTo>
                    <a:pt x="336565" y="118163"/>
                  </a:lnTo>
                  <a:lnTo>
                    <a:pt x="298586" y="100224"/>
                  </a:lnTo>
                  <a:lnTo>
                    <a:pt x="257174" y="94106"/>
                  </a:lnTo>
                  <a:lnTo>
                    <a:pt x="512063" y="94106"/>
                  </a:lnTo>
                  <a:lnTo>
                    <a:pt x="512063" y="379856"/>
                  </a:lnTo>
                  <a:close/>
                </a:path>
              </a:pathLst>
            </a:custGeom>
            <a:solidFill>
              <a:srgbClr val="000000">
                <a:alpha val="14898"/>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4" name="object 64"/>
            <p:cNvSpPr/>
            <p:nvPr/>
          </p:nvSpPr>
          <p:spPr>
            <a:xfrm>
              <a:off x="9572624" y="3124199"/>
              <a:ext cx="266700" cy="266700"/>
            </a:xfrm>
            <a:custGeom>
              <a:avLst/>
              <a:gdLst/>
              <a:ahLst/>
              <a:cxnLst/>
              <a:rect l="l" t="t" r="r" b="b"/>
              <a:pathLst>
                <a:path w="266700" h="266700">
                  <a:moveTo>
                    <a:pt x="133349" y="266699"/>
                  </a:moveTo>
                  <a:lnTo>
                    <a:pt x="94639" y="260959"/>
                  </a:lnTo>
                  <a:lnTo>
                    <a:pt x="59264" y="244226"/>
                  </a:lnTo>
                  <a:lnTo>
                    <a:pt x="30267" y="217946"/>
                  </a:lnTo>
                  <a:lnTo>
                    <a:pt x="10149" y="184380"/>
                  </a:lnTo>
                  <a:lnTo>
                    <a:pt x="640" y="146420"/>
                  </a:lnTo>
                  <a:lnTo>
                    <a:pt x="0" y="133349"/>
                  </a:lnTo>
                  <a:lnTo>
                    <a:pt x="159" y="126798"/>
                  </a:lnTo>
                  <a:lnTo>
                    <a:pt x="7790" y="88432"/>
                  </a:lnTo>
                  <a:lnTo>
                    <a:pt x="26245" y="53906"/>
                  </a:lnTo>
                  <a:lnTo>
                    <a:pt x="53905" y="26246"/>
                  </a:lnTo>
                  <a:lnTo>
                    <a:pt x="88432" y="7791"/>
                  </a:lnTo>
                  <a:lnTo>
                    <a:pt x="126798" y="160"/>
                  </a:lnTo>
                  <a:lnTo>
                    <a:pt x="133349" y="0"/>
                  </a:lnTo>
                  <a:lnTo>
                    <a:pt x="139900" y="160"/>
                  </a:lnTo>
                  <a:lnTo>
                    <a:pt x="178265" y="7791"/>
                  </a:lnTo>
                  <a:lnTo>
                    <a:pt x="212791" y="26246"/>
                  </a:lnTo>
                  <a:lnTo>
                    <a:pt x="240452" y="53906"/>
                  </a:lnTo>
                  <a:lnTo>
                    <a:pt x="258906" y="88432"/>
                  </a:lnTo>
                  <a:lnTo>
                    <a:pt x="266539" y="126798"/>
                  </a:lnTo>
                  <a:lnTo>
                    <a:pt x="266699" y="133349"/>
                  </a:lnTo>
                  <a:lnTo>
                    <a:pt x="266539" y="139900"/>
                  </a:lnTo>
                  <a:lnTo>
                    <a:pt x="258906" y="178266"/>
                  </a:lnTo>
                  <a:lnTo>
                    <a:pt x="240452" y="212792"/>
                  </a:lnTo>
                  <a:lnTo>
                    <a:pt x="212791" y="240453"/>
                  </a:lnTo>
                  <a:lnTo>
                    <a:pt x="178265" y="258907"/>
                  </a:lnTo>
                  <a:lnTo>
                    <a:pt x="139900"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5" name="object 65"/>
            <p:cNvSpPr/>
            <p:nvPr/>
          </p:nvSpPr>
          <p:spPr>
            <a:xfrm>
              <a:off x="9572624" y="3124199"/>
              <a:ext cx="266700" cy="266700"/>
            </a:xfrm>
            <a:custGeom>
              <a:avLst/>
              <a:gdLst/>
              <a:ahLst/>
              <a:cxnLst/>
              <a:rect l="l" t="t" r="r" b="b"/>
              <a:pathLst>
                <a:path w="266700" h="266700">
                  <a:moveTo>
                    <a:pt x="266699" y="133349"/>
                  </a:moveTo>
                  <a:lnTo>
                    <a:pt x="260957" y="172059"/>
                  </a:lnTo>
                  <a:lnTo>
                    <a:pt x="244224" y="207434"/>
                  </a:lnTo>
                  <a:lnTo>
                    <a:pt x="217945" y="236431"/>
                  </a:lnTo>
                  <a:lnTo>
                    <a:pt x="184379" y="256548"/>
                  </a:lnTo>
                  <a:lnTo>
                    <a:pt x="146420" y="266059"/>
                  </a:lnTo>
                  <a:lnTo>
                    <a:pt x="133349" y="266699"/>
                  </a:lnTo>
                  <a:lnTo>
                    <a:pt x="126798" y="266539"/>
                  </a:lnTo>
                  <a:lnTo>
                    <a:pt x="88432" y="258907"/>
                  </a:lnTo>
                  <a:lnTo>
                    <a:pt x="53906" y="240453"/>
                  </a:lnTo>
                  <a:lnTo>
                    <a:pt x="26245" y="212792"/>
                  </a:lnTo>
                  <a:lnTo>
                    <a:pt x="7790" y="178266"/>
                  </a:lnTo>
                  <a:lnTo>
                    <a:pt x="159" y="139900"/>
                  </a:lnTo>
                  <a:lnTo>
                    <a:pt x="0" y="133349"/>
                  </a:lnTo>
                  <a:lnTo>
                    <a:pt x="159" y="126798"/>
                  </a:lnTo>
                  <a:lnTo>
                    <a:pt x="7790" y="88432"/>
                  </a:lnTo>
                  <a:lnTo>
                    <a:pt x="26245" y="53906"/>
                  </a:lnTo>
                  <a:lnTo>
                    <a:pt x="53905" y="26246"/>
                  </a:lnTo>
                  <a:lnTo>
                    <a:pt x="88432" y="7791"/>
                  </a:lnTo>
                  <a:lnTo>
                    <a:pt x="126798" y="160"/>
                  </a:lnTo>
                  <a:lnTo>
                    <a:pt x="133349" y="0"/>
                  </a:lnTo>
                  <a:lnTo>
                    <a:pt x="139900" y="160"/>
                  </a:lnTo>
                  <a:lnTo>
                    <a:pt x="178265" y="7791"/>
                  </a:lnTo>
                  <a:lnTo>
                    <a:pt x="212791" y="26246"/>
                  </a:lnTo>
                  <a:lnTo>
                    <a:pt x="240452" y="53906"/>
                  </a:lnTo>
                  <a:lnTo>
                    <a:pt x="258906" y="88432"/>
                  </a:lnTo>
                  <a:lnTo>
                    <a:pt x="266539" y="126798"/>
                  </a:lnTo>
                  <a:lnTo>
                    <a:pt x="266699" y="133349"/>
                  </a:lnTo>
                  <a:close/>
                </a:path>
              </a:pathLst>
            </a:custGeom>
            <a:ln w="38099">
              <a:solidFill>
                <a:srgbClr val="FFFF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66" name="object 66"/>
          <p:cNvSpPr txBox="1"/>
          <p:nvPr/>
        </p:nvSpPr>
        <p:spPr>
          <a:xfrm>
            <a:off x="9630319" y="3167904"/>
            <a:ext cx="156210" cy="139782"/>
          </a:xfrm>
          <a:prstGeom prst="rect">
            <a:avLst/>
          </a:prstGeom>
        </p:spPr>
        <p:txBody>
          <a:bodyPr vert="horz" wrap="square" lIns="0" tIns="16510" rIns="0" bIns="0" rtlCol="0">
            <a:spAutoFit/>
          </a:bodyPr>
          <a:lstStyle/>
          <a:p>
            <a:pPr marL="12700">
              <a:lnSpc>
                <a:spcPct val="100000"/>
              </a:lnSpc>
              <a:spcBef>
                <a:spcPts val="130"/>
              </a:spcBef>
            </a:pPr>
            <a:r>
              <a:rPr sz="800" b="1" spc="540" dirty="0">
                <a:solidFill>
                  <a:srgbClr val="FFFFFF"/>
                </a:solidFill>
                <a:latin typeface="Times New Roman" panose="02020603050405020304" pitchFamily="18" charset="0"/>
                <a:cs typeface="Times New Roman" panose="02020603050405020304" pitchFamily="18" charset="0"/>
              </a:rPr>
              <a:t>5</a:t>
            </a:r>
            <a:endParaRPr sz="8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523830"/>
            <a:ext cx="1057275" cy="146835"/>
          </a:xfrm>
          <a:prstGeom prst="rect">
            <a:avLst/>
          </a:prstGeom>
        </p:spPr>
        <p:txBody>
          <a:bodyPr vert="horz" wrap="square" lIns="0" tIns="15875" rIns="0" bIns="0" rtlCol="0">
            <a:spAutoFit/>
          </a:bodyPr>
          <a:lstStyle/>
          <a:p>
            <a:pPr marL="12700">
              <a:lnSpc>
                <a:spcPct val="100000"/>
              </a:lnSpc>
              <a:spcBef>
                <a:spcPts val="125"/>
              </a:spcBef>
            </a:pPr>
            <a:r>
              <a:rPr sz="850" b="1" spc="55" dirty="0">
                <a:solidFill>
                  <a:srgbClr val="E7863A"/>
                </a:solidFill>
                <a:latin typeface="Times New Roman" panose="02020603050405020304" pitchFamily="18" charset="0"/>
                <a:cs typeface="Times New Roman" panose="02020603050405020304" pitchFamily="18" charset="0"/>
              </a:rPr>
              <a:t>AR</a:t>
            </a:r>
            <a:r>
              <a:rPr sz="850" b="1" spc="-11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C</a:t>
            </a:r>
            <a:r>
              <a:rPr sz="850" b="1" spc="-9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H</a:t>
            </a:r>
            <a:r>
              <a:rPr sz="850" b="1" spc="-70"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I</a:t>
            </a:r>
            <a:r>
              <a:rPr sz="850" b="1" spc="-25"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T</a:t>
            </a:r>
            <a:r>
              <a:rPr sz="850" b="1" spc="-90"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a:t>
            </a:r>
            <a:r>
              <a:rPr sz="850" b="1" spc="-7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C</a:t>
            </a:r>
            <a:r>
              <a:rPr sz="850" b="1" spc="-95"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T</a:t>
            </a:r>
            <a:r>
              <a:rPr sz="850" b="1" spc="-90" dirty="0">
                <a:solidFill>
                  <a:srgbClr val="E7863A"/>
                </a:solidFill>
                <a:latin typeface="Times New Roman" panose="02020603050405020304" pitchFamily="18" charset="0"/>
                <a:cs typeface="Times New Roman" panose="02020603050405020304" pitchFamily="18" charset="0"/>
              </a:rPr>
              <a:t> </a:t>
            </a:r>
            <a:r>
              <a:rPr sz="850" b="1" spc="-20" dirty="0">
                <a:solidFill>
                  <a:srgbClr val="E7863A"/>
                </a:solidFill>
                <a:latin typeface="Times New Roman" panose="02020603050405020304" pitchFamily="18" charset="0"/>
                <a:cs typeface="Times New Roman" panose="02020603050405020304" pitchFamily="18" charset="0"/>
              </a:rPr>
              <a:t>U</a:t>
            </a:r>
            <a:r>
              <a:rPr sz="850" b="1" spc="-70"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R</a:t>
            </a:r>
            <a:r>
              <a:rPr sz="850" b="1" spc="-105"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E</a:t>
            </a:r>
            <a:endParaRPr sz="850">
              <a:latin typeface="Times New Roman" panose="02020603050405020304" pitchFamily="18" charset="0"/>
              <a:cs typeface="Times New Roman" panose="02020603050405020304" pitchFamily="18" charset="0"/>
            </a:endParaRPr>
          </a:p>
        </p:txBody>
      </p:sp>
      <p:sp>
        <p:nvSpPr>
          <p:cNvPr id="3" name="object 3" descr="$PPTXTitle"/>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25" dirty="0">
                <a:latin typeface="Times New Roman" panose="02020603050405020304" pitchFamily="18" charset="0"/>
                <a:cs typeface="Times New Roman" panose="02020603050405020304" pitchFamily="18" charset="0"/>
              </a:rPr>
              <a:t>Structure</a:t>
            </a:r>
            <a:r>
              <a:rPr spc="-105" dirty="0">
                <a:latin typeface="Times New Roman" panose="02020603050405020304" pitchFamily="18" charset="0"/>
                <a:cs typeface="Times New Roman" panose="02020603050405020304" pitchFamily="18" charset="0"/>
              </a:rPr>
              <a:t> </a:t>
            </a:r>
            <a:r>
              <a:rPr spc="844" dirty="0">
                <a:latin typeface="Times New Roman" panose="02020603050405020304" pitchFamily="18" charset="0"/>
                <a:cs typeface="Times New Roman" panose="02020603050405020304" pitchFamily="18" charset="0"/>
              </a:rPr>
              <a:t>et</a:t>
            </a:r>
            <a:r>
              <a:rPr spc="-55" dirty="0">
                <a:latin typeface="Times New Roman" panose="02020603050405020304" pitchFamily="18" charset="0"/>
                <a:cs typeface="Times New Roman" panose="02020603050405020304" pitchFamily="18" charset="0"/>
              </a:rPr>
              <a:t> </a:t>
            </a:r>
            <a:r>
              <a:rPr spc="865" dirty="0">
                <a:latin typeface="Times New Roman" panose="02020603050405020304" pitchFamily="18" charset="0"/>
                <a:cs typeface="Times New Roman" panose="02020603050405020304" pitchFamily="18" charset="0"/>
              </a:rPr>
              <a:t>contenu</a:t>
            </a:r>
            <a:r>
              <a:rPr spc="-65" dirty="0">
                <a:latin typeface="Times New Roman" panose="02020603050405020304" pitchFamily="18" charset="0"/>
                <a:cs typeface="Times New Roman" panose="02020603050405020304" pitchFamily="18" charset="0"/>
              </a:rPr>
              <a:t> </a:t>
            </a:r>
            <a:r>
              <a:rPr spc="1015" dirty="0">
                <a:latin typeface="Times New Roman" panose="02020603050405020304" pitchFamily="18" charset="0"/>
                <a:cs typeface="Times New Roman" panose="02020603050405020304" pitchFamily="18" charset="0"/>
              </a:rPr>
              <a:t>du</a:t>
            </a:r>
            <a:r>
              <a:rPr spc="-70" dirty="0">
                <a:latin typeface="Times New Roman" panose="02020603050405020304" pitchFamily="18" charset="0"/>
                <a:cs typeface="Times New Roman" panose="02020603050405020304" pitchFamily="18" charset="0"/>
              </a:rPr>
              <a:t> </a:t>
            </a:r>
            <a:r>
              <a:rPr spc="600" dirty="0">
                <a:latin typeface="Times New Roman" panose="02020603050405020304" pitchFamily="18" charset="0"/>
                <a:cs typeface="Times New Roman" panose="02020603050405020304" pitchFamily="18" charset="0"/>
              </a:rPr>
              <a:t>site</a:t>
            </a:r>
          </a:p>
        </p:txBody>
      </p:sp>
      <p:sp>
        <p:nvSpPr>
          <p:cNvPr id="4" name="object 4"/>
          <p:cNvSpPr txBox="1"/>
          <p:nvPr/>
        </p:nvSpPr>
        <p:spPr>
          <a:xfrm>
            <a:off x="596899" y="1195554"/>
            <a:ext cx="2884805" cy="198772"/>
          </a:xfrm>
          <a:prstGeom prst="rect">
            <a:avLst/>
          </a:prstGeom>
        </p:spPr>
        <p:txBody>
          <a:bodyPr vert="horz" wrap="square" lIns="0" tIns="13970" rIns="0" bIns="0" rtlCol="0">
            <a:spAutoFit/>
          </a:bodyPr>
          <a:lstStyle/>
          <a:p>
            <a:pPr marL="12700">
              <a:lnSpc>
                <a:spcPct val="100000"/>
              </a:lnSpc>
              <a:spcBef>
                <a:spcPts val="110"/>
              </a:spcBef>
            </a:pPr>
            <a:r>
              <a:rPr sz="1200" dirty="0">
                <a:solidFill>
                  <a:srgbClr val="6A798F"/>
                </a:solidFill>
                <a:latin typeface="Times New Roman" panose="02020603050405020304" pitchFamily="18" charset="0"/>
                <a:cs typeface="Times New Roman" panose="02020603050405020304" pitchFamily="18" charset="0"/>
              </a:rPr>
              <a:t>Les</a:t>
            </a:r>
            <a:r>
              <a:rPr sz="1200" spc="-3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éléments</a:t>
            </a:r>
            <a:r>
              <a:rPr sz="1200" spc="-2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qui</a:t>
            </a:r>
            <a:r>
              <a:rPr sz="1200" spc="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composent</a:t>
            </a:r>
            <a:r>
              <a:rPr sz="1200" spc="-4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chaque</a:t>
            </a:r>
            <a:r>
              <a:rPr sz="1200" spc="-35" dirty="0">
                <a:solidFill>
                  <a:srgbClr val="6A798F"/>
                </a:solidFill>
                <a:latin typeface="Times New Roman" panose="02020603050405020304" pitchFamily="18" charset="0"/>
                <a:cs typeface="Times New Roman" panose="02020603050405020304" pitchFamily="18" charset="0"/>
              </a:rPr>
              <a:t> </a:t>
            </a:r>
            <a:r>
              <a:rPr sz="1200" spc="-20" dirty="0">
                <a:solidFill>
                  <a:srgbClr val="6A798F"/>
                </a:solidFill>
                <a:latin typeface="Times New Roman" panose="02020603050405020304" pitchFamily="18" charset="0"/>
                <a:cs typeface="Times New Roman" panose="02020603050405020304" pitchFamily="18" charset="0"/>
              </a:rPr>
              <a:t>page</a:t>
            </a:r>
            <a:endParaRPr sz="1200">
              <a:latin typeface="Times New Roman" panose="02020603050405020304" pitchFamily="18" charset="0"/>
              <a:cs typeface="Times New Roman" panose="02020603050405020304" pitchFamily="18" charset="0"/>
            </a:endParaRPr>
          </a:p>
        </p:txBody>
      </p:sp>
      <p:grpSp>
        <p:nvGrpSpPr>
          <p:cNvPr id="5" name="object 5"/>
          <p:cNvGrpSpPr/>
          <p:nvPr/>
        </p:nvGrpSpPr>
        <p:grpSpPr>
          <a:xfrm>
            <a:off x="609599" y="1571624"/>
            <a:ext cx="7267575" cy="1704975"/>
            <a:chOff x="609599" y="1571624"/>
            <a:chExt cx="7267575" cy="1704975"/>
          </a:xfrm>
        </p:grpSpPr>
        <p:sp>
          <p:nvSpPr>
            <p:cNvPr id="6" name="object 6"/>
            <p:cNvSpPr/>
            <p:nvPr/>
          </p:nvSpPr>
          <p:spPr>
            <a:xfrm>
              <a:off x="628649" y="1571624"/>
              <a:ext cx="7248525" cy="1704975"/>
            </a:xfrm>
            <a:custGeom>
              <a:avLst/>
              <a:gdLst/>
              <a:ahLst/>
              <a:cxnLst/>
              <a:rect l="l" t="t" r="r" b="b"/>
              <a:pathLst>
                <a:path w="7248525" h="1704975">
                  <a:moveTo>
                    <a:pt x="7141729" y="1704974"/>
                  </a:moveTo>
                  <a:lnTo>
                    <a:pt x="88995" y="1704974"/>
                  </a:lnTo>
                  <a:lnTo>
                    <a:pt x="82801" y="1704242"/>
                  </a:lnTo>
                  <a:lnTo>
                    <a:pt x="37131" y="1681542"/>
                  </a:lnTo>
                  <a:lnTo>
                    <a:pt x="12577" y="1647935"/>
                  </a:lnTo>
                  <a:lnTo>
                    <a:pt x="610" y="1605612"/>
                  </a:lnTo>
                  <a:lnTo>
                    <a:pt x="0" y="1598179"/>
                  </a:lnTo>
                  <a:lnTo>
                    <a:pt x="0" y="1590674"/>
                  </a:lnTo>
                  <a:lnTo>
                    <a:pt x="0" y="106794"/>
                  </a:lnTo>
                  <a:lnTo>
                    <a:pt x="9643" y="63625"/>
                  </a:lnTo>
                  <a:lnTo>
                    <a:pt x="32320" y="28170"/>
                  </a:lnTo>
                  <a:lnTo>
                    <a:pt x="64577" y="5828"/>
                  </a:lnTo>
                  <a:lnTo>
                    <a:pt x="88995" y="0"/>
                  </a:lnTo>
                  <a:lnTo>
                    <a:pt x="7141729" y="0"/>
                  </a:lnTo>
                  <a:lnTo>
                    <a:pt x="7184898" y="11572"/>
                  </a:lnTo>
                  <a:lnTo>
                    <a:pt x="7220352" y="38784"/>
                  </a:lnTo>
                  <a:lnTo>
                    <a:pt x="7242695" y="77492"/>
                  </a:lnTo>
                  <a:lnTo>
                    <a:pt x="7248523" y="106794"/>
                  </a:lnTo>
                  <a:lnTo>
                    <a:pt x="7248523" y="1598179"/>
                  </a:lnTo>
                  <a:lnTo>
                    <a:pt x="7236950" y="1641348"/>
                  </a:lnTo>
                  <a:lnTo>
                    <a:pt x="7209739" y="1676803"/>
                  </a:lnTo>
                  <a:lnTo>
                    <a:pt x="7171030" y="1699146"/>
                  </a:lnTo>
                  <a:lnTo>
                    <a:pt x="7149161" y="1704242"/>
                  </a:lnTo>
                  <a:lnTo>
                    <a:pt x="7141729" y="1704974"/>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609599" y="1571624"/>
              <a:ext cx="114300" cy="1704975"/>
            </a:xfrm>
            <a:custGeom>
              <a:avLst/>
              <a:gdLst/>
              <a:ahLst/>
              <a:cxnLst/>
              <a:rect l="l" t="t" r="r" b="b"/>
              <a:pathLst>
                <a:path w="114300" h="1704975">
                  <a:moveTo>
                    <a:pt x="114300" y="1704974"/>
                  </a:moveTo>
                  <a:lnTo>
                    <a:pt x="70559" y="1696274"/>
                  </a:lnTo>
                  <a:lnTo>
                    <a:pt x="33477" y="1671497"/>
                  </a:lnTo>
                  <a:lnTo>
                    <a:pt x="8700" y="1634415"/>
                  </a:lnTo>
                  <a:lnTo>
                    <a:pt x="0" y="1590674"/>
                  </a:lnTo>
                  <a:lnTo>
                    <a:pt x="0" y="114300"/>
                  </a:lnTo>
                  <a:lnTo>
                    <a:pt x="8700" y="70559"/>
                  </a:lnTo>
                  <a:lnTo>
                    <a:pt x="33477" y="33477"/>
                  </a:lnTo>
                  <a:lnTo>
                    <a:pt x="70559" y="8700"/>
                  </a:lnTo>
                  <a:lnTo>
                    <a:pt x="114300" y="0"/>
                  </a:lnTo>
                  <a:lnTo>
                    <a:pt x="106793" y="543"/>
                  </a:lnTo>
                  <a:lnTo>
                    <a:pt x="99431" y="2175"/>
                  </a:lnTo>
                  <a:lnTo>
                    <a:pt x="65982" y="25900"/>
                  </a:lnTo>
                  <a:lnTo>
                    <a:pt x="47107" y="60364"/>
                  </a:lnTo>
                  <a:lnTo>
                    <a:pt x="38462" y="103040"/>
                  </a:lnTo>
                  <a:lnTo>
                    <a:pt x="38100" y="114300"/>
                  </a:lnTo>
                  <a:lnTo>
                    <a:pt x="38100" y="1590674"/>
                  </a:lnTo>
                  <a:lnTo>
                    <a:pt x="43900" y="1634415"/>
                  </a:lnTo>
                  <a:lnTo>
                    <a:pt x="60418" y="1671497"/>
                  </a:lnTo>
                  <a:lnTo>
                    <a:pt x="92213" y="1700080"/>
                  </a:lnTo>
                  <a:lnTo>
                    <a:pt x="106793" y="1704430"/>
                  </a:lnTo>
                  <a:lnTo>
                    <a:pt x="114300" y="1704974"/>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8" name="object 8"/>
            <p:cNvPicPr/>
            <p:nvPr/>
          </p:nvPicPr>
          <p:blipFill>
            <a:blip r:embed="rId3" cstate="print"/>
            <a:stretch>
              <a:fillRect/>
            </a:stretch>
          </p:blipFill>
          <p:spPr>
            <a:xfrm>
              <a:off x="857249" y="1784349"/>
              <a:ext cx="114300" cy="123825"/>
            </a:xfrm>
            <a:prstGeom prst="rect">
              <a:avLst/>
            </a:prstGeom>
          </p:spPr>
        </p:pic>
      </p:grpSp>
      <p:sp>
        <p:nvSpPr>
          <p:cNvPr id="9" name="object 9"/>
          <p:cNvSpPr txBox="1"/>
          <p:nvPr/>
        </p:nvSpPr>
        <p:spPr>
          <a:xfrm>
            <a:off x="1015999" y="1729655"/>
            <a:ext cx="1541145" cy="198131"/>
          </a:xfrm>
          <a:prstGeom prst="rect">
            <a:avLst/>
          </a:prstGeom>
        </p:spPr>
        <p:txBody>
          <a:bodyPr vert="horz" wrap="square" lIns="0" tIns="13335" rIns="0" bIns="0" rtlCol="0">
            <a:spAutoFit/>
          </a:bodyPr>
          <a:lstStyle/>
          <a:p>
            <a:pPr marL="12700">
              <a:lnSpc>
                <a:spcPct val="100000"/>
              </a:lnSpc>
              <a:spcBef>
                <a:spcPts val="105"/>
              </a:spcBef>
            </a:pPr>
            <a:r>
              <a:rPr sz="1200" b="1" spc="415" dirty="0">
                <a:solidFill>
                  <a:srgbClr val="1B294A"/>
                </a:solidFill>
                <a:latin typeface="Times New Roman" panose="02020603050405020304" pitchFamily="18" charset="0"/>
                <a:cs typeface="Times New Roman" panose="02020603050405020304" pitchFamily="18" charset="0"/>
              </a:rPr>
              <a:t>Pages</a:t>
            </a:r>
            <a:r>
              <a:rPr sz="1200" b="1" spc="-30" dirty="0">
                <a:solidFill>
                  <a:srgbClr val="1B294A"/>
                </a:solidFill>
                <a:latin typeface="Times New Roman" panose="02020603050405020304" pitchFamily="18" charset="0"/>
                <a:cs typeface="Times New Roman" panose="02020603050405020304" pitchFamily="18" charset="0"/>
              </a:rPr>
              <a:t> </a:t>
            </a:r>
            <a:r>
              <a:rPr sz="1200" b="1" spc="459" dirty="0">
                <a:solidFill>
                  <a:srgbClr val="1B294A"/>
                </a:solidFill>
                <a:latin typeface="Times New Roman" panose="02020603050405020304" pitchFamily="18" charset="0"/>
                <a:cs typeface="Times New Roman" panose="02020603050405020304" pitchFamily="18" charset="0"/>
              </a:rPr>
              <a:t>du</a:t>
            </a:r>
            <a:r>
              <a:rPr sz="1200" b="1" spc="-30" dirty="0">
                <a:solidFill>
                  <a:srgbClr val="1B294A"/>
                </a:solidFill>
                <a:latin typeface="Times New Roman" panose="02020603050405020304" pitchFamily="18" charset="0"/>
                <a:cs typeface="Times New Roman" panose="02020603050405020304" pitchFamily="18" charset="0"/>
              </a:rPr>
              <a:t> </a:t>
            </a:r>
            <a:r>
              <a:rPr sz="1200" b="1" spc="270" dirty="0">
                <a:solidFill>
                  <a:srgbClr val="1B294A"/>
                </a:solidFill>
                <a:latin typeface="Times New Roman" panose="02020603050405020304" pitchFamily="18" charset="0"/>
                <a:cs typeface="Times New Roman" panose="02020603050405020304" pitchFamily="18" charset="0"/>
              </a:rPr>
              <a:t>site</a:t>
            </a:r>
            <a:endParaRPr sz="1200">
              <a:latin typeface="Times New Roman" panose="02020603050405020304" pitchFamily="18" charset="0"/>
              <a:cs typeface="Times New Roman" panose="02020603050405020304" pitchFamily="18" charset="0"/>
            </a:endParaRPr>
          </a:p>
        </p:txBody>
      </p:sp>
      <p:sp>
        <p:nvSpPr>
          <p:cNvPr id="10" name="object 10"/>
          <p:cNvSpPr txBox="1"/>
          <p:nvPr/>
        </p:nvSpPr>
        <p:spPr>
          <a:xfrm>
            <a:off x="825499" y="2016893"/>
            <a:ext cx="2125980"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3A4556"/>
                </a:solidFill>
                <a:latin typeface="Times New Roman" panose="02020603050405020304" pitchFamily="18" charset="0"/>
                <a:cs typeface="Times New Roman" panose="02020603050405020304" pitchFamily="18" charset="0"/>
              </a:rPr>
              <a:t>5</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pages</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principales</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composent</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le</a:t>
            </a:r>
            <a:r>
              <a:rPr sz="950" spc="3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site</a:t>
            </a:r>
            <a:r>
              <a:rPr sz="950" spc="35" dirty="0">
                <a:solidFill>
                  <a:srgbClr val="3A4556"/>
                </a:solidFill>
                <a:latin typeface="Times New Roman" panose="02020603050405020304" pitchFamily="18" charset="0"/>
                <a:cs typeface="Times New Roman" panose="02020603050405020304" pitchFamily="18" charset="0"/>
              </a:rPr>
              <a:t> </a:t>
            </a:r>
            <a:r>
              <a:rPr sz="950" spc="-50" dirty="0">
                <a:solidFill>
                  <a:srgbClr val="3A4556"/>
                </a:solidFill>
                <a:latin typeface="Times New Roman" panose="02020603050405020304" pitchFamily="18" charset="0"/>
                <a:cs typeface="Times New Roman" panose="02020603050405020304" pitchFamily="18" charset="0"/>
              </a:rPr>
              <a:t>:</a:t>
            </a:r>
            <a:endParaRPr sz="950">
              <a:latin typeface="Times New Roman" panose="02020603050405020304" pitchFamily="18" charset="0"/>
              <a:cs typeface="Times New Roman" panose="02020603050405020304" pitchFamily="18" charset="0"/>
            </a:endParaRPr>
          </a:p>
        </p:txBody>
      </p:sp>
      <p:grpSp>
        <p:nvGrpSpPr>
          <p:cNvPr id="11" name="object 11"/>
          <p:cNvGrpSpPr/>
          <p:nvPr/>
        </p:nvGrpSpPr>
        <p:grpSpPr>
          <a:xfrm>
            <a:off x="8029574" y="1571624"/>
            <a:ext cx="3552825" cy="1704975"/>
            <a:chOff x="8029574" y="1571624"/>
            <a:chExt cx="3552825" cy="1704975"/>
          </a:xfrm>
        </p:grpSpPr>
        <p:sp>
          <p:nvSpPr>
            <p:cNvPr id="12" name="object 12"/>
            <p:cNvSpPr/>
            <p:nvPr/>
          </p:nvSpPr>
          <p:spPr>
            <a:xfrm>
              <a:off x="8029574" y="1571624"/>
              <a:ext cx="3552825" cy="1704975"/>
            </a:xfrm>
            <a:custGeom>
              <a:avLst/>
              <a:gdLst/>
              <a:ahLst/>
              <a:cxnLst/>
              <a:rect l="l" t="t" r="r" b="b"/>
              <a:pathLst>
                <a:path w="3552825" h="1704975">
                  <a:moveTo>
                    <a:pt x="3446030" y="1704974"/>
                  </a:moveTo>
                  <a:lnTo>
                    <a:pt x="106794" y="1704974"/>
                  </a:lnTo>
                  <a:lnTo>
                    <a:pt x="99361" y="1704242"/>
                  </a:lnTo>
                  <a:lnTo>
                    <a:pt x="57037" y="1689880"/>
                  </a:lnTo>
                  <a:lnTo>
                    <a:pt x="23431" y="1660416"/>
                  </a:lnTo>
                  <a:lnTo>
                    <a:pt x="3659" y="1620334"/>
                  </a:lnTo>
                  <a:lnTo>
                    <a:pt x="0" y="1598179"/>
                  </a:lnTo>
                  <a:lnTo>
                    <a:pt x="0" y="1590674"/>
                  </a:lnTo>
                  <a:lnTo>
                    <a:pt x="0" y="106794"/>
                  </a:lnTo>
                  <a:lnTo>
                    <a:pt x="11571" y="63625"/>
                  </a:lnTo>
                  <a:lnTo>
                    <a:pt x="38784" y="28170"/>
                  </a:lnTo>
                  <a:lnTo>
                    <a:pt x="77492" y="5828"/>
                  </a:lnTo>
                  <a:lnTo>
                    <a:pt x="106794" y="0"/>
                  </a:lnTo>
                  <a:lnTo>
                    <a:pt x="3446030" y="0"/>
                  </a:lnTo>
                  <a:lnTo>
                    <a:pt x="3489197" y="11572"/>
                  </a:lnTo>
                  <a:lnTo>
                    <a:pt x="3524652" y="38784"/>
                  </a:lnTo>
                  <a:lnTo>
                    <a:pt x="3546994" y="77492"/>
                  </a:lnTo>
                  <a:lnTo>
                    <a:pt x="3552823" y="106794"/>
                  </a:lnTo>
                  <a:lnTo>
                    <a:pt x="3552823" y="1598179"/>
                  </a:lnTo>
                  <a:lnTo>
                    <a:pt x="3541249" y="1641348"/>
                  </a:lnTo>
                  <a:lnTo>
                    <a:pt x="3514038" y="1676803"/>
                  </a:lnTo>
                  <a:lnTo>
                    <a:pt x="3475330" y="1699146"/>
                  </a:lnTo>
                  <a:lnTo>
                    <a:pt x="3453462" y="1704242"/>
                  </a:lnTo>
                  <a:lnTo>
                    <a:pt x="3446030" y="170497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3" name="object 13"/>
            <p:cNvPicPr/>
            <p:nvPr/>
          </p:nvPicPr>
          <p:blipFill>
            <a:blip r:embed="rId4" cstate="print"/>
            <a:stretch>
              <a:fillRect/>
            </a:stretch>
          </p:blipFill>
          <p:spPr>
            <a:xfrm>
              <a:off x="8235850" y="1809749"/>
              <a:ext cx="114300" cy="76200"/>
            </a:xfrm>
            <a:prstGeom prst="rect">
              <a:avLst/>
            </a:prstGeom>
          </p:spPr>
        </p:pic>
      </p:grpSp>
      <p:sp>
        <p:nvSpPr>
          <p:cNvPr id="14" name="object 14"/>
          <p:cNvSpPr txBox="1"/>
          <p:nvPr/>
        </p:nvSpPr>
        <p:spPr>
          <a:xfrm>
            <a:off x="8394600" y="1729655"/>
            <a:ext cx="1268730" cy="198131"/>
          </a:xfrm>
          <a:prstGeom prst="rect">
            <a:avLst/>
          </a:prstGeom>
        </p:spPr>
        <p:txBody>
          <a:bodyPr vert="horz" wrap="square" lIns="0" tIns="13335" rIns="0" bIns="0" rtlCol="0">
            <a:spAutoFit/>
          </a:bodyPr>
          <a:lstStyle/>
          <a:p>
            <a:pPr marL="12700">
              <a:lnSpc>
                <a:spcPct val="100000"/>
              </a:lnSpc>
              <a:spcBef>
                <a:spcPts val="105"/>
              </a:spcBef>
            </a:pPr>
            <a:r>
              <a:rPr sz="1200" b="1" spc="345" dirty="0">
                <a:solidFill>
                  <a:srgbClr val="1B294A"/>
                </a:solidFill>
                <a:latin typeface="Times New Roman" panose="02020603050405020304" pitchFamily="18" charset="0"/>
                <a:cs typeface="Times New Roman" panose="02020603050405020304" pitchFamily="18" charset="0"/>
              </a:rPr>
              <a:t>Navigation</a:t>
            </a:r>
            <a:endParaRPr sz="1200">
              <a:latin typeface="Times New Roman" panose="02020603050405020304" pitchFamily="18" charset="0"/>
              <a:cs typeface="Times New Roman" panose="02020603050405020304" pitchFamily="18" charset="0"/>
            </a:endParaRPr>
          </a:p>
        </p:txBody>
      </p:sp>
      <p:grpSp>
        <p:nvGrpSpPr>
          <p:cNvPr id="15" name="object 15"/>
          <p:cNvGrpSpPr/>
          <p:nvPr/>
        </p:nvGrpSpPr>
        <p:grpSpPr>
          <a:xfrm>
            <a:off x="609599" y="3428999"/>
            <a:ext cx="3552825" cy="1933575"/>
            <a:chOff x="609599" y="3428999"/>
            <a:chExt cx="3552825" cy="1933575"/>
          </a:xfrm>
        </p:grpSpPr>
        <p:sp>
          <p:nvSpPr>
            <p:cNvPr id="16" name="object 16"/>
            <p:cNvSpPr/>
            <p:nvPr/>
          </p:nvSpPr>
          <p:spPr>
            <a:xfrm>
              <a:off x="609599" y="3428999"/>
              <a:ext cx="3552825" cy="1933575"/>
            </a:xfrm>
            <a:custGeom>
              <a:avLst/>
              <a:gdLst/>
              <a:ahLst/>
              <a:cxnLst/>
              <a:rect l="l" t="t" r="r" b="b"/>
              <a:pathLst>
                <a:path w="3552825" h="1933575">
                  <a:moveTo>
                    <a:pt x="3446029" y="1933574"/>
                  </a:moveTo>
                  <a:lnTo>
                    <a:pt x="106795" y="1933574"/>
                  </a:lnTo>
                  <a:lnTo>
                    <a:pt x="99362" y="1932842"/>
                  </a:lnTo>
                  <a:lnTo>
                    <a:pt x="57038" y="1918480"/>
                  </a:lnTo>
                  <a:lnTo>
                    <a:pt x="23432" y="1889015"/>
                  </a:lnTo>
                  <a:lnTo>
                    <a:pt x="3660" y="1848934"/>
                  </a:lnTo>
                  <a:lnTo>
                    <a:pt x="0" y="1826779"/>
                  </a:lnTo>
                  <a:lnTo>
                    <a:pt x="0" y="1819274"/>
                  </a:lnTo>
                  <a:lnTo>
                    <a:pt x="0" y="106794"/>
                  </a:lnTo>
                  <a:lnTo>
                    <a:pt x="11572" y="63624"/>
                  </a:lnTo>
                  <a:lnTo>
                    <a:pt x="38784" y="28170"/>
                  </a:lnTo>
                  <a:lnTo>
                    <a:pt x="77493" y="5828"/>
                  </a:lnTo>
                  <a:lnTo>
                    <a:pt x="106795" y="0"/>
                  </a:lnTo>
                  <a:lnTo>
                    <a:pt x="3446029" y="0"/>
                  </a:lnTo>
                  <a:lnTo>
                    <a:pt x="3489198" y="11572"/>
                  </a:lnTo>
                  <a:lnTo>
                    <a:pt x="3524653" y="38784"/>
                  </a:lnTo>
                  <a:lnTo>
                    <a:pt x="3546995" y="77492"/>
                  </a:lnTo>
                  <a:lnTo>
                    <a:pt x="3552824" y="106794"/>
                  </a:lnTo>
                  <a:lnTo>
                    <a:pt x="3552824" y="1826779"/>
                  </a:lnTo>
                  <a:lnTo>
                    <a:pt x="3541251" y="1869948"/>
                  </a:lnTo>
                  <a:lnTo>
                    <a:pt x="3514039" y="1905403"/>
                  </a:lnTo>
                  <a:lnTo>
                    <a:pt x="3475331" y="1927745"/>
                  </a:lnTo>
                  <a:lnTo>
                    <a:pt x="3453462" y="1932842"/>
                  </a:lnTo>
                  <a:lnTo>
                    <a:pt x="3446029" y="193357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7" name="object 17"/>
            <p:cNvPicPr/>
            <p:nvPr/>
          </p:nvPicPr>
          <p:blipFill>
            <a:blip r:embed="rId5" cstate="print"/>
            <a:stretch>
              <a:fillRect/>
            </a:stretch>
          </p:blipFill>
          <p:spPr>
            <a:xfrm>
              <a:off x="828674" y="3648074"/>
              <a:ext cx="98425" cy="133350"/>
            </a:xfrm>
            <a:prstGeom prst="rect">
              <a:avLst/>
            </a:prstGeom>
          </p:spPr>
        </p:pic>
      </p:grpSp>
      <p:sp>
        <p:nvSpPr>
          <p:cNvPr id="18" name="object 18"/>
          <p:cNvSpPr txBox="1"/>
          <p:nvPr/>
        </p:nvSpPr>
        <p:spPr>
          <a:xfrm>
            <a:off x="977899" y="3587030"/>
            <a:ext cx="2322195" cy="198131"/>
          </a:xfrm>
          <a:prstGeom prst="rect">
            <a:avLst/>
          </a:prstGeom>
        </p:spPr>
        <p:txBody>
          <a:bodyPr vert="horz" wrap="square" lIns="0" tIns="13335" rIns="0" bIns="0" rtlCol="0">
            <a:spAutoFit/>
          </a:bodyPr>
          <a:lstStyle/>
          <a:p>
            <a:pPr marL="12700">
              <a:lnSpc>
                <a:spcPct val="100000"/>
              </a:lnSpc>
              <a:spcBef>
                <a:spcPts val="105"/>
              </a:spcBef>
            </a:pPr>
            <a:r>
              <a:rPr sz="1200" b="1" spc="400" dirty="0">
                <a:solidFill>
                  <a:srgbClr val="1B294A"/>
                </a:solidFill>
                <a:latin typeface="Times New Roman" panose="02020603050405020304" pitchFamily="18" charset="0"/>
                <a:cs typeface="Times New Roman" panose="02020603050405020304" pitchFamily="18" charset="0"/>
              </a:rPr>
              <a:t>Éléments</a:t>
            </a:r>
            <a:r>
              <a:rPr sz="1200" b="1" spc="-15" dirty="0">
                <a:solidFill>
                  <a:srgbClr val="1B294A"/>
                </a:solidFill>
                <a:latin typeface="Times New Roman" panose="02020603050405020304" pitchFamily="18" charset="0"/>
                <a:cs typeface="Times New Roman" panose="02020603050405020304" pitchFamily="18" charset="0"/>
              </a:rPr>
              <a:t> </a:t>
            </a:r>
            <a:r>
              <a:rPr sz="1200" b="1" spc="295" dirty="0">
                <a:solidFill>
                  <a:srgbClr val="1B294A"/>
                </a:solidFill>
                <a:latin typeface="Times New Roman" panose="02020603050405020304" pitchFamily="18" charset="0"/>
                <a:cs typeface="Times New Roman" panose="02020603050405020304" pitchFamily="18" charset="0"/>
              </a:rPr>
              <a:t>interactifs</a:t>
            </a:r>
            <a:endParaRPr sz="1200">
              <a:latin typeface="Times New Roman" panose="02020603050405020304" pitchFamily="18" charset="0"/>
              <a:cs typeface="Times New Roman" panose="02020603050405020304" pitchFamily="18" charset="0"/>
            </a:endParaRPr>
          </a:p>
        </p:txBody>
      </p:sp>
      <p:grpSp>
        <p:nvGrpSpPr>
          <p:cNvPr id="19" name="object 19"/>
          <p:cNvGrpSpPr/>
          <p:nvPr/>
        </p:nvGrpSpPr>
        <p:grpSpPr>
          <a:xfrm>
            <a:off x="4314824" y="3428999"/>
            <a:ext cx="7267575" cy="1933575"/>
            <a:chOff x="4314824" y="3428999"/>
            <a:chExt cx="7267575" cy="1933575"/>
          </a:xfrm>
        </p:grpSpPr>
        <p:sp>
          <p:nvSpPr>
            <p:cNvPr id="20" name="object 20"/>
            <p:cNvSpPr/>
            <p:nvPr/>
          </p:nvSpPr>
          <p:spPr>
            <a:xfrm>
              <a:off x="4314824" y="3428999"/>
              <a:ext cx="7267575" cy="1933575"/>
            </a:xfrm>
            <a:custGeom>
              <a:avLst/>
              <a:gdLst/>
              <a:ahLst/>
              <a:cxnLst/>
              <a:rect l="l" t="t" r="r" b="b"/>
              <a:pathLst>
                <a:path w="7267575" h="1933575">
                  <a:moveTo>
                    <a:pt x="7160780" y="1933574"/>
                  </a:moveTo>
                  <a:lnTo>
                    <a:pt x="106794" y="1933574"/>
                  </a:lnTo>
                  <a:lnTo>
                    <a:pt x="99361" y="1932842"/>
                  </a:lnTo>
                  <a:lnTo>
                    <a:pt x="57038" y="1918480"/>
                  </a:lnTo>
                  <a:lnTo>
                    <a:pt x="23432" y="1889015"/>
                  </a:lnTo>
                  <a:lnTo>
                    <a:pt x="3660" y="1848934"/>
                  </a:lnTo>
                  <a:lnTo>
                    <a:pt x="0" y="1826779"/>
                  </a:lnTo>
                  <a:lnTo>
                    <a:pt x="0" y="1819274"/>
                  </a:lnTo>
                  <a:lnTo>
                    <a:pt x="0" y="106794"/>
                  </a:lnTo>
                  <a:lnTo>
                    <a:pt x="11572" y="63624"/>
                  </a:lnTo>
                  <a:lnTo>
                    <a:pt x="38784" y="28170"/>
                  </a:lnTo>
                  <a:lnTo>
                    <a:pt x="77492" y="5828"/>
                  </a:lnTo>
                  <a:lnTo>
                    <a:pt x="106794" y="0"/>
                  </a:lnTo>
                  <a:lnTo>
                    <a:pt x="7160780" y="0"/>
                  </a:lnTo>
                  <a:lnTo>
                    <a:pt x="7203947" y="11572"/>
                  </a:lnTo>
                  <a:lnTo>
                    <a:pt x="7239402" y="38784"/>
                  </a:lnTo>
                  <a:lnTo>
                    <a:pt x="7261744" y="77492"/>
                  </a:lnTo>
                  <a:lnTo>
                    <a:pt x="7267573" y="106794"/>
                  </a:lnTo>
                  <a:lnTo>
                    <a:pt x="7267573" y="1826779"/>
                  </a:lnTo>
                  <a:lnTo>
                    <a:pt x="7255999" y="1869948"/>
                  </a:lnTo>
                  <a:lnTo>
                    <a:pt x="7228788" y="1905403"/>
                  </a:lnTo>
                  <a:lnTo>
                    <a:pt x="7190080" y="1927745"/>
                  </a:lnTo>
                  <a:lnTo>
                    <a:pt x="7168212" y="1932842"/>
                  </a:lnTo>
                  <a:lnTo>
                    <a:pt x="7160780" y="193357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21" name="object 21"/>
            <p:cNvPicPr/>
            <p:nvPr/>
          </p:nvPicPr>
          <p:blipFill>
            <a:blip r:embed="rId6" cstate="print"/>
            <a:stretch>
              <a:fillRect/>
            </a:stretch>
          </p:blipFill>
          <p:spPr>
            <a:xfrm>
              <a:off x="4527500" y="3648074"/>
              <a:ext cx="114300" cy="114300"/>
            </a:xfrm>
            <a:prstGeom prst="rect">
              <a:avLst/>
            </a:prstGeom>
          </p:spPr>
        </p:pic>
      </p:grpSp>
      <p:sp>
        <p:nvSpPr>
          <p:cNvPr id="22" name="object 22"/>
          <p:cNvSpPr txBox="1"/>
          <p:nvPr/>
        </p:nvSpPr>
        <p:spPr>
          <a:xfrm>
            <a:off x="4686250" y="3587030"/>
            <a:ext cx="2809240" cy="198131"/>
          </a:xfrm>
          <a:prstGeom prst="rect">
            <a:avLst/>
          </a:prstGeom>
        </p:spPr>
        <p:txBody>
          <a:bodyPr vert="horz" wrap="square" lIns="0" tIns="13335" rIns="0" bIns="0" rtlCol="0">
            <a:spAutoFit/>
          </a:bodyPr>
          <a:lstStyle/>
          <a:p>
            <a:pPr marL="12700">
              <a:lnSpc>
                <a:spcPct val="100000"/>
              </a:lnSpc>
              <a:spcBef>
                <a:spcPts val="105"/>
              </a:spcBef>
            </a:pPr>
            <a:r>
              <a:rPr sz="1200" b="1" spc="420" dirty="0">
                <a:solidFill>
                  <a:srgbClr val="1B294A"/>
                </a:solidFill>
                <a:latin typeface="Times New Roman" panose="02020603050405020304" pitchFamily="18" charset="0"/>
                <a:cs typeface="Times New Roman" panose="02020603050405020304" pitchFamily="18" charset="0"/>
              </a:rPr>
              <a:t>Contenu</a:t>
            </a:r>
            <a:r>
              <a:rPr sz="1200" b="1" spc="-35" dirty="0">
                <a:solidFill>
                  <a:srgbClr val="1B294A"/>
                </a:solidFill>
                <a:latin typeface="Times New Roman" panose="02020603050405020304" pitchFamily="18" charset="0"/>
                <a:cs typeface="Times New Roman" panose="02020603050405020304" pitchFamily="18" charset="0"/>
              </a:rPr>
              <a:t> </a:t>
            </a:r>
            <a:r>
              <a:rPr sz="1200" b="1" spc="325" dirty="0">
                <a:solidFill>
                  <a:srgbClr val="1B294A"/>
                </a:solidFill>
                <a:latin typeface="Times New Roman" panose="02020603050405020304" pitchFamily="18" charset="0"/>
                <a:cs typeface="Times New Roman" panose="02020603050405020304" pitchFamily="18" charset="0"/>
              </a:rPr>
              <a:t>textuel</a:t>
            </a:r>
            <a:r>
              <a:rPr sz="1200" b="1" spc="70" dirty="0">
                <a:solidFill>
                  <a:srgbClr val="1B294A"/>
                </a:solidFill>
                <a:latin typeface="Times New Roman" panose="02020603050405020304" pitchFamily="18" charset="0"/>
                <a:cs typeface="Times New Roman" panose="02020603050405020304" pitchFamily="18" charset="0"/>
              </a:rPr>
              <a:t> </a:t>
            </a:r>
            <a:r>
              <a:rPr sz="1200" b="1" spc="395" dirty="0">
                <a:solidFill>
                  <a:srgbClr val="1B294A"/>
                </a:solidFill>
                <a:latin typeface="Times New Roman" panose="02020603050405020304" pitchFamily="18" charset="0"/>
                <a:cs typeface="Times New Roman" panose="02020603050405020304" pitchFamily="18" charset="0"/>
              </a:rPr>
              <a:t>et</a:t>
            </a:r>
            <a:r>
              <a:rPr sz="1200" b="1" spc="-20" dirty="0">
                <a:solidFill>
                  <a:srgbClr val="1B294A"/>
                </a:solidFill>
                <a:latin typeface="Times New Roman" panose="02020603050405020304" pitchFamily="18" charset="0"/>
                <a:cs typeface="Times New Roman" panose="02020603050405020304" pitchFamily="18" charset="0"/>
              </a:rPr>
              <a:t> </a:t>
            </a:r>
            <a:r>
              <a:rPr sz="1200" b="1" spc="250" dirty="0">
                <a:solidFill>
                  <a:srgbClr val="1B294A"/>
                </a:solidFill>
                <a:latin typeface="Times New Roman" panose="02020603050405020304" pitchFamily="18" charset="0"/>
                <a:cs typeface="Times New Roman" panose="02020603050405020304" pitchFamily="18" charset="0"/>
              </a:rPr>
              <a:t>visuel</a:t>
            </a:r>
            <a:endParaRPr sz="1200">
              <a:latin typeface="Times New Roman" panose="02020603050405020304" pitchFamily="18" charset="0"/>
              <a:cs typeface="Times New Roman" panose="02020603050405020304" pitchFamily="18" charset="0"/>
            </a:endParaRPr>
          </a:p>
        </p:txBody>
      </p:sp>
      <p:sp>
        <p:nvSpPr>
          <p:cNvPr id="23" name="object 23"/>
          <p:cNvSpPr txBox="1"/>
          <p:nvPr/>
        </p:nvSpPr>
        <p:spPr>
          <a:xfrm>
            <a:off x="4495750" y="3831436"/>
            <a:ext cx="6892290" cy="360548"/>
          </a:xfrm>
          <a:prstGeom prst="rect">
            <a:avLst/>
          </a:prstGeom>
        </p:spPr>
        <p:txBody>
          <a:bodyPr vert="horz" wrap="square" lIns="0" tIns="12065" rIns="0" bIns="0" rtlCol="0">
            <a:spAutoFit/>
          </a:bodyPr>
          <a:lstStyle/>
          <a:p>
            <a:pPr marL="12700" marR="5080">
              <a:lnSpc>
                <a:spcPct val="125000"/>
              </a:lnSpc>
              <a:spcBef>
                <a:spcPts val="95"/>
              </a:spcBef>
            </a:pPr>
            <a:r>
              <a:rPr sz="950" dirty="0">
                <a:solidFill>
                  <a:srgbClr val="3A4556"/>
                </a:solidFill>
                <a:latin typeface="Times New Roman" panose="02020603050405020304" pitchFamily="18" charset="0"/>
                <a:cs typeface="Times New Roman" panose="02020603050405020304" pitchFamily="18" charset="0"/>
              </a:rPr>
              <a:t>Chaque</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page</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mélange</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titres</a:t>
            </a:r>
            <a:r>
              <a:rPr sz="950" spc="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accrocheurs,</a:t>
            </a:r>
            <a:r>
              <a:rPr sz="950" spc="8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descriptions</a:t>
            </a:r>
            <a:r>
              <a:rPr sz="950" spc="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courtes,</a:t>
            </a:r>
            <a:r>
              <a:rPr sz="950" spc="7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icônes</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Bootstrap</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Icons,</a:t>
            </a:r>
            <a:r>
              <a:rPr sz="950" spc="7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images</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profil</a:t>
            </a:r>
            <a:r>
              <a:rPr sz="950" spc="7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des</a:t>
            </a:r>
            <a:r>
              <a:rPr sz="950" spc="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freelances,</a:t>
            </a:r>
            <a:r>
              <a:rPr sz="950" spc="8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cartes </a:t>
            </a:r>
            <a:r>
              <a:rPr sz="950" dirty="0">
                <a:solidFill>
                  <a:srgbClr val="3A4556"/>
                </a:solidFill>
                <a:latin typeface="Times New Roman" panose="02020603050405020304" pitchFamily="18" charset="0"/>
                <a:cs typeface="Times New Roman" panose="02020603050405020304" pitchFamily="18" charset="0"/>
              </a:rPr>
              <a:t>de</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statistiques</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avec</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compteurs</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et</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témoignages</a:t>
            </a:r>
            <a:r>
              <a:rPr sz="950" spc="4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clients.</a:t>
            </a:r>
            <a:endParaRPr sz="950">
              <a:latin typeface="Times New Roman" panose="02020603050405020304" pitchFamily="18" charset="0"/>
              <a:cs typeface="Times New Roman" panose="02020603050405020304" pitchFamily="18" charset="0"/>
            </a:endParaRPr>
          </a:p>
        </p:txBody>
      </p:sp>
      <p:grpSp>
        <p:nvGrpSpPr>
          <p:cNvPr id="24" name="object 24"/>
          <p:cNvGrpSpPr/>
          <p:nvPr/>
        </p:nvGrpSpPr>
        <p:grpSpPr>
          <a:xfrm>
            <a:off x="609599" y="5514974"/>
            <a:ext cx="3552825" cy="1355725"/>
            <a:chOff x="609599" y="5514974"/>
            <a:chExt cx="3552825" cy="1355725"/>
          </a:xfrm>
        </p:grpSpPr>
        <p:sp>
          <p:nvSpPr>
            <p:cNvPr id="25" name="object 25"/>
            <p:cNvSpPr/>
            <p:nvPr/>
          </p:nvSpPr>
          <p:spPr>
            <a:xfrm>
              <a:off x="609599" y="5514974"/>
              <a:ext cx="3552825" cy="1355725"/>
            </a:xfrm>
            <a:custGeom>
              <a:avLst/>
              <a:gdLst/>
              <a:ahLst/>
              <a:cxnLst/>
              <a:rect l="l" t="t" r="r" b="b"/>
              <a:pathLst>
                <a:path w="3552825" h="1355725">
                  <a:moveTo>
                    <a:pt x="3552824" y="1355216"/>
                  </a:moveTo>
                  <a:lnTo>
                    <a:pt x="0" y="1355216"/>
                  </a:lnTo>
                  <a:lnTo>
                    <a:pt x="0" y="106794"/>
                  </a:lnTo>
                  <a:lnTo>
                    <a:pt x="11572" y="63624"/>
                  </a:lnTo>
                  <a:lnTo>
                    <a:pt x="38784" y="28170"/>
                  </a:lnTo>
                  <a:lnTo>
                    <a:pt x="77493" y="5828"/>
                  </a:lnTo>
                  <a:lnTo>
                    <a:pt x="106795" y="0"/>
                  </a:lnTo>
                  <a:lnTo>
                    <a:pt x="3446029" y="0"/>
                  </a:lnTo>
                  <a:lnTo>
                    <a:pt x="3489198" y="11571"/>
                  </a:lnTo>
                  <a:lnTo>
                    <a:pt x="3524653" y="38783"/>
                  </a:lnTo>
                  <a:lnTo>
                    <a:pt x="3546995" y="77492"/>
                  </a:lnTo>
                  <a:lnTo>
                    <a:pt x="3552824" y="1355216"/>
                  </a:lnTo>
                  <a:close/>
                </a:path>
              </a:pathLst>
            </a:custGeom>
            <a:solidFill>
              <a:srgbClr val="1B294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26" name="object 26"/>
            <p:cNvPicPr/>
            <p:nvPr/>
          </p:nvPicPr>
          <p:blipFill>
            <a:blip r:embed="rId7" cstate="print"/>
            <a:stretch>
              <a:fillRect/>
            </a:stretch>
          </p:blipFill>
          <p:spPr>
            <a:xfrm>
              <a:off x="1422400" y="5734049"/>
              <a:ext cx="127000" cy="114300"/>
            </a:xfrm>
            <a:prstGeom prst="rect">
              <a:avLst/>
            </a:prstGeom>
          </p:spPr>
        </p:pic>
      </p:grpSp>
      <p:sp>
        <p:nvSpPr>
          <p:cNvPr id="27" name="object 27"/>
          <p:cNvSpPr txBox="1"/>
          <p:nvPr/>
        </p:nvSpPr>
        <p:spPr>
          <a:xfrm>
            <a:off x="1587500" y="5673005"/>
            <a:ext cx="1875155" cy="198131"/>
          </a:xfrm>
          <a:prstGeom prst="rect">
            <a:avLst/>
          </a:prstGeom>
        </p:spPr>
        <p:txBody>
          <a:bodyPr vert="horz" wrap="square" lIns="0" tIns="13335" rIns="0" bIns="0" rtlCol="0">
            <a:spAutoFit/>
          </a:bodyPr>
          <a:lstStyle/>
          <a:p>
            <a:pPr marL="12700">
              <a:lnSpc>
                <a:spcPct val="100000"/>
              </a:lnSpc>
              <a:spcBef>
                <a:spcPts val="105"/>
              </a:spcBef>
            </a:pPr>
            <a:r>
              <a:rPr sz="1200" b="1" spc="365" dirty="0">
                <a:solidFill>
                  <a:srgbClr val="FFFFFF"/>
                </a:solidFill>
                <a:latin typeface="Times New Roman" panose="02020603050405020304" pitchFamily="18" charset="0"/>
                <a:cs typeface="Times New Roman" panose="02020603050405020304" pitchFamily="18" charset="0"/>
              </a:rPr>
              <a:t>Footer</a:t>
            </a:r>
            <a:r>
              <a:rPr sz="1200" b="1" spc="-10" dirty="0">
                <a:solidFill>
                  <a:srgbClr val="FFFFFF"/>
                </a:solidFill>
                <a:latin typeface="Times New Roman" panose="02020603050405020304" pitchFamily="18" charset="0"/>
                <a:cs typeface="Times New Roman" panose="02020603050405020304" pitchFamily="18" charset="0"/>
              </a:rPr>
              <a:t> </a:t>
            </a:r>
            <a:r>
              <a:rPr sz="1200" b="1" spc="525" dirty="0">
                <a:solidFill>
                  <a:srgbClr val="FFFFFF"/>
                </a:solidFill>
                <a:latin typeface="Times New Roman" panose="02020603050405020304" pitchFamily="18" charset="0"/>
                <a:cs typeface="Times New Roman" panose="02020603050405020304" pitchFamily="18" charset="0"/>
              </a:rPr>
              <a:t>commun</a:t>
            </a:r>
            <a:endParaRPr sz="1200">
              <a:latin typeface="Times New Roman" panose="02020603050405020304" pitchFamily="18" charset="0"/>
              <a:cs typeface="Times New Roman" panose="02020603050405020304" pitchFamily="18" charset="0"/>
            </a:endParaRPr>
          </a:p>
        </p:txBody>
      </p:sp>
      <p:grpSp>
        <p:nvGrpSpPr>
          <p:cNvPr id="28" name="object 28"/>
          <p:cNvGrpSpPr/>
          <p:nvPr/>
        </p:nvGrpSpPr>
        <p:grpSpPr>
          <a:xfrm>
            <a:off x="4314824" y="5514974"/>
            <a:ext cx="7267575" cy="1355725"/>
            <a:chOff x="4314824" y="5514974"/>
            <a:chExt cx="7267575" cy="1355725"/>
          </a:xfrm>
        </p:grpSpPr>
        <p:sp>
          <p:nvSpPr>
            <p:cNvPr id="29" name="object 29"/>
            <p:cNvSpPr/>
            <p:nvPr/>
          </p:nvSpPr>
          <p:spPr>
            <a:xfrm>
              <a:off x="4314824" y="5514974"/>
              <a:ext cx="7267575" cy="1355725"/>
            </a:xfrm>
            <a:custGeom>
              <a:avLst/>
              <a:gdLst/>
              <a:ahLst/>
              <a:cxnLst/>
              <a:rect l="l" t="t" r="r" b="b"/>
              <a:pathLst>
                <a:path w="7267575" h="1355725">
                  <a:moveTo>
                    <a:pt x="7267574" y="1355216"/>
                  </a:moveTo>
                  <a:lnTo>
                    <a:pt x="0" y="1355216"/>
                  </a:lnTo>
                  <a:lnTo>
                    <a:pt x="0" y="106794"/>
                  </a:lnTo>
                  <a:lnTo>
                    <a:pt x="11572" y="63624"/>
                  </a:lnTo>
                  <a:lnTo>
                    <a:pt x="38784" y="28170"/>
                  </a:lnTo>
                  <a:lnTo>
                    <a:pt x="77492" y="5828"/>
                  </a:lnTo>
                  <a:lnTo>
                    <a:pt x="106794" y="0"/>
                  </a:lnTo>
                  <a:lnTo>
                    <a:pt x="7160779" y="0"/>
                  </a:lnTo>
                  <a:lnTo>
                    <a:pt x="7203946" y="11571"/>
                  </a:lnTo>
                  <a:lnTo>
                    <a:pt x="7239401" y="38783"/>
                  </a:lnTo>
                  <a:lnTo>
                    <a:pt x="7261744" y="77492"/>
                  </a:lnTo>
                  <a:lnTo>
                    <a:pt x="7267574" y="1355216"/>
                  </a:lnTo>
                  <a:close/>
                </a:path>
              </a:pathLst>
            </a:custGeom>
            <a:solidFill>
              <a:srgbClr val="1B294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30" name="object 30"/>
            <p:cNvPicPr/>
            <p:nvPr/>
          </p:nvPicPr>
          <p:blipFill>
            <a:blip r:embed="rId8" cstate="print"/>
            <a:stretch>
              <a:fillRect/>
            </a:stretch>
          </p:blipFill>
          <p:spPr>
            <a:xfrm>
              <a:off x="4527500" y="5727699"/>
              <a:ext cx="120650" cy="127000"/>
            </a:xfrm>
            <a:prstGeom prst="rect">
              <a:avLst/>
            </a:prstGeom>
          </p:spPr>
        </p:pic>
      </p:grpSp>
      <p:sp>
        <p:nvSpPr>
          <p:cNvPr id="31" name="object 31"/>
          <p:cNvSpPr txBox="1"/>
          <p:nvPr/>
        </p:nvSpPr>
        <p:spPr>
          <a:xfrm>
            <a:off x="4686250" y="5673005"/>
            <a:ext cx="2595245" cy="198131"/>
          </a:xfrm>
          <a:prstGeom prst="rect">
            <a:avLst/>
          </a:prstGeom>
        </p:spPr>
        <p:txBody>
          <a:bodyPr vert="horz" wrap="square" lIns="0" tIns="13335" rIns="0" bIns="0" rtlCol="0">
            <a:spAutoFit/>
          </a:bodyPr>
          <a:lstStyle/>
          <a:p>
            <a:pPr marL="12700">
              <a:lnSpc>
                <a:spcPct val="100000"/>
              </a:lnSpc>
              <a:spcBef>
                <a:spcPts val="105"/>
              </a:spcBef>
            </a:pPr>
            <a:r>
              <a:rPr sz="1200" b="1" spc="355" dirty="0">
                <a:solidFill>
                  <a:srgbClr val="FFFFFF"/>
                </a:solidFill>
                <a:latin typeface="Times New Roman" panose="02020603050405020304" pitchFamily="18" charset="0"/>
                <a:cs typeface="Times New Roman" panose="02020603050405020304" pitchFamily="18" charset="0"/>
              </a:rPr>
              <a:t>Catégories</a:t>
            </a:r>
            <a:r>
              <a:rPr sz="1200" b="1" spc="-25" dirty="0">
                <a:solidFill>
                  <a:srgbClr val="FFFFFF"/>
                </a:solidFill>
                <a:latin typeface="Times New Roman" panose="02020603050405020304" pitchFamily="18" charset="0"/>
                <a:cs typeface="Times New Roman" panose="02020603050405020304" pitchFamily="18" charset="0"/>
              </a:rPr>
              <a:t> </a:t>
            </a:r>
            <a:r>
              <a:rPr sz="1200" b="1" spc="500" dirty="0">
                <a:solidFill>
                  <a:srgbClr val="FFFFFF"/>
                </a:solidFill>
                <a:latin typeface="Times New Roman" panose="02020603050405020304" pitchFamily="18" charset="0"/>
                <a:cs typeface="Times New Roman" panose="02020603050405020304" pitchFamily="18" charset="0"/>
              </a:rPr>
              <a:t>de</a:t>
            </a:r>
            <a:r>
              <a:rPr sz="1200" b="1" spc="-40" dirty="0">
                <a:solidFill>
                  <a:srgbClr val="FFFFFF"/>
                </a:solidFill>
                <a:latin typeface="Times New Roman" panose="02020603050405020304" pitchFamily="18" charset="0"/>
                <a:cs typeface="Times New Roman" panose="02020603050405020304" pitchFamily="18" charset="0"/>
              </a:rPr>
              <a:t> </a:t>
            </a:r>
            <a:r>
              <a:rPr sz="1200" b="1" spc="300" dirty="0">
                <a:solidFill>
                  <a:srgbClr val="FFFFFF"/>
                </a:solidFill>
                <a:latin typeface="Times New Roman" panose="02020603050405020304" pitchFamily="18" charset="0"/>
                <a:cs typeface="Times New Roman" panose="02020603050405020304" pitchFamily="18" charset="0"/>
              </a:rPr>
              <a:t>services</a:t>
            </a:r>
            <a:endParaRPr sz="1200">
              <a:latin typeface="Times New Roman" panose="02020603050405020304" pitchFamily="18" charset="0"/>
              <a:cs typeface="Times New Roman" panose="02020603050405020304" pitchFamily="18" charset="0"/>
            </a:endParaRPr>
          </a:p>
        </p:txBody>
      </p:sp>
      <p:sp>
        <p:nvSpPr>
          <p:cNvPr id="32" name="object 32"/>
          <p:cNvSpPr/>
          <p:nvPr/>
        </p:nvSpPr>
        <p:spPr>
          <a:xfrm>
            <a:off x="4505324" y="5962650"/>
            <a:ext cx="2247900" cy="542925"/>
          </a:xfrm>
          <a:custGeom>
            <a:avLst/>
            <a:gdLst/>
            <a:ahLst/>
            <a:cxnLst/>
            <a:rect l="l" t="t" r="r" b="b"/>
            <a:pathLst>
              <a:path w="2247900" h="542925">
                <a:moveTo>
                  <a:pt x="2176702" y="542923"/>
                </a:moveTo>
                <a:lnTo>
                  <a:pt x="71196" y="542923"/>
                </a:lnTo>
                <a:lnTo>
                  <a:pt x="66241" y="542436"/>
                </a:lnTo>
                <a:lnTo>
                  <a:pt x="29705" y="527302"/>
                </a:lnTo>
                <a:lnTo>
                  <a:pt x="3885" y="491261"/>
                </a:lnTo>
                <a:lnTo>
                  <a:pt x="0" y="471727"/>
                </a:lnTo>
                <a:lnTo>
                  <a:pt x="0" y="466724"/>
                </a:lnTo>
                <a:lnTo>
                  <a:pt x="0" y="71195"/>
                </a:lnTo>
                <a:lnTo>
                  <a:pt x="15621" y="29703"/>
                </a:lnTo>
                <a:lnTo>
                  <a:pt x="51661" y="3884"/>
                </a:lnTo>
                <a:lnTo>
                  <a:pt x="71196" y="0"/>
                </a:lnTo>
                <a:lnTo>
                  <a:pt x="2176702" y="0"/>
                </a:lnTo>
                <a:lnTo>
                  <a:pt x="2218193" y="15619"/>
                </a:lnTo>
                <a:lnTo>
                  <a:pt x="2244013" y="51660"/>
                </a:lnTo>
                <a:lnTo>
                  <a:pt x="2247899" y="71195"/>
                </a:lnTo>
                <a:lnTo>
                  <a:pt x="2247899" y="471727"/>
                </a:lnTo>
                <a:lnTo>
                  <a:pt x="2232277" y="513218"/>
                </a:lnTo>
                <a:lnTo>
                  <a:pt x="2196236" y="539037"/>
                </a:lnTo>
                <a:lnTo>
                  <a:pt x="2181658" y="542436"/>
                </a:lnTo>
                <a:lnTo>
                  <a:pt x="2176702" y="542923"/>
                </a:lnTo>
                <a:close/>
              </a:path>
            </a:pathLst>
          </a:custGeom>
          <a:solidFill>
            <a:srgbClr val="FFFFFF">
              <a:alpha val="783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3" name="object 33"/>
          <p:cNvSpPr txBox="1"/>
          <p:nvPr/>
        </p:nvSpPr>
        <p:spPr>
          <a:xfrm>
            <a:off x="5090467" y="5990204"/>
            <a:ext cx="1080135" cy="417195"/>
          </a:xfrm>
          <a:prstGeom prst="rect">
            <a:avLst/>
          </a:prstGeom>
        </p:spPr>
        <p:txBody>
          <a:bodyPr vert="horz" wrap="square" lIns="0" tIns="38735" rIns="0" bIns="0" rtlCol="0">
            <a:spAutoFit/>
          </a:bodyPr>
          <a:lstStyle/>
          <a:p>
            <a:pPr algn="ctr">
              <a:lnSpc>
                <a:spcPct val="100000"/>
              </a:lnSpc>
              <a:spcBef>
                <a:spcPts val="305"/>
              </a:spcBef>
            </a:pPr>
            <a:r>
              <a:rPr sz="900" b="1" spc="-45" dirty="0">
                <a:solidFill>
                  <a:srgbClr val="FFFFFF"/>
                </a:solidFill>
                <a:latin typeface="Times New Roman" panose="02020603050405020304" pitchFamily="18" charset="0"/>
                <a:cs typeface="Times New Roman" panose="02020603050405020304" pitchFamily="18" charset="0"/>
              </a:rPr>
              <a:t>Développement</a:t>
            </a:r>
            <a:r>
              <a:rPr sz="900" b="1" spc="40" dirty="0">
                <a:solidFill>
                  <a:srgbClr val="FFFFFF"/>
                </a:solidFill>
                <a:latin typeface="Times New Roman" panose="02020603050405020304" pitchFamily="18" charset="0"/>
                <a:cs typeface="Times New Roman" panose="02020603050405020304" pitchFamily="18" charset="0"/>
              </a:rPr>
              <a:t> </a:t>
            </a:r>
            <a:r>
              <a:rPr sz="900" b="1" spc="-25" dirty="0">
                <a:solidFill>
                  <a:srgbClr val="FFFFFF"/>
                </a:solidFill>
                <a:latin typeface="Times New Roman" panose="02020603050405020304" pitchFamily="18" charset="0"/>
                <a:cs typeface="Times New Roman" panose="02020603050405020304" pitchFamily="18" charset="0"/>
              </a:rPr>
              <a:t>Web</a:t>
            </a:r>
            <a:endParaRPr sz="900">
              <a:latin typeface="Times New Roman" panose="02020603050405020304" pitchFamily="18" charset="0"/>
              <a:cs typeface="Times New Roman" panose="02020603050405020304" pitchFamily="18" charset="0"/>
            </a:endParaRPr>
          </a:p>
          <a:p>
            <a:pPr marL="4445" algn="ctr">
              <a:lnSpc>
                <a:spcPct val="100000"/>
              </a:lnSpc>
              <a:spcBef>
                <a:spcPts val="295"/>
              </a:spcBef>
            </a:pPr>
            <a:r>
              <a:rPr sz="1250" b="1" spc="585" dirty="0">
                <a:solidFill>
                  <a:srgbClr val="E7863A"/>
                </a:solidFill>
                <a:latin typeface="Times New Roman" panose="02020603050405020304" pitchFamily="18" charset="0"/>
                <a:cs typeface="Times New Roman" panose="02020603050405020304" pitchFamily="18" charset="0"/>
              </a:rPr>
              <a:t>430</a:t>
            </a:r>
            <a:endParaRPr sz="1250">
              <a:latin typeface="Times New Roman" panose="02020603050405020304" pitchFamily="18" charset="0"/>
              <a:cs typeface="Times New Roman" panose="02020603050405020304" pitchFamily="18" charset="0"/>
            </a:endParaRPr>
          </a:p>
        </p:txBody>
      </p:sp>
      <p:sp>
        <p:nvSpPr>
          <p:cNvPr id="34" name="object 34"/>
          <p:cNvSpPr/>
          <p:nvPr/>
        </p:nvSpPr>
        <p:spPr>
          <a:xfrm>
            <a:off x="6829424" y="5962650"/>
            <a:ext cx="2238375" cy="542925"/>
          </a:xfrm>
          <a:custGeom>
            <a:avLst/>
            <a:gdLst/>
            <a:ahLst/>
            <a:cxnLst/>
            <a:rect l="l" t="t" r="r" b="b"/>
            <a:pathLst>
              <a:path w="2238375" h="542925">
                <a:moveTo>
                  <a:pt x="2167177" y="542923"/>
                </a:moveTo>
                <a:lnTo>
                  <a:pt x="71196" y="542923"/>
                </a:lnTo>
                <a:lnTo>
                  <a:pt x="66240" y="542436"/>
                </a:lnTo>
                <a:lnTo>
                  <a:pt x="29705" y="527302"/>
                </a:lnTo>
                <a:lnTo>
                  <a:pt x="3885" y="491261"/>
                </a:lnTo>
                <a:lnTo>
                  <a:pt x="0" y="471727"/>
                </a:lnTo>
                <a:lnTo>
                  <a:pt x="0" y="466724"/>
                </a:lnTo>
                <a:lnTo>
                  <a:pt x="0" y="71195"/>
                </a:lnTo>
                <a:lnTo>
                  <a:pt x="15621" y="29703"/>
                </a:lnTo>
                <a:lnTo>
                  <a:pt x="51661" y="3884"/>
                </a:lnTo>
                <a:lnTo>
                  <a:pt x="71196" y="0"/>
                </a:lnTo>
                <a:lnTo>
                  <a:pt x="2167177" y="0"/>
                </a:lnTo>
                <a:lnTo>
                  <a:pt x="2208668" y="15619"/>
                </a:lnTo>
                <a:lnTo>
                  <a:pt x="2234487" y="51660"/>
                </a:lnTo>
                <a:lnTo>
                  <a:pt x="2238374" y="71195"/>
                </a:lnTo>
                <a:lnTo>
                  <a:pt x="2238374" y="471727"/>
                </a:lnTo>
                <a:lnTo>
                  <a:pt x="2222751" y="513218"/>
                </a:lnTo>
                <a:lnTo>
                  <a:pt x="2186711" y="539037"/>
                </a:lnTo>
                <a:lnTo>
                  <a:pt x="2172132" y="542436"/>
                </a:lnTo>
                <a:lnTo>
                  <a:pt x="2167177" y="542923"/>
                </a:lnTo>
                <a:close/>
              </a:path>
            </a:pathLst>
          </a:custGeom>
          <a:solidFill>
            <a:srgbClr val="FFFFFF">
              <a:alpha val="783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5" name="object 35"/>
          <p:cNvSpPr txBox="1"/>
          <p:nvPr/>
        </p:nvSpPr>
        <p:spPr>
          <a:xfrm>
            <a:off x="7598816" y="5990204"/>
            <a:ext cx="706755" cy="417195"/>
          </a:xfrm>
          <a:prstGeom prst="rect">
            <a:avLst/>
          </a:prstGeom>
        </p:spPr>
        <p:txBody>
          <a:bodyPr vert="horz" wrap="square" lIns="0" tIns="38735" rIns="0" bIns="0" rtlCol="0">
            <a:spAutoFit/>
          </a:bodyPr>
          <a:lstStyle/>
          <a:p>
            <a:pPr algn="ctr">
              <a:lnSpc>
                <a:spcPct val="100000"/>
              </a:lnSpc>
              <a:spcBef>
                <a:spcPts val="305"/>
              </a:spcBef>
            </a:pPr>
            <a:r>
              <a:rPr sz="900" b="1" spc="-50" dirty="0">
                <a:solidFill>
                  <a:srgbClr val="FFFFFF"/>
                </a:solidFill>
                <a:latin typeface="Times New Roman" panose="02020603050405020304" pitchFamily="18" charset="0"/>
                <a:cs typeface="Times New Roman" panose="02020603050405020304" pitchFamily="18" charset="0"/>
              </a:rPr>
              <a:t>Design</a:t>
            </a:r>
            <a:r>
              <a:rPr sz="900" b="1" spc="-10" dirty="0">
                <a:solidFill>
                  <a:srgbClr val="FFFFFF"/>
                </a:solidFill>
                <a:latin typeface="Times New Roman" panose="02020603050405020304" pitchFamily="18" charset="0"/>
                <a:cs typeface="Times New Roman" panose="02020603050405020304" pitchFamily="18" charset="0"/>
              </a:rPr>
              <a:t> UI</a:t>
            </a:r>
            <a:r>
              <a:rPr sz="850" b="1" spc="-10" dirty="0">
                <a:solidFill>
                  <a:srgbClr val="FFFFFF"/>
                </a:solidFill>
                <a:latin typeface="Times New Roman" panose="02020603050405020304" pitchFamily="18" charset="0"/>
                <a:cs typeface="Times New Roman" panose="02020603050405020304" pitchFamily="18" charset="0"/>
              </a:rPr>
              <a:t>/</a:t>
            </a:r>
            <a:r>
              <a:rPr sz="900" b="1" spc="-10" dirty="0">
                <a:solidFill>
                  <a:srgbClr val="FFFFFF"/>
                </a:solidFill>
                <a:latin typeface="Times New Roman" panose="02020603050405020304" pitchFamily="18" charset="0"/>
                <a:cs typeface="Times New Roman" panose="02020603050405020304" pitchFamily="18" charset="0"/>
              </a:rPr>
              <a:t>UX</a:t>
            </a:r>
            <a:endParaRPr sz="900">
              <a:latin typeface="Times New Roman" panose="02020603050405020304" pitchFamily="18" charset="0"/>
              <a:cs typeface="Times New Roman" panose="02020603050405020304" pitchFamily="18" charset="0"/>
            </a:endParaRPr>
          </a:p>
          <a:p>
            <a:pPr marL="1905" algn="ctr">
              <a:lnSpc>
                <a:spcPct val="100000"/>
              </a:lnSpc>
              <a:spcBef>
                <a:spcPts val="295"/>
              </a:spcBef>
            </a:pPr>
            <a:r>
              <a:rPr sz="1250" b="1" spc="545" dirty="0">
                <a:solidFill>
                  <a:srgbClr val="E7863A"/>
                </a:solidFill>
                <a:latin typeface="Times New Roman" panose="02020603050405020304" pitchFamily="18" charset="0"/>
                <a:cs typeface="Times New Roman" panose="02020603050405020304" pitchFamily="18" charset="0"/>
              </a:rPr>
              <a:t>285</a:t>
            </a:r>
            <a:endParaRPr sz="1250">
              <a:latin typeface="Times New Roman" panose="02020603050405020304" pitchFamily="18" charset="0"/>
              <a:cs typeface="Times New Roman" panose="02020603050405020304" pitchFamily="18" charset="0"/>
            </a:endParaRPr>
          </a:p>
        </p:txBody>
      </p:sp>
      <p:sp>
        <p:nvSpPr>
          <p:cNvPr id="36" name="object 36"/>
          <p:cNvSpPr/>
          <p:nvPr/>
        </p:nvSpPr>
        <p:spPr>
          <a:xfrm>
            <a:off x="9143998" y="5962650"/>
            <a:ext cx="2247900" cy="542925"/>
          </a:xfrm>
          <a:custGeom>
            <a:avLst/>
            <a:gdLst/>
            <a:ahLst/>
            <a:cxnLst/>
            <a:rect l="l" t="t" r="r" b="b"/>
            <a:pathLst>
              <a:path w="2247900" h="542925">
                <a:moveTo>
                  <a:pt x="2176703" y="542923"/>
                </a:moveTo>
                <a:lnTo>
                  <a:pt x="71196" y="542923"/>
                </a:lnTo>
                <a:lnTo>
                  <a:pt x="66241" y="542436"/>
                </a:lnTo>
                <a:lnTo>
                  <a:pt x="29705" y="527302"/>
                </a:lnTo>
                <a:lnTo>
                  <a:pt x="3885" y="491261"/>
                </a:lnTo>
                <a:lnTo>
                  <a:pt x="0" y="471727"/>
                </a:lnTo>
                <a:lnTo>
                  <a:pt x="0" y="466724"/>
                </a:lnTo>
                <a:lnTo>
                  <a:pt x="0" y="71195"/>
                </a:lnTo>
                <a:lnTo>
                  <a:pt x="15621" y="29703"/>
                </a:lnTo>
                <a:lnTo>
                  <a:pt x="51661" y="3884"/>
                </a:lnTo>
                <a:lnTo>
                  <a:pt x="71196" y="0"/>
                </a:lnTo>
                <a:lnTo>
                  <a:pt x="2176703" y="0"/>
                </a:lnTo>
                <a:lnTo>
                  <a:pt x="2218194" y="15619"/>
                </a:lnTo>
                <a:lnTo>
                  <a:pt x="2244012" y="51660"/>
                </a:lnTo>
                <a:lnTo>
                  <a:pt x="2247899" y="71195"/>
                </a:lnTo>
                <a:lnTo>
                  <a:pt x="2247899" y="471727"/>
                </a:lnTo>
                <a:lnTo>
                  <a:pt x="2232277" y="513218"/>
                </a:lnTo>
                <a:lnTo>
                  <a:pt x="2196236" y="539037"/>
                </a:lnTo>
                <a:lnTo>
                  <a:pt x="2181657" y="542436"/>
                </a:lnTo>
                <a:lnTo>
                  <a:pt x="2176703" y="542923"/>
                </a:lnTo>
                <a:close/>
              </a:path>
            </a:pathLst>
          </a:custGeom>
          <a:solidFill>
            <a:srgbClr val="FFFFFF">
              <a:alpha val="783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7" name="object 37"/>
          <p:cNvSpPr txBox="1"/>
          <p:nvPr/>
        </p:nvSpPr>
        <p:spPr>
          <a:xfrm>
            <a:off x="9826773" y="5990204"/>
            <a:ext cx="880744" cy="417195"/>
          </a:xfrm>
          <a:prstGeom prst="rect">
            <a:avLst/>
          </a:prstGeom>
        </p:spPr>
        <p:txBody>
          <a:bodyPr vert="horz" wrap="square" lIns="0" tIns="38735" rIns="0" bIns="0" rtlCol="0">
            <a:spAutoFit/>
          </a:bodyPr>
          <a:lstStyle/>
          <a:p>
            <a:pPr algn="ctr">
              <a:lnSpc>
                <a:spcPct val="100000"/>
              </a:lnSpc>
              <a:spcBef>
                <a:spcPts val="305"/>
              </a:spcBef>
            </a:pPr>
            <a:r>
              <a:rPr sz="900" b="1" spc="-35" dirty="0">
                <a:solidFill>
                  <a:srgbClr val="FFFFFF"/>
                </a:solidFill>
                <a:latin typeface="Times New Roman" panose="02020603050405020304" pitchFamily="18" charset="0"/>
                <a:cs typeface="Times New Roman" panose="02020603050405020304" pitchFamily="18" charset="0"/>
              </a:rPr>
              <a:t>Marketing</a:t>
            </a:r>
            <a:r>
              <a:rPr sz="900" b="1" spc="10" dirty="0">
                <a:solidFill>
                  <a:srgbClr val="FFFFFF"/>
                </a:solidFill>
                <a:latin typeface="Times New Roman" panose="02020603050405020304" pitchFamily="18" charset="0"/>
                <a:cs typeface="Times New Roman" panose="02020603050405020304" pitchFamily="18" charset="0"/>
              </a:rPr>
              <a:t> </a:t>
            </a:r>
            <a:r>
              <a:rPr sz="900" b="1" spc="-10" dirty="0">
                <a:solidFill>
                  <a:srgbClr val="FFFFFF"/>
                </a:solidFill>
                <a:latin typeface="Times New Roman" panose="02020603050405020304" pitchFamily="18" charset="0"/>
                <a:cs typeface="Times New Roman" panose="02020603050405020304" pitchFamily="18" charset="0"/>
              </a:rPr>
              <a:t>Digital</a:t>
            </a:r>
            <a:endParaRPr sz="900">
              <a:latin typeface="Times New Roman" panose="02020603050405020304" pitchFamily="18" charset="0"/>
              <a:cs typeface="Times New Roman" panose="02020603050405020304" pitchFamily="18" charset="0"/>
            </a:endParaRPr>
          </a:p>
          <a:p>
            <a:pPr marL="8890" algn="ctr">
              <a:lnSpc>
                <a:spcPct val="100000"/>
              </a:lnSpc>
              <a:spcBef>
                <a:spcPts val="295"/>
              </a:spcBef>
            </a:pPr>
            <a:r>
              <a:rPr sz="1250" b="1" spc="430" dirty="0">
                <a:solidFill>
                  <a:srgbClr val="E7863A"/>
                </a:solidFill>
                <a:latin typeface="Times New Roman" panose="02020603050405020304" pitchFamily="18" charset="0"/>
                <a:cs typeface="Times New Roman" panose="02020603050405020304" pitchFamily="18" charset="0"/>
              </a:rPr>
              <a:t>197</a:t>
            </a:r>
            <a:endParaRPr sz="1250">
              <a:latin typeface="Times New Roman" panose="02020603050405020304" pitchFamily="18" charset="0"/>
              <a:cs typeface="Times New Roman" panose="02020603050405020304" pitchFamily="18" charset="0"/>
            </a:endParaRPr>
          </a:p>
        </p:txBody>
      </p:sp>
      <p:sp>
        <p:nvSpPr>
          <p:cNvPr id="38" name="object 38"/>
          <p:cNvSpPr/>
          <p:nvPr/>
        </p:nvSpPr>
        <p:spPr>
          <a:xfrm>
            <a:off x="4505324" y="6581774"/>
            <a:ext cx="2247900" cy="288925"/>
          </a:xfrm>
          <a:custGeom>
            <a:avLst/>
            <a:gdLst/>
            <a:ahLst/>
            <a:cxnLst/>
            <a:rect l="l" t="t" r="r" b="b"/>
            <a:pathLst>
              <a:path w="2247900" h="288925">
                <a:moveTo>
                  <a:pt x="2247899" y="288417"/>
                </a:moveTo>
                <a:lnTo>
                  <a:pt x="0" y="288417"/>
                </a:lnTo>
                <a:lnTo>
                  <a:pt x="0" y="71196"/>
                </a:lnTo>
                <a:lnTo>
                  <a:pt x="15621" y="29705"/>
                </a:lnTo>
                <a:lnTo>
                  <a:pt x="51661" y="3885"/>
                </a:lnTo>
                <a:lnTo>
                  <a:pt x="71196" y="0"/>
                </a:lnTo>
                <a:lnTo>
                  <a:pt x="2176702" y="0"/>
                </a:lnTo>
                <a:lnTo>
                  <a:pt x="2218193" y="15621"/>
                </a:lnTo>
                <a:lnTo>
                  <a:pt x="2244013" y="51661"/>
                </a:lnTo>
                <a:lnTo>
                  <a:pt x="2247899" y="288417"/>
                </a:lnTo>
                <a:close/>
              </a:path>
            </a:pathLst>
          </a:custGeom>
          <a:solidFill>
            <a:srgbClr val="FFFFFF">
              <a:alpha val="783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9" name="object 39"/>
          <p:cNvSpPr txBox="1"/>
          <p:nvPr/>
        </p:nvSpPr>
        <p:spPr>
          <a:xfrm>
            <a:off x="5386932" y="6636011"/>
            <a:ext cx="491490" cy="150682"/>
          </a:xfrm>
          <a:prstGeom prst="rect">
            <a:avLst/>
          </a:prstGeom>
        </p:spPr>
        <p:txBody>
          <a:bodyPr vert="horz" wrap="square" lIns="0" tIns="12065" rIns="0" bIns="0" rtlCol="0">
            <a:spAutoFit/>
          </a:bodyPr>
          <a:lstStyle/>
          <a:p>
            <a:pPr marL="12700">
              <a:lnSpc>
                <a:spcPct val="100000"/>
              </a:lnSpc>
              <a:spcBef>
                <a:spcPts val="95"/>
              </a:spcBef>
            </a:pPr>
            <a:r>
              <a:rPr sz="900" b="1" spc="-45" dirty="0">
                <a:solidFill>
                  <a:srgbClr val="FFFFFF"/>
                </a:solidFill>
                <a:latin typeface="Times New Roman" panose="02020603050405020304" pitchFamily="18" charset="0"/>
                <a:cs typeface="Times New Roman" panose="02020603050405020304" pitchFamily="18" charset="0"/>
              </a:rPr>
              <a:t>Data</a:t>
            </a:r>
            <a:r>
              <a:rPr sz="900" b="1" spc="-5" dirty="0">
                <a:solidFill>
                  <a:srgbClr val="FFFFFF"/>
                </a:solidFill>
                <a:latin typeface="Times New Roman" panose="02020603050405020304" pitchFamily="18" charset="0"/>
                <a:cs typeface="Times New Roman" panose="02020603050405020304" pitchFamily="18" charset="0"/>
              </a:rPr>
              <a:t> </a:t>
            </a:r>
            <a:r>
              <a:rPr sz="850" b="1" spc="-20" dirty="0">
                <a:solidFill>
                  <a:srgbClr val="FFFFFF"/>
                </a:solidFill>
                <a:latin typeface="Times New Roman" panose="02020603050405020304" pitchFamily="18" charset="0"/>
                <a:cs typeface="Times New Roman" panose="02020603050405020304" pitchFamily="18" charset="0"/>
              </a:rPr>
              <a:t>&amp;</a:t>
            </a:r>
            <a:r>
              <a:rPr sz="850" b="1" spc="-80" dirty="0">
                <a:solidFill>
                  <a:srgbClr val="FFFFFF"/>
                </a:solidFill>
                <a:latin typeface="Times New Roman" panose="02020603050405020304" pitchFamily="18" charset="0"/>
                <a:cs typeface="Times New Roman" panose="02020603050405020304" pitchFamily="18" charset="0"/>
              </a:rPr>
              <a:t> </a:t>
            </a:r>
            <a:r>
              <a:rPr sz="900" b="1" spc="-25" dirty="0">
                <a:solidFill>
                  <a:srgbClr val="FFFFFF"/>
                </a:solidFill>
                <a:latin typeface="Times New Roman" panose="02020603050405020304" pitchFamily="18" charset="0"/>
                <a:cs typeface="Times New Roman" panose="02020603050405020304" pitchFamily="18" charset="0"/>
              </a:rPr>
              <a:t>IA</a:t>
            </a:r>
            <a:endParaRPr sz="900">
              <a:latin typeface="Times New Roman" panose="02020603050405020304" pitchFamily="18" charset="0"/>
              <a:cs typeface="Times New Roman" panose="02020603050405020304" pitchFamily="18" charset="0"/>
            </a:endParaRPr>
          </a:p>
        </p:txBody>
      </p:sp>
      <p:sp>
        <p:nvSpPr>
          <p:cNvPr id="40" name="object 40"/>
          <p:cNvSpPr/>
          <p:nvPr/>
        </p:nvSpPr>
        <p:spPr>
          <a:xfrm>
            <a:off x="6829424" y="6581774"/>
            <a:ext cx="2238375" cy="288925"/>
          </a:xfrm>
          <a:custGeom>
            <a:avLst/>
            <a:gdLst/>
            <a:ahLst/>
            <a:cxnLst/>
            <a:rect l="l" t="t" r="r" b="b"/>
            <a:pathLst>
              <a:path w="2238375" h="288925">
                <a:moveTo>
                  <a:pt x="2238374" y="288417"/>
                </a:moveTo>
                <a:lnTo>
                  <a:pt x="0" y="288417"/>
                </a:lnTo>
                <a:lnTo>
                  <a:pt x="0" y="71196"/>
                </a:lnTo>
                <a:lnTo>
                  <a:pt x="15621" y="29705"/>
                </a:lnTo>
                <a:lnTo>
                  <a:pt x="51661" y="3885"/>
                </a:lnTo>
                <a:lnTo>
                  <a:pt x="71196" y="0"/>
                </a:lnTo>
                <a:lnTo>
                  <a:pt x="2167177" y="0"/>
                </a:lnTo>
                <a:lnTo>
                  <a:pt x="2208668" y="15621"/>
                </a:lnTo>
                <a:lnTo>
                  <a:pt x="2234487" y="51661"/>
                </a:lnTo>
                <a:lnTo>
                  <a:pt x="2238374" y="288417"/>
                </a:lnTo>
                <a:close/>
              </a:path>
            </a:pathLst>
          </a:custGeom>
          <a:solidFill>
            <a:srgbClr val="FFFFFF">
              <a:alpha val="783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1" name="object 41"/>
          <p:cNvSpPr txBox="1"/>
          <p:nvPr/>
        </p:nvSpPr>
        <p:spPr>
          <a:xfrm>
            <a:off x="7546130" y="6636011"/>
            <a:ext cx="805815" cy="150682"/>
          </a:xfrm>
          <a:prstGeom prst="rect">
            <a:avLst/>
          </a:prstGeom>
        </p:spPr>
        <p:txBody>
          <a:bodyPr vert="horz" wrap="square" lIns="0" tIns="12065" rIns="0" bIns="0" rtlCol="0">
            <a:spAutoFit/>
          </a:bodyPr>
          <a:lstStyle/>
          <a:p>
            <a:pPr marL="12700">
              <a:lnSpc>
                <a:spcPct val="100000"/>
              </a:lnSpc>
              <a:spcBef>
                <a:spcPts val="95"/>
              </a:spcBef>
            </a:pPr>
            <a:r>
              <a:rPr sz="900" b="1" spc="-50" dirty="0">
                <a:solidFill>
                  <a:srgbClr val="FFFFFF"/>
                </a:solidFill>
                <a:latin typeface="Times New Roman" panose="02020603050405020304" pitchFamily="18" charset="0"/>
                <a:cs typeface="Times New Roman" panose="02020603050405020304" pitchFamily="18" charset="0"/>
              </a:rPr>
              <a:t>Rédaction</a:t>
            </a:r>
            <a:r>
              <a:rPr sz="900" b="1" spc="-10" dirty="0">
                <a:solidFill>
                  <a:srgbClr val="FFFFFF"/>
                </a:solidFill>
                <a:latin typeface="Times New Roman" panose="02020603050405020304" pitchFamily="18" charset="0"/>
                <a:cs typeface="Times New Roman" panose="02020603050405020304" pitchFamily="18" charset="0"/>
              </a:rPr>
              <a:t> </a:t>
            </a:r>
            <a:r>
              <a:rPr sz="900" b="1" spc="-20" dirty="0">
                <a:solidFill>
                  <a:srgbClr val="FFFFFF"/>
                </a:solidFill>
                <a:latin typeface="Times New Roman" panose="02020603050405020304" pitchFamily="18" charset="0"/>
                <a:cs typeface="Times New Roman" panose="02020603050405020304" pitchFamily="18" charset="0"/>
              </a:rPr>
              <a:t>Tech</a:t>
            </a:r>
            <a:endParaRPr sz="900">
              <a:latin typeface="Times New Roman" panose="02020603050405020304" pitchFamily="18" charset="0"/>
              <a:cs typeface="Times New Roman" panose="02020603050405020304" pitchFamily="18" charset="0"/>
            </a:endParaRPr>
          </a:p>
        </p:txBody>
      </p:sp>
      <p:sp>
        <p:nvSpPr>
          <p:cNvPr id="42" name="object 42"/>
          <p:cNvSpPr/>
          <p:nvPr/>
        </p:nvSpPr>
        <p:spPr>
          <a:xfrm>
            <a:off x="9143998" y="6581774"/>
            <a:ext cx="2247900" cy="288925"/>
          </a:xfrm>
          <a:custGeom>
            <a:avLst/>
            <a:gdLst/>
            <a:ahLst/>
            <a:cxnLst/>
            <a:rect l="l" t="t" r="r" b="b"/>
            <a:pathLst>
              <a:path w="2247900" h="288925">
                <a:moveTo>
                  <a:pt x="2247900" y="288417"/>
                </a:moveTo>
                <a:lnTo>
                  <a:pt x="0" y="288417"/>
                </a:lnTo>
                <a:lnTo>
                  <a:pt x="0" y="71196"/>
                </a:lnTo>
                <a:lnTo>
                  <a:pt x="15621" y="29705"/>
                </a:lnTo>
                <a:lnTo>
                  <a:pt x="51661" y="3885"/>
                </a:lnTo>
                <a:lnTo>
                  <a:pt x="71196" y="0"/>
                </a:lnTo>
                <a:lnTo>
                  <a:pt x="2176703" y="0"/>
                </a:lnTo>
                <a:lnTo>
                  <a:pt x="2218194" y="15621"/>
                </a:lnTo>
                <a:lnTo>
                  <a:pt x="2244012" y="51661"/>
                </a:lnTo>
                <a:lnTo>
                  <a:pt x="2247900" y="288417"/>
                </a:lnTo>
                <a:close/>
              </a:path>
            </a:pathLst>
          </a:custGeom>
          <a:solidFill>
            <a:srgbClr val="FFFFFF">
              <a:alpha val="783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3" name="object 43"/>
          <p:cNvSpPr txBox="1"/>
          <p:nvPr/>
        </p:nvSpPr>
        <p:spPr>
          <a:xfrm>
            <a:off x="9846866" y="6636011"/>
            <a:ext cx="845185" cy="150682"/>
          </a:xfrm>
          <a:prstGeom prst="rect">
            <a:avLst/>
          </a:prstGeom>
        </p:spPr>
        <p:txBody>
          <a:bodyPr vert="horz" wrap="square" lIns="0" tIns="12065" rIns="0" bIns="0" rtlCol="0">
            <a:spAutoFit/>
          </a:bodyPr>
          <a:lstStyle/>
          <a:p>
            <a:pPr marL="12700">
              <a:lnSpc>
                <a:spcPct val="100000"/>
              </a:lnSpc>
              <a:spcBef>
                <a:spcPts val="95"/>
              </a:spcBef>
            </a:pPr>
            <a:r>
              <a:rPr sz="900" b="1" spc="-50" dirty="0">
                <a:solidFill>
                  <a:srgbClr val="FFFFFF"/>
                </a:solidFill>
                <a:latin typeface="Times New Roman" panose="02020603050405020304" pitchFamily="18" charset="0"/>
                <a:cs typeface="Times New Roman" panose="02020603050405020304" pitchFamily="18" charset="0"/>
              </a:rPr>
              <a:t>DevOps</a:t>
            </a:r>
            <a:r>
              <a:rPr sz="900" b="1" spc="-35" dirty="0">
                <a:solidFill>
                  <a:srgbClr val="FFFFFF"/>
                </a:solidFill>
                <a:latin typeface="Times New Roman" panose="02020603050405020304" pitchFamily="18" charset="0"/>
                <a:cs typeface="Times New Roman" panose="02020603050405020304" pitchFamily="18" charset="0"/>
              </a:rPr>
              <a:t> </a:t>
            </a:r>
            <a:r>
              <a:rPr sz="850" b="1" spc="-20" dirty="0">
                <a:solidFill>
                  <a:srgbClr val="FFFFFF"/>
                </a:solidFill>
                <a:latin typeface="Times New Roman" panose="02020603050405020304" pitchFamily="18" charset="0"/>
                <a:cs typeface="Times New Roman" panose="02020603050405020304" pitchFamily="18" charset="0"/>
              </a:rPr>
              <a:t>&amp;</a:t>
            </a:r>
            <a:r>
              <a:rPr sz="850" b="1" spc="-85" dirty="0">
                <a:solidFill>
                  <a:srgbClr val="FFFFFF"/>
                </a:solidFill>
                <a:latin typeface="Times New Roman" panose="02020603050405020304" pitchFamily="18" charset="0"/>
                <a:cs typeface="Times New Roman" panose="02020603050405020304" pitchFamily="18" charset="0"/>
              </a:rPr>
              <a:t> </a:t>
            </a:r>
            <a:r>
              <a:rPr sz="900" b="1" spc="-30" dirty="0">
                <a:solidFill>
                  <a:srgbClr val="FFFFFF"/>
                </a:solidFill>
                <a:latin typeface="Times New Roman" panose="02020603050405020304" pitchFamily="18" charset="0"/>
                <a:cs typeface="Times New Roman" panose="02020603050405020304" pitchFamily="18" charset="0"/>
              </a:rPr>
              <a:t>Cloud</a:t>
            </a:r>
            <a:endParaRPr sz="900">
              <a:latin typeface="Times New Roman" panose="02020603050405020304" pitchFamily="18" charset="0"/>
              <a:cs typeface="Times New Roman" panose="02020603050405020304" pitchFamily="18" charset="0"/>
            </a:endParaRPr>
          </a:p>
        </p:txBody>
      </p:sp>
      <p:pic>
        <p:nvPicPr>
          <p:cNvPr id="44" name="object 44"/>
          <p:cNvPicPr/>
          <p:nvPr/>
        </p:nvPicPr>
        <p:blipFill>
          <a:blip r:embed="rId9" cstate="print"/>
          <a:stretch>
            <a:fillRect/>
          </a:stretch>
        </p:blipFill>
        <p:spPr>
          <a:xfrm>
            <a:off x="0" y="0"/>
            <a:ext cx="12191999" cy="47624"/>
          </a:xfrm>
          <a:prstGeom prst="rect">
            <a:avLst/>
          </a:prstGeom>
        </p:spPr>
      </p:pic>
      <p:sp>
        <p:nvSpPr>
          <p:cNvPr id="45" name="object 45"/>
          <p:cNvSpPr txBox="1"/>
          <p:nvPr/>
        </p:nvSpPr>
        <p:spPr>
          <a:xfrm>
            <a:off x="996949" y="2210028"/>
            <a:ext cx="2562860" cy="362472"/>
          </a:xfrm>
          <a:prstGeom prst="rect">
            <a:avLst/>
          </a:prstGeom>
        </p:spPr>
        <p:txBody>
          <a:bodyPr vert="horz" wrap="square" lIns="0" tIns="13970" rIns="0" bIns="0" rtlCol="0">
            <a:spAutoFit/>
          </a:bodyPr>
          <a:lstStyle/>
          <a:p>
            <a:pPr marL="12700" marR="5080">
              <a:lnSpc>
                <a:spcPct val="125000"/>
              </a:lnSpc>
              <a:spcBef>
                <a:spcPts val="110"/>
              </a:spcBef>
            </a:pPr>
            <a:r>
              <a:rPr sz="950" b="1" dirty="0">
                <a:solidFill>
                  <a:srgbClr val="3A4556"/>
                </a:solidFill>
                <a:latin typeface="Times New Roman" panose="02020603050405020304" pitchFamily="18" charset="0"/>
                <a:cs typeface="Times New Roman" panose="02020603050405020304" pitchFamily="18" charset="0"/>
              </a:rPr>
              <a:t>Accueil</a:t>
            </a:r>
            <a:r>
              <a:rPr sz="950" b="1" spc="-65" dirty="0">
                <a:solidFill>
                  <a:srgbClr val="3A4556"/>
                </a:solidFill>
                <a:latin typeface="Times New Roman" panose="02020603050405020304" pitchFamily="18" charset="0"/>
                <a:cs typeface="Times New Roman" panose="02020603050405020304" pitchFamily="18" charset="0"/>
              </a:rPr>
              <a:t> </a:t>
            </a:r>
            <a:r>
              <a:rPr sz="950" spc="434" dirty="0">
                <a:solidFill>
                  <a:srgbClr val="3A4556"/>
                </a:solidFill>
                <a:latin typeface="Times New Roman" panose="02020603050405020304" pitchFamily="18" charset="0"/>
                <a:cs typeface="Times New Roman" panose="02020603050405020304" pitchFamily="18" charset="0"/>
              </a:rPr>
              <a:t>—</a:t>
            </a:r>
            <a:r>
              <a:rPr sz="950" spc="-9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Présentation,</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stats,</a:t>
            </a:r>
            <a:r>
              <a:rPr sz="950" spc="1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fonctionnement, </a:t>
            </a:r>
            <a:r>
              <a:rPr sz="950" dirty="0">
                <a:solidFill>
                  <a:srgbClr val="3A4556"/>
                </a:solidFill>
                <a:latin typeface="Times New Roman" panose="02020603050405020304" pitchFamily="18" charset="0"/>
                <a:cs typeface="Times New Roman" panose="02020603050405020304" pitchFamily="18" charset="0"/>
              </a:rPr>
              <a:t>catégories,</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témoignages,</a:t>
            </a:r>
            <a:r>
              <a:rPr sz="950" spc="45"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CTA</a:t>
            </a:r>
            <a:endParaRPr sz="950">
              <a:latin typeface="Times New Roman" panose="02020603050405020304" pitchFamily="18" charset="0"/>
              <a:cs typeface="Times New Roman" panose="02020603050405020304" pitchFamily="18" charset="0"/>
            </a:endParaRPr>
          </a:p>
        </p:txBody>
      </p:sp>
      <p:sp>
        <p:nvSpPr>
          <p:cNvPr id="46" name="object 46"/>
          <p:cNvSpPr/>
          <p:nvPr/>
        </p:nvSpPr>
        <p:spPr>
          <a:xfrm>
            <a:off x="838187" y="2324112"/>
            <a:ext cx="3571875" cy="666750"/>
          </a:xfrm>
          <a:custGeom>
            <a:avLst/>
            <a:gdLst/>
            <a:ahLst/>
            <a:cxnLst/>
            <a:rect l="l" t="t" r="r" b="b"/>
            <a:pathLst>
              <a:path w="3571875" h="666750">
                <a:moveTo>
                  <a:pt x="57150" y="634377"/>
                </a:moveTo>
                <a:lnTo>
                  <a:pt x="32372" y="609600"/>
                </a:lnTo>
                <a:lnTo>
                  <a:pt x="24790" y="609600"/>
                </a:lnTo>
                <a:lnTo>
                  <a:pt x="0" y="634377"/>
                </a:lnTo>
                <a:lnTo>
                  <a:pt x="0" y="641959"/>
                </a:lnTo>
                <a:lnTo>
                  <a:pt x="24790" y="666737"/>
                </a:lnTo>
                <a:lnTo>
                  <a:pt x="32372" y="666737"/>
                </a:lnTo>
                <a:lnTo>
                  <a:pt x="57150" y="641959"/>
                </a:lnTo>
                <a:lnTo>
                  <a:pt x="57150" y="638175"/>
                </a:lnTo>
                <a:lnTo>
                  <a:pt x="57150" y="634377"/>
                </a:lnTo>
                <a:close/>
              </a:path>
              <a:path w="3571875" h="666750">
                <a:moveTo>
                  <a:pt x="57150" y="424827"/>
                </a:moveTo>
                <a:lnTo>
                  <a:pt x="32372" y="400050"/>
                </a:lnTo>
                <a:lnTo>
                  <a:pt x="24790" y="400050"/>
                </a:lnTo>
                <a:lnTo>
                  <a:pt x="0" y="424827"/>
                </a:lnTo>
                <a:lnTo>
                  <a:pt x="0" y="432409"/>
                </a:lnTo>
                <a:lnTo>
                  <a:pt x="24790" y="457187"/>
                </a:lnTo>
                <a:lnTo>
                  <a:pt x="32372" y="457187"/>
                </a:lnTo>
                <a:lnTo>
                  <a:pt x="57150" y="432409"/>
                </a:lnTo>
                <a:lnTo>
                  <a:pt x="57150" y="428625"/>
                </a:lnTo>
                <a:lnTo>
                  <a:pt x="57150" y="424827"/>
                </a:lnTo>
                <a:close/>
              </a:path>
              <a:path w="3571875" h="666750">
                <a:moveTo>
                  <a:pt x="57150" y="24777"/>
                </a:moveTo>
                <a:lnTo>
                  <a:pt x="32372" y="0"/>
                </a:lnTo>
                <a:lnTo>
                  <a:pt x="24790" y="0"/>
                </a:lnTo>
                <a:lnTo>
                  <a:pt x="0" y="24777"/>
                </a:lnTo>
                <a:lnTo>
                  <a:pt x="0" y="32359"/>
                </a:lnTo>
                <a:lnTo>
                  <a:pt x="24790" y="57137"/>
                </a:lnTo>
                <a:lnTo>
                  <a:pt x="32372" y="57137"/>
                </a:lnTo>
                <a:lnTo>
                  <a:pt x="57150" y="32359"/>
                </a:lnTo>
                <a:lnTo>
                  <a:pt x="57150" y="28575"/>
                </a:lnTo>
                <a:lnTo>
                  <a:pt x="57150" y="24777"/>
                </a:lnTo>
                <a:close/>
              </a:path>
              <a:path w="3571875" h="666750">
                <a:moveTo>
                  <a:pt x="3571875" y="424827"/>
                </a:moveTo>
                <a:lnTo>
                  <a:pt x="3547097" y="400050"/>
                </a:lnTo>
                <a:lnTo>
                  <a:pt x="3539515" y="400050"/>
                </a:lnTo>
                <a:lnTo>
                  <a:pt x="3514725" y="424827"/>
                </a:lnTo>
                <a:lnTo>
                  <a:pt x="3514725" y="432409"/>
                </a:lnTo>
                <a:lnTo>
                  <a:pt x="3539515" y="457187"/>
                </a:lnTo>
                <a:lnTo>
                  <a:pt x="3547097" y="457187"/>
                </a:lnTo>
                <a:lnTo>
                  <a:pt x="3571875" y="432409"/>
                </a:lnTo>
                <a:lnTo>
                  <a:pt x="3571875" y="428625"/>
                </a:lnTo>
                <a:lnTo>
                  <a:pt x="3571875" y="424827"/>
                </a:lnTo>
                <a:close/>
              </a:path>
              <a:path w="3571875" h="666750">
                <a:moveTo>
                  <a:pt x="3571875" y="24777"/>
                </a:moveTo>
                <a:lnTo>
                  <a:pt x="3547097" y="0"/>
                </a:lnTo>
                <a:lnTo>
                  <a:pt x="3539515" y="0"/>
                </a:lnTo>
                <a:lnTo>
                  <a:pt x="3514725" y="24777"/>
                </a:lnTo>
                <a:lnTo>
                  <a:pt x="3514725" y="32359"/>
                </a:lnTo>
                <a:lnTo>
                  <a:pt x="3539515" y="57137"/>
                </a:lnTo>
                <a:lnTo>
                  <a:pt x="3547097" y="57137"/>
                </a:lnTo>
                <a:lnTo>
                  <a:pt x="3571875" y="32359"/>
                </a:lnTo>
                <a:lnTo>
                  <a:pt x="3571875" y="28575"/>
                </a:lnTo>
                <a:lnTo>
                  <a:pt x="3571875" y="24777"/>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7" name="object 47"/>
          <p:cNvSpPr txBox="1"/>
          <p:nvPr/>
        </p:nvSpPr>
        <p:spPr>
          <a:xfrm>
            <a:off x="4514800" y="2243471"/>
            <a:ext cx="2896235" cy="163506"/>
          </a:xfrm>
          <a:prstGeom prst="rect">
            <a:avLst/>
          </a:prstGeom>
        </p:spPr>
        <p:txBody>
          <a:bodyPr vert="horz" wrap="square" lIns="0" tIns="17145" rIns="0" bIns="0" rtlCol="0">
            <a:spAutoFit/>
          </a:bodyPr>
          <a:lstStyle/>
          <a:p>
            <a:pPr marL="12700">
              <a:lnSpc>
                <a:spcPct val="100000"/>
              </a:lnSpc>
              <a:spcBef>
                <a:spcPts val="135"/>
              </a:spcBef>
            </a:pPr>
            <a:r>
              <a:rPr sz="950" b="1" spc="-10" dirty="0">
                <a:solidFill>
                  <a:srgbClr val="3A4556"/>
                </a:solidFill>
                <a:latin typeface="Times New Roman" panose="02020603050405020304" pitchFamily="18" charset="0"/>
                <a:cs typeface="Times New Roman" panose="02020603050405020304" pitchFamily="18" charset="0"/>
              </a:rPr>
              <a:t>Freelances </a:t>
            </a:r>
            <a:r>
              <a:rPr sz="950" spc="434" dirty="0">
                <a:solidFill>
                  <a:srgbClr val="3A4556"/>
                </a:solidFill>
                <a:latin typeface="Times New Roman" panose="02020603050405020304" pitchFamily="18" charset="0"/>
                <a:cs typeface="Times New Roman" panose="02020603050405020304" pitchFamily="18" charset="0"/>
              </a:rPr>
              <a:t>—</a:t>
            </a:r>
            <a:r>
              <a:rPr sz="950" spc="-7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Grille</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filtrable</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9</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profils</a:t>
            </a:r>
            <a:r>
              <a:rPr sz="950" spc="4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avec</a:t>
            </a:r>
            <a:r>
              <a:rPr sz="950" spc="3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modale</a:t>
            </a:r>
            <a:endParaRPr sz="950">
              <a:latin typeface="Times New Roman" panose="02020603050405020304" pitchFamily="18" charset="0"/>
              <a:cs typeface="Times New Roman" panose="02020603050405020304" pitchFamily="18" charset="0"/>
            </a:endParaRPr>
          </a:p>
        </p:txBody>
      </p:sp>
      <p:sp>
        <p:nvSpPr>
          <p:cNvPr id="48" name="object 48"/>
          <p:cNvSpPr txBox="1"/>
          <p:nvPr/>
        </p:nvSpPr>
        <p:spPr>
          <a:xfrm>
            <a:off x="4514800" y="2643521"/>
            <a:ext cx="2738755" cy="163506"/>
          </a:xfrm>
          <a:prstGeom prst="rect">
            <a:avLst/>
          </a:prstGeom>
        </p:spPr>
        <p:txBody>
          <a:bodyPr vert="horz" wrap="square" lIns="0" tIns="17145" rIns="0" bIns="0" rtlCol="0">
            <a:spAutoFit/>
          </a:bodyPr>
          <a:lstStyle/>
          <a:p>
            <a:pPr marL="12700">
              <a:lnSpc>
                <a:spcPct val="100000"/>
              </a:lnSpc>
              <a:spcBef>
                <a:spcPts val="135"/>
              </a:spcBef>
            </a:pPr>
            <a:r>
              <a:rPr sz="950" b="1" spc="100" dirty="0">
                <a:solidFill>
                  <a:srgbClr val="3A4556"/>
                </a:solidFill>
                <a:latin typeface="Times New Roman" panose="02020603050405020304" pitchFamily="18" charset="0"/>
                <a:cs typeface="Times New Roman" panose="02020603050405020304" pitchFamily="18" charset="0"/>
              </a:rPr>
              <a:t>À</a:t>
            </a:r>
            <a:r>
              <a:rPr sz="950" b="1" spc="-114" dirty="0">
                <a:solidFill>
                  <a:srgbClr val="3A4556"/>
                </a:solidFill>
                <a:latin typeface="Times New Roman" panose="02020603050405020304" pitchFamily="18" charset="0"/>
                <a:cs typeface="Times New Roman" panose="02020603050405020304" pitchFamily="18" charset="0"/>
              </a:rPr>
              <a:t> </a:t>
            </a:r>
            <a:r>
              <a:rPr sz="950" b="1" dirty="0">
                <a:solidFill>
                  <a:srgbClr val="3A4556"/>
                </a:solidFill>
                <a:latin typeface="Times New Roman" panose="02020603050405020304" pitchFamily="18" charset="0"/>
                <a:cs typeface="Times New Roman" panose="02020603050405020304" pitchFamily="18" charset="0"/>
              </a:rPr>
              <a:t>propos</a:t>
            </a:r>
            <a:r>
              <a:rPr sz="950" b="1" spc="-35" dirty="0">
                <a:solidFill>
                  <a:srgbClr val="3A4556"/>
                </a:solidFill>
                <a:latin typeface="Times New Roman" panose="02020603050405020304" pitchFamily="18" charset="0"/>
                <a:cs typeface="Times New Roman" panose="02020603050405020304" pitchFamily="18" charset="0"/>
              </a:rPr>
              <a:t> </a:t>
            </a:r>
            <a:r>
              <a:rPr sz="950" spc="434" dirty="0">
                <a:solidFill>
                  <a:srgbClr val="3A4556"/>
                </a:solidFill>
                <a:latin typeface="Times New Roman" panose="02020603050405020304" pitchFamily="18" charset="0"/>
                <a:cs typeface="Times New Roman" panose="02020603050405020304" pitchFamily="18" charset="0"/>
              </a:rPr>
              <a:t>—</a:t>
            </a:r>
            <a:r>
              <a:rPr sz="950" spc="-8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Histoire,</a:t>
            </a:r>
            <a:r>
              <a:rPr sz="950" spc="7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valeurs,</a:t>
            </a:r>
            <a:r>
              <a:rPr sz="950" spc="6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équipe,</a:t>
            </a:r>
            <a:r>
              <a:rPr sz="950" spc="7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chiffres</a:t>
            </a:r>
            <a:r>
              <a:rPr sz="950" spc="10" dirty="0">
                <a:solidFill>
                  <a:srgbClr val="3A4556"/>
                </a:solidFill>
                <a:latin typeface="Times New Roman" panose="02020603050405020304" pitchFamily="18" charset="0"/>
                <a:cs typeface="Times New Roman" panose="02020603050405020304" pitchFamily="18" charset="0"/>
              </a:rPr>
              <a:t> </a:t>
            </a:r>
            <a:r>
              <a:rPr sz="950" spc="-20" dirty="0">
                <a:solidFill>
                  <a:srgbClr val="3A4556"/>
                </a:solidFill>
                <a:latin typeface="Times New Roman" panose="02020603050405020304" pitchFamily="18" charset="0"/>
                <a:cs typeface="Times New Roman" panose="02020603050405020304" pitchFamily="18" charset="0"/>
              </a:rPr>
              <a:t>clés</a:t>
            </a:r>
            <a:endParaRPr sz="950">
              <a:latin typeface="Times New Roman" panose="02020603050405020304" pitchFamily="18" charset="0"/>
              <a:cs typeface="Times New Roman" panose="02020603050405020304" pitchFamily="18" charset="0"/>
            </a:endParaRPr>
          </a:p>
        </p:txBody>
      </p:sp>
      <p:sp>
        <p:nvSpPr>
          <p:cNvPr id="49" name="object 49"/>
          <p:cNvSpPr txBox="1"/>
          <p:nvPr/>
        </p:nvSpPr>
        <p:spPr>
          <a:xfrm>
            <a:off x="996949" y="2584065"/>
            <a:ext cx="2554605" cy="444500"/>
          </a:xfrm>
          <a:prstGeom prst="rect">
            <a:avLst/>
          </a:prstGeom>
        </p:spPr>
        <p:txBody>
          <a:bodyPr vert="horz" wrap="square" lIns="0" tIns="76200" rIns="0" bIns="0" rtlCol="0">
            <a:spAutoFit/>
          </a:bodyPr>
          <a:lstStyle/>
          <a:p>
            <a:pPr marL="12700">
              <a:lnSpc>
                <a:spcPct val="100000"/>
              </a:lnSpc>
              <a:spcBef>
                <a:spcPts val="600"/>
              </a:spcBef>
            </a:pPr>
            <a:r>
              <a:rPr sz="950" b="1" spc="-10" dirty="0">
                <a:solidFill>
                  <a:srgbClr val="3A4556"/>
                </a:solidFill>
                <a:latin typeface="Times New Roman" panose="02020603050405020304" pitchFamily="18" charset="0"/>
                <a:cs typeface="Times New Roman" panose="02020603050405020304" pitchFamily="18" charset="0"/>
              </a:rPr>
              <a:t>Tarifs</a:t>
            </a:r>
            <a:r>
              <a:rPr sz="950" b="1" spc="-40" dirty="0">
                <a:solidFill>
                  <a:srgbClr val="3A4556"/>
                </a:solidFill>
                <a:latin typeface="Times New Roman" panose="02020603050405020304" pitchFamily="18" charset="0"/>
                <a:cs typeface="Times New Roman" panose="02020603050405020304" pitchFamily="18" charset="0"/>
              </a:rPr>
              <a:t> </a:t>
            </a:r>
            <a:r>
              <a:rPr sz="950" spc="434" dirty="0">
                <a:solidFill>
                  <a:srgbClr val="3A4556"/>
                </a:solidFill>
                <a:latin typeface="Times New Roman" panose="02020603050405020304" pitchFamily="18" charset="0"/>
                <a:cs typeface="Times New Roman" panose="02020603050405020304" pitchFamily="18" charset="0"/>
              </a:rPr>
              <a:t>—</a:t>
            </a:r>
            <a:r>
              <a:rPr sz="950" spc="-8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3</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plans</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tarifaires</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t>
            </a:r>
            <a:r>
              <a:rPr sz="950" spc="55" dirty="0">
                <a:solidFill>
                  <a:srgbClr val="3A4556"/>
                </a:solidFill>
                <a:latin typeface="Times New Roman" panose="02020603050405020304" pitchFamily="18" charset="0"/>
                <a:cs typeface="Times New Roman" panose="02020603050405020304" pitchFamily="18" charset="0"/>
              </a:rPr>
              <a:t> </a:t>
            </a:r>
            <a:r>
              <a:rPr sz="950" spc="-90" dirty="0">
                <a:solidFill>
                  <a:srgbClr val="3A4556"/>
                </a:solidFill>
                <a:latin typeface="Times New Roman" panose="02020603050405020304" pitchFamily="18" charset="0"/>
                <a:cs typeface="Times New Roman" panose="02020603050405020304" pitchFamily="18" charset="0"/>
              </a:rPr>
              <a:t>FAQ</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en</a:t>
            </a:r>
            <a:r>
              <a:rPr sz="950" spc="4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accordéon</a:t>
            </a:r>
            <a:endParaRPr sz="950">
              <a:latin typeface="Times New Roman" panose="02020603050405020304" pitchFamily="18" charset="0"/>
              <a:cs typeface="Times New Roman" panose="02020603050405020304" pitchFamily="18" charset="0"/>
            </a:endParaRPr>
          </a:p>
          <a:p>
            <a:pPr marL="12700">
              <a:lnSpc>
                <a:spcPct val="100000"/>
              </a:lnSpc>
              <a:spcBef>
                <a:spcPts val="509"/>
              </a:spcBef>
            </a:pPr>
            <a:r>
              <a:rPr sz="950" b="1" dirty="0">
                <a:solidFill>
                  <a:srgbClr val="3A4556"/>
                </a:solidFill>
                <a:latin typeface="Times New Roman" panose="02020603050405020304" pitchFamily="18" charset="0"/>
                <a:cs typeface="Times New Roman" panose="02020603050405020304" pitchFamily="18" charset="0"/>
              </a:rPr>
              <a:t>Contact</a:t>
            </a:r>
            <a:r>
              <a:rPr sz="950" b="1" spc="-35" dirty="0">
                <a:solidFill>
                  <a:srgbClr val="3A4556"/>
                </a:solidFill>
                <a:latin typeface="Times New Roman" panose="02020603050405020304" pitchFamily="18" charset="0"/>
                <a:cs typeface="Times New Roman" panose="02020603050405020304" pitchFamily="18" charset="0"/>
              </a:rPr>
              <a:t> </a:t>
            </a:r>
            <a:r>
              <a:rPr sz="950" spc="434" dirty="0">
                <a:solidFill>
                  <a:srgbClr val="3A4556"/>
                </a:solidFill>
                <a:latin typeface="Times New Roman" panose="02020603050405020304" pitchFamily="18" charset="0"/>
                <a:cs typeface="Times New Roman" panose="02020603050405020304" pitchFamily="18" charset="0"/>
              </a:rPr>
              <a:t>—</a:t>
            </a:r>
            <a:r>
              <a:rPr sz="950" spc="-7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Formulaire</a:t>
            </a:r>
            <a:r>
              <a:rPr sz="950" spc="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a:t>
            </a:r>
            <a:r>
              <a:rPr sz="950" spc="2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contact</a:t>
            </a:r>
            <a:endParaRPr sz="950">
              <a:latin typeface="Times New Roman" panose="02020603050405020304" pitchFamily="18" charset="0"/>
              <a:cs typeface="Times New Roman" panose="02020603050405020304" pitchFamily="18" charset="0"/>
            </a:endParaRPr>
          </a:p>
        </p:txBody>
      </p:sp>
      <p:sp>
        <p:nvSpPr>
          <p:cNvPr id="50" name="object 50"/>
          <p:cNvSpPr txBox="1"/>
          <p:nvPr/>
        </p:nvSpPr>
        <p:spPr>
          <a:xfrm>
            <a:off x="8375550" y="2016893"/>
            <a:ext cx="2126615"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3A4556"/>
                </a:solidFill>
                <a:latin typeface="Times New Roman" panose="02020603050405020304" pitchFamily="18" charset="0"/>
                <a:cs typeface="Times New Roman" panose="02020603050405020304" pitchFamily="18" charset="0"/>
              </a:rPr>
              <a:t>Barre</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fixe</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(fixed-top)</a:t>
            </a:r>
            <a:r>
              <a:rPr sz="950" spc="1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avec</a:t>
            </a:r>
            <a:r>
              <a:rPr sz="950" spc="4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logo</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et</a:t>
            </a:r>
            <a:r>
              <a:rPr sz="950" spc="25" dirty="0">
                <a:solidFill>
                  <a:srgbClr val="3A4556"/>
                </a:solidFill>
                <a:latin typeface="Times New Roman" panose="02020603050405020304" pitchFamily="18" charset="0"/>
                <a:cs typeface="Times New Roman" panose="02020603050405020304" pitchFamily="18" charset="0"/>
              </a:rPr>
              <a:t> </a:t>
            </a:r>
            <a:r>
              <a:rPr sz="950" spc="-20" dirty="0">
                <a:solidFill>
                  <a:srgbClr val="3A4556"/>
                </a:solidFill>
                <a:latin typeface="Times New Roman" panose="02020603050405020304" pitchFamily="18" charset="0"/>
                <a:cs typeface="Times New Roman" panose="02020603050405020304" pitchFamily="18" charset="0"/>
              </a:rPr>
              <a:t>liens</a:t>
            </a:r>
            <a:endParaRPr sz="950">
              <a:latin typeface="Times New Roman" panose="02020603050405020304" pitchFamily="18" charset="0"/>
              <a:cs typeface="Times New Roman" panose="02020603050405020304" pitchFamily="18" charset="0"/>
            </a:endParaRPr>
          </a:p>
        </p:txBody>
      </p:sp>
      <p:sp>
        <p:nvSpPr>
          <p:cNvPr id="51" name="object 51"/>
          <p:cNvSpPr/>
          <p:nvPr/>
        </p:nvSpPr>
        <p:spPr>
          <a:xfrm>
            <a:off x="8220062" y="2095512"/>
            <a:ext cx="57150" cy="704850"/>
          </a:xfrm>
          <a:custGeom>
            <a:avLst/>
            <a:gdLst/>
            <a:ahLst/>
            <a:cxnLst/>
            <a:rect l="l" t="t" r="r" b="b"/>
            <a:pathLst>
              <a:path w="57150" h="704850">
                <a:moveTo>
                  <a:pt x="57150" y="672477"/>
                </a:moveTo>
                <a:lnTo>
                  <a:pt x="32372" y="647700"/>
                </a:lnTo>
                <a:lnTo>
                  <a:pt x="24790" y="647700"/>
                </a:lnTo>
                <a:lnTo>
                  <a:pt x="0" y="672477"/>
                </a:lnTo>
                <a:lnTo>
                  <a:pt x="0" y="680059"/>
                </a:lnTo>
                <a:lnTo>
                  <a:pt x="24790" y="704850"/>
                </a:lnTo>
                <a:lnTo>
                  <a:pt x="32372" y="704850"/>
                </a:lnTo>
                <a:lnTo>
                  <a:pt x="57150" y="680059"/>
                </a:lnTo>
                <a:lnTo>
                  <a:pt x="57150" y="676275"/>
                </a:lnTo>
                <a:lnTo>
                  <a:pt x="57150" y="672477"/>
                </a:lnTo>
                <a:close/>
              </a:path>
              <a:path w="57150" h="704850">
                <a:moveTo>
                  <a:pt x="57150" y="453402"/>
                </a:moveTo>
                <a:lnTo>
                  <a:pt x="32372" y="428625"/>
                </a:lnTo>
                <a:lnTo>
                  <a:pt x="24790" y="428625"/>
                </a:lnTo>
                <a:lnTo>
                  <a:pt x="0" y="453402"/>
                </a:lnTo>
                <a:lnTo>
                  <a:pt x="0" y="460984"/>
                </a:lnTo>
                <a:lnTo>
                  <a:pt x="24790" y="485762"/>
                </a:lnTo>
                <a:lnTo>
                  <a:pt x="32372" y="485762"/>
                </a:lnTo>
                <a:lnTo>
                  <a:pt x="57150" y="460984"/>
                </a:lnTo>
                <a:lnTo>
                  <a:pt x="57150" y="457200"/>
                </a:lnTo>
                <a:lnTo>
                  <a:pt x="57150" y="453402"/>
                </a:lnTo>
                <a:close/>
              </a:path>
              <a:path w="57150" h="704850">
                <a:moveTo>
                  <a:pt x="57150" y="234327"/>
                </a:moveTo>
                <a:lnTo>
                  <a:pt x="32372" y="209550"/>
                </a:lnTo>
                <a:lnTo>
                  <a:pt x="24790" y="209550"/>
                </a:lnTo>
                <a:lnTo>
                  <a:pt x="0" y="234327"/>
                </a:lnTo>
                <a:lnTo>
                  <a:pt x="0" y="241909"/>
                </a:lnTo>
                <a:lnTo>
                  <a:pt x="24790" y="266700"/>
                </a:lnTo>
                <a:lnTo>
                  <a:pt x="32372" y="266700"/>
                </a:lnTo>
                <a:lnTo>
                  <a:pt x="57150" y="241909"/>
                </a:lnTo>
                <a:lnTo>
                  <a:pt x="57150" y="238125"/>
                </a:lnTo>
                <a:lnTo>
                  <a:pt x="57150" y="234327"/>
                </a:lnTo>
                <a:close/>
              </a:path>
              <a:path w="57150" h="704850">
                <a:moveTo>
                  <a:pt x="57150" y="24777"/>
                </a:moveTo>
                <a:lnTo>
                  <a:pt x="32372" y="0"/>
                </a:lnTo>
                <a:lnTo>
                  <a:pt x="24790" y="0"/>
                </a:lnTo>
                <a:lnTo>
                  <a:pt x="0" y="24777"/>
                </a:lnTo>
                <a:lnTo>
                  <a:pt x="0" y="32359"/>
                </a:lnTo>
                <a:lnTo>
                  <a:pt x="24790" y="57150"/>
                </a:lnTo>
                <a:lnTo>
                  <a:pt x="32372" y="57150"/>
                </a:lnTo>
                <a:lnTo>
                  <a:pt x="57150" y="32359"/>
                </a:lnTo>
                <a:lnTo>
                  <a:pt x="57150" y="28575"/>
                </a:lnTo>
                <a:lnTo>
                  <a:pt x="57150" y="24777"/>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2" name="object 52"/>
          <p:cNvSpPr txBox="1"/>
          <p:nvPr/>
        </p:nvSpPr>
        <p:spPr>
          <a:xfrm>
            <a:off x="8375550" y="2226443"/>
            <a:ext cx="1439545"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3A4556"/>
                </a:solidFill>
                <a:latin typeface="Times New Roman" panose="02020603050405020304" pitchFamily="18" charset="0"/>
                <a:cs typeface="Times New Roman" panose="02020603050405020304" pitchFamily="18" charset="0"/>
              </a:rPr>
              <a:t>Toggle</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mode</a:t>
            </a:r>
            <a:r>
              <a:rPr sz="950" spc="-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sombre/clair</a:t>
            </a:r>
            <a:endParaRPr sz="950">
              <a:latin typeface="Times New Roman" panose="02020603050405020304" pitchFamily="18" charset="0"/>
              <a:cs typeface="Times New Roman" panose="02020603050405020304" pitchFamily="18" charset="0"/>
            </a:endParaRPr>
          </a:p>
        </p:txBody>
      </p:sp>
      <p:sp>
        <p:nvSpPr>
          <p:cNvPr id="53" name="object 53"/>
          <p:cNvSpPr txBox="1"/>
          <p:nvPr/>
        </p:nvSpPr>
        <p:spPr>
          <a:xfrm>
            <a:off x="8375550" y="2445518"/>
            <a:ext cx="1543685" cy="160940"/>
          </a:xfrm>
          <a:prstGeom prst="rect">
            <a:avLst/>
          </a:prstGeom>
        </p:spPr>
        <p:txBody>
          <a:bodyPr vert="horz" wrap="square" lIns="0" tIns="14604" rIns="0" bIns="0" rtlCol="0">
            <a:spAutoFit/>
          </a:bodyPr>
          <a:lstStyle/>
          <a:p>
            <a:pPr marL="12700">
              <a:lnSpc>
                <a:spcPct val="100000"/>
              </a:lnSpc>
              <a:spcBef>
                <a:spcPts val="114"/>
              </a:spcBef>
            </a:pPr>
            <a:r>
              <a:rPr sz="950" spc="-40" dirty="0">
                <a:solidFill>
                  <a:srgbClr val="3A4556"/>
                </a:solidFill>
                <a:latin typeface="Times New Roman" panose="02020603050405020304" pitchFamily="18" charset="0"/>
                <a:cs typeface="Times New Roman" panose="02020603050405020304" pitchFamily="18" charset="0"/>
              </a:rPr>
              <a:t>CTA</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Rejoindre</a:t>
            </a:r>
            <a:r>
              <a:rPr sz="950" spc="1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AfriTalent</a:t>
            </a:r>
            <a:r>
              <a:rPr sz="950" spc="5" dirty="0">
                <a:solidFill>
                  <a:srgbClr val="3A4556"/>
                </a:solidFill>
                <a:latin typeface="Times New Roman" panose="02020603050405020304" pitchFamily="18" charset="0"/>
                <a:cs typeface="Times New Roman" panose="02020603050405020304" pitchFamily="18" charset="0"/>
              </a:rPr>
              <a:t> </a:t>
            </a:r>
            <a:r>
              <a:rPr sz="950" spc="-50" dirty="0">
                <a:solidFill>
                  <a:srgbClr val="3A4556"/>
                </a:solidFill>
                <a:latin typeface="Times New Roman" panose="02020603050405020304" pitchFamily="18" charset="0"/>
                <a:cs typeface="Times New Roman" panose="02020603050405020304" pitchFamily="18" charset="0"/>
              </a:rPr>
              <a:t>»</a:t>
            </a:r>
            <a:endParaRPr sz="950">
              <a:latin typeface="Times New Roman" panose="02020603050405020304" pitchFamily="18" charset="0"/>
              <a:cs typeface="Times New Roman" panose="02020603050405020304" pitchFamily="18" charset="0"/>
            </a:endParaRPr>
          </a:p>
        </p:txBody>
      </p:sp>
      <p:sp>
        <p:nvSpPr>
          <p:cNvPr id="54" name="object 54"/>
          <p:cNvSpPr txBox="1"/>
          <p:nvPr/>
        </p:nvSpPr>
        <p:spPr>
          <a:xfrm>
            <a:off x="8375550" y="2664593"/>
            <a:ext cx="2250440"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3A4556"/>
                </a:solidFill>
                <a:latin typeface="Times New Roman" panose="02020603050405020304" pitchFamily="18" charset="0"/>
                <a:cs typeface="Times New Roman" panose="02020603050405020304" pitchFamily="18" charset="0"/>
              </a:rPr>
              <a:t>Menu</a:t>
            </a:r>
            <a:r>
              <a:rPr sz="950" spc="6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hamburger</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responsive</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pour</a:t>
            </a:r>
            <a:r>
              <a:rPr sz="950" spc="2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mobile</a:t>
            </a:r>
            <a:endParaRPr sz="950">
              <a:latin typeface="Times New Roman" panose="02020603050405020304" pitchFamily="18" charset="0"/>
              <a:cs typeface="Times New Roman" panose="02020603050405020304" pitchFamily="18" charset="0"/>
            </a:endParaRPr>
          </a:p>
        </p:txBody>
      </p:sp>
      <p:sp>
        <p:nvSpPr>
          <p:cNvPr id="55" name="object 55"/>
          <p:cNvSpPr txBox="1"/>
          <p:nvPr/>
        </p:nvSpPr>
        <p:spPr>
          <a:xfrm>
            <a:off x="958849" y="3864743"/>
            <a:ext cx="1804670"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3A4556"/>
                </a:solidFill>
                <a:latin typeface="Times New Roman" panose="02020603050405020304" pitchFamily="18" charset="0"/>
                <a:cs typeface="Times New Roman" panose="02020603050405020304" pitchFamily="18" charset="0"/>
              </a:rPr>
              <a:t>Filtres</a:t>
            </a:r>
            <a:r>
              <a:rPr sz="950" spc="3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par</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catégorie</a:t>
            </a:r>
            <a:r>
              <a:rPr sz="950" spc="3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(Freelances)</a:t>
            </a:r>
            <a:endParaRPr sz="950">
              <a:latin typeface="Times New Roman" panose="02020603050405020304" pitchFamily="18" charset="0"/>
              <a:cs typeface="Times New Roman" panose="02020603050405020304" pitchFamily="18" charset="0"/>
            </a:endParaRPr>
          </a:p>
        </p:txBody>
      </p:sp>
      <p:sp>
        <p:nvSpPr>
          <p:cNvPr id="56" name="object 56"/>
          <p:cNvSpPr/>
          <p:nvPr/>
        </p:nvSpPr>
        <p:spPr>
          <a:xfrm>
            <a:off x="800087" y="3943362"/>
            <a:ext cx="57150" cy="1133475"/>
          </a:xfrm>
          <a:custGeom>
            <a:avLst/>
            <a:gdLst/>
            <a:ahLst/>
            <a:cxnLst/>
            <a:rect l="l" t="t" r="r" b="b"/>
            <a:pathLst>
              <a:path w="57150" h="1133475">
                <a:moveTo>
                  <a:pt x="57150" y="1101102"/>
                </a:moveTo>
                <a:lnTo>
                  <a:pt x="32372" y="1076312"/>
                </a:lnTo>
                <a:lnTo>
                  <a:pt x="24790" y="1076312"/>
                </a:lnTo>
                <a:lnTo>
                  <a:pt x="0" y="1101102"/>
                </a:lnTo>
                <a:lnTo>
                  <a:pt x="0" y="1108684"/>
                </a:lnTo>
                <a:lnTo>
                  <a:pt x="24790" y="1133462"/>
                </a:lnTo>
                <a:lnTo>
                  <a:pt x="32372" y="1133462"/>
                </a:lnTo>
                <a:lnTo>
                  <a:pt x="57150" y="1108684"/>
                </a:lnTo>
                <a:lnTo>
                  <a:pt x="57150" y="1104887"/>
                </a:lnTo>
                <a:lnTo>
                  <a:pt x="57150" y="1101102"/>
                </a:lnTo>
                <a:close/>
              </a:path>
              <a:path w="57150" h="1133475">
                <a:moveTo>
                  <a:pt x="57150" y="891552"/>
                </a:moveTo>
                <a:lnTo>
                  <a:pt x="32372" y="866762"/>
                </a:lnTo>
                <a:lnTo>
                  <a:pt x="24790" y="866762"/>
                </a:lnTo>
                <a:lnTo>
                  <a:pt x="0" y="891552"/>
                </a:lnTo>
                <a:lnTo>
                  <a:pt x="0" y="899134"/>
                </a:lnTo>
                <a:lnTo>
                  <a:pt x="24790" y="923912"/>
                </a:lnTo>
                <a:lnTo>
                  <a:pt x="32372" y="923912"/>
                </a:lnTo>
                <a:lnTo>
                  <a:pt x="57150" y="899134"/>
                </a:lnTo>
                <a:lnTo>
                  <a:pt x="57150" y="895337"/>
                </a:lnTo>
                <a:lnTo>
                  <a:pt x="57150" y="891552"/>
                </a:lnTo>
                <a:close/>
              </a:path>
              <a:path w="57150" h="1133475">
                <a:moveTo>
                  <a:pt x="57150" y="672477"/>
                </a:moveTo>
                <a:lnTo>
                  <a:pt x="32372" y="647687"/>
                </a:lnTo>
                <a:lnTo>
                  <a:pt x="24790" y="647687"/>
                </a:lnTo>
                <a:lnTo>
                  <a:pt x="0" y="672477"/>
                </a:lnTo>
                <a:lnTo>
                  <a:pt x="0" y="680059"/>
                </a:lnTo>
                <a:lnTo>
                  <a:pt x="24790" y="704837"/>
                </a:lnTo>
                <a:lnTo>
                  <a:pt x="32372" y="704837"/>
                </a:lnTo>
                <a:lnTo>
                  <a:pt x="57150" y="680059"/>
                </a:lnTo>
                <a:lnTo>
                  <a:pt x="57150" y="676262"/>
                </a:lnTo>
                <a:lnTo>
                  <a:pt x="57150" y="672477"/>
                </a:lnTo>
                <a:close/>
              </a:path>
              <a:path w="57150" h="1133475">
                <a:moveTo>
                  <a:pt x="57150" y="462927"/>
                </a:moveTo>
                <a:lnTo>
                  <a:pt x="32372" y="438137"/>
                </a:lnTo>
                <a:lnTo>
                  <a:pt x="24790" y="438137"/>
                </a:lnTo>
                <a:lnTo>
                  <a:pt x="0" y="462927"/>
                </a:lnTo>
                <a:lnTo>
                  <a:pt x="0" y="470509"/>
                </a:lnTo>
                <a:lnTo>
                  <a:pt x="24790" y="495287"/>
                </a:lnTo>
                <a:lnTo>
                  <a:pt x="32372" y="495287"/>
                </a:lnTo>
                <a:lnTo>
                  <a:pt x="57150" y="470509"/>
                </a:lnTo>
                <a:lnTo>
                  <a:pt x="57150" y="466712"/>
                </a:lnTo>
                <a:lnTo>
                  <a:pt x="57150" y="462927"/>
                </a:lnTo>
                <a:close/>
              </a:path>
              <a:path w="57150" h="1133475">
                <a:moveTo>
                  <a:pt x="57150" y="243852"/>
                </a:moveTo>
                <a:lnTo>
                  <a:pt x="32372" y="219062"/>
                </a:lnTo>
                <a:lnTo>
                  <a:pt x="24790" y="219062"/>
                </a:lnTo>
                <a:lnTo>
                  <a:pt x="0" y="243852"/>
                </a:lnTo>
                <a:lnTo>
                  <a:pt x="0" y="251434"/>
                </a:lnTo>
                <a:lnTo>
                  <a:pt x="24790" y="276212"/>
                </a:lnTo>
                <a:lnTo>
                  <a:pt x="32372" y="276212"/>
                </a:lnTo>
                <a:lnTo>
                  <a:pt x="57150" y="251434"/>
                </a:lnTo>
                <a:lnTo>
                  <a:pt x="57150" y="247637"/>
                </a:lnTo>
                <a:lnTo>
                  <a:pt x="57150" y="243852"/>
                </a:lnTo>
                <a:close/>
              </a:path>
              <a:path w="57150" h="1133475">
                <a:moveTo>
                  <a:pt x="57150" y="24777"/>
                </a:moveTo>
                <a:lnTo>
                  <a:pt x="32372" y="0"/>
                </a:lnTo>
                <a:lnTo>
                  <a:pt x="24790" y="0"/>
                </a:lnTo>
                <a:lnTo>
                  <a:pt x="0" y="24777"/>
                </a:lnTo>
                <a:lnTo>
                  <a:pt x="0" y="32359"/>
                </a:lnTo>
                <a:lnTo>
                  <a:pt x="24790" y="57137"/>
                </a:lnTo>
                <a:lnTo>
                  <a:pt x="32372" y="57137"/>
                </a:lnTo>
                <a:lnTo>
                  <a:pt x="57150" y="32359"/>
                </a:lnTo>
                <a:lnTo>
                  <a:pt x="57150" y="28575"/>
                </a:lnTo>
                <a:lnTo>
                  <a:pt x="57150" y="24777"/>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7" name="object 57"/>
          <p:cNvSpPr txBox="1"/>
          <p:nvPr/>
        </p:nvSpPr>
        <p:spPr>
          <a:xfrm>
            <a:off x="958849" y="4083818"/>
            <a:ext cx="1448435"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3A4556"/>
                </a:solidFill>
                <a:latin typeface="Times New Roman" panose="02020603050405020304" pitchFamily="18" charset="0"/>
                <a:cs typeface="Times New Roman" panose="02020603050405020304" pitchFamily="18" charset="0"/>
              </a:rPr>
              <a:t>Carrousel</a:t>
            </a:r>
            <a:r>
              <a:rPr sz="950" spc="2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a:t>
            </a:r>
            <a:r>
              <a:rPr sz="950" spc="-30"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témoignages</a:t>
            </a:r>
            <a:endParaRPr sz="950">
              <a:latin typeface="Times New Roman" panose="02020603050405020304" pitchFamily="18" charset="0"/>
              <a:cs typeface="Times New Roman" panose="02020603050405020304" pitchFamily="18" charset="0"/>
            </a:endParaRPr>
          </a:p>
        </p:txBody>
      </p:sp>
      <p:sp>
        <p:nvSpPr>
          <p:cNvPr id="58" name="object 58"/>
          <p:cNvSpPr txBox="1"/>
          <p:nvPr/>
        </p:nvSpPr>
        <p:spPr>
          <a:xfrm>
            <a:off x="958849" y="4241011"/>
            <a:ext cx="1200785" cy="873125"/>
          </a:xfrm>
          <a:prstGeom prst="rect">
            <a:avLst/>
          </a:prstGeom>
        </p:spPr>
        <p:txBody>
          <a:bodyPr vert="horz" wrap="square" lIns="0" tIns="8890" rIns="0" bIns="0" rtlCol="0">
            <a:spAutoFit/>
          </a:bodyPr>
          <a:lstStyle/>
          <a:p>
            <a:pPr marL="12700" marR="5080">
              <a:lnSpc>
                <a:spcPct val="146900"/>
              </a:lnSpc>
              <a:spcBef>
                <a:spcPts val="70"/>
              </a:spcBef>
            </a:pPr>
            <a:r>
              <a:rPr sz="950" dirty="0">
                <a:solidFill>
                  <a:srgbClr val="3A4556"/>
                </a:solidFill>
                <a:latin typeface="Times New Roman" panose="02020603050405020304" pitchFamily="18" charset="0"/>
                <a:cs typeface="Times New Roman" panose="02020603050405020304" pitchFamily="18" charset="0"/>
              </a:rPr>
              <a:t>Compteurs</a:t>
            </a:r>
            <a:r>
              <a:rPr sz="950" spc="1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animés </a:t>
            </a:r>
            <a:r>
              <a:rPr sz="950" dirty="0">
                <a:solidFill>
                  <a:srgbClr val="3A4556"/>
                </a:solidFill>
                <a:latin typeface="Times New Roman" panose="02020603050405020304" pitchFamily="18" charset="0"/>
                <a:cs typeface="Times New Roman" panose="02020603050405020304" pitchFamily="18" charset="0"/>
              </a:rPr>
              <a:t>Accordéon</a:t>
            </a:r>
            <a:r>
              <a:rPr sz="950" spc="90" dirty="0">
                <a:solidFill>
                  <a:srgbClr val="3A4556"/>
                </a:solidFill>
                <a:latin typeface="Times New Roman" panose="02020603050405020304" pitchFamily="18" charset="0"/>
                <a:cs typeface="Times New Roman" panose="02020603050405020304" pitchFamily="18" charset="0"/>
              </a:rPr>
              <a:t> </a:t>
            </a:r>
            <a:r>
              <a:rPr sz="950" spc="-25" dirty="0">
                <a:solidFill>
                  <a:srgbClr val="3A4556"/>
                </a:solidFill>
                <a:latin typeface="Times New Roman" panose="02020603050405020304" pitchFamily="18" charset="0"/>
                <a:cs typeface="Times New Roman" panose="02020603050405020304" pitchFamily="18" charset="0"/>
              </a:rPr>
              <a:t>FAQ </a:t>
            </a:r>
            <a:r>
              <a:rPr sz="950" dirty="0">
                <a:solidFill>
                  <a:srgbClr val="3A4556"/>
                </a:solidFill>
                <a:latin typeface="Times New Roman" panose="02020603050405020304" pitchFamily="18" charset="0"/>
                <a:cs typeface="Times New Roman" panose="02020603050405020304" pitchFamily="18" charset="0"/>
              </a:rPr>
              <a:t>Modale</a:t>
            </a:r>
            <a:r>
              <a:rPr sz="950" spc="10"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de</a:t>
            </a:r>
            <a:r>
              <a:rPr sz="950" spc="15" dirty="0">
                <a:solidFill>
                  <a:srgbClr val="3A4556"/>
                </a:solidFill>
                <a:latin typeface="Times New Roman" panose="02020603050405020304" pitchFamily="18" charset="0"/>
                <a:cs typeface="Times New Roman" panose="02020603050405020304" pitchFamily="18" charset="0"/>
              </a:rPr>
              <a:t> </a:t>
            </a:r>
            <a:r>
              <a:rPr sz="950" spc="-10" dirty="0">
                <a:solidFill>
                  <a:srgbClr val="3A4556"/>
                </a:solidFill>
                <a:latin typeface="Times New Roman" panose="02020603050405020304" pitchFamily="18" charset="0"/>
                <a:cs typeface="Times New Roman" panose="02020603050405020304" pitchFamily="18" charset="0"/>
              </a:rPr>
              <a:t>profil </a:t>
            </a:r>
            <a:r>
              <a:rPr sz="950" dirty="0">
                <a:solidFill>
                  <a:srgbClr val="3A4556"/>
                </a:solidFill>
                <a:latin typeface="Times New Roman" panose="02020603050405020304" pitchFamily="18" charset="0"/>
                <a:cs typeface="Times New Roman" panose="02020603050405020304" pitchFamily="18" charset="0"/>
              </a:rPr>
              <a:t>Bouton</a:t>
            </a:r>
            <a:r>
              <a:rPr sz="950" spc="2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retour</a:t>
            </a:r>
            <a:r>
              <a:rPr sz="950" spc="-5" dirty="0">
                <a:solidFill>
                  <a:srgbClr val="3A4556"/>
                </a:solidFill>
                <a:latin typeface="Times New Roman" panose="02020603050405020304" pitchFamily="18" charset="0"/>
                <a:cs typeface="Times New Roman" panose="02020603050405020304" pitchFamily="18" charset="0"/>
              </a:rPr>
              <a:t> </a:t>
            </a:r>
            <a:r>
              <a:rPr sz="950" dirty="0">
                <a:solidFill>
                  <a:srgbClr val="3A4556"/>
                </a:solidFill>
                <a:latin typeface="Times New Roman" panose="02020603050405020304" pitchFamily="18" charset="0"/>
                <a:cs typeface="Times New Roman" panose="02020603050405020304" pitchFamily="18" charset="0"/>
              </a:rPr>
              <a:t>en</a:t>
            </a:r>
            <a:r>
              <a:rPr sz="950" spc="25" dirty="0">
                <a:solidFill>
                  <a:srgbClr val="3A4556"/>
                </a:solidFill>
                <a:latin typeface="Times New Roman" panose="02020603050405020304" pitchFamily="18" charset="0"/>
                <a:cs typeface="Times New Roman" panose="02020603050405020304" pitchFamily="18" charset="0"/>
              </a:rPr>
              <a:t> </a:t>
            </a:r>
            <a:r>
              <a:rPr sz="950" spc="-20" dirty="0">
                <a:solidFill>
                  <a:srgbClr val="3A4556"/>
                </a:solidFill>
                <a:latin typeface="Times New Roman" panose="02020603050405020304" pitchFamily="18" charset="0"/>
                <a:cs typeface="Times New Roman" panose="02020603050405020304" pitchFamily="18" charset="0"/>
              </a:rPr>
              <a:t>haut</a:t>
            </a:r>
            <a:endParaRPr sz="950">
              <a:latin typeface="Times New Roman" panose="02020603050405020304" pitchFamily="18" charset="0"/>
              <a:cs typeface="Times New Roman" panose="02020603050405020304" pitchFamily="18" charset="0"/>
            </a:endParaRPr>
          </a:p>
        </p:txBody>
      </p:sp>
      <p:sp>
        <p:nvSpPr>
          <p:cNvPr id="59" name="object 59"/>
          <p:cNvSpPr txBox="1"/>
          <p:nvPr/>
        </p:nvSpPr>
        <p:spPr>
          <a:xfrm>
            <a:off x="958849" y="5950718"/>
            <a:ext cx="1067435"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FEFEFE"/>
                </a:solidFill>
                <a:latin typeface="Times New Roman" panose="02020603050405020304" pitchFamily="18" charset="0"/>
                <a:cs typeface="Times New Roman" panose="02020603050405020304" pitchFamily="18" charset="0"/>
              </a:rPr>
              <a:t>Logo</a:t>
            </a:r>
            <a:r>
              <a:rPr sz="950" spc="20" dirty="0">
                <a:solidFill>
                  <a:srgbClr val="FEFEFE"/>
                </a:solidFill>
                <a:latin typeface="Times New Roman" panose="02020603050405020304" pitchFamily="18" charset="0"/>
                <a:cs typeface="Times New Roman" panose="02020603050405020304" pitchFamily="18" charset="0"/>
              </a:rPr>
              <a:t> </a:t>
            </a:r>
            <a:r>
              <a:rPr sz="950" dirty="0">
                <a:solidFill>
                  <a:srgbClr val="FEFEFE"/>
                </a:solidFill>
                <a:latin typeface="Times New Roman" panose="02020603050405020304" pitchFamily="18" charset="0"/>
                <a:cs typeface="Times New Roman" panose="02020603050405020304" pitchFamily="18" charset="0"/>
              </a:rPr>
              <a:t>et</a:t>
            </a:r>
            <a:r>
              <a:rPr sz="950" spc="15" dirty="0">
                <a:solidFill>
                  <a:srgbClr val="FEFEFE"/>
                </a:solidFill>
                <a:latin typeface="Times New Roman" panose="02020603050405020304" pitchFamily="18" charset="0"/>
                <a:cs typeface="Times New Roman" panose="02020603050405020304" pitchFamily="18" charset="0"/>
              </a:rPr>
              <a:t> </a:t>
            </a:r>
            <a:r>
              <a:rPr sz="950" spc="-10" dirty="0">
                <a:solidFill>
                  <a:srgbClr val="FEFEFE"/>
                </a:solidFill>
                <a:latin typeface="Times New Roman" panose="02020603050405020304" pitchFamily="18" charset="0"/>
                <a:cs typeface="Times New Roman" panose="02020603050405020304" pitchFamily="18" charset="0"/>
              </a:rPr>
              <a:t>description</a:t>
            </a:r>
            <a:endParaRPr sz="950">
              <a:latin typeface="Times New Roman" panose="02020603050405020304" pitchFamily="18" charset="0"/>
              <a:cs typeface="Times New Roman" panose="02020603050405020304" pitchFamily="18" charset="0"/>
            </a:endParaRPr>
          </a:p>
        </p:txBody>
      </p:sp>
      <p:sp>
        <p:nvSpPr>
          <p:cNvPr id="60" name="object 60"/>
          <p:cNvSpPr/>
          <p:nvPr/>
        </p:nvSpPr>
        <p:spPr>
          <a:xfrm>
            <a:off x="800087" y="6029324"/>
            <a:ext cx="57150" cy="704850"/>
          </a:xfrm>
          <a:custGeom>
            <a:avLst/>
            <a:gdLst/>
            <a:ahLst/>
            <a:cxnLst/>
            <a:rect l="l" t="t" r="r" b="b"/>
            <a:pathLst>
              <a:path w="57150" h="704850">
                <a:moveTo>
                  <a:pt x="57150" y="672490"/>
                </a:moveTo>
                <a:lnTo>
                  <a:pt x="32372" y="647700"/>
                </a:lnTo>
                <a:lnTo>
                  <a:pt x="24790" y="647700"/>
                </a:lnTo>
                <a:lnTo>
                  <a:pt x="0" y="672490"/>
                </a:lnTo>
                <a:lnTo>
                  <a:pt x="0" y="680072"/>
                </a:lnTo>
                <a:lnTo>
                  <a:pt x="24790" y="704850"/>
                </a:lnTo>
                <a:lnTo>
                  <a:pt x="32372" y="704850"/>
                </a:lnTo>
                <a:lnTo>
                  <a:pt x="57150" y="680072"/>
                </a:lnTo>
                <a:lnTo>
                  <a:pt x="57150" y="676275"/>
                </a:lnTo>
                <a:lnTo>
                  <a:pt x="57150" y="672490"/>
                </a:lnTo>
                <a:close/>
              </a:path>
              <a:path w="57150" h="704850">
                <a:moveTo>
                  <a:pt x="57150" y="462940"/>
                </a:moveTo>
                <a:lnTo>
                  <a:pt x="32372" y="438150"/>
                </a:lnTo>
                <a:lnTo>
                  <a:pt x="24790" y="438150"/>
                </a:lnTo>
                <a:lnTo>
                  <a:pt x="0" y="462940"/>
                </a:lnTo>
                <a:lnTo>
                  <a:pt x="0" y="470522"/>
                </a:lnTo>
                <a:lnTo>
                  <a:pt x="24790" y="495300"/>
                </a:lnTo>
                <a:lnTo>
                  <a:pt x="32372" y="495300"/>
                </a:lnTo>
                <a:lnTo>
                  <a:pt x="57150" y="470522"/>
                </a:lnTo>
                <a:lnTo>
                  <a:pt x="57150" y="466725"/>
                </a:lnTo>
                <a:lnTo>
                  <a:pt x="57150" y="462940"/>
                </a:lnTo>
                <a:close/>
              </a:path>
              <a:path w="57150" h="704850">
                <a:moveTo>
                  <a:pt x="57150" y="243865"/>
                </a:moveTo>
                <a:lnTo>
                  <a:pt x="32372" y="219075"/>
                </a:lnTo>
                <a:lnTo>
                  <a:pt x="24790" y="219075"/>
                </a:lnTo>
                <a:lnTo>
                  <a:pt x="0" y="243865"/>
                </a:lnTo>
                <a:lnTo>
                  <a:pt x="0" y="251447"/>
                </a:lnTo>
                <a:lnTo>
                  <a:pt x="24790" y="276225"/>
                </a:lnTo>
                <a:lnTo>
                  <a:pt x="32372" y="276225"/>
                </a:lnTo>
                <a:lnTo>
                  <a:pt x="57150" y="251447"/>
                </a:lnTo>
                <a:lnTo>
                  <a:pt x="57150" y="247650"/>
                </a:lnTo>
                <a:lnTo>
                  <a:pt x="57150" y="243865"/>
                </a:lnTo>
                <a:close/>
              </a:path>
              <a:path w="57150" h="7048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Lst>
          </a:custGeom>
          <a:solidFill>
            <a:srgbClr val="F5A62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1" name="object 61"/>
          <p:cNvSpPr txBox="1"/>
          <p:nvPr/>
        </p:nvSpPr>
        <p:spPr>
          <a:xfrm>
            <a:off x="958849" y="6169793"/>
            <a:ext cx="1397635"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FEFEFE"/>
                </a:solidFill>
                <a:latin typeface="Times New Roman" panose="02020603050405020304" pitchFamily="18" charset="0"/>
                <a:cs typeface="Times New Roman" panose="02020603050405020304" pitchFamily="18" charset="0"/>
              </a:rPr>
              <a:t>Liens</a:t>
            </a:r>
            <a:r>
              <a:rPr sz="950" spc="10" dirty="0">
                <a:solidFill>
                  <a:srgbClr val="FEFEFE"/>
                </a:solidFill>
                <a:latin typeface="Times New Roman" panose="02020603050405020304" pitchFamily="18" charset="0"/>
                <a:cs typeface="Times New Roman" panose="02020603050405020304" pitchFamily="18" charset="0"/>
              </a:rPr>
              <a:t> </a:t>
            </a:r>
            <a:r>
              <a:rPr sz="950" dirty="0">
                <a:solidFill>
                  <a:srgbClr val="FEFEFE"/>
                </a:solidFill>
                <a:latin typeface="Times New Roman" panose="02020603050405020304" pitchFamily="18" charset="0"/>
                <a:cs typeface="Times New Roman" panose="02020603050405020304" pitchFamily="18" charset="0"/>
              </a:rPr>
              <a:t>utiles</a:t>
            </a:r>
            <a:r>
              <a:rPr sz="950" spc="15" dirty="0">
                <a:solidFill>
                  <a:srgbClr val="FEFEFE"/>
                </a:solidFill>
                <a:latin typeface="Times New Roman" panose="02020603050405020304" pitchFamily="18" charset="0"/>
                <a:cs typeface="Times New Roman" panose="02020603050405020304" pitchFamily="18" charset="0"/>
              </a:rPr>
              <a:t> </a:t>
            </a:r>
            <a:r>
              <a:rPr sz="950" dirty="0">
                <a:solidFill>
                  <a:srgbClr val="FEFEFE"/>
                </a:solidFill>
                <a:latin typeface="Times New Roman" panose="02020603050405020304" pitchFamily="18" charset="0"/>
                <a:cs typeface="Times New Roman" panose="02020603050405020304" pitchFamily="18" charset="0"/>
              </a:rPr>
              <a:t>et</a:t>
            </a:r>
            <a:r>
              <a:rPr sz="950" spc="-5" dirty="0">
                <a:solidFill>
                  <a:srgbClr val="FEFEFE"/>
                </a:solidFill>
                <a:latin typeface="Times New Roman" panose="02020603050405020304" pitchFamily="18" charset="0"/>
                <a:cs typeface="Times New Roman" panose="02020603050405020304" pitchFamily="18" charset="0"/>
              </a:rPr>
              <a:t> </a:t>
            </a:r>
            <a:r>
              <a:rPr sz="950" spc="-10" dirty="0">
                <a:solidFill>
                  <a:srgbClr val="FEFEFE"/>
                </a:solidFill>
                <a:latin typeface="Times New Roman" panose="02020603050405020304" pitchFamily="18" charset="0"/>
                <a:cs typeface="Times New Roman" panose="02020603050405020304" pitchFamily="18" charset="0"/>
              </a:rPr>
              <a:t>ressources</a:t>
            </a:r>
            <a:endParaRPr sz="950">
              <a:latin typeface="Times New Roman" panose="02020603050405020304" pitchFamily="18" charset="0"/>
              <a:cs typeface="Times New Roman" panose="02020603050405020304" pitchFamily="18" charset="0"/>
            </a:endParaRPr>
          </a:p>
        </p:txBody>
      </p:sp>
      <p:sp>
        <p:nvSpPr>
          <p:cNvPr id="62" name="object 62"/>
          <p:cNvSpPr txBox="1"/>
          <p:nvPr/>
        </p:nvSpPr>
        <p:spPr>
          <a:xfrm>
            <a:off x="958849" y="6388868"/>
            <a:ext cx="1177290"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FEFEFE"/>
                </a:solidFill>
                <a:latin typeface="Times New Roman" panose="02020603050405020304" pitchFamily="18" charset="0"/>
                <a:cs typeface="Times New Roman" panose="02020603050405020304" pitchFamily="18" charset="0"/>
              </a:rPr>
              <a:t>Coordonnées</a:t>
            </a:r>
            <a:r>
              <a:rPr sz="950" spc="10" dirty="0">
                <a:solidFill>
                  <a:srgbClr val="FEFEFE"/>
                </a:solidFill>
                <a:latin typeface="Times New Roman" panose="02020603050405020304" pitchFamily="18" charset="0"/>
                <a:cs typeface="Times New Roman" panose="02020603050405020304" pitchFamily="18" charset="0"/>
              </a:rPr>
              <a:t> </a:t>
            </a:r>
            <a:r>
              <a:rPr sz="950" spc="-10" dirty="0">
                <a:solidFill>
                  <a:srgbClr val="FEFEFE"/>
                </a:solidFill>
                <a:latin typeface="Times New Roman" panose="02020603050405020304" pitchFamily="18" charset="0"/>
                <a:cs typeface="Times New Roman" panose="02020603050405020304" pitchFamily="18" charset="0"/>
              </a:rPr>
              <a:t>(Dakar)</a:t>
            </a:r>
            <a:endParaRPr sz="950">
              <a:latin typeface="Times New Roman" panose="02020603050405020304" pitchFamily="18" charset="0"/>
              <a:cs typeface="Times New Roman" panose="02020603050405020304" pitchFamily="18" charset="0"/>
            </a:endParaRPr>
          </a:p>
        </p:txBody>
      </p:sp>
      <p:sp>
        <p:nvSpPr>
          <p:cNvPr id="63" name="object 63"/>
          <p:cNvSpPr txBox="1"/>
          <p:nvPr/>
        </p:nvSpPr>
        <p:spPr>
          <a:xfrm>
            <a:off x="958849" y="6598418"/>
            <a:ext cx="2112010" cy="160940"/>
          </a:xfrm>
          <a:prstGeom prst="rect">
            <a:avLst/>
          </a:prstGeom>
        </p:spPr>
        <p:txBody>
          <a:bodyPr vert="horz" wrap="square" lIns="0" tIns="14604" rIns="0" bIns="0" rtlCol="0">
            <a:spAutoFit/>
          </a:bodyPr>
          <a:lstStyle/>
          <a:p>
            <a:pPr marL="12700">
              <a:lnSpc>
                <a:spcPct val="100000"/>
              </a:lnSpc>
              <a:spcBef>
                <a:spcPts val="114"/>
              </a:spcBef>
            </a:pPr>
            <a:r>
              <a:rPr sz="950" dirty="0">
                <a:solidFill>
                  <a:srgbClr val="FEFEFE"/>
                </a:solidFill>
                <a:latin typeface="Times New Roman" panose="02020603050405020304" pitchFamily="18" charset="0"/>
                <a:cs typeface="Times New Roman" panose="02020603050405020304" pitchFamily="18" charset="0"/>
              </a:rPr>
              <a:t>Twitter,</a:t>
            </a:r>
            <a:r>
              <a:rPr sz="950" spc="-30" dirty="0">
                <a:solidFill>
                  <a:srgbClr val="FEFEFE"/>
                </a:solidFill>
                <a:latin typeface="Times New Roman" panose="02020603050405020304" pitchFamily="18" charset="0"/>
                <a:cs typeface="Times New Roman" panose="02020603050405020304" pitchFamily="18" charset="0"/>
              </a:rPr>
              <a:t> </a:t>
            </a:r>
            <a:r>
              <a:rPr sz="950" dirty="0">
                <a:solidFill>
                  <a:srgbClr val="FEFEFE"/>
                </a:solidFill>
                <a:latin typeface="Times New Roman" panose="02020603050405020304" pitchFamily="18" charset="0"/>
                <a:cs typeface="Times New Roman" panose="02020603050405020304" pitchFamily="18" charset="0"/>
              </a:rPr>
              <a:t>LinkedIn,</a:t>
            </a:r>
            <a:r>
              <a:rPr sz="950" spc="-25" dirty="0">
                <a:solidFill>
                  <a:srgbClr val="FEFEFE"/>
                </a:solidFill>
                <a:latin typeface="Times New Roman" panose="02020603050405020304" pitchFamily="18" charset="0"/>
                <a:cs typeface="Times New Roman" panose="02020603050405020304" pitchFamily="18" charset="0"/>
              </a:rPr>
              <a:t> </a:t>
            </a:r>
            <a:r>
              <a:rPr sz="950" dirty="0">
                <a:solidFill>
                  <a:srgbClr val="FEFEFE"/>
                </a:solidFill>
                <a:latin typeface="Times New Roman" panose="02020603050405020304" pitchFamily="18" charset="0"/>
                <a:cs typeface="Times New Roman" panose="02020603050405020304" pitchFamily="18" charset="0"/>
              </a:rPr>
              <a:t>Instagram,</a:t>
            </a:r>
            <a:r>
              <a:rPr sz="950" spc="-25" dirty="0">
                <a:solidFill>
                  <a:srgbClr val="FEFEFE"/>
                </a:solidFill>
                <a:latin typeface="Times New Roman" panose="02020603050405020304" pitchFamily="18" charset="0"/>
                <a:cs typeface="Times New Roman" panose="02020603050405020304" pitchFamily="18" charset="0"/>
              </a:rPr>
              <a:t> </a:t>
            </a:r>
            <a:r>
              <a:rPr sz="950" spc="-10" dirty="0">
                <a:solidFill>
                  <a:srgbClr val="FEFEFE"/>
                </a:solidFill>
                <a:latin typeface="Times New Roman" panose="02020603050405020304" pitchFamily="18" charset="0"/>
                <a:cs typeface="Times New Roman" panose="02020603050405020304" pitchFamily="18" charset="0"/>
              </a:rPr>
              <a:t>Facebook</a:t>
            </a:r>
            <a:endParaRPr sz="95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523830"/>
            <a:ext cx="516255" cy="159385"/>
          </a:xfrm>
          <a:prstGeom prst="rect">
            <a:avLst/>
          </a:prstGeom>
        </p:spPr>
        <p:txBody>
          <a:bodyPr vert="horz" wrap="square" lIns="0" tIns="15875" rIns="0" bIns="0" rtlCol="0">
            <a:spAutoFit/>
          </a:bodyPr>
          <a:lstStyle/>
          <a:p>
            <a:pPr marL="12700">
              <a:lnSpc>
                <a:spcPct val="100000"/>
              </a:lnSpc>
              <a:spcBef>
                <a:spcPts val="125"/>
              </a:spcBef>
            </a:pPr>
            <a:r>
              <a:rPr sz="850" b="1" spc="-10" dirty="0">
                <a:solidFill>
                  <a:srgbClr val="E7863A"/>
                </a:solidFill>
                <a:latin typeface="Arial"/>
                <a:cs typeface="Arial"/>
              </a:rPr>
              <a:t>D</a:t>
            </a:r>
            <a:r>
              <a:rPr sz="850" b="1" spc="-95" dirty="0">
                <a:solidFill>
                  <a:srgbClr val="E7863A"/>
                </a:solidFill>
                <a:latin typeface="Arial"/>
                <a:cs typeface="Arial"/>
              </a:rPr>
              <a:t> </a:t>
            </a:r>
            <a:r>
              <a:rPr sz="850" b="1" spc="-80" dirty="0">
                <a:solidFill>
                  <a:srgbClr val="E7863A"/>
                </a:solidFill>
                <a:latin typeface="Arial"/>
                <a:cs typeface="Arial"/>
              </a:rPr>
              <a:t>E </a:t>
            </a:r>
            <a:r>
              <a:rPr sz="850" b="1" spc="-30" dirty="0">
                <a:solidFill>
                  <a:srgbClr val="E7863A"/>
                </a:solidFill>
                <a:latin typeface="Arial"/>
                <a:cs typeface="Arial"/>
              </a:rPr>
              <a:t>S</a:t>
            </a:r>
            <a:r>
              <a:rPr sz="850" b="1" spc="-95" dirty="0">
                <a:solidFill>
                  <a:srgbClr val="E7863A"/>
                </a:solidFill>
                <a:latin typeface="Arial"/>
                <a:cs typeface="Arial"/>
              </a:rPr>
              <a:t> </a:t>
            </a:r>
            <a:r>
              <a:rPr sz="850" b="1" spc="-55" dirty="0">
                <a:solidFill>
                  <a:srgbClr val="E7863A"/>
                </a:solidFill>
                <a:latin typeface="Arial"/>
                <a:cs typeface="Arial"/>
              </a:rPr>
              <a:t>I</a:t>
            </a:r>
            <a:r>
              <a:rPr sz="850" b="1" spc="-40" dirty="0">
                <a:solidFill>
                  <a:srgbClr val="E7863A"/>
                </a:solidFill>
                <a:latin typeface="Arial"/>
                <a:cs typeface="Arial"/>
              </a:rPr>
              <a:t> G</a:t>
            </a:r>
            <a:r>
              <a:rPr sz="850" b="1" spc="-95" dirty="0">
                <a:solidFill>
                  <a:srgbClr val="E7863A"/>
                </a:solidFill>
                <a:latin typeface="Arial"/>
                <a:cs typeface="Arial"/>
              </a:rPr>
              <a:t> </a:t>
            </a:r>
            <a:r>
              <a:rPr sz="850" b="1" spc="-50" dirty="0">
                <a:solidFill>
                  <a:srgbClr val="E7863A"/>
                </a:solidFill>
                <a:latin typeface="Arial"/>
                <a:cs typeface="Arial"/>
              </a:rPr>
              <a:t>N</a:t>
            </a:r>
            <a:endParaRPr sz="850">
              <a:latin typeface="Arial"/>
              <a:cs typeface="Arial"/>
            </a:endParaRPr>
          </a:p>
        </p:txBody>
      </p:sp>
      <p:sp>
        <p:nvSpPr>
          <p:cNvPr id="3" name="object 3" descr="$PPTXTitle"/>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55" dirty="0"/>
              <a:t>Conception</a:t>
            </a:r>
            <a:r>
              <a:rPr spc="-75" dirty="0"/>
              <a:t> </a:t>
            </a:r>
            <a:r>
              <a:rPr spc="844" dirty="0"/>
              <a:t>et</a:t>
            </a:r>
            <a:r>
              <a:rPr spc="-55" dirty="0"/>
              <a:t> </a:t>
            </a:r>
            <a:r>
              <a:rPr spc="735" dirty="0"/>
              <a:t>design</a:t>
            </a:r>
          </a:p>
        </p:txBody>
      </p:sp>
      <p:sp>
        <p:nvSpPr>
          <p:cNvPr id="4" name="object 4"/>
          <p:cNvSpPr txBox="1"/>
          <p:nvPr/>
        </p:nvSpPr>
        <p:spPr>
          <a:xfrm>
            <a:off x="596899" y="1195554"/>
            <a:ext cx="2611120" cy="210185"/>
          </a:xfrm>
          <a:prstGeom prst="rect">
            <a:avLst/>
          </a:prstGeom>
        </p:spPr>
        <p:txBody>
          <a:bodyPr vert="horz" wrap="square" lIns="0" tIns="13970" rIns="0" bIns="0" rtlCol="0">
            <a:spAutoFit/>
          </a:bodyPr>
          <a:lstStyle/>
          <a:p>
            <a:pPr marL="12700">
              <a:lnSpc>
                <a:spcPct val="100000"/>
              </a:lnSpc>
              <a:spcBef>
                <a:spcPts val="110"/>
              </a:spcBef>
            </a:pPr>
            <a:r>
              <a:rPr sz="1200" dirty="0">
                <a:solidFill>
                  <a:srgbClr val="6A798F"/>
                </a:solidFill>
                <a:latin typeface="Microsoft Sans Serif"/>
                <a:cs typeface="Microsoft Sans Serif"/>
              </a:rPr>
              <a:t>Les</a:t>
            </a:r>
            <a:r>
              <a:rPr sz="1200" spc="-15" dirty="0">
                <a:solidFill>
                  <a:srgbClr val="6A798F"/>
                </a:solidFill>
                <a:latin typeface="Microsoft Sans Serif"/>
                <a:cs typeface="Microsoft Sans Serif"/>
              </a:rPr>
              <a:t> </a:t>
            </a:r>
            <a:r>
              <a:rPr sz="1200" dirty="0">
                <a:solidFill>
                  <a:srgbClr val="6A798F"/>
                </a:solidFill>
                <a:latin typeface="Microsoft Sans Serif"/>
                <a:cs typeface="Microsoft Sans Serif"/>
              </a:rPr>
              <a:t>choix</a:t>
            </a:r>
            <a:r>
              <a:rPr sz="1200" spc="-40" dirty="0">
                <a:solidFill>
                  <a:srgbClr val="6A798F"/>
                </a:solidFill>
                <a:latin typeface="Microsoft Sans Serif"/>
                <a:cs typeface="Microsoft Sans Serif"/>
              </a:rPr>
              <a:t> </a:t>
            </a:r>
            <a:r>
              <a:rPr sz="1200" dirty="0">
                <a:solidFill>
                  <a:srgbClr val="6A798F"/>
                </a:solidFill>
                <a:latin typeface="Microsoft Sans Serif"/>
                <a:cs typeface="Microsoft Sans Serif"/>
              </a:rPr>
              <a:t>visuels</a:t>
            </a:r>
            <a:r>
              <a:rPr sz="1200" spc="-10" dirty="0">
                <a:solidFill>
                  <a:srgbClr val="6A798F"/>
                </a:solidFill>
                <a:latin typeface="Microsoft Sans Serif"/>
                <a:cs typeface="Microsoft Sans Serif"/>
              </a:rPr>
              <a:t> </a:t>
            </a:r>
            <a:r>
              <a:rPr sz="1200" dirty="0">
                <a:solidFill>
                  <a:srgbClr val="6A798F"/>
                </a:solidFill>
                <a:latin typeface="Microsoft Sans Serif"/>
                <a:cs typeface="Microsoft Sans Serif"/>
              </a:rPr>
              <a:t>qui</a:t>
            </a:r>
            <a:r>
              <a:rPr sz="1200" spc="35" dirty="0">
                <a:solidFill>
                  <a:srgbClr val="6A798F"/>
                </a:solidFill>
                <a:latin typeface="Microsoft Sans Serif"/>
                <a:cs typeface="Microsoft Sans Serif"/>
              </a:rPr>
              <a:t> </a:t>
            </a:r>
            <a:r>
              <a:rPr sz="1200" dirty="0">
                <a:solidFill>
                  <a:srgbClr val="6A798F"/>
                </a:solidFill>
                <a:latin typeface="Microsoft Sans Serif"/>
                <a:cs typeface="Microsoft Sans Serif"/>
              </a:rPr>
              <a:t>font</a:t>
            </a:r>
            <a:r>
              <a:rPr sz="1200" spc="-30" dirty="0">
                <a:solidFill>
                  <a:srgbClr val="6A798F"/>
                </a:solidFill>
                <a:latin typeface="Microsoft Sans Serif"/>
                <a:cs typeface="Microsoft Sans Serif"/>
              </a:rPr>
              <a:t> </a:t>
            </a:r>
            <a:r>
              <a:rPr sz="1200" dirty="0">
                <a:solidFill>
                  <a:srgbClr val="6A798F"/>
                </a:solidFill>
                <a:latin typeface="Microsoft Sans Serif"/>
                <a:cs typeface="Microsoft Sans Serif"/>
              </a:rPr>
              <a:t>la</a:t>
            </a:r>
            <a:r>
              <a:rPr sz="1200" spc="10" dirty="0">
                <a:solidFill>
                  <a:srgbClr val="6A798F"/>
                </a:solidFill>
                <a:latin typeface="Microsoft Sans Serif"/>
                <a:cs typeface="Microsoft Sans Serif"/>
              </a:rPr>
              <a:t> </a:t>
            </a:r>
            <a:r>
              <a:rPr sz="1200" spc="-10" dirty="0">
                <a:solidFill>
                  <a:srgbClr val="6A798F"/>
                </a:solidFill>
                <a:latin typeface="Microsoft Sans Serif"/>
                <a:cs typeface="Microsoft Sans Serif"/>
              </a:rPr>
              <a:t>différence</a:t>
            </a:r>
            <a:endParaRPr sz="1200">
              <a:latin typeface="Microsoft Sans Serif"/>
              <a:cs typeface="Microsoft Sans Serif"/>
            </a:endParaRPr>
          </a:p>
        </p:txBody>
      </p:sp>
      <p:grpSp>
        <p:nvGrpSpPr>
          <p:cNvPr id="5" name="object 5"/>
          <p:cNvGrpSpPr/>
          <p:nvPr/>
        </p:nvGrpSpPr>
        <p:grpSpPr>
          <a:xfrm>
            <a:off x="609599" y="1724024"/>
            <a:ext cx="5372100" cy="4600575"/>
            <a:chOff x="609599" y="1724024"/>
            <a:chExt cx="5372100" cy="4600575"/>
          </a:xfrm>
        </p:grpSpPr>
        <p:sp>
          <p:nvSpPr>
            <p:cNvPr id="6" name="object 6"/>
            <p:cNvSpPr/>
            <p:nvPr/>
          </p:nvSpPr>
          <p:spPr>
            <a:xfrm>
              <a:off x="609599" y="1724024"/>
              <a:ext cx="5372100" cy="4600575"/>
            </a:xfrm>
            <a:custGeom>
              <a:avLst/>
              <a:gdLst/>
              <a:ahLst/>
              <a:cxnLst/>
              <a:rect l="l" t="t" r="r" b="b"/>
              <a:pathLst>
                <a:path w="5372100" h="4600575">
                  <a:moveTo>
                    <a:pt x="5265304" y="4600574"/>
                  </a:moveTo>
                  <a:lnTo>
                    <a:pt x="106795" y="4600574"/>
                  </a:lnTo>
                  <a:lnTo>
                    <a:pt x="99362" y="4599842"/>
                  </a:lnTo>
                  <a:lnTo>
                    <a:pt x="57038" y="4585480"/>
                  </a:lnTo>
                  <a:lnTo>
                    <a:pt x="23432" y="4556015"/>
                  </a:lnTo>
                  <a:lnTo>
                    <a:pt x="3660" y="4515933"/>
                  </a:lnTo>
                  <a:lnTo>
                    <a:pt x="0" y="4493779"/>
                  </a:lnTo>
                  <a:lnTo>
                    <a:pt x="0" y="4486274"/>
                  </a:lnTo>
                  <a:lnTo>
                    <a:pt x="0" y="106794"/>
                  </a:lnTo>
                  <a:lnTo>
                    <a:pt x="11572" y="63625"/>
                  </a:lnTo>
                  <a:lnTo>
                    <a:pt x="38784" y="28170"/>
                  </a:lnTo>
                  <a:lnTo>
                    <a:pt x="77493" y="5828"/>
                  </a:lnTo>
                  <a:lnTo>
                    <a:pt x="106795" y="0"/>
                  </a:lnTo>
                  <a:lnTo>
                    <a:pt x="5265304" y="0"/>
                  </a:lnTo>
                  <a:lnTo>
                    <a:pt x="5308473" y="11572"/>
                  </a:lnTo>
                  <a:lnTo>
                    <a:pt x="5343928" y="38784"/>
                  </a:lnTo>
                  <a:lnTo>
                    <a:pt x="5366270" y="77492"/>
                  </a:lnTo>
                  <a:lnTo>
                    <a:pt x="5372099" y="106794"/>
                  </a:lnTo>
                  <a:lnTo>
                    <a:pt x="5372099" y="4493779"/>
                  </a:lnTo>
                  <a:lnTo>
                    <a:pt x="5360525" y="4536948"/>
                  </a:lnTo>
                  <a:lnTo>
                    <a:pt x="5333314" y="4572403"/>
                  </a:lnTo>
                  <a:lnTo>
                    <a:pt x="5294605" y="4594745"/>
                  </a:lnTo>
                  <a:lnTo>
                    <a:pt x="5272737" y="4599842"/>
                  </a:lnTo>
                  <a:lnTo>
                    <a:pt x="5265304" y="4600574"/>
                  </a:lnTo>
                  <a:close/>
                </a:path>
              </a:pathLst>
            </a:custGeom>
            <a:solidFill>
              <a:srgbClr val="F6F7FA"/>
            </a:solidFill>
          </p:spPr>
          <p:txBody>
            <a:bodyPr wrap="square" lIns="0" tIns="0" rIns="0" bIns="0" rtlCol="0"/>
            <a:lstStyle/>
            <a:p>
              <a:endParaRPr/>
            </a:p>
          </p:txBody>
        </p:sp>
        <p:pic>
          <p:nvPicPr>
            <p:cNvPr id="7" name="object 7"/>
            <p:cNvPicPr/>
            <p:nvPr/>
          </p:nvPicPr>
          <p:blipFill>
            <a:blip r:embed="rId3" cstate="print"/>
            <a:stretch>
              <a:fillRect/>
            </a:stretch>
          </p:blipFill>
          <p:spPr>
            <a:xfrm>
              <a:off x="863599" y="1997074"/>
              <a:ext cx="158750" cy="158750"/>
            </a:xfrm>
            <a:prstGeom prst="rect">
              <a:avLst/>
            </a:prstGeom>
          </p:spPr>
        </p:pic>
      </p:grpSp>
      <p:sp>
        <p:nvSpPr>
          <p:cNvPr id="8" name="object 8"/>
          <p:cNvSpPr txBox="1"/>
          <p:nvPr/>
        </p:nvSpPr>
        <p:spPr>
          <a:xfrm>
            <a:off x="1111249" y="1937840"/>
            <a:ext cx="2486660" cy="233679"/>
          </a:xfrm>
          <a:prstGeom prst="rect">
            <a:avLst/>
          </a:prstGeom>
        </p:spPr>
        <p:txBody>
          <a:bodyPr vert="horz" wrap="square" lIns="0" tIns="14604" rIns="0" bIns="0" rtlCol="0">
            <a:spAutoFit/>
          </a:bodyPr>
          <a:lstStyle/>
          <a:p>
            <a:pPr marL="12700">
              <a:lnSpc>
                <a:spcPct val="100000"/>
              </a:lnSpc>
              <a:spcBef>
                <a:spcPts val="114"/>
              </a:spcBef>
            </a:pPr>
            <a:r>
              <a:rPr sz="1350" b="1" spc="465" dirty="0">
                <a:solidFill>
                  <a:srgbClr val="1B294A"/>
                </a:solidFill>
                <a:latin typeface="Arial"/>
                <a:cs typeface="Arial"/>
              </a:rPr>
              <a:t>Mise</a:t>
            </a:r>
            <a:r>
              <a:rPr sz="1350" b="1" spc="-55" dirty="0">
                <a:solidFill>
                  <a:srgbClr val="1B294A"/>
                </a:solidFill>
                <a:latin typeface="Arial"/>
                <a:cs typeface="Arial"/>
              </a:rPr>
              <a:t> </a:t>
            </a:r>
            <a:r>
              <a:rPr sz="1350" b="1" spc="500" dirty="0">
                <a:solidFill>
                  <a:srgbClr val="1B294A"/>
                </a:solidFill>
                <a:latin typeface="Arial"/>
                <a:cs typeface="Arial"/>
              </a:rPr>
              <a:t>en</a:t>
            </a:r>
            <a:r>
              <a:rPr sz="1350" b="1" spc="-35" dirty="0">
                <a:solidFill>
                  <a:srgbClr val="1B294A"/>
                </a:solidFill>
                <a:latin typeface="Arial"/>
                <a:cs typeface="Arial"/>
              </a:rPr>
              <a:t> </a:t>
            </a:r>
            <a:r>
              <a:rPr sz="1350" b="1" spc="515" dirty="0">
                <a:solidFill>
                  <a:srgbClr val="1B294A"/>
                </a:solidFill>
                <a:latin typeface="Arial"/>
                <a:cs typeface="Arial"/>
              </a:rPr>
              <a:t>page</a:t>
            </a:r>
            <a:r>
              <a:rPr sz="1350" b="1" spc="-50" dirty="0">
                <a:solidFill>
                  <a:srgbClr val="1B294A"/>
                </a:solidFill>
                <a:latin typeface="Arial"/>
                <a:cs typeface="Arial"/>
              </a:rPr>
              <a:t> </a:t>
            </a:r>
            <a:r>
              <a:rPr sz="1350" b="1" spc="450" dirty="0">
                <a:solidFill>
                  <a:srgbClr val="1B294A"/>
                </a:solidFill>
                <a:latin typeface="Arial"/>
                <a:cs typeface="Arial"/>
              </a:rPr>
              <a:t>et</a:t>
            </a:r>
            <a:r>
              <a:rPr sz="1350" b="1" spc="-30" dirty="0">
                <a:solidFill>
                  <a:srgbClr val="1B294A"/>
                </a:solidFill>
                <a:latin typeface="Arial"/>
                <a:cs typeface="Arial"/>
              </a:rPr>
              <a:t> </a:t>
            </a:r>
            <a:r>
              <a:rPr sz="1350" b="1" spc="625" dirty="0">
                <a:solidFill>
                  <a:srgbClr val="1B294A"/>
                </a:solidFill>
                <a:latin typeface="Arial"/>
                <a:cs typeface="Arial"/>
              </a:rPr>
              <a:t>UX</a:t>
            </a:r>
            <a:endParaRPr sz="1350">
              <a:latin typeface="Arial"/>
              <a:cs typeface="Arial"/>
            </a:endParaRPr>
          </a:p>
        </p:txBody>
      </p:sp>
      <p:grpSp>
        <p:nvGrpSpPr>
          <p:cNvPr id="9" name="object 9"/>
          <p:cNvGrpSpPr/>
          <p:nvPr/>
        </p:nvGrpSpPr>
        <p:grpSpPr>
          <a:xfrm>
            <a:off x="6210298" y="1724024"/>
            <a:ext cx="5372100" cy="4600575"/>
            <a:chOff x="6210298" y="1724024"/>
            <a:chExt cx="5372100" cy="4600575"/>
          </a:xfrm>
        </p:grpSpPr>
        <p:sp>
          <p:nvSpPr>
            <p:cNvPr id="10" name="object 10"/>
            <p:cNvSpPr/>
            <p:nvPr/>
          </p:nvSpPr>
          <p:spPr>
            <a:xfrm>
              <a:off x="6210298" y="1724024"/>
              <a:ext cx="5372100" cy="4600575"/>
            </a:xfrm>
            <a:custGeom>
              <a:avLst/>
              <a:gdLst/>
              <a:ahLst/>
              <a:cxnLst/>
              <a:rect l="l" t="t" r="r" b="b"/>
              <a:pathLst>
                <a:path w="5372100" h="4600575">
                  <a:moveTo>
                    <a:pt x="5265305" y="4600574"/>
                  </a:moveTo>
                  <a:lnTo>
                    <a:pt x="106795" y="4600574"/>
                  </a:lnTo>
                  <a:lnTo>
                    <a:pt x="99361" y="4599842"/>
                  </a:lnTo>
                  <a:lnTo>
                    <a:pt x="57037" y="4585480"/>
                  </a:lnTo>
                  <a:lnTo>
                    <a:pt x="23432" y="4556015"/>
                  </a:lnTo>
                  <a:lnTo>
                    <a:pt x="3660" y="4515933"/>
                  </a:lnTo>
                  <a:lnTo>
                    <a:pt x="0" y="4493779"/>
                  </a:lnTo>
                  <a:lnTo>
                    <a:pt x="0" y="4486274"/>
                  </a:lnTo>
                  <a:lnTo>
                    <a:pt x="0" y="106794"/>
                  </a:lnTo>
                  <a:lnTo>
                    <a:pt x="11571" y="63625"/>
                  </a:lnTo>
                  <a:lnTo>
                    <a:pt x="38784" y="28170"/>
                  </a:lnTo>
                  <a:lnTo>
                    <a:pt x="77492" y="5828"/>
                  </a:lnTo>
                  <a:lnTo>
                    <a:pt x="106795" y="0"/>
                  </a:lnTo>
                  <a:lnTo>
                    <a:pt x="5265305" y="0"/>
                  </a:lnTo>
                  <a:lnTo>
                    <a:pt x="5308472" y="11572"/>
                  </a:lnTo>
                  <a:lnTo>
                    <a:pt x="5343927" y="38784"/>
                  </a:lnTo>
                  <a:lnTo>
                    <a:pt x="5366270" y="77492"/>
                  </a:lnTo>
                  <a:lnTo>
                    <a:pt x="5372099" y="106794"/>
                  </a:lnTo>
                  <a:lnTo>
                    <a:pt x="5372099" y="4493779"/>
                  </a:lnTo>
                  <a:lnTo>
                    <a:pt x="5360525" y="4536948"/>
                  </a:lnTo>
                  <a:lnTo>
                    <a:pt x="5333314" y="4572403"/>
                  </a:lnTo>
                  <a:lnTo>
                    <a:pt x="5294606" y="4594745"/>
                  </a:lnTo>
                  <a:lnTo>
                    <a:pt x="5272737" y="4599842"/>
                  </a:lnTo>
                  <a:lnTo>
                    <a:pt x="5265305" y="4600574"/>
                  </a:lnTo>
                  <a:close/>
                </a:path>
              </a:pathLst>
            </a:custGeom>
            <a:solidFill>
              <a:srgbClr val="F6F7FA"/>
            </a:solidFill>
          </p:spPr>
          <p:txBody>
            <a:bodyPr wrap="square" lIns="0" tIns="0" rIns="0" bIns="0" rtlCol="0"/>
            <a:lstStyle/>
            <a:p>
              <a:endParaRPr/>
            </a:p>
          </p:txBody>
        </p:sp>
        <p:sp>
          <p:nvSpPr>
            <p:cNvPr id="11" name="object 11"/>
            <p:cNvSpPr/>
            <p:nvPr/>
          </p:nvSpPr>
          <p:spPr>
            <a:xfrm>
              <a:off x="6443661" y="3738562"/>
              <a:ext cx="4905375" cy="771525"/>
            </a:xfrm>
            <a:custGeom>
              <a:avLst/>
              <a:gdLst/>
              <a:ahLst/>
              <a:cxnLst/>
              <a:rect l="l" t="t" r="r" b="b"/>
              <a:pathLst>
                <a:path w="4905375" h="771525">
                  <a:moveTo>
                    <a:pt x="4820828" y="771524"/>
                  </a:moveTo>
                  <a:lnTo>
                    <a:pt x="84545" y="771524"/>
                  </a:lnTo>
                  <a:lnTo>
                    <a:pt x="78661" y="770945"/>
                  </a:lnTo>
                  <a:lnTo>
                    <a:pt x="35274" y="752973"/>
                  </a:lnTo>
                  <a:lnTo>
                    <a:pt x="9160" y="721154"/>
                  </a:lnTo>
                  <a:lnTo>
                    <a:pt x="0" y="686978"/>
                  </a:lnTo>
                  <a:lnTo>
                    <a:pt x="0" y="681037"/>
                  </a:lnTo>
                  <a:lnTo>
                    <a:pt x="0" y="84545"/>
                  </a:lnTo>
                  <a:lnTo>
                    <a:pt x="11947" y="45155"/>
                  </a:lnTo>
                  <a:lnTo>
                    <a:pt x="45154" y="11949"/>
                  </a:lnTo>
                  <a:lnTo>
                    <a:pt x="84545" y="0"/>
                  </a:lnTo>
                  <a:lnTo>
                    <a:pt x="4820828" y="0"/>
                  </a:lnTo>
                  <a:lnTo>
                    <a:pt x="4860216" y="11949"/>
                  </a:lnTo>
                  <a:lnTo>
                    <a:pt x="4893424" y="45155"/>
                  </a:lnTo>
                  <a:lnTo>
                    <a:pt x="4905373" y="84545"/>
                  </a:lnTo>
                  <a:lnTo>
                    <a:pt x="4905373" y="686978"/>
                  </a:lnTo>
                  <a:lnTo>
                    <a:pt x="4893424" y="726369"/>
                  </a:lnTo>
                  <a:lnTo>
                    <a:pt x="4860216" y="759575"/>
                  </a:lnTo>
                  <a:lnTo>
                    <a:pt x="4826713" y="770945"/>
                  </a:lnTo>
                  <a:lnTo>
                    <a:pt x="4820828" y="771524"/>
                  </a:lnTo>
                  <a:close/>
                </a:path>
              </a:pathLst>
            </a:custGeom>
            <a:solidFill>
              <a:srgbClr val="FFFFFF"/>
            </a:solidFill>
          </p:spPr>
          <p:txBody>
            <a:bodyPr wrap="square" lIns="0" tIns="0" rIns="0" bIns="0" rtlCol="0"/>
            <a:lstStyle/>
            <a:p>
              <a:endParaRPr/>
            </a:p>
          </p:txBody>
        </p:sp>
        <p:sp>
          <p:nvSpPr>
            <p:cNvPr id="12" name="object 12"/>
            <p:cNvSpPr/>
            <p:nvPr/>
          </p:nvSpPr>
          <p:spPr>
            <a:xfrm>
              <a:off x="6443661" y="3738562"/>
              <a:ext cx="4905375" cy="771525"/>
            </a:xfrm>
            <a:custGeom>
              <a:avLst/>
              <a:gdLst/>
              <a:ahLst/>
              <a:cxnLst/>
              <a:rect l="l" t="t" r="r" b="b"/>
              <a:pathLst>
                <a:path w="4905375" h="771525">
                  <a:moveTo>
                    <a:pt x="0" y="681037"/>
                  </a:moveTo>
                  <a:lnTo>
                    <a:pt x="0" y="90487"/>
                  </a:lnTo>
                  <a:lnTo>
                    <a:pt x="0" y="84545"/>
                  </a:lnTo>
                  <a:lnTo>
                    <a:pt x="579" y="78661"/>
                  </a:lnTo>
                  <a:lnTo>
                    <a:pt x="15249" y="40215"/>
                  </a:lnTo>
                  <a:lnTo>
                    <a:pt x="18549" y="35274"/>
                  </a:lnTo>
                  <a:lnTo>
                    <a:pt x="22300" y="30704"/>
                  </a:lnTo>
                  <a:lnTo>
                    <a:pt x="26502" y="26503"/>
                  </a:lnTo>
                  <a:lnTo>
                    <a:pt x="30703" y="22301"/>
                  </a:lnTo>
                  <a:lnTo>
                    <a:pt x="67005" y="2897"/>
                  </a:lnTo>
                  <a:lnTo>
                    <a:pt x="72833" y="1738"/>
                  </a:lnTo>
                  <a:lnTo>
                    <a:pt x="78661" y="579"/>
                  </a:lnTo>
                  <a:lnTo>
                    <a:pt x="84545" y="0"/>
                  </a:lnTo>
                  <a:lnTo>
                    <a:pt x="90487" y="0"/>
                  </a:lnTo>
                  <a:lnTo>
                    <a:pt x="4814887" y="0"/>
                  </a:lnTo>
                  <a:lnTo>
                    <a:pt x="4820828" y="0"/>
                  </a:lnTo>
                  <a:lnTo>
                    <a:pt x="4826713" y="579"/>
                  </a:lnTo>
                  <a:lnTo>
                    <a:pt x="4832539" y="1738"/>
                  </a:lnTo>
                  <a:lnTo>
                    <a:pt x="4838365" y="2897"/>
                  </a:lnTo>
                  <a:lnTo>
                    <a:pt x="4874668" y="22301"/>
                  </a:lnTo>
                  <a:lnTo>
                    <a:pt x="4890123" y="40215"/>
                  </a:lnTo>
                  <a:lnTo>
                    <a:pt x="4893424" y="45155"/>
                  </a:lnTo>
                  <a:lnTo>
                    <a:pt x="4896212" y="50369"/>
                  </a:lnTo>
                  <a:lnTo>
                    <a:pt x="4898485" y="55859"/>
                  </a:lnTo>
                  <a:lnTo>
                    <a:pt x="4900758" y="61348"/>
                  </a:lnTo>
                  <a:lnTo>
                    <a:pt x="4902475" y="67006"/>
                  </a:lnTo>
                  <a:lnTo>
                    <a:pt x="4903635" y="72833"/>
                  </a:lnTo>
                  <a:lnTo>
                    <a:pt x="4904794" y="78661"/>
                  </a:lnTo>
                  <a:lnTo>
                    <a:pt x="4905373" y="84545"/>
                  </a:lnTo>
                  <a:lnTo>
                    <a:pt x="4905374" y="90487"/>
                  </a:lnTo>
                  <a:lnTo>
                    <a:pt x="4905374" y="681037"/>
                  </a:lnTo>
                  <a:lnTo>
                    <a:pt x="4905373" y="686978"/>
                  </a:lnTo>
                  <a:lnTo>
                    <a:pt x="4904794" y="692862"/>
                  </a:lnTo>
                  <a:lnTo>
                    <a:pt x="4903635" y="698690"/>
                  </a:lnTo>
                  <a:lnTo>
                    <a:pt x="4902475" y="704517"/>
                  </a:lnTo>
                  <a:lnTo>
                    <a:pt x="4900758" y="710175"/>
                  </a:lnTo>
                  <a:lnTo>
                    <a:pt x="4898485" y="715665"/>
                  </a:lnTo>
                  <a:lnTo>
                    <a:pt x="4896212" y="721154"/>
                  </a:lnTo>
                  <a:lnTo>
                    <a:pt x="4893424" y="726369"/>
                  </a:lnTo>
                  <a:lnTo>
                    <a:pt x="4890123" y="731309"/>
                  </a:lnTo>
                  <a:lnTo>
                    <a:pt x="4886822" y="736249"/>
                  </a:lnTo>
                  <a:lnTo>
                    <a:pt x="4855002" y="762362"/>
                  </a:lnTo>
                  <a:lnTo>
                    <a:pt x="4832539" y="769785"/>
                  </a:lnTo>
                  <a:lnTo>
                    <a:pt x="4826713" y="770945"/>
                  </a:lnTo>
                  <a:lnTo>
                    <a:pt x="4820828" y="771524"/>
                  </a:lnTo>
                  <a:lnTo>
                    <a:pt x="4814887" y="771524"/>
                  </a:lnTo>
                  <a:lnTo>
                    <a:pt x="90487" y="771524"/>
                  </a:lnTo>
                  <a:lnTo>
                    <a:pt x="84545" y="771524"/>
                  </a:lnTo>
                  <a:lnTo>
                    <a:pt x="78661" y="770945"/>
                  </a:lnTo>
                  <a:lnTo>
                    <a:pt x="72833" y="769785"/>
                  </a:lnTo>
                  <a:lnTo>
                    <a:pt x="67005" y="768626"/>
                  </a:lnTo>
                  <a:lnTo>
                    <a:pt x="61347" y="766910"/>
                  </a:lnTo>
                  <a:lnTo>
                    <a:pt x="55858" y="764636"/>
                  </a:lnTo>
                  <a:lnTo>
                    <a:pt x="50369" y="762362"/>
                  </a:lnTo>
                  <a:lnTo>
                    <a:pt x="26502" y="745021"/>
                  </a:lnTo>
                  <a:lnTo>
                    <a:pt x="22300" y="740820"/>
                  </a:lnTo>
                  <a:lnTo>
                    <a:pt x="18549" y="736249"/>
                  </a:lnTo>
                  <a:lnTo>
                    <a:pt x="15249" y="731309"/>
                  </a:lnTo>
                  <a:lnTo>
                    <a:pt x="11947" y="726369"/>
                  </a:lnTo>
                  <a:lnTo>
                    <a:pt x="0" y="686978"/>
                  </a:lnTo>
                  <a:lnTo>
                    <a:pt x="0" y="681037"/>
                  </a:lnTo>
                  <a:close/>
                </a:path>
              </a:pathLst>
            </a:custGeom>
            <a:ln w="9524">
              <a:solidFill>
                <a:srgbClr val="E7ECF1"/>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6454774" y="1987549"/>
              <a:ext cx="177800" cy="177800"/>
            </a:xfrm>
            <a:prstGeom prst="rect">
              <a:avLst/>
            </a:prstGeom>
          </p:spPr>
        </p:pic>
      </p:grpSp>
      <p:sp>
        <p:nvSpPr>
          <p:cNvPr id="14" name="object 14"/>
          <p:cNvSpPr txBox="1"/>
          <p:nvPr/>
        </p:nvSpPr>
        <p:spPr>
          <a:xfrm>
            <a:off x="6711949" y="1937840"/>
            <a:ext cx="4059554" cy="233679"/>
          </a:xfrm>
          <a:prstGeom prst="rect">
            <a:avLst/>
          </a:prstGeom>
        </p:spPr>
        <p:txBody>
          <a:bodyPr vert="horz" wrap="square" lIns="0" tIns="14604" rIns="0" bIns="0" rtlCol="0">
            <a:spAutoFit/>
          </a:bodyPr>
          <a:lstStyle/>
          <a:p>
            <a:pPr marL="12700">
              <a:lnSpc>
                <a:spcPct val="100000"/>
              </a:lnSpc>
              <a:spcBef>
                <a:spcPts val="114"/>
              </a:spcBef>
            </a:pPr>
            <a:r>
              <a:rPr sz="1350" b="1" spc="345" dirty="0">
                <a:solidFill>
                  <a:srgbClr val="1B294A"/>
                </a:solidFill>
                <a:latin typeface="Arial"/>
                <a:cs typeface="Arial"/>
              </a:rPr>
              <a:t>Couleurs,</a:t>
            </a:r>
            <a:r>
              <a:rPr sz="1350" b="1" spc="35" dirty="0">
                <a:solidFill>
                  <a:srgbClr val="1B294A"/>
                </a:solidFill>
                <a:latin typeface="Arial"/>
                <a:cs typeface="Arial"/>
              </a:rPr>
              <a:t> </a:t>
            </a:r>
            <a:r>
              <a:rPr sz="1350" b="1" spc="415" dirty="0">
                <a:solidFill>
                  <a:srgbClr val="1B294A"/>
                </a:solidFill>
                <a:latin typeface="Arial"/>
                <a:cs typeface="Arial"/>
              </a:rPr>
              <a:t>typographie</a:t>
            </a:r>
            <a:r>
              <a:rPr sz="1350" b="1" spc="-40" dirty="0">
                <a:solidFill>
                  <a:srgbClr val="1B294A"/>
                </a:solidFill>
                <a:latin typeface="Arial"/>
                <a:cs typeface="Arial"/>
              </a:rPr>
              <a:t> </a:t>
            </a:r>
            <a:r>
              <a:rPr sz="1350" b="1" spc="450" dirty="0">
                <a:solidFill>
                  <a:srgbClr val="1B294A"/>
                </a:solidFill>
                <a:latin typeface="Arial"/>
                <a:cs typeface="Arial"/>
              </a:rPr>
              <a:t>et</a:t>
            </a:r>
            <a:r>
              <a:rPr sz="1350" b="1" spc="-15" dirty="0">
                <a:solidFill>
                  <a:srgbClr val="1B294A"/>
                </a:solidFill>
                <a:latin typeface="Arial"/>
                <a:cs typeface="Arial"/>
              </a:rPr>
              <a:t> </a:t>
            </a:r>
            <a:r>
              <a:rPr sz="1350" b="1" spc="385" dirty="0">
                <a:solidFill>
                  <a:srgbClr val="1B294A"/>
                </a:solidFill>
                <a:latin typeface="Arial"/>
                <a:cs typeface="Arial"/>
              </a:rPr>
              <a:t>design</a:t>
            </a:r>
            <a:endParaRPr sz="1350">
              <a:latin typeface="Arial"/>
              <a:cs typeface="Arial"/>
            </a:endParaRPr>
          </a:p>
        </p:txBody>
      </p:sp>
      <p:sp>
        <p:nvSpPr>
          <p:cNvPr id="15" name="object 15"/>
          <p:cNvSpPr txBox="1"/>
          <p:nvPr/>
        </p:nvSpPr>
        <p:spPr>
          <a:xfrm>
            <a:off x="7216030" y="3858617"/>
            <a:ext cx="937894" cy="158115"/>
          </a:xfrm>
          <a:prstGeom prst="rect">
            <a:avLst/>
          </a:prstGeom>
        </p:spPr>
        <p:txBody>
          <a:bodyPr vert="horz" wrap="square" lIns="0" tIns="14604" rIns="0" bIns="0" rtlCol="0">
            <a:spAutoFit/>
          </a:bodyPr>
          <a:lstStyle/>
          <a:p>
            <a:pPr marL="12700">
              <a:lnSpc>
                <a:spcPct val="100000"/>
              </a:lnSpc>
              <a:spcBef>
                <a:spcPts val="114"/>
              </a:spcBef>
            </a:pPr>
            <a:r>
              <a:rPr sz="800" b="1" spc="-40" dirty="0">
                <a:solidFill>
                  <a:srgbClr val="6A798F"/>
                </a:solidFill>
                <a:latin typeface="Arial"/>
                <a:cs typeface="Arial"/>
              </a:rPr>
              <a:t>S</a:t>
            </a:r>
            <a:r>
              <a:rPr sz="800" b="1" spc="-125" dirty="0">
                <a:solidFill>
                  <a:srgbClr val="6A798F"/>
                </a:solidFill>
                <a:latin typeface="Arial"/>
                <a:cs typeface="Arial"/>
              </a:rPr>
              <a:t> </a:t>
            </a:r>
            <a:r>
              <a:rPr sz="800" b="1" spc="55" dirty="0">
                <a:solidFill>
                  <a:srgbClr val="6A798F"/>
                </a:solidFill>
                <a:latin typeface="Arial"/>
                <a:cs typeface="Arial"/>
              </a:rPr>
              <a:t>YN</a:t>
            </a:r>
            <a:r>
              <a:rPr sz="800" b="1" spc="-110" dirty="0">
                <a:solidFill>
                  <a:srgbClr val="6A798F"/>
                </a:solidFill>
                <a:latin typeface="Arial"/>
                <a:cs typeface="Arial"/>
              </a:rPr>
              <a:t> </a:t>
            </a:r>
            <a:r>
              <a:rPr sz="800" b="1" dirty="0">
                <a:solidFill>
                  <a:srgbClr val="6A798F"/>
                </a:solidFill>
                <a:latin typeface="Arial"/>
                <a:cs typeface="Arial"/>
              </a:rPr>
              <a:t>E</a:t>
            </a:r>
            <a:r>
              <a:rPr sz="800" b="1" spc="195" dirty="0">
                <a:solidFill>
                  <a:srgbClr val="6A798F"/>
                </a:solidFill>
                <a:latin typeface="Arial"/>
                <a:cs typeface="Arial"/>
              </a:rPr>
              <a:t> </a:t>
            </a:r>
            <a:r>
              <a:rPr sz="850" b="1" dirty="0">
                <a:solidFill>
                  <a:srgbClr val="6A798F"/>
                </a:solidFill>
                <a:latin typeface="Arial"/>
                <a:cs typeface="Arial"/>
              </a:rPr>
              <a:t>—</a:t>
            </a:r>
            <a:r>
              <a:rPr sz="850" b="1" spc="95" dirty="0">
                <a:solidFill>
                  <a:srgbClr val="6A798F"/>
                </a:solidFill>
                <a:latin typeface="Arial"/>
                <a:cs typeface="Arial"/>
              </a:rPr>
              <a:t> </a:t>
            </a:r>
            <a:r>
              <a:rPr sz="800" b="1" dirty="0">
                <a:solidFill>
                  <a:srgbClr val="6A798F"/>
                </a:solidFill>
                <a:latin typeface="Arial"/>
                <a:cs typeface="Arial"/>
              </a:rPr>
              <a:t>TI</a:t>
            </a:r>
            <a:r>
              <a:rPr sz="800" b="1" spc="-75" dirty="0">
                <a:solidFill>
                  <a:srgbClr val="6A798F"/>
                </a:solidFill>
                <a:latin typeface="Arial"/>
                <a:cs typeface="Arial"/>
              </a:rPr>
              <a:t> </a:t>
            </a:r>
            <a:r>
              <a:rPr sz="800" b="1" dirty="0">
                <a:solidFill>
                  <a:srgbClr val="6A798F"/>
                </a:solidFill>
                <a:latin typeface="Arial"/>
                <a:cs typeface="Arial"/>
              </a:rPr>
              <a:t>TRE</a:t>
            </a:r>
            <a:r>
              <a:rPr sz="800" b="1" spc="-105" dirty="0">
                <a:solidFill>
                  <a:srgbClr val="6A798F"/>
                </a:solidFill>
                <a:latin typeface="Arial"/>
                <a:cs typeface="Arial"/>
              </a:rPr>
              <a:t> </a:t>
            </a:r>
            <a:r>
              <a:rPr sz="800" b="1" spc="-50" dirty="0">
                <a:solidFill>
                  <a:srgbClr val="6A798F"/>
                </a:solidFill>
                <a:latin typeface="Arial"/>
                <a:cs typeface="Arial"/>
              </a:rPr>
              <a:t>S</a:t>
            </a:r>
            <a:endParaRPr sz="800">
              <a:latin typeface="Arial"/>
              <a:cs typeface="Arial"/>
            </a:endParaRPr>
          </a:p>
        </p:txBody>
      </p:sp>
      <p:sp>
        <p:nvSpPr>
          <p:cNvPr id="16" name="object 16"/>
          <p:cNvSpPr txBox="1"/>
          <p:nvPr/>
        </p:nvSpPr>
        <p:spPr>
          <a:xfrm>
            <a:off x="6862116" y="4039449"/>
            <a:ext cx="1666875" cy="295275"/>
          </a:xfrm>
          <a:prstGeom prst="rect">
            <a:avLst/>
          </a:prstGeom>
        </p:spPr>
        <p:txBody>
          <a:bodyPr vert="horz" wrap="square" lIns="0" tIns="14604" rIns="0" bIns="0" rtlCol="0">
            <a:spAutoFit/>
          </a:bodyPr>
          <a:lstStyle/>
          <a:p>
            <a:pPr marL="12700">
              <a:lnSpc>
                <a:spcPct val="100000"/>
              </a:lnSpc>
              <a:spcBef>
                <a:spcPts val="114"/>
              </a:spcBef>
            </a:pPr>
            <a:r>
              <a:rPr sz="1750" b="1" spc="459" dirty="0">
                <a:solidFill>
                  <a:srgbClr val="1B294A"/>
                </a:solidFill>
                <a:latin typeface="Arial"/>
                <a:cs typeface="Arial"/>
              </a:rPr>
              <a:t>AfriTalent</a:t>
            </a:r>
            <a:endParaRPr sz="1750">
              <a:latin typeface="Arial"/>
              <a:cs typeface="Arial"/>
            </a:endParaRPr>
          </a:p>
        </p:txBody>
      </p:sp>
      <p:sp>
        <p:nvSpPr>
          <p:cNvPr id="17" name="object 17"/>
          <p:cNvSpPr txBox="1"/>
          <p:nvPr/>
        </p:nvSpPr>
        <p:spPr>
          <a:xfrm>
            <a:off x="9240836" y="3820847"/>
            <a:ext cx="1719580" cy="433070"/>
          </a:xfrm>
          <a:prstGeom prst="rect">
            <a:avLst/>
          </a:prstGeom>
        </p:spPr>
        <p:txBody>
          <a:bodyPr vert="horz" wrap="square" lIns="0" tIns="52704" rIns="0" bIns="0" rtlCol="0">
            <a:spAutoFit/>
          </a:bodyPr>
          <a:lstStyle/>
          <a:p>
            <a:pPr marR="3810" algn="ctr">
              <a:lnSpc>
                <a:spcPct val="100000"/>
              </a:lnSpc>
              <a:spcBef>
                <a:spcPts val="414"/>
              </a:spcBef>
            </a:pPr>
            <a:r>
              <a:rPr sz="800" b="1" spc="-60" dirty="0">
                <a:solidFill>
                  <a:srgbClr val="6A798F"/>
                </a:solidFill>
                <a:latin typeface="Arial"/>
                <a:cs typeface="Arial"/>
              </a:rPr>
              <a:t>I</a:t>
            </a:r>
            <a:r>
              <a:rPr sz="800" b="1" spc="-65" dirty="0">
                <a:solidFill>
                  <a:srgbClr val="6A798F"/>
                </a:solidFill>
                <a:latin typeface="Arial"/>
                <a:cs typeface="Arial"/>
              </a:rPr>
              <a:t> </a:t>
            </a:r>
            <a:r>
              <a:rPr sz="800" b="1" spc="-10" dirty="0">
                <a:solidFill>
                  <a:srgbClr val="6A798F"/>
                </a:solidFill>
                <a:latin typeface="Arial"/>
                <a:cs typeface="Arial"/>
              </a:rPr>
              <a:t>N</a:t>
            </a:r>
            <a:r>
              <a:rPr sz="800" b="1" spc="-100" dirty="0">
                <a:solidFill>
                  <a:srgbClr val="6A798F"/>
                </a:solidFill>
                <a:latin typeface="Arial"/>
                <a:cs typeface="Arial"/>
              </a:rPr>
              <a:t> </a:t>
            </a:r>
            <a:r>
              <a:rPr sz="800" b="1" dirty="0">
                <a:solidFill>
                  <a:srgbClr val="6A798F"/>
                </a:solidFill>
                <a:latin typeface="Arial"/>
                <a:cs typeface="Arial"/>
              </a:rPr>
              <a:t>TE</a:t>
            </a:r>
            <a:r>
              <a:rPr sz="800" b="1" spc="-105" dirty="0">
                <a:solidFill>
                  <a:srgbClr val="6A798F"/>
                </a:solidFill>
                <a:latin typeface="Arial"/>
                <a:cs typeface="Arial"/>
              </a:rPr>
              <a:t> </a:t>
            </a:r>
            <a:r>
              <a:rPr sz="800" b="1" dirty="0">
                <a:solidFill>
                  <a:srgbClr val="6A798F"/>
                </a:solidFill>
                <a:latin typeface="Arial"/>
                <a:cs typeface="Arial"/>
              </a:rPr>
              <a:t>R</a:t>
            </a:r>
            <a:r>
              <a:rPr sz="800" b="1" spc="185" dirty="0">
                <a:solidFill>
                  <a:srgbClr val="6A798F"/>
                </a:solidFill>
                <a:latin typeface="Arial"/>
                <a:cs typeface="Arial"/>
              </a:rPr>
              <a:t> </a:t>
            </a:r>
            <a:r>
              <a:rPr sz="850" b="1" dirty="0">
                <a:solidFill>
                  <a:srgbClr val="6A798F"/>
                </a:solidFill>
                <a:latin typeface="Arial"/>
                <a:cs typeface="Arial"/>
              </a:rPr>
              <a:t>—</a:t>
            </a:r>
            <a:r>
              <a:rPr sz="850" b="1" spc="114" dirty="0">
                <a:solidFill>
                  <a:srgbClr val="6A798F"/>
                </a:solidFill>
                <a:latin typeface="Arial"/>
                <a:cs typeface="Arial"/>
              </a:rPr>
              <a:t> </a:t>
            </a:r>
            <a:r>
              <a:rPr sz="800" b="1" dirty="0">
                <a:solidFill>
                  <a:srgbClr val="6A798F"/>
                </a:solidFill>
                <a:latin typeface="Arial"/>
                <a:cs typeface="Arial"/>
              </a:rPr>
              <a:t>CORP</a:t>
            </a:r>
            <a:r>
              <a:rPr sz="800" b="1" spc="-114" dirty="0">
                <a:solidFill>
                  <a:srgbClr val="6A798F"/>
                </a:solidFill>
                <a:latin typeface="Arial"/>
                <a:cs typeface="Arial"/>
              </a:rPr>
              <a:t> </a:t>
            </a:r>
            <a:r>
              <a:rPr sz="800" b="1" spc="-50" dirty="0">
                <a:solidFill>
                  <a:srgbClr val="6A798F"/>
                </a:solidFill>
                <a:latin typeface="Arial"/>
                <a:cs typeface="Arial"/>
              </a:rPr>
              <a:t>S</a:t>
            </a:r>
            <a:endParaRPr sz="800">
              <a:latin typeface="Arial"/>
              <a:cs typeface="Arial"/>
            </a:endParaRPr>
          </a:p>
          <a:p>
            <a:pPr algn="ctr">
              <a:lnSpc>
                <a:spcPct val="100000"/>
              </a:lnSpc>
              <a:spcBef>
                <a:spcPts val="430"/>
              </a:spcBef>
            </a:pPr>
            <a:r>
              <a:rPr sz="1200" dirty="0">
                <a:solidFill>
                  <a:srgbClr val="3A4556"/>
                </a:solidFill>
                <a:latin typeface="Microsoft Sans Serif"/>
                <a:cs typeface="Microsoft Sans Serif"/>
              </a:rPr>
              <a:t>Plateforme</a:t>
            </a:r>
            <a:r>
              <a:rPr sz="1200" spc="-35" dirty="0">
                <a:solidFill>
                  <a:srgbClr val="3A4556"/>
                </a:solidFill>
                <a:latin typeface="Microsoft Sans Serif"/>
                <a:cs typeface="Microsoft Sans Serif"/>
              </a:rPr>
              <a:t> </a:t>
            </a:r>
            <a:r>
              <a:rPr sz="1200" dirty="0">
                <a:solidFill>
                  <a:srgbClr val="3A4556"/>
                </a:solidFill>
                <a:latin typeface="Microsoft Sans Serif"/>
                <a:cs typeface="Microsoft Sans Serif"/>
              </a:rPr>
              <a:t>de</a:t>
            </a:r>
            <a:r>
              <a:rPr sz="1200" spc="-35" dirty="0">
                <a:solidFill>
                  <a:srgbClr val="3A4556"/>
                </a:solidFill>
                <a:latin typeface="Microsoft Sans Serif"/>
                <a:cs typeface="Microsoft Sans Serif"/>
              </a:rPr>
              <a:t> </a:t>
            </a:r>
            <a:r>
              <a:rPr sz="1200" spc="-10" dirty="0">
                <a:solidFill>
                  <a:srgbClr val="3A4556"/>
                </a:solidFill>
                <a:latin typeface="Microsoft Sans Serif"/>
                <a:cs typeface="Microsoft Sans Serif"/>
              </a:rPr>
              <a:t>freelances</a:t>
            </a:r>
            <a:endParaRPr sz="1200">
              <a:latin typeface="Microsoft Sans Serif"/>
              <a:cs typeface="Microsoft Sans Serif"/>
            </a:endParaRPr>
          </a:p>
        </p:txBody>
      </p:sp>
      <p:sp>
        <p:nvSpPr>
          <p:cNvPr id="18" name="object 18"/>
          <p:cNvSpPr/>
          <p:nvPr/>
        </p:nvSpPr>
        <p:spPr>
          <a:xfrm>
            <a:off x="6438898" y="4648199"/>
            <a:ext cx="1152525" cy="381000"/>
          </a:xfrm>
          <a:custGeom>
            <a:avLst/>
            <a:gdLst/>
            <a:ahLst/>
            <a:cxnLst/>
            <a:rect l="l" t="t" r="r" b="b"/>
            <a:pathLst>
              <a:path w="1152525" h="381000">
                <a:moveTo>
                  <a:pt x="1081328" y="380999"/>
                </a:moveTo>
                <a:lnTo>
                  <a:pt x="71196" y="380999"/>
                </a:lnTo>
                <a:lnTo>
                  <a:pt x="66241" y="380511"/>
                </a:lnTo>
                <a:lnTo>
                  <a:pt x="29704" y="365378"/>
                </a:lnTo>
                <a:lnTo>
                  <a:pt x="3885" y="329337"/>
                </a:lnTo>
                <a:lnTo>
                  <a:pt x="0" y="309803"/>
                </a:lnTo>
                <a:lnTo>
                  <a:pt x="0" y="304799"/>
                </a:lnTo>
                <a:lnTo>
                  <a:pt x="0" y="71196"/>
                </a:lnTo>
                <a:lnTo>
                  <a:pt x="15621" y="29704"/>
                </a:lnTo>
                <a:lnTo>
                  <a:pt x="51661" y="3885"/>
                </a:lnTo>
                <a:lnTo>
                  <a:pt x="71196" y="0"/>
                </a:lnTo>
                <a:lnTo>
                  <a:pt x="1081328" y="0"/>
                </a:lnTo>
                <a:lnTo>
                  <a:pt x="1122819" y="15621"/>
                </a:lnTo>
                <a:lnTo>
                  <a:pt x="1148639" y="51661"/>
                </a:lnTo>
                <a:lnTo>
                  <a:pt x="1152524" y="71196"/>
                </a:lnTo>
                <a:lnTo>
                  <a:pt x="1152524" y="309803"/>
                </a:lnTo>
                <a:lnTo>
                  <a:pt x="1136903" y="351294"/>
                </a:lnTo>
                <a:lnTo>
                  <a:pt x="1100862" y="377113"/>
                </a:lnTo>
                <a:lnTo>
                  <a:pt x="1086283" y="380511"/>
                </a:lnTo>
                <a:lnTo>
                  <a:pt x="1081328" y="380999"/>
                </a:lnTo>
                <a:close/>
              </a:path>
            </a:pathLst>
          </a:custGeom>
          <a:solidFill>
            <a:srgbClr val="1B294A"/>
          </a:solidFill>
        </p:spPr>
        <p:txBody>
          <a:bodyPr wrap="square" lIns="0" tIns="0" rIns="0" bIns="0" rtlCol="0"/>
          <a:lstStyle/>
          <a:p>
            <a:endParaRPr/>
          </a:p>
        </p:txBody>
      </p:sp>
      <p:sp>
        <p:nvSpPr>
          <p:cNvPr id="19" name="object 19"/>
          <p:cNvSpPr txBox="1"/>
          <p:nvPr/>
        </p:nvSpPr>
        <p:spPr>
          <a:xfrm>
            <a:off x="6502399" y="4839817"/>
            <a:ext cx="412750" cy="134620"/>
          </a:xfrm>
          <a:prstGeom prst="rect">
            <a:avLst/>
          </a:prstGeom>
        </p:spPr>
        <p:txBody>
          <a:bodyPr vert="horz" wrap="square" lIns="0" tIns="14604" rIns="0" bIns="0" rtlCol="0">
            <a:spAutoFit/>
          </a:bodyPr>
          <a:lstStyle/>
          <a:p>
            <a:pPr marL="12700">
              <a:lnSpc>
                <a:spcPct val="100000"/>
              </a:lnSpc>
              <a:spcBef>
                <a:spcPts val="114"/>
              </a:spcBef>
            </a:pPr>
            <a:r>
              <a:rPr sz="700" b="1" spc="-10" dirty="0">
                <a:solidFill>
                  <a:srgbClr val="FFFFFF"/>
                </a:solidFill>
                <a:latin typeface="Arial"/>
                <a:cs typeface="Arial"/>
              </a:rPr>
              <a:t>#1B2A4A</a:t>
            </a:r>
            <a:endParaRPr sz="700">
              <a:latin typeface="Arial"/>
              <a:cs typeface="Arial"/>
            </a:endParaRPr>
          </a:p>
        </p:txBody>
      </p:sp>
      <p:sp>
        <p:nvSpPr>
          <p:cNvPr id="20" name="object 20"/>
          <p:cNvSpPr/>
          <p:nvPr/>
        </p:nvSpPr>
        <p:spPr>
          <a:xfrm>
            <a:off x="7686673" y="4648199"/>
            <a:ext cx="1152525" cy="381000"/>
          </a:xfrm>
          <a:custGeom>
            <a:avLst/>
            <a:gdLst/>
            <a:ahLst/>
            <a:cxnLst/>
            <a:rect l="l" t="t" r="r" b="b"/>
            <a:pathLst>
              <a:path w="1152525" h="381000">
                <a:moveTo>
                  <a:pt x="1081328" y="380999"/>
                </a:moveTo>
                <a:lnTo>
                  <a:pt x="71196" y="380999"/>
                </a:lnTo>
                <a:lnTo>
                  <a:pt x="66241" y="380511"/>
                </a:lnTo>
                <a:lnTo>
                  <a:pt x="29705" y="365378"/>
                </a:lnTo>
                <a:lnTo>
                  <a:pt x="3886" y="329337"/>
                </a:lnTo>
                <a:lnTo>
                  <a:pt x="0" y="309803"/>
                </a:lnTo>
                <a:lnTo>
                  <a:pt x="0" y="304799"/>
                </a:lnTo>
                <a:lnTo>
                  <a:pt x="0" y="71196"/>
                </a:lnTo>
                <a:lnTo>
                  <a:pt x="15621" y="29704"/>
                </a:lnTo>
                <a:lnTo>
                  <a:pt x="51662" y="3885"/>
                </a:lnTo>
                <a:lnTo>
                  <a:pt x="71196" y="0"/>
                </a:lnTo>
                <a:lnTo>
                  <a:pt x="1081328" y="0"/>
                </a:lnTo>
                <a:lnTo>
                  <a:pt x="1122819" y="15621"/>
                </a:lnTo>
                <a:lnTo>
                  <a:pt x="1148638" y="51661"/>
                </a:lnTo>
                <a:lnTo>
                  <a:pt x="1152524" y="71196"/>
                </a:lnTo>
                <a:lnTo>
                  <a:pt x="1152524" y="309803"/>
                </a:lnTo>
                <a:lnTo>
                  <a:pt x="1136902" y="351294"/>
                </a:lnTo>
                <a:lnTo>
                  <a:pt x="1100862" y="377113"/>
                </a:lnTo>
                <a:lnTo>
                  <a:pt x="1086283" y="380511"/>
                </a:lnTo>
                <a:lnTo>
                  <a:pt x="1081328" y="380999"/>
                </a:lnTo>
                <a:close/>
              </a:path>
            </a:pathLst>
          </a:custGeom>
          <a:solidFill>
            <a:srgbClr val="E7863A"/>
          </a:solidFill>
        </p:spPr>
        <p:txBody>
          <a:bodyPr wrap="square" lIns="0" tIns="0" rIns="0" bIns="0" rtlCol="0"/>
          <a:lstStyle/>
          <a:p>
            <a:endParaRPr/>
          </a:p>
        </p:txBody>
      </p:sp>
      <p:sp>
        <p:nvSpPr>
          <p:cNvPr id="21" name="object 21"/>
          <p:cNvSpPr txBox="1"/>
          <p:nvPr/>
        </p:nvSpPr>
        <p:spPr>
          <a:xfrm>
            <a:off x="7750174" y="4839817"/>
            <a:ext cx="411480" cy="134620"/>
          </a:xfrm>
          <a:prstGeom prst="rect">
            <a:avLst/>
          </a:prstGeom>
        </p:spPr>
        <p:txBody>
          <a:bodyPr vert="horz" wrap="square" lIns="0" tIns="14604" rIns="0" bIns="0" rtlCol="0">
            <a:spAutoFit/>
          </a:bodyPr>
          <a:lstStyle/>
          <a:p>
            <a:pPr marL="12700">
              <a:lnSpc>
                <a:spcPct val="100000"/>
              </a:lnSpc>
              <a:spcBef>
                <a:spcPts val="114"/>
              </a:spcBef>
            </a:pPr>
            <a:r>
              <a:rPr sz="700" b="1" spc="-10" dirty="0">
                <a:solidFill>
                  <a:srgbClr val="FFFFFF"/>
                </a:solidFill>
                <a:latin typeface="Arial"/>
                <a:cs typeface="Arial"/>
              </a:rPr>
              <a:t>#E8873A</a:t>
            </a:r>
            <a:endParaRPr sz="700">
              <a:latin typeface="Arial"/>
              <a:cs typeface="Arial"/>
            </a:endParaRPr>
          </a:p>
        </p:txBody>
      </p:sp>
      <p:sp>
        <p:nvSpPr>
          <p:cNvPr id="22" name="object 22"/>
          <p:cNvSpPr/>
          <p:nvPr/>
        </p:nvSpPr>
        <p:spPr>
          <a:xfrm>
            <a:off x="8934448" y="4648199"/>
            <a:ext cx="1152525" cy="381000"/>
          </a:xfrm>
          <a:custGeom>
            <a:avLst/>
            <a:gdLst/>
            <a:ahLst/>
            <a:cxnLst/>
            <a:rect l="l" t="t" r="r" b="b"/>
            <a:pathLst>
              <a:path w="1152525" h="381000">
                <a:moveTo>
                  <a:pt x="1081328" y="380999"/>
                </a:moveTo>
                <a:lnTo>
                  <a:pt x="71196" y="380999"/>
                </a:lnTo>
                <a:lnTo>
                  <a:pt x="66240" y="380511"/>
                </a:lnTo>
                <a:lnTo>
                  <a:pt x="29704" y="365378"/>
                </a:lnTo>
                <a:lnTo>
                  <a:pt x="3885" y="329337"/>
                </a:lnTo>
                <a:lnTo>
                  <a:pt x="0" y="309803"/>
                </a:lnTo>
                <a:lnTo>
                  <a:pt x="0" y="304799"/>
                </a:lnTo>
                <a:lnTo>
                  <a:pt x="0" y="71196"/>
                </a:lnTo>
                <a:lnTo>
                  <a:pt x="15621" y="29704"/>
                </a:lnTo>
                <a:lnTo>
                  <a:pt x="51661" y="3885"/>
                </a:lnTo>
                <a:lnTo>
                  <a:pt x="71196" y="0"/>
                </a:lnTo>
                <a:lnTo>
                  <a:pt x="1081328" y="0"/>
                </a:lnTo>
                <a:lnTo>
                  <a:pt x="1122819" y="15621"/>
                </a:lnTo>
                <a:lnTo>
                  <a:pt x="1148638" y="51661"/>
                </a:lnTo>
                <a:lnTo>
                  <a:pt x="1152524" y="71196"/>
                </a:lnTo>
                <a:lnTo>
                  <a:pt x="1152524" y="309803"/>
                </a:lnTo>
                <a:lnTo>
                  <a:pt x="1136903" y="351294"/>
                </a:lnTo>
                <a:lnTo>
                  <a:pt x="1100862" y="377113"/>
                </a:lnTo>
                <a:lnTo>
                  <a:pt x="1086283" y="380511"/>
                </a:lnTo>
                <a:lnTo>
                  <a:pt x="1081328" y="380999"/>
                </a:lnTo>
                <a:close/>
              </a:path>
            </a:pathLst>
          </a:custGeom>
          <a:solidFill>
            <a:srgbClr val="E7ECF1"/>
          </a:solidFill>
        </p:spPr>
        <p:txBody>
          <a:bodyPr wrap="square" lIns="0" tIns="0" rIns="0" bIns="0" rtlCol="0"/>
          <a:lstStyle/>
          <a:p>
            <a:endParaRPr/>
          </a:p>
        </p:txBody>
      </p:sp>
      <p:sp>
        <p:nvSpPr>
          <p:cNvPr id="23" name="object 23"/>
          <p:cNvSpPr txBox="1"/>
          <p:nvPr/>
        </p:nvSpPr>
        <p:spPr>
          <a:xfrm>
            <a:off x="8997949" y="4839817"/>
            <a:ext cx="385445" cy="134620"/>
          </a:xfrm>
          <a:prstGeom prst="rect">
            <a:avLst/>
          </a:prstGeom>
        </p:spPr>
        <p:txBody>
          <a:bodyPr vert="horz" wrap="square" lIns="0" tIns="14604" rIns="0" bIns="0" rtlCol="0">
            <a:spAutoFit/>
          </a:bodyPr>
          <a:lstStyle/>
          <a:p>
            <a:pPr marL="12700">
              <a:lnSpc>
                <a:spcPct val="100000"/>
              </a:lnSpc>
              <a:spcBef>
                <a:spcPts val="114"/>
              </a:spcBef>
            </a:pPr>
            <a:r>
              <a:rPr sz="700" b="1" spc="-25" dirty="0">
                <a:solidFill>
                  <a:srgbClr val="FFFFFF"/>
                </a:solidFill>
                <a:latin typeface="Arial"/>
                <a:cs typeface="Arial"/>
              </a:rPr>
              <a:t>#E8ECF1</a:t>
            </a:r>
            <a:endParaRPr sz="700">
              <a:latin typeface="Arial"/>
              <a:cs typeface="Arial"/>
            </a:endParaRPr>
          </a:p>
        </p:txBody>
      </p:sp>
      <p:grpSp>
        <p:nvGrpSpPr>
          <p:cNvPr id="24" name="object 24"/>
          <p:cNvGrpSpPr/>
          <p:nvPr/>
        </p:nvGrpSpPr>
        <p:grpSpPr>
          <a:xfrm>
            <a:off x="6438898" y="2409824"/>
            <a:ext cx="4914900" cy="2619375"/>
            <a:chOff x="6438898" y="2409824"/>
            <a:chExt cx="4914900" cy="2619375"/>
          </a:xfrm>
        </p:grpSpPr>
        <p:sp>
          <p:nvSpPr>
            <p:cNvPr id="25" name="object 25"/>
            <p:cNvSpPr/>
            <p:nvPr/>
          </p:nvSpPr>
          <p:spPr>
            <a:xfrm>
              <a:off x="10186985" y="4652962"/>
              <a:ext cx="1162050" cy="371475"/>
            </a:xfrm>
            <a:custGeom>
              <a:avLst/>
              <a:gdLst/>
              <a:ahLst/>
              <a:cxnLst/>
              <a:rect l="l" t="t" r="r" b="b"/>
              <a:pathLst>
                <a:path w="1162050" h="371475">
                  <a:moveTo>
                    <a:pt x="1095303" y="371474"/>
                  </a:moveTo>
                  <a:lnTo>
                    <a:pt x="66747" y="371474"/>
                  </a:lnTo>
                  <a:lnTo>
                    <a:pt x="62100" y="371017"/>
                  </a:lnTo>
                  <a:lnTo>
                    <a:pt x="24240" y="353867"/>
                  </a:lnTo>
                  <a:lnTo>
                    <a:pt x="2288" y="318574"/>
                  </a:lnTo>
                  <a:lnTo>
                    <a:pt x="0" y="304728"/>
                  </a:lnTo>
                  <a:lnTo>
                    <a:pt x="1" y="300037"/>
                  </a:lnTo>
                  <a:lnTo>
                    <a:pt x="0" y="66746"/>
                  </a:lnTo>
                  <a:lnTo>
                    <a:pt x="14645" y="27848"/>
                  </a:lnTo>
                  <a:lnTo>
                    <a:pt x="48433" y="3642"/>
                  </a:lnTo>
                  <a:lnTo>
                    <a:pt x="66747" y="0"/>
                  </a:lnTo>
                  <a:lnTo>
                    <a:pt x="1095303" y="0"/>
                  </a:lnTo>
                  <a:lnTo>
                    <a:pt x="1134201" y="14644"/>
                  </a:lnTo>
                  <a:lnTo>
                    <a:pt x="1158405" y="48432"/>
                  </a:lnTo>
                  <a:lnTo>
                    <a:pt x="1162049" y="66746"/>
                  </a:lnTo>
                  <a:lnTo>
                    <a:pt x="1162049" y="304728"/>
                  </a:lnTo>
                  <a:lnTo>
                    <a:pt x="1147404" y="343625"/>
                  </a:lnTo>
                  <a:lnTo>
                    <a:pt x="1113616" y="367831"/>
                  </a:lnTo>
                  <a:lnTo>
                    <a:pt x="1099949" y="371017"/>
                  </a:lnTo>
                  <a:lnTo>
                    <a:pt x="1095303" y="371474"/>
                  </a:lnTo>
                  <a:close/>
                </a:path>
              </a:pathLst>
            </a:custGeom>
            <a:solidFill>
              <a:srgbClr val="FFFFFF"/>
            </a:solidFill>
          </p:spPr>
          <p:txBody>
            <a:bodyPr wrap="square" lIns="0" tIns="0" rIns="0" bIns="0" rtlCol="0"/>
            <a:lstStyle/>
            <a:p>
              <a:endParaRPr/>
            </a:p>
          </p:txBody>
        </p:sp>
        <p:sp>
          <p:nvSpPr>
            <p:cNvPr id="26" name="object 26"/>
            <p:cNvSpPr/>
            <p:nvPr/>
          </p:nvSpPr>
          <p:spPr>
            <a:xfrm>
              <a:off x="10186985" y="4652962"/>
              <a:ext cx="1162050" cy="371475"/>
            </a:xfrm>
            <a:custGeom>
              <a:avLst/>
              <a:gdLst/>
              <a:ahLst/>
              <a:cxnLst/>
              <a:rect l="l" t="t" r="r" b="b"/>
              <a:pathLst>
                <a:path w="1162050" h="371475">
                  <a:moveTo>
                    <a:pt x="1" y="300037"/>
                  </a:moveTo>
                  <a:lnTo>
                    <a:pt x="1" y="71437"/>
                  </a:lnTo>
                  <a:lnTo>
                    <a:pt x="0" y="66746"/>
                  </a:lnTo>
                  <a:lnTo>
                    <a:pt x="458" y="62100"/>
                  </a:lnTo>
                  <a:lnTo>
                    <a:pt x="1374" y="57499"/>
                  </a:lnTo>
                  <a:lnTo>
                    <a:pt x="2288" y="52899"/>
                  </a:lnTo>
                  <a:lnTo>
                    <a:pt x="3642" y="48432"/>
                  </a:lnTo>
                  <a:lnTo>
                    <a:pt x="5438" y="44098"/>
                  </a:lnTo>
                  <a:lnTo>
                    <a:pt x="7233" y="39764"/>
                  </a:lnTo>
                  <a:lnTo>
                    <a:pt x="9434" y="35648"/>
                  </a:lnTo>
                  <a:lnTo>
                    <a:pt x="12039" y="31748"/>
                  </a:lnTo>
                  <a:lnTo>
                    <a:pt x="14645" y="27848"/>
                  </a:lnTo>
                  <a:lnTo>
                    <a:pt x="17607" y="24239"/>
                  </a:lnTo>
                  <a:lnTo>
                    <a:pt x="20924" y="20923"/>
                  </a:lnTo>
                  <a:lnTo>
                    <a:pt x="24240" y="17606"/>
                  </a:lnTo>
                  <a:lnTo>
                    <a:pt x="27849" y="14644"/>
                  </a:lnTo>
                  <a:lnTo>
                    <a:pt x="31750" y="12038"/>
                  </a:lnTo>
                  <a:lnTo>
                    <a:pt x="35648" y="9432"/>
                  </a:lnTo>
                  <a:lnTo>
                    <a:pt x="57499" y="1372"/>
                  </a:lnTo>
                  <a:lnTo>
                    <a:pt x="62100" y="457"/>
                  </a:lnTo>
                  <a:lnTo>
                    <a:pt x="66747" y="0"/>
                  </a:lnTo>
                  <a:lnTo>
                    <a:pt x="71438" y="0"/>
                  </a:lnTo>
                  <a:lnTo>
                    <a:pt x="1090613" y="0"/>
                  </a:lnTo>
                  <a:lnTo>
                    <a:pt x="1095303" y="0"/>
                  </a:lnTo>
                  <a:lnTo>
                    <a:pt x="1099949" y="457"/>
                  </a:lnTo>
                  <a:lnTo>
                    <a:pt x="1104549" y="1372"/>
                  </a:lnTo>
                  <a:lnTo>
                    <a:pt x="1109150" y="2287"/>
                  </a:lnTo>
                  <a:lnTo>
                    <a:pt x="1144442" y="24239"/>
                  </a:lnTo>
                  <a:lnTo>
                    <a:pt x="1150009" y="31748"/>
                  </a:lnTo>
                  <a:lnTo>
                    <a:pt x="1152615" y="35648"/>
                  </a:lnTo>
                  <a:lnTo>
                    <a:pt x="1162051" y="71437"/>
                  </a:lnTo>
                  <a:lnTo>
                    <a:pt x="1162051" y="300037"/>
                  </a:lnTo>
                  <a:lnTo>
                    <a:pt x="1150009" y="339725"/>
                  </a:lnTo>
                  <a:lnTo>
                    <a:pt x="1147404" y="343625"/>
                  </a:lnTo>
                  <a:lnTo>
                    <a:pt x="1117950" y="366036"/>
                  </a:lnTo>
                  <a:lnTo>
                    <a:pt x="1113616" y="367831"/>
                  </a:lnTo>
                  <a:lnTo>
                    <a:pt x="1109150" y="369186"/>
                  </a:lnTo>
                  <a:lnTo>
                    <a:pt x="1104549" y="370101"/>
                  </a:lnTo>
                  <a:lnTo>
                    <a:pt x="1099949" y="371017"/>
                  </a:lnTo>
                  <a:lnTo>
                    <a:pt x="1095303" y="371474"/>
                  </a:lnTo>
                  <a:lnTo>
                    <a:pt x="1090613" y="371474"/>
                  </a:lnTo>
                  <a:lnTo>
                    <a:pt x="71438" y="371474"/>
                  </a:lnTo>
                  <a:lnTo>
                    <a:pt x="66747" y="371474"/>
                  </a:lnTo>
                  <a:lnTo>
                    <a:pt x="62100" y="371017"/>
                  </a:lnTo>
                  <a:lnTo>
                    <a:pt x="57499" y="370101"/>
                  </a:lnTo>
                  <a:lnTo>
                    <a:pt x="52899" y="369186"/>
                  </a:lnTo>
                  <a:lnTo>
                    <a:pt x="48433" y="367831"/>
                  </a:lnTo>
                  <a:lnTo>
                    <a:pt x="44099" y="366036"/>
                  </a:lnTo>
                  <a:lnTo>
                    <a:pt x="39766" y="364241"/>
                  </a:lnTo>
                  <a:lnTo>
                    <a:pt x="35648" y="362040"/>
                  </a:lnTo>
                  <a:lnTo>
                    <a:pt x="31750" y="359434"/>
                  </a:lnTo>
                  <a:lnTo>
                    <a:pt x="27849" y="356828"/>
                  </a:lnTo>
                  <a:lnTo>
                    <a:pt x="24240" y="353867"/>
                  </a:lnTo>
                  <a:lnTo>
                    <a:pt x="20924" y="350550"/>
                  </a:lnTo>
                  <a:lnTo>
                    <a:pt x="17607" y="347234"/>
                  </a:lnTo>
                  <a:lnTo>
                    <a:pt x="14645" y="343625"/>
                  </a:lnTo>
                  <a:lnTo>
                    <a:pt x="12039" y="339725"/>
                  </a:lnTo>
                  <a:lnTo>
                    <a:pt x="9434" y="335825"/>
                  </a:lnTo>
                  <a:lnTo>
                    <a:pt x="7233" y="331708"/>
                  </a:lnTo>
                  <a:lnTo>
                    <a:pt x="5438" y="327374"/>
                  </a:lnTo>
                  <a:lnTo>
                    <a:pt x="3642" y="323041"/>
                  </a:lnTo>
                  <a:lnTo>
                    <a:pt x="2288" y="318574"/>
                  </a:lnTo>
                  <a:lnTo>
                    <a:pt x="1374" y="313973"/>
                  </a:lnTo>
                  <a:lnTo>
                    <a:pt x="458" y="309373"/>
                  </a:lnTo>
                  <a:lnTo>
                    <a:pt x="0" y="304728"/>
                  </a:lnTo>
                  <a:lnTo>
                    <a:pt x="1" y="300037"/>
                  </a:lnTo>
                  <a:close/>
                </a:path>
              </a:pathLst>
            </a:custGeom>
            <a:ln w="9524">
              <a:solidFill>
                <a:srgbClr val="E7ECF1"/>
              </a:solidFill>
            </a:ln>
          </p:spPr>
          <p:txBody>
            <a:bodyPr wrap="square" lIns="0" tIns="0" rIns="0" bIns="0" rtlCol="0"/>
            <a:lstStyle/>
            <a:p>
              <a:endParaRPr/>
            </a:p>
          </p:txBody>
        </p:sp>
        <p:pic>
          <p:nvPicPr>
            <p:cNvPr id="27" name="object 27"/>
            <p:cNvPicPr/>
            <p:nvPr/>
          </p:nvPicPr>
          <p:blipFill>
            <a:blip r:embed="rId5" cstate="print"/>
            <a:stretch>
              <a:fillRect/>
            </a:stretch>
          </p:blipFill>
          <p:spPr>
            <a:xfrm>
              <a:off x="6438898" y="2409824"/>
              <a:ext cx="66675" cy="66674"/>
            </a:xfrm>
            <a:prstGeom prst="rect">
              <a:avLst/>
            </a:prstGeom>
          </p:spPr>
        </p:pic>
        <p:pic>
          <p:nvPicPr>
            <p:cNvPr id="28" name="object 28"/>
            <p:cNvPicPr/>
            <p:nvPr/>
          </p:nvPicPr>
          <p:blipFill>
            <a:blip r:embed="rId5" cstate="print"/>
            <a:stretch>
              <a:fillRect/>
            </a:stretch>
          </p:blipFill>
          <p:spPr>
            <a:xfrm>
              <a:off x="6438898" y="2695574"/>
              <a:ext cx="66675" cy="66674"/>
            </a:xfrm>
            <a:prstGeom prst="rect">
              <a:avLst/>
            </a:prstGeom>
          </p:spPr>
        </p:pic>
        <p:pic>
          <p:nvPicPr>
            <p:cNvPr id="29" name="object 29"/>
            <p:cNvPicPr/>
            <p:nvPr/>
          </p:nvPicPr>
          <p:blipFill>
            <a:blip r:embed="rId5" cstate="print"/>
            <a:stretch>
              <a:fillRect/>
            </a:stretch>
          </p:blipFill>
          <p:spPr>
            <a:xfrm>
              <a:off x="6438898" y="2981324"/>
              <a:ext cx="66675" cy="66674"/>
            </a:xfrm>
            <a:prstGeom prst="rect">
              <a:avLst/>
            </a:prstGeom>
          </p:spPr>
        </p:pic>
        <p:pic>
          <p:nvPicPr>
            <p:cNvPr id="30" name="object 30"/>
            <p:cNvPicPr/>
            <p:nvPr/>
          </p:nvPicPr>
          <p:blipFill>
            <a:blip r:embed="rId5" cstate="print"/>
            <a:stretch>
              <a:fillRect/>
            </a:stretch>
          </p:blipFill>
          <p:spPr>
            <a:xfrm>
              <a:off x="6438898" y="3267074"/>
              <a:ext cx="66675" cy="66674"/>
            </a:xfrm>
            <a:prstGeom prst="rect">
              <a:avLst/>
            </a:prstGeom>
          </p:spPr>
        </p:pic>
      </p:grpSp>
      <p:sp>
        <p:nvSpPr>
          <p:cNvPr id="31" name="object 31"/>
          <p:cNvSpPr txBox="1"/>
          <p:nvPr/>
        </p:nvSpPr>
        <p:spPr>
          <a:xfrm>
            <a:off x="1015999" y="2328297"/>
            <a:ext cx="4078604" cy="188595"/>
          </a:xfrm>
          <a:prstGeom prst="rect">
            <a:avLst/>
          </a:prstGeom>
        </p:spPr>
        <p:txBody>
          <a:bodyPr vert="horz" wrap="square" lIns="0" tIns="14604" rIns="0" bIns="0" rtlCol="0">
            <a:spAutoFit/>
          </a:bodyPr>
          <a:lstStyle/>
          <a:p>
            <a:pPr marL="12700">
              <a:lnSpc>
                <a:spcPct val="100000"/>
              </a:lnSpc>
              <a:spcBef>
                <a:spcPts val="114"/>
              </a:spcBef>
            </a:pPr>
            <a:r>
              <a:rPr sz="1050" spc="-10" dirty="0">
                <a:solidFill>
                  <a:srgbClr val="3A4556"/>
                </a:solidFill>
                <a:latin typeface="Microsoft Sans Serif"/>
                <a:cs typeface="Microsoft Sans Serif"/>
              </a:rPr>
              <a:t>Grille</a:t>
            </a:r>
            <a:r>
              <a:rPr sz="1050" spc="5" dirty="0">
                <a:solidFill>
                  <a:srgbClr val="3A4556"/>
                </a:solidFill>
                <a:latin typeface="Microsoft Sans Serif"/>
                <a:cs typeface="Microsoft Sans Serif"/>
              </a:rPr>
              <a:t> </a:t>
            </a:r>
            <a:r>
              <a:rPr sz="1050" b="1" spc="-40" dirty="0">
                <a:solidFill>
                  <a:srgbClr val="3A4556"/>
                </a:solidFill>
                <a:latin typeface="Arial"/>
                <a:cs typeface="Arial"/>
              </a:rPr>
              <a:t>Bootstrap</a:t>
            </a:r>
            <a:r>
              <a:rPr sz="1050" b="1" spc="-65" dirty="0">
                <a:solidFill>
                  <a:srgbClr val="3A4556"/>
                </a:solidFill>
                <a:latin typeface="Arial"/>
                <a:cs typeface="Arial"/>
              </a:rPr>
              <a:t> </a:t>
            </a:r>
            <a:r>
              <a:rPr sz="1000" b="1" spc="-40" dirty="0">
                <a:solidFill>
                  <a:srgbClr val="3A4556"/>
                </a:solidFill>
                <a:latin typeface="Arial"/>
                <a:cs typeface="Arial"/>
              </a:rPr>
              <a:t>12</a:t>
            </a:r>
            <a:r>
              <a:rPr sz="1000" b="1" spc="-35" dirty="0">
                <a:solidFill>
                  <a:srgbClr val="3A4556"/>
                </a:solidFill>
                <a:latin typeface="Arial"/>
                <a:cs typeface="Arial"/>
              </a:rPr>
              <a:t> </a:t>
            </a:r>
            <a:r>
              <a:rPr sz="1050" b="1" spc="-30" dirty="0">
                <a:solidFill>
                  <a:srgbClr val="3A4556"/>
                </a:solidFill>
                <a:latin typeface="Arial"/>
                <a:cs typeface="Arial"/>
              </a:rPr>
              <a:t>colonnes</a:t>
            </a:r>
            <a:r>
              <a:rPr sz="1050" b="1" spc="-15" dirty="0">
                <a:solidFill>
                  <a:srgbClr val="3A4556"/>
                </a:solidFill>
                <a:latin typeface="Arial"/>
                <a:cs typeface="Arial"/>
              </a:rPr>
              <a:t> </a:t>
            </a:r>
            <a:r>
              <a:rPr sz="1050" dirty="0">
                <a:solidFill>
                  <a:srgbClr val="3A4556"/>
                </a:solidFill>
                <a:latin typeface="Microsoft Sans Serif"/>
                <a:cs typeface="Microsoft Sans Serif"/>
              </a:rPr>
              <a:t>pour un</a:t>
            </a:r>
            <a:r>
              <a:rPr sz="1050" spc="40" dirty="0">
                <a:solidFill>
                  <a:srgbClr val="3A4556"/>
                </a:solidFill>
                <a:latin typeface="Microsoft Sans Serif"/>
                <a:cs typeface="Microsoft Sans Serif"/>
              </a:rPr>
              <a:t> </a:t>
            </a:r>
            <a:r>
              <a:rPr sz="1050" spc="-10" dirty="0">
                <a:solidFill>
                  <a:srgbClr val="3A4556"/>
                </a:solidFill>
                <a:latin typeface="Microsoft Sans Serif"/>
                <a:cs typeface="Microsoft Sans Serif"/>
              </a:rPr>
              <a:t>agencement</a:t>
            </a:r>
            <a:r>
              <a:rPr sz="1050" dirty="0">
                <a:solidFill>
                  <a:srgbClr val="3A4556"/>
                </a:solidFill>
                <a:latin typeface="Microsoft Sans Serif"/>
                <a:cs typeface="Microsoft Sans Serif"/>
              </a:rPr>
              <a:t> </a:t>
            </a:r>
            <a:r>
              <a:rPr sz="1050" spc="-10" dirty="0">
                <a:solidFill>
                  <a:srgbClr val="3A4556"/>
                </a:solidFill>
                <a:latin typeface="Microsoft Sans Serif"/>
                <a:cs typeface="Microsoft Sans Serif"/>
              </a:rPr>
              <a:t>responsive</a:t>
            </a:r>
            <a:r>
              <a:rPr sz="1050" spc="5" dirty="0">
                <a:solidFill>
                  <a:srgbClr val="3A4556"/>
                </a:solidFill>
                <a:latin typeface="Microsoft Sans Serif"/>
                <a:cs typeface="Microsoft Sans Serif"/>
              </a:rPr>
              <a:t> </a:t>
            </a:r>
            <a:r>
              <a:rPr sz="1050" spc="-10" dirty="0">
                <a:solidFill>
                  <a:srgbClr val="3A4556"/>
                </a:solidFill>
                <a:latin typeface="Microsoft Sans Serif"/>
                <a:cs typeface="Microsoft Sans Serif"/>
              </a:rPr>
              <a:t>optimal</a:t>
            </a:r>
            <a:endParaRPr sz="1050">
              <a:latin typeface="Microsoft Sans Serif"/>
              <a:cs typeface="Microsoft Sans Serif"/>
            </a:endParaRPr>
          </a:p>
        </p:txBody>
      </p:sp>
      <p:pic>
        <p:nvPicPr>
          <p:cNvPr id="32" name="object 32"/>
          <p:cNvPicPr/>
          <p:nvPr/>
        </p:nvPicPr>
        <p:blipFill>
          <a:blip r:embed="rId6" cstate="print"/>
          <a:stretch>
            <a:fillRect/>
          </a:stretch>
        </p:blipFill>
        <p:spPr>
          <a:xfrm>
            <a:off x="0" y="0"/>
            <a:ext cx="12191999" cy="47624"/>
          </a:xfrm>
          <a:prstGeom prst="rect">
            <a:avLst/>
          </a:prstGeom>
        </p:spPr>
      </p:pic>
      <p:grpSp>
        <p:nvGrpSpPr>
          <p:cNvPr id="33" name="object 33"/>
          <p:cNvGrpSpPr/>
          <p:nvPr/>
        </p:nvGrpSpPr>
        <p:grpSpPr>
          <a:xfrm>
            <a:off x="838199" y="2409824"/>
            <a:ext cx="66675" cy="2076450"/>
            <a:chOff x="838199" y="2409824"/>
            <a:chExt cx="66675" cy="2076450"/>
          </a:xfrm>
        </p:grpSpPr>
        <p:pic>
          <p:nvPicPr>
            <p:cNvPr id="34" name="object 34"/>
            <p:cNvPicPr/>
            <p:nvPr/>
          </p:nvPicPr>
          <p:blipFill>
            <a:blip r:embed="rId7" cstate="print"/>
            <a:stretch>
              <a:fillRect/>
            </a:stretch>
          </p:blipFill>
          <p:spPr>
            <a:xfrm>
              <a:off x="838199" y="2409824"/>
              <a:ext cx="66675" cy="66674"/>
            </a:xfrm>
            <a:prstGeom prst="rect">
              <a:avLst/>
            </a:prstGeom>
          </p:spPr>
        </p:pic>
        <p:pic>
          <p:nvPicPr>
            <p:cNvPr id="35" name="object 35"/>
            <p:cNvPicPr/>
            <p:nvPr/>
          </p:nvPicPr>
          <p:blipFill>
            <a:blip r:embed="rId7" cstate="print"/>
            <a:stretch>
              <a:fillRect/>
            </a:stretch>
          </p:blipFill>
          <p:spPr>
            <a:xfrm>
              <a:off x="838199" y="2695574"/>
              <a:ext cx="66675" cy="66674"/>
            </a:xfrm>
            <a:prstGeom prst="rect">
              <a:avLst/>
            </a:prstGeom>
          </p:spPr>
        </p:pic>
        <p:pic>
          <p:nvPicPr>
            <p:cNvPr id="36" name="object 36"/>
            <p:cNvPicPr/>
            <p:nvPr/>
          </p:nvPicPr>
          <p:blipFill>
            <a:blip r:embed="rId7" cstate="print"/>
            <a:stretch>
              <a:fillRect/>
            </a:stretch>
          </p:blipFill>
          <p:spPr>
            <a:xfrm>
              <a:off x="838199" y="3171824"/>
              <a:ext cx="66675" cy="66674"/>
            </a:xfrm>
            <a:prstGeom prst="rect">
              <a:avLst/>
            </a:prstGeom>
          </p:spPr>
        </p:pic>
        <p:pic>
          <p:nvPicPr>
            <p:cNvPr id="37" name="object 37"/>
            <p:cNvPicPr/>
            <p:nvPr/>
          </p:nvPicPr>
          <p:blipFill>
            <a:blip r:embed="rId7" cstate="print"/>
            <a:stretch>
              <a:fillRect/>
            </a:stretch>
          </p:blipFill>
          <p:spPr>
            <a:xfrm>
              <a:off x="838199" y="3657599"/>
              <a:ext cx="66675" cy="66674"/>
            </a:xfrm>
            <a:prstGeom prst="rect">
              <a:avLst/>
            </a:prstGeom>
          </p:spPr>
        </p:pic>
        <p:pic>
          <p:nvPicPr>
            <p:cNvPr id="38" name="object 38"/>
            <p:cNvPicPr/>
            <p:nvPr/>
          </p:nvPicPr>
          <p:blipFill>
            <a:blip r:embed="rId7" cstate="print"/>
            <a:stretch>
              <a:fillRect/>
            </a:stretch>
          </p:blipFill>
          <p:spPr>
            <a:xfrm>
              <a:off x="838199" y="3943349"/>
              <a:ext cx="66675" cy="66674"/>
            </a:xfrm>
            <a:prstGeom prst="rect">
              <a:avLst/>
            </a:prstGeom>
          </p:spPr>
        </p:pic>
        <p:pic>
          <p:nvPicPr>
            <p:cNvPr id="39" name="object 39"/>
            <p:cNvPicPr/>
            <p:nvPr/>
          </p:nvPicPr>
          <p:blipFill>
            <a:blip r:embed="rId7" cstate="print"/>
            <a:stretch>
              <a:fillRect/>
            </a:stretch>
          </p:blipFill>
          <p:spPr>
            <a:xfrm>
              <a:off x="838199" y="4419599"/>
              <a:ext cx="66675" cy="66674"/>
            </a:xfrm>
            <a:prstGeom prst="rect">
              <a:avLst/>
            </a:prstGeom>
          </p:spPr>
        </p:pic>
      </p:grpSp>
      <p:sp>
        <p:nvSpPr>
          <p:cNvPr id="40" name="object 40"/>
          <p:cNvSpPr txBox="1"/>
          <p:nvPr/>
        </p:nvSpPr>
        <p:spPr>
          <a:xfrm>
            <a:off x="1015999" y="2583465"/>
            <a:ext cx="4232275" cy="408940"/>
          </a:xfrm>
          <a:prstGeom prst="rect">
            <a:avLst/>
          </a:prstGeom>
        </p:spPr>
        <p:txBody>
          <a:bodyPr vert="horz" wrap="square" lIns="0" tIns="45085" rIns="0" bIns="0" rtlCol="0">
            <a:spAutoFit/>
          </a:bodyPr>
          <a:lstStyle/>
          <a:p>
            <a:pPr marL="12700">
              <a:lnSpc>
                <a:spcPct val="100000"/>
              </a:lnSpc>
              <a:spcBef>
                <a:spcPts val="355"/>
              </a:spcBef>
            </a:pPr>
            <a:r>
              <a:rPr sz="1050" dirty="0">
                <a:solidFill>
                  <a:srgbClr val="3A4556"/>
                </a:solidFill>
                <a:latin typeface="Microsoft Sans Serif"/>
                <a:cs typeface="Microsoft Sans Serif"/>
              </a:rPr>
              <a:t>Alternance</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sections</a:t>
            </a:r>
            <a:r>
              <a:rPr sz="1050" spc="-10" dirty="0">
                <a:solidFill>
                  <a:srgbClr val="3A4556"/>
                </a:solidFill>
                <a:latin typeface="Microsoft Sans Serif"/>
                <a:cs typeface="Microsoft Sans Serif"/>
              </a:rPr>
              <a:t> </a:t>
            </a:r>
            <a:r>
              <a:rPr sz="1050" dirty="0">
                <a:solidFill>
                  <a:srgbClr val="3A4556"/>
                </a:solidFill>
                <a:latin typeface="Microsoft Sans Serif"/>
                <a:cs typeface="Microsoft Sans Serif"/>
              </a:rPr>
              <a:t>fond</a:t>
            </a:r>
            <a:r>
              <a:rPr sz="1050" spc="5" dirty="0">
                <a:solidFill>
                  <a:srgbClr val="3A4556"/>
                </a:solidFill>
                <a:latin typeface="Microsoft Sans Serif"/>
                <a:cs typeface="Microsoft Sans Serif"/>
              </a:rPr>
              <a:t> </a:t>
            </a:r>
            <a:r>
              <a:rPr sz="1050" dirty="0">
                <a:solidFill>
                  <a:srgbClr val="3A4556"/>
                </a:solidFill>
                <a:latin typeface="Microsoft Sans Serif"/>
                <a:cs typeface="Microsoft Sans Serif"/>
              </a:rPr>
              <a:t>blanc</a:t>
            </a:r>
            <a:r>
              <a:rPr sz="1050" spc="-15" dirty="0">
                <a:solidFill>
                  <a:srgbClr val="3A4556"/>
                </a:solidFill>
                <a:latin typeface="Microsoft Sans Serif"/>
                <a:cs typeface="Microsoft Sans Serif"/>
              </a:rPr>
              <a:t> </a:t>
            </a:r>
            <a:r>
              <a:rPr sz="1000" spc="80" dirty="0">
                <a:solidFill>
                  <a:srgbClr val="3A4556"/>
                </a:solidFill>
                <a:latin typeface="Microsoft Sans Serif"/>
                <a:cs typeface="Microsoft Sans Serif"/>
              </a:rPr>
              <a:t>/</a:t>
            </a:r>
            <a:r>
              <a:rPr sz="1000" spc="-15" dirty="0">
                <a:solidFill>
                  <a:srgbClr val="3A4556"/>
                </a:solidFill>
                <a:latin typeface="Microsoft Sans Serif"/>
                <a:cs typeface="Microsoft Sans Serif"/>
              </a:rPr>
              <a:t> </a:t>
            </a:r>
            <a:r>
              <a:rPr sz="1050" dirty="0">
                <a:solidFill>
                  <a:srgbClr val="3A4556"/>
                </a:solidFill>
                <a:latin typeface="Microsoft Sans Serif"/>
                <a:cs typeface="Microsoft Sans Serif"/>
              </a:rPr>
              <a:t>fond</a:t>
            </a:r>
            <a:r>
              <a:rPr sz="1050" spc="5" dirty="0">
                <a:solidFill>
                  <a:srgbClr val="3A4556"/>
                </a:solidFill>
                <a:latin typeface="Microsoft Sans Serif"/>
                <a:cs typeface="Microsoft Sans Serif"/>
              </a:rPr>
              <a:t> </a:t>
            </a:r>
            <a:r>
              <a:rPr sz="1050" dirty="0">
                <a:solidFill>
                  <a:srgbClr val="3A4556"/>
                </a:solidFill>
                <a:latin typeface="Microsoft Sans Serif"/>
                <a:cs typeface="Microsoft Sans Serif"/>
              </a:rPr>
              <a:t>gris</a:t>
            </a:r>
            <a:r>
              <a:rPr sz="1050" spc="-10" dirty="0">
                <a:solidFill>
                  <a:srgbClr val="3A4556"/>
                </a:solidFill>
                <a:latin typeface="Microsoft Sans Serif"/>
                <a:cs typeface="Microsoft Sans Serif"/>
              </a:rPr>
              <a:t> clair</a:t>
            </a:r>
            <a:r>
              <a:rPr sz="1000" spc="-10" dirty="0">
                <a:solidFill>
                  <a:srgbClr val="3A4556"/>
                </a:solidFill>
                <a:latin typeface="Microsoft Sans Serif"/>
                <a:cs typeface="Microsoft Sans Serif"/>
              </a:rPr>
              <a:t>,</a:t>
            </a:r>
            <a:r>
              <a:rPr sz="1000" spc="55" dirty="0">
                <a:solidFill>
                  <a:srgbClr val="3A4556"/>
                </a:solidFill>
                <a:latin typeface="Microsoft Sans Serif"/>
                <a:cs typeface="Microsoft Sans Serif"/>
              </a:rPr>
              <a:t> </a:t>
            </a:r>
            <a:r>
              <a:rPr sz="1050" dirty="0">
                <a:solidFill>
                  <a:srgbClr val="3A4556"/>
                </a:solidFill>
                <a:latin typeface="Microsoft Sans Serif"/>
                <a:cs typeface="Microsoft Sans Serif"/>
              </a:rPr>
              <a:t>créant</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un</a:t>
            </a:r>
            <a:r>
              <a:rPr sz="1050" spc="15" dirty="0">
                <a:solidFill>
                  <a:srgbClr val="3A4556"/>
                </a:solidFill>
                <a:latin typeface="Microsoft Sans Serif"/>
                <a:cs typeface="Microsoft Sans Serif"/>
              </a:rPr>
              <a:t> </a:t>
            </a:r>
            <a:r>
              <a:rPr sz="1050" b="1" spc="-10" dirty="0">
                <a:solidFill>
                  <a:srgbClr val="3A4556"/>
                </a:solidFill>
                <a:latin typeface="Arial"/>
                <a:cs typeface="Arial"/>
              </a:rPr>
              <a:t>rythme</a:t>
            </a:r>
            <a:r>
              <a:rPr sz="1050" b="1" spc="-75" dirty="0">
                <a:solidFill>
                  <a:srgbClr val="3A4556"/>
                </a:solidFill>
                <a:latin typeface="Arial"/>
                <a:cs typeface="Arial"/>
              </a:rPr>
              <a:t> </a:t>
            </a:r>
            <a:r>
              <a:rPr sz="1050" b="1" spc="-10" dirty="0">
                <a:solidFill>
                  <a:srgbClr val="3A4556"/>
                </a:solidFill>
                <a:latin typeface="Arial"/>
                <a:cs typeface="Arial"/>
              </a:rPr>
              <a:t>visuel</a:t>
            </a:r>
            <a:endParaRPr sz="1050">
              <a:latin typeface="Arial"/>
              <a:cs typeface="Arial"/>
            </a:endParaRPr>
          </a:p>
          <a:p>
            <a:pPr marL="12700">
              <a:lnSpc>
                <a:spcPct val="100000"/>
              </a:lnSpc>
              <a:spcBef>
                <a:spcPts val="240"/>
              </a:spcBef>
            </a:pPr>
            <a:r>
              <a:rPr sz="1050" spc="-10" dirty="0">
                <a:solidFill>
                  <a:srgbClr val="3A4556"/>
                </a:solidFill>
                <a:latin typeface="Microsoft Sans Serif"/>
                <a:cs typeface="Microsoft Sans Serif"/>
              </a:rPr>
              <a:t>agréable</a:t>
            </a:r>
            <a:endParaRPr sz="1050">
              <a:latin typeface="Microsoft Sans Serif"/>
              <a:cs typeface="Microsoft Sans Serif"/>
            </a:endParaRPr>
          </a:p>
        </p:txBody>
      </p:sp>
      <p:sp>
        <p:nvSpPr>
          <p:cNvPr id="41" name="object 41"/>
          <p:cNvSpPr txBox="1"/>
          <p:nvPr/>
        </p:nvSpPr>
        <p:spPr>
          <a:xfrm>
            <a:off x="1015999" y="3061962"/>
            <a:ext cx="4431030" cy="406400"/>
          </a:xfrm>
          <a:prstGeom prst="rect">
            <a:avLst/>
          </a:prstGeom>
        </p:spPr>
        <p:txBody>
          <a:bodyPr vert="horz" wrap="square" lIns="0" tIns="12700" rIns="0" bIns="0" rtlCol="0">
            <a:spAutoFit/>
          </a:bodyPr>
          <a:lstStyle/>
          <a:p>
            <a:pPr marL="12700" marR="5080">
              <a:lnSpc>
                <a:spcPct val="119000"/>
              </a:lnSpc>
              <a:spcBef>
                <a:spcPts val="100"/>
              </a:spcBef>
            </a:pPr>
            <a:r>
              <a:rPr sz="1050" spc="-10" dirty="0">
                <a:solidFill>
                  <a:srgbClr val="3A4556"/>
                </a:solidFill>
                <a:latin typeface="Microsoft Sans Serif"/>
                <a:cs typeface="Microsoft Sans Serif"/>
              </a:rPr>
              <a:t>Sections</a:t>
            </a:r>
            <a:r>
              <a:rPr sz="1050" dirty="0">
                <a:solidFill>
                  <a:srgbClr val="3A4556"/>
                </a:solidFill>
                <a:latin typeface="Microsoft Sans Serif"/>
                <a:cs typeface="Microsoft Sans Serif"/>
              </a:rPr>
              <a:t> </a:t>
            </a:r>
            <a:r>
              <a:rPr sz="1050" spc="-10" dirty="0">
                <a:solidFill>
                  <a:srgbClr val="3A4556"/>
                </a:solidFill>
                <a:latin typeface="Microsoft Sans Serif"/>
                <a:cs typeface="Microsoft Sans Serif"/>
              </a:rPr>
              <a:t>espacées</a:t>
            </a:r>
            <a:r>
              <a:rPr sz="1050" dirty="0">
                <a:solidFill>
                  <a:srgbClr val="3A4556"/>
                </a:solidFill>
                <a:latin typeface="Microsoft Sans Serif"/>
                <a:cs typeface="Microsoft Sans Serif"/>
              </a:rPr>
              <a:t> </a:t>
            </a:r>
            <a:r>
              <a:rPr sz="1050" spc="-10" dirty="0">
                <a:solidFill>
                  <a:srgbClr val="3A4556"/>
                </a:solidFill>
                <a:latin typeface="Microsoft Sans Serif"/>
                <a:cs typeface="Microsoft Sans Serif"/>
              </a:rPr>
              <a:t>régulièrement</a:t>
            </a:r>
            <a:r>
              <a:rPr sz="1050" spc="-15" dirty="0">
                <a:solidFill>
                  <a:srgbClr val="3A4556"/>
                </a:solidFill>
                <a:latin typeface="Microsoft Sans Serif"/>
                <a:cs typeface="Microsoft Sans Serif"/>
              </a:rPr>
              <a:t> </a:t>
            </a:r>
            <a:r>
              <a:rPr sz="1000" dirty="0">
                <a:solidFill>
                  <a:srgbClr val="3A4556"/>
                </a:solidFill>
                <a:latin typeface="Microsoft Sans Serif"/>
                <a:cs typeface="Microsoft Sans Serif"/>
              </a:rPr>
              <a:t>(</a:t>
            </a:r>
            <a:r>
              <a:rPr sz="1050" dirty="0">
                <a:solidFill>
                  <a:srgbClr val="3A4556"/>
                </a:solidFill>
                <a:latin typeface="Microsoft Sans Serif"/>
                <a:cs typeface="Microsoft Sans Serif"/>
              </a:rPr>
              <a:t>padding</a:t>
            </a:r>
            <a:r>
              <a:rPr sz="1050" spc="25" dirty="0">
                <a:solidFill>
                  <a:srgbClr val="3A4556"/>
                </a:solidFill>
                <a:latin typeface="Microsoft Sans Serif"/>
                <a:cs typeface="Microsoft Sans Serif"/>
              </a:rPr>
              <a:t> </a:t>
            </a:r>
            <a:r>
              <a:rPr sz="1050" dirty="0">
                <a:solidFill>
                  <a:srgbClr val="3A4556"/>
                </a:solidFill>
                <a:latin typeface="Microsoft Sans Serif"/>
                <a:cs typeface="Microsoft Sans Serif"/>
              </a:rPr>
              <a:t>vertical</a:t>
            </a:r>
            <a:r>
              <a:rPr sz="1050" spc="60" dirty="0">
                <a:solidFill>
                  <a:srgbClr val="3A4556"/>
                </a:solidFill>
                <a:latin typeface="Microsoft Sans Serif"/>
                <a:cs typeface="Microsoft Sans Serif"/>
              </a:rPr>
              <a:t> </a:t>
            </a:r>
            <a:r>
              <a:rPr sz="1050" dirty="0">
                <a:solidFill>
                  <a:srgbClr val="3A4556"/>
                </a:solidFill>
                <a:latin typeface="Microsoft Sans Serif"/>
                <a:cs typeface="Microsoft Sans Serif"/>
              </a:rPr>
              <a:t>conséquent</a:t>
            </a:r>
            <a:r>
              <a:rPr sz="1000" dirty="0">
                <a:solidFill>
                  <a:srgbClr val="3A4556"/>
                </a:solidFill>
                <a:latin typeface="Microsoft Sans Serif"/>
                <a:cs typeface="Microsoft Sans Serif"/>
              </a:rPr>
              <a:t>)</a:t>
            </a:r>
            <a:r>
              <a:rPr sz="1000" spc="90" dirty="0">
                <a:solidFill>
                  <a:srgbClr val="3A4556"/>
                </a:solidFill>
                <a:latin typeface="Microsoft Sans Serif"/>
                <a:cs typeface="Microsoft Sans Serif"/>
              </a:rPr>
              <a:t> </a:t>
            </a:r>
            <a:r>
              <a:rPr sz="1050" dirty="0">
                <a:solidFill>
                  <a:srgbClr val="3A4556"/>
                </a:solidFill>
                <a:latin typeface="Microsoft Sans Serif"/>
                <a:cs typeface="Microsoft Sans Serif"/>
              </a:rPr>
              <a:t>facilitant</a:t>
            </a:r>
            <a:r>
              <a:rPr sz="1050" spc="-10" dirty="0">
                <a:solidFill>
                  <a:srgbClr val="3A4556"/>
                </a:solidFill>
                <a:latin typeface="Microsoft Sans Serif"/>
                <a:cs typeface="Microsoft Sans Serif"/>
              </a:rPr>
              <a:t> </a:t>
            </a:r>
            <a:r>
              <a:rPr sz="1050" spc="-25" dirty="0">
                <a:solidFill>
                  <a:srgbClr val="3A4556"/>
                </a:solidFill>
                <a:latin typeface="Microsoft Sans Serif"/>
                <a:cs typeface="Microsoft Sans Serif"/>
              </a:rPr>
              <a:t>la </a:t>
            </a:r>
            <a:r>
              <a:rPr sz="1050" spc="-10" dirty="0">
                <a:solidFill>
                  <a:srgbClr val="3A4556"/>
                </a:solidFill>
                <a:latin typeface="Microsoft Sans Serif"/>
                <a:cs typeface="Microsoft Sans Serif"/>
              </a:rPr>
              <a:t>lecture</a:t>
            </a:r>
            <a:endParaRPr sz="1050">
              <a:latin typeface="Microsoft Sans Serif"/>
              <a:cs typeface="Microsoft Sans Serif"/>
            </a:endParaRPr>
          </a:p>
        </p:txBody>
      </p:sp>
      <p:sp>
        <p:nvSpPr>
          <p:cNvPr id="42" name="object 42"/>
          <p:cNvSpPr txBox="1"/>
          <p:nvPr/>
        </p:nvSpPr>
        <p:spPr>
          <a:xfrm>
            <a:off x="1015999" y="3576072"/>
            <a:ext cx="3929379" cy="188595"/>
          </a:xfrm>
          <a:prstGeom prst="rect">
            <a:avLst/>
          </a:prstGeom>
        </p:spPr>
        <p:txBody>
          <a:bodyPr vert="horz" wrap="square" lIns="0" tIns="14604" rIns="0" bIns="0" rtlCol="0">
            <a:spAutoFit/>
          </a:bodyPr>
          <a:lstStyle/>
          <a:p>
            <a:pPr marL="12700">
              <a:lnSpc>
                <a:spcPct val="100000"/>
              </a:lnSpc>
              <a:spcBef>
                <a:spcPts val="114"/>
              </a:spcBef>
            </a:pPr>
            <a:r>
              <a:rPr sz="1050" spc="-10" dirty="0">
                <a:solidFill>
                  <a:srgbClr val="3A4556"/>
                </a:solidFill>
                <a:latin typeface="Microsoft Sans Serif"/>
                <a:cs typeface="Microsoft Sans Serif"/>
              </a:rPr>
              <a:t>Navigation </a:t>
            </a:r>
            <a:r>
              <a:rPr sz="1050" b="1" spc="-10" dirty="0">
                <a:solidFill>
                  <a:srgbClr val="3A4556"/>
                </a:solidFill>
                <a:latin typeface="Arial"/>
                <a:cs typeface="Arial"/>
              </a:rPr>
              <a:t>fixe</a:t>
            </a:r>
            <a:r>
              <a:rPr sz="1050" b="1" spc="-75" dirty="0">
                <a:solidFill>
                  <a:srgbClr val="3A4556"/>
                </a:solidFill>
                <a:latin typeface="Arial"/>
                <a:cs typeface="Arial"/>
              </a:rPr>
              <a:t> </a:t>
            </a:r>
            <a:r>
              <a:rPr sz="1050" b="1" spc="-30" dirty="0">
                <a:solidFill>
                  <a:srgbClr val="3A4556"/>
                </a:solidFill>
                <a:latin typeface="Arial"/>
                <a:cs typeface="Arial"/>
              </a:rPr>
              <a:t>en</a:t>
            </a:r>
            <a:r>
              <a:rPr sz="1050" b="1" spc="-50" dirty="0">
                <a:solidFill>
                  <a:srgbClr val="3A4556"/>
                </a:solidFill>
                <a:latin typeface="Arial"/>
                <a:cs typeface="Arial"/>
              </a:rPr>
              <a:t> </a:t>
            </a:r>
            <a:r>
              <a:rPr sz="1050" b="1" spc="-10" dirty="0">
                <a:solidFill>
                  <a:srgbClr val="3A4556"/>
                </a:solidFill>
                <a:latin typeface="Arial"/>
                <a:cs typeface="Arial"/>
              </a:rPr>
              <a:t>haut</a:t>
            </a:r>
            <a:r>
              <a:rPr sz="1050" b="1" spc="-45" dirty="0">
                <a:solidFill>
                  <a:srgbClr val="3A4556"/>
                </a:solidFill>
                <a:latin typeface="Arial"/>
                <a:cs typeface="Arial"/>
              </a:rPr>
              <a:t> </a:t>
            </a:r>
            <a:r>
              <a:rPr sz="1050" spc="-10" dirty="0">
                <a:solidFill>
                  <a:srgbClr val="3A4556"/>
                </a:solidFill>
                <a:latin typeface="Microsoft Sans Serif"/>
                <a:cs typeface="Microsoft Sans Serif"/>
              </a:rPr>
              <a:t>garantissant</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un</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accès</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permanent</a:t>
            </a:r>
            <a:r>
              <a:rPr sz="1050" spc="-25" dirty="0">
                <a:solidFill>
                  <a:srgbClr val="3A4556"/>
                </a:solidFill>
                <a:latin typeface="Microsoft Sans Serif"/>
                <a:cs typeface="Microsoft Sans Serif"/>
              </a:rPr>
              <a:t> </a:t>
            </a:r>
            <a:r>
              <a:rPr sz="1050" dirty="0">
                <a:solidFill>
                  <a:srgbClr val="3A4556"/>
                </a:solidFill>
                <a:latin typeface="Microsoft Sans Serif"/>
                <a:cs typeface="Microsoft Sans Serif"/>
              </a:rPr>
              <a:t>aux</a:t>
            </a:r>
            <a:r>
              <a:rPr sz="1050" spc="-40" dirty="0">
                <a:solidFill>
                  <a:srgbClr val="3A4556"/>
                </a:solidFill>
                <a:latin typeface="Microsoft Sans Serif"/>
                <a:cs typeface="Microsoft Sans Serif"/>
              </a:rPr>
              <a:t> </a:t>
            </a:r>
            <a:r>
              <a:rPr sz="1050" spc="-10" dirty="0">
                <a:solidFill>
                  <a:srgbClr val="3A4556"/>
                </a:solidFill>
                <a:latin typeface="Microsoft Sans Serif"/>
                <a:cs typeface="Microsoft Sans Serif"/>
              </a:rPr>
              <a:t>liens</a:t>
            </a:r>
            <a:endParaRPr sz="1050">
              <a:latin typeface="Microsoft Sans Serif"/>
              <a:cs typeface="Microsoft Sans Serif"/>
            </a:endParaRPr>
          </a:p>
        </p:txBody>
      </p:sp>
      <p:sp>
        <p:nvSpPr>
          <p:cNvPr id="43" name="object 43"/>
          <p:cNvSpPr txBox="1"/>
          <p:nvPr/>
        </p:nvSpPr>
        <p:spPr>
          <a:xfrm>
            <a:off x="1015999" y="3831240"/>
            <a:ext cx="4642485" cy="408940"/>
          </a:xfrm>
          <a:prstGeom prst="rect">
            <a:avLst/>
          </a:prstGeom>
        </p:spPr>
        <p:txBody>
          <a:bodyPr vert="horz" wrap="square" lIns="0" tIns="14604" rIns="0" bIns="0" rtlCol="0">
            <a:spAutoFit/>
          </a:bodyPr>
          <a:lstStyle/>
          <a:p>
            <a:pPr marL="12700" marR="5080">
              <a:lnSpc>
                <a:spcPct val="119000"/>
              </a:lnSpc>
              <a:spcBef>
                <a:spcPts val="114"/>
              </a:spcBef>
            </a:pPr>
            <a:r>
              <a:rPr sz="1050" spc="-10" dirty="0">
                <a:solidFill>
                  <a:srgbClr val="3A4556"/>
                </a:solidFill>
                <a:latin typeface="Microsoft Sans Serif"/>
                <a:cs typeface="Microsoft Sans Serif"/>
              </a:rPr>
              <a:t>Pattern</a:t>
            </a:r>
            <a:r>
              <a:rPr sz="1050" spc="5" dirty="0">
                <a:solidFill>
                  <a:srgbClr val="3A4556"/>
                </a:solidFill>
                <a:latin typeface="Microsoft Sans Serif"/>
                <a:cs typeface="Microsoft Sans Serif"/>
              </a:rPr>
              <a:t> </a:t>
            </a:r>
            <a:r>
              <a:rPr sz="1050" b="1" spc="-45" dirty="0">
                <a:solidFill>
                  <a:srgbClr val="3A4556"/>
                </a:solidFill>
                <a:latin typeface="Arial"/>
                <a:cs typeface="Arial"/>
              </a:rPr>
              <a:t>Bento</a:t>
            </a:r>
            <a:r>
              <a:rPr sz="1050" b="1" spc="-75" dirty="0">
                <a:solidFill>
                  <a:srgbClr val="3A4556"/>
                </a:solidFill>
                <a:latin typeface="Arial"/>
                <a:cs typeface="Arial"/>
              </a:rPr>
              <a:t> </a:t>
            </a:r>
            <a:r>
              <a:rPr sz="1050" b="1" spc="-45" dirty="0">
                <a:solidFill>
                  <a:srgbClr val="3A4556"/>
                </a:solidFill>
                <a:latin typeface="Arial"/>
                <a:cs typeface="Arial"/>
              </a:rPr>
              <a:t>Grid</a:t>
            </a:r>
            <a:r>
              <a:rPr sz="1050" b="1" spc="-20" dirty="0">
                <a:solidFill>
                  <a:srgbClr val="3A4556"/>
                </a:solidFill>
                <a:latin typeface="Arial"/>
                <a:cs typeface="Arial"/>
              </a:rPr>
              <a:t> </a:t>
            </a:r>
            <a:r>
              <a:rPr sz="1050" dirty="0">
                <a:solidFill>
                  <a:srgbClr val="3A4556"/>
                </a:solidFill>
                <a:latin typeface="Microsoft Sans Serif"/>
                <a:cs typeface="Microsoft Sans Serif"/>
              </a:rPr>
              <a:t>pour</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la</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section</a:t>
            </a:r>
            <a:r>
              <a:rPr sz="1050" spc="15" dirty="0">
                <a:solidFill>
                  <a:srgbClr val="3A4556"/>
                </a:solidFill>
                <a:latin typeface="Microsoft Sans Serif"/>
                <a:cs typeface="Microsoft Sans Serif"/>
              </a:rPr>
              <a:t> </a:t>
            </a:r>
            <a:r>
              <a:rPr sz="1000" dirty="0">
                <a:solidFill>
                  <a:srgbClr val="3A4556"/>
                </a:solidFill>
                <a:latin typeface="Microsoft Sans Serif"/>
                <a:cs typeface="Microsoft Sans Serif"/>
              </a:rPr>
              <a:t>«</a:t>
            </a:r>
            <a:r>
              <a:rPr sz="1000" spc="-10" dirty="0">
                <a:solidFill>
                  <a:srgbClr val="3A4556"/>
                </a:solidFill>
                <a:latin typeface="Microsoft Sans Serif"/>
                <a:cs typeface="Microsoft Sans Serif"/>
              </a:rPr>
              <a:t> </a:t>
            </a:r>
            <a:r>
              <a:rPr sz="1050" spc="-10" dirty="0">
                <a:solidFill>
                  <a:srgbClr val="3A4556"/>
                </a:solidFill>
                <a:latin typeface="Microsoft Sans Serif"/>
                <a:cs typeface="Microsoft Sans Serif"/>
              </a:rPr>
              <a:t>Comment</a:t>
            </a:r>
            <a:r>
              <a:rPr sz="1050" spc="-20" dirty="0">
                <a:solidFill>
                  <a:srgbClr val="3A4556"/>
                </a:solidFill>
                <a:latin typeface="Microsoft Sans Serif"/>
                <a:cs typeface="Microsoft Sans Serif"/>
              </a:rPr>
              <a:t> </a:t>
            </a:r>
            <a:r>
              <a:rPr sz="1050" dirty="0">
                <a:solidFill>
                  <a:srgbClr val="3A4556"/>
                </a:solidFill>
                <a:latin typeface="Microsoft Sans Serif"/>
                <a:cs typeface="Microsoft Sans Serif"/>
              </a:rPr>
              <a:t>ça</a:t>
            </a:r>
            <a:r>
              <a:rPr sz="1050" spc="15" dirty="0">
                <a:solidFill>
                  <a:srgbClr val="3A4556"/>
                </a:solidFill>
                <a:latin typeface="Microsoft Sans Serif"/>
                <a:cs typeface="Microsoft Sans Serif"/>
              </a:rPr>
              <a:t> </a:t>
            </a:r>
            <a:r>
              <a:rPr sz="1050" spc="-10" dirty="0">
                <a:solidFill>
                  <a:srgbClr val="3A4556"/>
                </a:solidFill>
                <a:latin typeface="Microsoft Sans Serif"/>
                <a:cs typeface="Microsoft Sans Serif"/>
              </a:rPr>
              <a:t>marche</a:t>
            </a:r>
            <a:r>
              <a:rPr sz="1050" spc="-15" dirty="0">
                <a:solidFill>
                  <a:srgbClr val="3A4556"/>
                </a:solidFill>
                <a:latin typeface="Microsoft Sans Serif"/>
                <a:cs typeface="Microsoft Sans Serif"/>
              </a:rPr>
              <a:t> </a:t>
            </a:r>
            <a:r>
              <a:rPr sz="1000" dirty="0">
                <a:solidFill>
                  <a:srgbClr val="3A4556"/>
                </a:solidFill>
                <a:latin typeface="Microsoft Sans Serif"/>
                <a:cs typeface="Microsoft Sans Serif"/>
              </a:rPr>
              <a:t>» </a:t>
            </a:r>
            <a:r>
              <a:rPr sz="1000" spc="475" dirty="0">
                <a:solidFill>
                  <a:srgbClr val="3A4556"/>
                </a:solidFill>
                <a:latin typeface="Microsoft Sans Serif"/>
                <a:cs typeface="Microsoft Sans Serif"/>
              </a:rPr>
              <a:t>—</a:t>
            </a:r>
            <a:r>
              <a:rPr sz="1000" spc="-90" dirty="0">
                <a:solidFill>
                  <a:srgbClr val="3A4556"/>
                </a:solidFill>
                <a:latin typeface="Microsoft Sans Serif"/>
                <a:cs typeface="Microsoft Sans Serif"/>
              </a:rPr>
              <a:t> </a:t>
            </a:r>
            <a:r>
              <a:rPr sz="1050" dirty="0">
                <a:solidFill>
                  <a:srgbClr val="3A4556"/>
                </a:solidFill>
                <a:latin typeface="Microsoft Sans Serif"/>
                <a:cs typeface="Microsoft Sans Serif"/>
              </a:rPr>
              <a:t>touche</a:t>
            </a:r>
            <a:r>
              <a:rPr sz="1050" spc="-15" dirty="0">
                <a:solidFill>
                  <a:srgbClr val="3A4556"/>
                </a:solidFill>
                <a:latin typeface="Microsoft Sans Serif"/>
                <a:cs typeface="Microsoft Sans Serif"/>
              </a:rPr>
              <a:t> </a:t>
            </a:r>
            <a:r>
              <a:rPr sz="1050" spc="-10" dirty="0">
                <a:solidFill>
                  <a:srgbClr val="3A4556"/>
                </a:solidFill>
                <a:latin typeface="Microsoft Sans Serif"/>
                <a:cs typeface="Microsoft Sans Serif"/>
              </a:rPr>
              <a:t>moderne </a:t>
            </a:r>
            <a:r>
              <a:rPr sz="1050" dirty="0">
                <a:solidFill>
                  <a:srgbClr val="3A4556"/>
                </a:solidFill>
                <a:latin typeface="Microsoft Sans Serif"/>
                <a:cs typeface="Microsoft Sans Serif"/>
              </a:rPr>
              <a:t>et </a:t>
            </a:r>
            <a:r>
              <a:rPr sz="1050" spc="-10" dirty="0">
                <a:solidFill>
                  <a:srgbClr val="3A4556"/>
                </a:solidFill>
                <a:latin typeface="Microsoft Sans Serif"/>
                <a:cs typeface="Microsoft Sans Serif"/>
              </a:rPr>
              <a:t>dynamique</a:t>
            </a:r>
            <a:endParaRPr sz="1050">
              <a:latin typeface="Microsoft Sans Serif"/>
              <a:cs typeface="Microsoft Sans Serif"/>
            </a:endParaRPr>
          </a:p>
        </p:txBody>
      </p:sp>
      <p:sp>
        <p:nvSpPr>
          <p:cNvPr id="44" name="object 44"/>
          <p:cNvSpPr txBox="1"/>
          <p:nvPr/>
        </p:nvSpPr>
        <p:spPr>
          <a:xfrm>
            <a:off x="1015999" y="4340263"/>
            <a:ext cx="4260215" cy="185420"/>
          </a:xfrm>
          <a:prstGeom prst="rect">
            <a:avLst/>
          </a:prstGeom>
        </p:spPr>
        <p:txBody>
          <a:bodyPr vert="horz" wrap="square" lIns="0" tIns="12700" rIns="0" bIns="0" rtlCol="0">
            <a:spAutoFit/>
          </a:bodyPr>
          <a:lstStyle/>
          <a:p>
            <a:pPr marL="12700">
              <a:lnSpc>
                <a:spcPct val="100000"/>
              </a:lnSpc>
              <a:spcBef>
                <a:spcPts val="100"/>
              </a:spcBef>
            </a:pPr>
            <a:r>
              <a:rPr sz="1050" spc="-10" dirty="0">
                <a:solidFill>
                  <a:srgbClr val="3A4556"/>
                </a:solidFill>
                <a:latin typeface="Microsoft Sans Serif"/>
                <a:cs typeface="Microsoft Sans Serif"/>
              </a:rPr>
              <a:t>Bouton</a:t>
            </a:r>
            <a:r>
              <a:rPr sz="1050" spc="5" dirty="0">
                <a:solidFill>
                  <a:srgbClr val="3A4556"/>
                </a:solidFill>
                <a:latin typeface="Microsoft Sans Serif"/>
                <a:cs typeface="Microsoft Sans Serif"/>
              </a:rPr>
              <a:t> </a:t>
            </a:r>
            <a:r>
              <a:rPr sz="1000" dirty="0">
                <a:solidFill>
                  <a:srgbClr val="3A4556"/>
                </a:solidFill>
                <a:latin typeface="Microsoft Sans Serif"/>
                <a:cs typeface="Microsoft Sans Serif"/>
              </a:rPr>
              <a:t>«</a:t>
            </a:r>
            <a:r>
              <a:rPr sz="1000" spc="-20" dirty="0">
                <a:solidFill>
                  <a:srgbClr val="3A4556"/>
                </a:solidFill>
                <a:latin typeface="Microsoft Sans Serif"/>
                <a:cs typeface="Microsoft Sans Serif"/>
              </a:rPr>
              <a:t> </a:t>
            </a:r>
            <a:r>
              <a:rPr sz="1050" spc="-20" dirty="0">
                <a:solidFill>
                  <a:srgbClr val="3A4556"/>
                </a:solidFill>
                <a:latin typeface="Microsoft Sans Serif"/>
                <a:cs typeface="Microsoft Sans Serif"/>
              </a:rPr>
              <a:t>Retour </a:t>
            </a:r>
            <a:r>
              <a:rPr sz="1050" dirty="0">
                <a:solidFill>
                  <a:srgbClr val="3A4556"/>
                </a:solidFill>
                <a:latin typeface="Microsoft Sans Serif"/>
                <a:cs typeface="Microsoft Sans Serif"/>
              </a:rPr>
              <a:t>en</a:t>
            </a:r>
            <a:r>
              <a:rPr sz="1050" spc="5" dirty="0">
                <a:solidFill>
                  <a:srgbClr val="3A4556"/>
                </a:solidFill>
                <a:latin typeface="Microsoft Sans Serif"/>
                <a:cs typeface="Microsoft Sans Serif"/>
              </a:rPr>
              <a:t> </a:t>
            </a:r>
            <a:r>
              <a:rPr sz="1050" dirty="0">
                <a:solidFill>
                  <a:srgbClr val="3A4556"/>
                </a:solidFill>
                <a:latin typeface="Microsoft Sans Serif"/>
                <a:cs typeface="Microsoft Sans Serif"/>
              </a:rPr>
              <a:t>haut</a:t>
            </a:r>
            <a:r>
              <a:rPr sz="1050" spc="-30" dirty="0">
                <a:solidFill>
                  <a:srgbClr val="3A4556"/>
                </a:solidFill>
                <a:latin typeface="Microsoft Sans Serif"/>
                <a:cs typeface="Microsoft Sans Serif"/>
              </a:rPr>
              <a:t> </a:t>
            </a:r>
            <a:r>
              <a:rPr sz="1000" dirty="0">
                <a:solidFill>
                  <a:srgbClr val="3A4556"/>
                </a:solidFill>
                <a:latin typeface="Microsoft Sans Serif"/>
                <a:cs typeface="Microsoft Sans Serif"/>
              </a:rPr>
              <a:t>»</a:t>
            </a:r>
            <a:r>
              <a:rPr sz="1000" spc="-5" dirty="0">
                <a:solidFill>
                  <a:srgbClr val="3A4556"/>
                </a:solidFill>
                <a:latin typeface="Microsoft Sans Serif"/>
                <a:cs typeface="Microsoft Sans Serif"/>
              </a:rPr>
              <a:t> </a:t>
            </a:r>
            <a:r>
              <a:rPr sz="1050" spc="-10" dirty="0">
                <a:solidFill>
                  <a:srgbClr val="3A4556"/>
                </a:solidFill>
                <a:latin typeface="Microsoft Sans Serif"/>
                <a:cs typeface="Microsoft Sans Serif"/>
              </a:rPr>
              <a:t>améliorant</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l</a:t>
            </a:r>
            <a:r>
              <a:rPr sz="1000" dirty="0">
                <a:solidFill>
                  <a:srgbClr val="3A4556"/>
                </a:solidFill>
                <a:latin typeface="Microsoft Sans Serif"/>
                <a:cs typeface="Microsoft Sans Serif"/>
              </a:rPr>
              <a:t>'</a:t>
            </a:r>
            <a:r>
              <a:rPr sz="1050" dirty="0">
                <a:solidFill>
                  <a:srgbClr val="3A4556"/>
                </a:solidFill>
                <a:latin typeface="Microsoft Sans Serif"/>
                <a:cs typeface="Microsoft Sans Serif"/>
              </a:rPr>
              <a:t>expérience</a:t>
            </a:r>
            <a:r>
              <a:rPr sz="1050" spc="-20" dirty="0">
                <a:solidFill>
                  <a:srgbClr val="3A4556"/>
                </a:solidFill>
                <a:latin typeface="Microsoft Sans Serif"/>
                <a:cs typeface="Microsoft Sans Serif"/>
              </a:rPr>
              <a:t> </a:t>
            </a:r>
            <a:r>
              <a:rPr sz="1050" dirty="0">
                <a:solidFill>
                  <a:srgbClr val="3A4556"/>
                </a:solidFill>
                <a:latin typeface="Microsoft Sans Serif"/>
                <a:cs typeface="Microsoft Sans Serif"/>
              </a:rPr>
              <a:t>sur</a:t>
            </a:r>
            <a:r>
              <a:rPr sz="1050" spc="-25" dirty="0">
                <a:solidFill>
                  <a:srgbClr val="3A4556"/>
                </a:solidFill>
                <a:latin typeface="Microsoft Sans Serif"/>
                <a:cs typeface="Microsoft Sans Serif"/>
              </a:rPr>
              <a:t> </a:t>
            </a:r>
            <a:r>
              <a:rPr sz="1050" dirty="0">
                <a:solidFill>
                  <a:srgbClr val="3A4556"/>
                </a:solidFill>
                <a:latin typeface="Microsoft Sans Serif"/>
                <a:cs typeface="Microsoft Sans Serif"/>
              </a:rPr>
              <a:t>les</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longues</a:t>
            </a:r>
            <a:r>
              <a:rPr sz="1050" spc="-15" dirty="0">
                <a:solidFill>
                  <a:srgbClr val="3A4556"/>
                </a:solidFill>
                <a:latin typeface="Microsoft Sans Serif"/>
                <a:cs typeface="Microsoft Sans Serif"/>
              </a:rPr>
              <a:t> </a:t>
            </a:r>
            <a:r>
              <a:rPr sz="1050" spc="-10" dirty="0">
                <a:solidFill>
                  <a:srgbClr val="3A4556"/>
                </a:solidFill>
                <a:latin typeface="Microsoft Sans Serif"/>
                <a:cs typeface="Microsoft Sans Serif"/>
              </a:rPr>
              <a:t>pages</a:t>
            </a:r>
            <a:endParaRPr sz="1050">
              <a:latin typeface="Microsoft Sans Serif"/>
              <a:cs typeface="Microsoft Sans Serif"/>
            </a:endParaRPr>
          </a:p>
        </p:txBody>
      </p:sp>
      <p:sp>
        <p:nvSpPr>
          <p:cNvPr id="45" name="object 45"/>
          <p:cNvSpPr txBox="1"/>
          <p:nvPr/>
        </p:nvSpPr>
        <p:spPr>
          <a:xfrm>
            <a:off x="6616699" y="2328297"/>
            <a:ext cx="4098925" cy="188595"/>
          </a:xfrm>
          <a:prstGeom prst="rect">
            <a:avLst/>
          </a:prstGeom>
        </p:spPr>
        <p:txBody>
          <a:bodyPr vert="horz" wrap="square" lIns="0" tIns="14604" rIns="0" bIns="0" rtlCol="0">
            <a:spAutoFit/>
          </a:bodyPr>
          <a:lstStyle/>
          <a:p>
            <a:pPr marL="12700">
              <a:lnSpc>
                <a:spcPct val="100000"/>
              </a:lnSpc>
              <a:spcBef>
                <a:spcPts val="114"/>
              </a:spcBef>
            </a:pPr>
            <a:r>
              <a:rPr sz="1050" spc="-10" dirty="0">
                <a:solidFill>
                  <a:srgbClr val="3A4556"/>
                </a:solidFill>
                <a:latin typeface="Microsoft Sans Serif"/>
                <a:cs typeface="Microsoft Sans Serif"/>
              </a:rPr>
              <a:t>Couleur </a:t>
            </a:r>
            <a:r>
              <a:rPr sz="1050" dirty="0">
                <a:solidFill>
                  <a:srgbClr val="3A4556"/>
                </a:solidFill>
                <a:latin typeface="Microsoft Sans Serif"/>
                <a:cs typeface="Microsoft Sans Serif"/>
              </a:rPr>
              <a:t>d</a:t>
            </a:r>
            <a:r>
              <a:rPr sz="1000" dirty="0">
                <a:solidFill>
                  <a:srgbClr val="3A4556"/>
                </a:solidFill>
                <a:latin typeface="Microsoft Sans Serif"/>
                <a:cs typeface="Microsoft Sans Serif"/>
              </a:rPr>
              <a:t>'</a:t>
            </a:r>
            <a:r>
              <a:rPr sz="1000" spc="-175" dirty="0">
                <a:solidFill>
                  <a:srgbClr val="3A4556"/>
                </a:solidFill>
                <a:latin typeface="Microsoft Sans Serif"/>
                <a:cs typeface="Microsoft Sans Serif"/>
              </a:rPr>
              <a:t> </a:t>
            </a:r>
            <a:r>
              <a:rPr sz="1050" dirty="0">
                <a:solidFill>
                  <a:srgbClr val="3A4556"/>
                </a:solidFill>
                <a:latin typeface="Microsoft Sans Serif"/>
                <a:cs typeface="Microsoft Sans Serif"/>
              </a:rPr>
              <a:t>accent</a:t>
            </a:r>
            <a:r>
              <a:rPr sz="1050" spc="-15" dirty="0">
                <a:solidFill>
                  <a:srgbClr val="3A4556"/>
                </a:solidFill>
                <a:latin typeface="Microsoft Sans Serif"/>
                <a:cs typeface="Microsoft Sans Serif"/>
              </a:rPr>
              <a:t> </a:t>
            </a:r>
            <a:r>
              <a:rPr sz="1050" b="1" spc="-30" dirty="0">
                <a:solidFill>
                  <a:srgbClr val="3A4556"/>
                </a:solidFill>
                <a:latin typeface="Arial"/>
                <a:cs typeface="Arial"/>
              </a:rPr>
              <a:t>orange</a:t>
            </a:r>
            <a:r>
              <a:rPr sz="1050" b="1" spc="-70" dirty="0">
                <a:solidFill>
                  <a:srgbClr val="3A4556"/>
                </a:solidFill>
                <a:latin typeface="Arial"/>
                <a:cs typeface="Arial"/>
              </a:rPr>
              <a:t> </a:t>
            </a:r>
            <a:r>
              <a:rPr sz="1050" b="1" spc="-20" dirty="0">
                <a:solidFill>
                  <a:srgbClr val="3A4556"/>
                </a:solidFill>
                <a:latin typeface="Arial"/>
                <a:cs typeface="Arial"/>
              </a:rPr>
              <a:t>stratégique</a:t>
            </a:r>
            <a:r>
              <a:rPr sz="1050" b="1" spc="-35" dirty="0">
                <a:solidFill>
                  <a:srgbClr val="3A4556"/>
                </a:solidFill>
                <a:latin typeface="Arial"/>
                <a:cs typeface="Arial"/>
              </a:rPr>
              <a:t> </a:t>
            </a:r>
            <a:r>
              <a:rPr sz="1050" dirty="0">
                <a:solidFill>
                  <a:srgbClr val="3A4556"/>
                </a:solidFill>
                <a:latin typeface="Microsoft Sans Serif"/>
                <a:cs typeface="Microsoft Sans Serif"/>
              </a:rPr>
              <a:t>pour</a:t>
            </a:r>
            <a:r>
              <a:rPr sz="1050" spc="-5" dirty="0">
                <a:solidFill>
                  <a:srgbClr val="3A4556"/>
                </a:solidFill>
                <a:latin typeface="Microsoft Sans Serif"/>
                <a:cs typeface="Microsoft Sans Serif"/>
              </a:rPr>
              <a:t> </a:t>
            </a:r>
            <a:r>
              <a:rPr sz="1050" spc="-40" dirty="0">
                <a:solidFill>
                  <a:srgbClr val="3A4556"/>
                </a:solidFill>
                <a:latin typeface="Microsoft Sans Serif"/>
                <a:cs typeface="Microsoft Sans Serif"/>
              </a:rPr>
              <a:t>CTA</a:t>
            </a:r>
            <a:r>
              <a:rPr sz="1000" spc="-40" dirty="0">
                <a:solidFill>
                  <a:srgbClr val="3A4556"/>
                </a:solidFill>
                <a:latin typeface="Microsoft Sans Serif"/>
                <a:cs typeface="Microsoft Sans Serif"/>
              </a:rPr>
              <a:t>,</a:t>
            </a:r>
            <a:r>
              <a:rPr sz="1000" spc="70" dirty="0">
                <a:solidFill>
                  <a:srgbClr val="3A4556"/>
                </a:solidFill>
                <a:latin typeface="Microsoft Sans Serif"/>
                <a:cs typeface="Microsoft Sans Serif"/>
              </a:rPr>
              <a:t> </a:t>
            </a:r>
            <a:r>
              <a:rPr sz="1050" dirty="0">
                <a:solidFill>
                  <a:srgbClr val="3A4556"/>
                </a:solidFill>
                <a:latin typeface="Microsoft Sans Serif"/>
                <a:cs typeface="Microsoft Sans Serif"/>
              </a:rPr>
              <a:t>icônes</a:t>
            </a:r>
            <a:r>
              <a:rPr sz="1050" spc="5" dirty="0">
                <a:solidFill>
                  <a:srgbClr val="3A4556"/>
                </a:solidFill>
                <a:latin typeface="Microsoft Sans Serif"/>
                <a:cs typeface="Microsoft Sans Serif"/>
              </a:rPr>
              <a:t> </a:t>
            </a:r>
            <a:r>
              <a:rPr sz="1050" dirty="0">
                <a:solidFill>
                  <a:srgbClr val="3A4556"/>
                </a:solidFill>
                <a:latin typeface="Microsoft Sans Serif"/>
                <a:cs typeface="Microsoft Sans Serif"/>
              </a:rPr>
              <a:t>et</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points </a:t>
            </a:r>
            <a:r>
              <a:rPr sz="1050" spc="-10" dirty="0">
                <a:solidFill>
                  <a:srgbClr val="3A4556"/>
                </a:solidFill>
                <a:latin typeface="Microsoft Sans Serif"/>
                <a:cs typeface="Microsoft Sans Serif"/>
              </a:rPr>
              <a:t>forts</a:t>
            </a:r>
            <a:endParaRPr sz="1050">
              <a:latin typeface="Microsoft Sans Serif"/>
              <a:cs typeface="Microsoft Sans Serif"/>
            </a:endParaRPr>
          </a:p>
        </p:txBody>
      </p:sp>
      <p:sp>
        <p:nvSpPr>
          <p:cNvPr id="46" name="object 46"/>
          <p:cNvSpPr txBox="1"/>
          <p:nvPr/>
        </p:nvSpPr>
        <p:spPr>
          <a:xfrm>
            <a:off x="6616699" y="2614047"/>
            <a:ext cx="3935729" cy="188595"/>
          </a:xfrm>
          <a:prstGeom prst="rect">
            <a:avLst/>
          </a:prstGeom>
        </p:spPr>
        <p:txBody>
          <a:bodyPr vert="horz" wrap="square" lIns="0" tIns="14604" rIns="0" bIns="0" rtlCol="0">
            <a:spAutoFit/>
          </a:bodyPr>
          <a:lstStyle/>
          <a:p>
            <a:pPr marL="12700">
              <a:lnSpc>
                <a:spcPct val="100000"/>
              </a:lnSpc>
              <a:spcBef>
                <a:spcPts val="114"/>
              </a:spcBef>
            </a:pPr>
            <a:r>
              <a:rPr sz="1050" dirty="0">
                <a:solidFill>
                  <a:srgbClr val="3A4556"/>
                </a:solidFill>
                <a:latin typeface="Microsoft Sans Serif"/>
                <a:cs typeface="Microsoft Sans Serif"/>
              </a:rPr>
              <a:t>Mode</a:t>
            </a:r>
            <a:r>
              <a:rPr sz="1050" spc="-20" dirty="0">
                <a:solidFill>
                  <a:srgbClr val="3A4556"/>
                </a:solidFill>
                <a:latin typeface="Microsoft Sans Serif"/>
                <a:cs typeface="Microsoft Sans Serif"/>
              </a:rPr>
              <a:t> </a:t>
            </a:r>
            <a:r>
              <a:rPr sz="1050" b="1" spc="-20" dirty="0">
                <a:solidFill>
                  <a:srgbClr val="3A4556"/>
                </a:solidFill>
                <a:latin typeface="Arial"/>
                <a:cs typeface="Arial"/>
              </a:rPr>
              <a:t>sombre</a:t>
            </a:r>
            <a:r>
              <a:rPr sz="1000" b="1" spc="-20" dirty="0">
                <a:solidFill>
                  <a:srgbClr val="3A4556"/>
                </a:solidFill>
                <a:latin typeface="Arial"/>
                <a:cs typeface="Arial"/>
              </a:rPr>
              <a:t>/</a:t>
            </a:r>
            <a:r>
              <a:rPr sz="1050" b="1" spc="-20" dirty="0">
                <a:solidFill>
                  <a:srgbClr val="3A4556"/>
                </a:solidFill>
                <a:latin typeface="Arial"/>
                <a:cs typeface="Arial"/>
              </a:rPr>
              <a:t>clair</a:t>
            </a:r>
            <a:r>
              <a:rPr sz="1050" b="1" spc="-45" dirty="0">
                <a:solidFill>
                  <a:srgbClr val="3A4556"/>
                </a:solidFill>
                <a:latin typeface="Arial"/>
                <a:cs typeface="Arial"/>
              </a:rPr>
              <a:t> </a:t>
            </a:r>
            <a:r>
              <a:rPr sz="1050" dirty="0">
                <a:solidFill>
                  <a:srgbClr val="3A4556"/>
                </a:solidFill>
                <a:latin typeface="Microsoft Sans Serif"/>
                <a:cs typeface="Microsoft Sans Serif"/>
              </a:rPr>
              <a:t>via</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toggle</a:t>
            </a:r>
            <a:r>
              <a:rPr sz="1050" spc="-10" dirty="0">
                <a:solidFill>
                  <a:srgbClr val="3A4556"/>
                </a:solidFill>
                <a:latin typeface="Microsoft Sans Serif"/>
                <a:cs typeface="Microsoft Sans Serif"/>
              </a:rPr>
              <a:t> </a:t>
            </a:r>
            <a:r>
              <a:rPr sz="1000" spc="475" dirty="0">
                <a:solidFill>
                  <a:srgbClr val="3A4556"/>
                </a:solidFill>
                <a:latin typeface="Microsoft Sans Serif"/>
                <a:cs typeface="Microsoft Sans Serif"/>
              </a:rPr>
              <a:t>—</a:t>
            </a:r>
            <a:r>
              <a:rPr sz="1000" spc="-90" dirty="0">
                <a:solidFill>
                  <a:srgbClr val="3A4556"/>
                </a:solidFill>
                <a:latin typeface="Microsoft Sans Serif"/>
                <a:cs typeface="Microsoft Sans Serif"/>
              </a:rPr>
              <a:t> </a:t>
            </a:r>
            <a:r>
              <a:rPr sz="1050" dirty="0">
                <a:solidFill>
                  <a:srgbClr val="3A4556"/>
                </a:solidFill>
                <a:latin typeface="Microsoft Sans Serif"/>
                <a:cs typeface="Microsoft Sans Serif"/>
              </a:rPr>
              <a:t>attention</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à</a:t>
            </a:r>
            <a:r>
              <a:rPr sz="1050" spc="15" dirty="0">
                <a:solidFill>
                  <a:srgbClr val="3A4556"/>
                </a:solidFill>
                <a:latin typeface="Microsoft Sans Serif"/>
                <a:cs typeface="Microsoft Sans Serif"/>
              </a:rPr>
              <a:t> </a:t>
            </a:r>
            <a:r>
              <a:rPr sz="1050" dirty="0">
                <a:solidFill>
                  <a:srgbClr val="3A4556"/>
                </a:solidFill>
                <a:latin typeface="Microsoft Sans Serif"/>
                <a:cs typeface="Microsoft Sans Serif"/>
              </a:rPr>
              <a:t>l</a:t>
            </a:r>
            <a:r>
              <a:rPr sz="1000" dirty="0">
                <a:solidFill>
                  <a:srgbClr val="3A4556"/>
                </a:solidFill>
                <a:latin typeface="Microsoft Sans Serif"/>
                <a:cs typeface="Microsoft Sans Serif"/>
              </a:rPr>
              <a:t>'</a:t>
            </a:r>
            <a:r>
              <a:rPr sz="1050" dirty="0">
                <a:solidFill>
                  <a:srgbClr val="3A4556"/>
                </a:solidFill>
                <a:latin typeface="Microsoft Sans Serif"/>
                <a:cs typeface="Microsoft Sans Serif"/>
              </a:rPr>
              <a:t>expérience</a:t>
            </a:r>
            <a:r>
              <a:rPr sz="1050" spc="-15" dirty="0">
                <a:solidFill>
                  <a:srgbClr val="3A4556"/>
                </a:solidFill>
                <a:latin typeface="Microsoft Sans Serif"/>
                <a:cs typeface="Microsoft Sans Serif"/>
              </a:rPr>
              <a:t> </a:t>
            </a:r>
            <a:r>
              <a:rPr sz="1050" spc="-10" dirty="0">
                <a:solidFill>
                  <a:srgbClr val="3A4556"/>
                </a:solidFill>
                <a:latin typeface="Microsoft Sans Serif"/>
                <a:cs typeface="Microsoft Sans Serif"/>
              </a:rPr>
              <a:t>utilisateur</a:t>
            </a:r>
            <a:endParaRPr sz="1050">
              <a:latin typeface="Microsoft Sans Serif"/>
              <a:cs typeface="Microsoft Sans Serif"/>
            </a:endParaRPr>
          </a:p>
        </p:txBody>
      </p:sp>
      <p:sp>
        <p:nvSpPr>
          <p:cNvPr id="47" name="object 47"/>
          <p:cNvSpPr txBox="1"/>
          <p:nvPr/>
        </p:nvSpPr>
        <p:spPr>
          <a:xfrm>
            <a:off x="6616699" y="2899797"/>
            <a:ext cx="4724400" cy="188595"/>
          </a:xfrm>
          <a:prstGeom prst="rect">
            <a:avLst/>
          </a:prstGeom>
        </p:spPr>
        <p:txBody>
          <a:bodyPr vert="horz" wrap="square" lIns="0" tIns="14604" rIns="0" bIns="0" rtlCol="0">
            <a:spAutoFit/>
          </a:bodyPr>
          <a:lstStyle/>
          <a:p>
            <a:pPr marL="12700">
              <a:lnSpc>
                <a:spcPct val="100000"/>
              </a:lnSpc>
              <a:spcBef>
                <a:spcPts val="114"/>
              </a:spcBef>
            </a:pPr>
            <a:r>
              <a:rPr sz="1050" b="1" spc="-35" dirty="0">
                <a:solidFill>
                  <a:srgbClr val="3A4556"/>
                </a:solidFill>
                <a:latin typeface="Arial"/>
                <a:cs typeface="Arial"/>
              </a:rPr>
              <a:t>Animations</a:t>
            </a:r>
            <a:r>
              <a:rPr sz="1050" b="1" spc="-75" dirty="0">
                <a:solidFill>
                  <a:srgbClr val="3A4556"/>
                </a:solidFill>
                <a:latin typeface="Arial"/>
                <a:cs typeface="Arial"/>
              </a:rPr>
              <a:t> </a:t>
            </a:r>
            <a:r>
              <a:rPr sz="1050" b="1" dirty="0">
                <a:solidFill>
                  <a:srgbClr val="3A4556"/>
                </a:solidFill>
                <a:latin typeface="Arial"/>
                <a:cs typeface="Arial"/>
              </a:rPr>
              <a:t>fade</a:t>
            </a:r>
            <a:r>
              <a:rPr sz="1000" b="1" dirty="0">
                <a:solidFill>
                  <a:srgbClr val="3A4556"/>
                </a:solidFill>
                <a:latin typeface="Arial"/>
                <a:cs typeface="Arial"/>
              </a:rPr>
              <a:t>-</a:t>
            </a:r>
            <a:r>
              <a:rPr sz="1050" b="1" spc="-10" dirty="0">
                <a:solidFill>
                  <a:srgbClr val="3A4556"/>
                </a:solidFill>
                <a:latin typeface="Arial"/>
                <a:cs typeface="Arial"/>
              </a:rPr>
              <a:t>in</a:t>
            </a:r>
            <a:r>
              <a:rPr sz="1050" b="1" spc="-40" dirty="0">
                <a:solidFill>
                  <a:srgbClr val="3A4556"/>
                </a:solidFill>
                <a:latin typeface="Arial"/>
                <a:cs typeface="Arial"/>
              </a:rPr>
              <a:t> </a:t>
            </a:r>
            <a:r>
              <a:rPr sz="1050" dirty="0">
                <a:solidFill>
                  <a:srgbClr val="3A4556"/>
                </a:solidFill>
                <a:latin typeface="Microsoft Sans Serif"/>
                <a:cs typeface="Microsoft Sans Serif"/>
              </a:rPr>
              <a:t>au</a:t>
            </a:r>
            <a:r>
              <a:rPr sz="1050" spc="10" dirty="0">
                <a:solidFill>
                  <a:srgbClr val="3A4556"/>
                </a:solidFill>
                <a:latin typeface="Microsoft Sans Serif"/>
                <a:cs typeface="Microsoft Sans Serif"/>
              </a:rPr>
              <a:t> </a:t>
            </a:r>
            <a:r>
              <a:rPr sz="1050" dirty="0">
                <a:solidFill>
                  <a:srgbClr val="3A4556"/>
                </a:solidFill>
                <a:latin typeface="Microsoft Sans Serif"/>
                <a:cs typeface="Microsoft Sans Serif"/>
              </a:rPr>
              <a:t>scroll</a:t>
            </a:r>
            <a:r>
              <a:rPr sz="1050" spc="35" dirty="0">
                <a:solidFill>
                  <a:srgbClr val="3A4556"/>
                </a:solidFill>
                <a:latin typeface="Microsoft Sans Serif"/>
                <a:cs typeface="Microsoft Sans Serif"/>
              </a:rPr>
              <a:t> </a:t>
            </a:r>
            <a:r>
              <a:rPr sz="1050" dirty="0">
                <a:solidFill>
                  <a:srgbClr val="3A4556"/>
                </a:solidFill>
                <a:latin typeface="Microsoft Sans Serif"/>
                <a:cs typeface="Microsoft Sans Serif"/>
              </a:rPr>
              <a:t>donnant</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une</a:t>
            </a:r>
            <a:r>
              <a:rPr sz="1050" spc="-20" dirty="0">
                <a:solidFill>
                  <a:srgbClr val="3A4556"/>
                </a:solidFill>
                <a:latin typeface="Microsoft Sans Serif"/>
                <a:cs typeface="Microsoft Sans Serif"/>
              </a:rPr>
              <a:t> </a:t>
            </a:r>
            <a:r>
              <a:rPr sz="1050" spc="-10" dirty="0">
                <a:solidFill>
                  <a:srgbClr val="3A4556"/>
                </a:solidFill>
                <a:latin typeface="Microsoft Sans Serif"/>
                <a:cs typeface="Microsoft Sans Serif"/>
              </a:rPr>
              <a:t>sensation</a:t>
            </a:r>
            <a:r>
              <a:rPr sz="1050" spc="5" dirty="0">
                <a:solidFill>
                  <a:srgbClr val="3A4556"/>
                </a:solidFill>
                <a:latin typeface="Microsoft Sans Serif"/>
                <a:cs typeface="Microsoft Sans Serif"/>
              </a:rPr>
              <a:t> </a:t>
            </a:r>
            <a:r>
              <a:rPr sz="1050" dirty="0">
                <a:solidFill>
                  <a:srgbClr val="3A4556"/>
                </a:solidFill>
                <a:latin typeface="Microsoft Sans Serif"/>
                <a:cs typeface="Microsoft Sans Serif"/>
              </a:rPr>
              <a:t>de</a:t>
            </a:r>
            <a:r>
              <a:rPr sz="1050" spc="-20" dirty="0">
                <a:solidFill>
                  <a:srgbClr val="3A4556"/>
                </a:solidFill>
                <a:latin typeface="Microsoft Sans Serif"/>
                <a:cs typeface="Microsoft Sans Serif"/>
              </a:rPr>
              <a:t> </a:t>
            </a:r>
            <a:r>
              <a:rPr sz="1050" dirty="0">
                <a:solidFill>
                  <a:srgbClr val="3A4556"/>
                </a:solidFill>
                <a:latin typeface="Microsoft Sans Serif"/>
                <a:cs typeface="Microsoft Sans Serif"/>
              </a:rPr>
              <a:t>vivacité</a:t>
            </a:r>
            <a:r>
              <a:rPr sz="1050" spc="-25" dirty="0">
                <a:solidFill>
                  <a:srgbClr val="3A4556"/>
                </a:solidFill>
                <a:latin typeface="Microsoft Sans Serif"/>
                <a:cs typeface="Microsoft Sans Serif"/>
              </a:rPr>
              <a:t> </a:t>
            </a:r>
            <a:r>
              <a:rPr sz="1050" spc="-10" dirty="0">
                <a:solidFill>
                  <a:srgbClr val="3A4556"/>
                </a:solidFill>
                <a:latin typeface="Microsoft Sans Serif"/>
                <a:cs typeface="Microsoft Sans Serif"/>
              </a:rPr>
              <a:t>sans</a:t>
            </a:r>
            <a:r>
              <a:rPr sz="1050" spc="-15" dirty="0">
                <a:solidFill>
                  <a:srgbClr val="3A4556"/>
                </a:solidFill>
                <a:latin typeface="Microsoft Sans Serif"/>
                <a:cs typeface="Microsoft Sans Serif"/>
              </a:rPr>
              <a:t> </a:t>
            </a:r>
            <a:r>
              <a:rPr sz="1050" spc="-10" dirty="0">
                <a:solidFill>
                  <a:srgbClr val="3A4556"/>
                </a:solidFill>
                <a:latin typeface="Microsoft Sans Serif"/>
                <a:cs typeface="Microsoft Sans Serif"/>
              </a:rPr>
              <a:t>surcharger</a:t>
            </a:r>
            <a:endParaRPr sz="1050">
              <a:latin typeface="Microsoft Sans Serif"/>
              <a:cs typeface="Microsoft Sans Serif"/>
            </a:endParaRPr>
          </a:p>
        </p:txBody>
      </p:sp>
      <p:sp>
        <p:nvSpPr>
          <p:cNvPr id="48" name="object 48"/>
          <p:cNvSpPr txBox="1"/>
          <p:nvPr/>
        </p:nvSpPr>
        <p:spPr>
          <a:xfrm>
            <a:off x="6616699" y="3157650"/>
            <a:ext cx="4269105" cy="406400"/>
          </a:xfrm>
          <a:prstGeom prst="rect">
            <a:avLst/>
          </a:prstGeom>
        </p:spPr>
        <p:txBody>
          <a:bodyPr vert="horz" wrap="square" lIns="0" tIns="12065" rIns="0" bIns="0" rtlCol="0">
            <a:spAutoFit/>
          </a:bodyPr>
          <a:lstStyle/>
          <a:p>
            <a:pPr marL="12700" marR="5080">
              <a:lnSpc>
                <a:spcPct val="119000"/>
              </a:lnSpc>
              <a:spcBef>
                <a:spcPts val="95"/>
              </a:spcBef>
            </a:pPr>
            <a:r>
              <a:rPr sz="1050" spc="-10" dirty="0">
                <a:solidFill>
                  <a:srgbClr val="3A4556"/>
                </a:solidFill>
                <a:latin typeface="Microsoft Sans Serif"/>
                <a:cs typeface="Microsoft Sans Serif"/>
              </a:rPr>
              <a:t>Cartes</a:t>
            </a:r>
            <a:r>
              <a:rPr sz="1050" spc="-35" dirty="0">
                <a:solidFill>
                  <a:srgbClr val="3A4556"/>
                </a:solidFill>
                <a:latin typeface="Microsoft Sans Serif"/>
                <a:cs typeface="Microsoft Sans Serif"/>
              </a:rPr>
              <a:t> </a:t>
            </a:r>
            <a:r>
              <a:rPr sz="1050" dirty="0">
                <a:solidFill>
                  <a:srgbClr val="3A4556"/>
                </a:solidFill>
                <a:latin typeface="Microsoft Sans Serif"/>
                <a:cs typeface="Microsoft Sans Serif"/>
              </a:rPr>
              <a:t>avec</a:t>
            </a:r>
            <a:r>
              <a:rPr sz="1050" spc="-35" dirty="0">
                <a:solidFill>
                  <a:srgbClr val="3A4556"/>
                </a:solidFill>
                <a:latin typeface="Microsoft Sans Serif"/>
                <a:cs typeface="Microsoft Sans Serif"/>
              </a:rPr>
              <a:t> </a:t>
            </a:r>
            <a:r>
              <a:rPr sz="1050" dirty="0">
                <a:solidFill>
                  <a:srgbClr val="3A4556"/>
                </a:solidFill>
                <a:latin typeface="Microsoft Sans Serif"/>
                <a:cs typeface="Microsoft Sans Serif"/>
              </a:rPr>
              <a:t>bordures</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arrondies</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et</a:t>
            </a:r>
            <a:r>
              <a:rPr sz="1050" spc="-45" dirty="0">
                <a:solidFill>
                  <a:srgbClr val="3A4556"/>
                </a:solidFill>
                <a:latin typeface="Microsoft Sans Serif"/>
                <a:cs typeface="Microsoft Sans Serif"/>
              </a:rPr>
              <a:t> </a:t>
            </a:r>
            <a:r>
              <a:rPr sz="1050" dirty="0">
                <a:solidFill>
                  <a:srgbClr val="3A4556"/>
                </a:solidFill>
                <a:latin typeface="Microsoft Sans Serif"/>
                <a:cs typeface="Microsoft Sans Serif"/>
              </a:rPr>
              <a:t>ombres</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légères</a:t>
            </a:r>
            <a:r>
              <a:rPr sz="1050" spc="-30" dirty="0">
                <a:solidFill>
                  <a:srgbClr val="3A4556"/>
                </a:solidFill>
                <a:latin typeface="Microsoft Sans Serif"/>
                <a:cs typeface="Microsoft Sans Serif"/>
              </a:rPr>
              <a:t> </a:t>
            </a:r>
            <a:r>
              <a:rPr sz="1050" dirty="0">
                <a:solidFill>
                  <a:srgbClr val="3A4556"/>
                </a:solidFill>
                <a:latin typeface="Microsoft Sans Serif"/>
                <a:cs typeface="Microsoft Sans Serif"/>
              </a:rPr>
              <a:t>créant</a:t>
            </a:r>
            <a:r>
              <a:rPr sz="1050" spc="-45" dirty="0">
                <a:solidFill>
                  <a:srgbClr val="3A4556"/>
                </a:solidFill>
                <a:latin typeface="Microsoft Sans Serif"/>
                <a:cs typeface="Microsoft Sans Serif"/>
              </a:rPr>
              <a:t> </a:t>
            </a:r>
            <a:r>
              <a:rPr sz="1050" dirty="0">
                <a:solidFill>
                  <a:srgbClr val="3A4556"/>
                </a:solidFill>
                <a:latin typeface="Microsoft Sans Serif"/>
                <a:cs typeface="Microsoft Sans Serif"/>
              </a:rPr>
              <a:t>une</a:t>
            </a:r>
            <a:r>
              <a:rPr sz="1050" spc="-35" dirty="0">
                <a:solidFill>
                  <a:srgbClr val="3A4556"/>
                </a:solidFill>
                <a:latin typeface="Microsoft Sans Serif"/>
                <a:cs typeface="Microsoft Sans Serif"/>
              </a:rPr>
              <a:t> </a:t>
            </a:r>
            <a:r>
              <a:rPr sz="1050" b="1" spc="-25" dirty="0">
                <a:solidFill>
                  <a:srgbClr val="3A4556"/>
                </a:solidFill>
                <a:latin typeface="Arial"/>
                <a:cs typeface="Arial"/>
              </a:rPr>
              <a:t>hiérarchie </a:t>
            </a:r>
            <a:r>
              <a:rPr sz="1050" b="1" spc="-20" dirty="0">
                <a:solidFill>
                  <a:srgbClr val="3A4556"/>
                </a:solidFill>
                <a:latin typeface="Arial"/>
                <a:cs typeface="Arial"/>
              </a:rPr>
              <a:t>visuelle</a:t>
            </a:r>
            <a:r>
              <a:rPr sz="1050" b="1" spc="-30" dirty="0">
                <a:solidFill>
                  <a:srgbClr val="3A4556"/>
                </a:solidFill>
                <a:latin typeface="Arial"/>
                <a:cs typeface="Arial"/>
              </a:rPr>
              <a:t> </a:t>
            </a:r>
            <a:r>
              <a:rPr sz="1050" spc="-10" dirty="0">
                <a:solidFill>
                  <a:srgbClr val="3A4556"/>
                </a:solidFill>
                <a:latin typeface="Microsoft Sans Serif"/>
                <a:cs typeface="Microsoft Sans Serif"/>
              </a:rPr>
              <a:t>claire</a:t>
            </a:r>
            <a:endParaRPr sz="1050">
              <a:latin typeface="Microsoft Sans Serif"/>
              <a:cs typeface="Microsoft Sans Serif"/>
            </a:endParaRPr>
          </a:p>
        </p:txBody>
      </p:sp>
      <p:sp>
        <p:nvSpPr>
          <p:cNvPr id="49" name="object 49"/>
          <p:cNvSpPr txBox="1"/>
          <p:nvPr/>
        </p:nvSpPr>
        <p:spPr>
          <a:xfrm>
            <a:off x="11264304" y="6467429"/>
            <a:ext cx="324485" cy="159385"/>
          </a:xfrm>
          <a:prstGeom prst="rect">
            <a:avLst/>
          </a:prstGeom>
        </p:spPr>
        <p:txBody>
          <a:bodyPr vert="horz" wrap="square" lIns="0" tIns="15875" rIns="0" bIns="0" rtlCol="0">
            <a:spAutoFit/>
          </a:bodyPr>
          <a:lstStyle/>
          <a:p>
            <a:pPr marL="12700">
              <a:lnSpc>
                <a:spcPct val="100000"/>
              </a:lnSpc>
              <a:spcBef>
                <a:spcPts val="125"/>
              </a:spcBef>
            </a:pPr>
            <a:r>
              <a:rPr sz="850" dirty="0">
                <a:solidFill>
                  <a:srgbClr val="6A798F"/>
                </a:solidFill>
                <a:latin typeface="Microsoft Sans Serif"/>
                <a:cs typeface="Microsoft Sans Serif"/>
              </a:rPr>
              <a:t>07</a:t>
            </a:r>
            <a:r>
              <a:rPr sz="850" spc="10" dirty="0">
                <a:solidFill>
                  <a:srgbClr val="6A798F"/>
                </a:solidFill>
                <a:latin typeface="Microsoft Sans Serif"/>
                <a:cs typeface="Microsoft Sans Serif"/>
              </a:rPr>
              <a:t> </a:t>
            </a:r>
            <a:r>
              <a:rPr sz="850" spc="60" dirty="0">
                <a:solidFill>
                  <a:srgbClr val="6A798F"/>
                </a:solidFill>
                <a:latin typeface="Microsoft Sans Serif"/>
                <a:cs typeface="Microsoft Sans Serif"/>
              </a:rPr>
              <a:t>/</a:t>
            </a:r>
            <a:r>
              <a:rPr sz="850" dirty="0">
                <a:solidFill>
                  <a:srgbClr val="6A798F"/>
                </a:solidFill>
                <a:latin typeface="Microsoft Sans Serif"/>
                <a:cs typeface="Microsoft Sans Serif"/>
              </a:rPr>
              <a:t> </a:t>
            </a:r>
            <a:r>
              <a:rPr sz="850" spc="-135" dirty="0">
                <a:solidFill>
                  <a:srgbClr val="6A798F"/>
                </a:solidFill>
                <a:latin typeface="Microsoft Sans Serif"/>
                <a:cs typeface="Microsoft Sans Serif"/>
              </a:rPr>
              <a:t>11</a:t>
            </a:r>
            <a:endParaRPr sz="850">
              <a:latin typeface="Microsoft Sans Serif"/>
              <a:cs typeface="Microsoft Sans Serif"/>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523830"/>
            <a:ext cx="4362451" cy="508473"/>
          </a:xfrm>
          <a:prstGeom prst="rect">
            <a:avLst/>
          </a:prstGeom>
        </p:spPr>
        <p:txBody>
          <a:bodyPr vert="horz" wrap="square" lIns="0" tIns="15875" rIns="0" bIns="0" rtlCol="0">
            <a:spAutoFit/>
          </a:bodyPr>
          <a:lstStyle/>
          <a:p>
            <a:pPr marL="12700">
              <a:lnSpc>
                <a:spcPct val="100000"/>
              </a:lnSpc>
              <a:spcBef>
                <a:spcPts val="125"/>
              </a:spcBef>
            </a:pPr>
            <a:r>
              <a:rPr sz="3200" b="1" dirty="0">
                <a:solidFill>
                  <a:srgbClr val="E7863A"/>
                </a:solidFill>
                <a:latin typeface="Times New Roman" panose="02020603050405020304" pitchFamily="18" charset="0"/>
                <a:cs typeface="Times New Roman" panose="02020603050405020304" pitchFamily="18" charset="0"/>
              </a:rPr>
              <a:t>T</a:t>
            </a:r>
            <a:r>
              <a:rPr sz="3200" b="1" spc="-95" dirty="0">
                <a:solidFill>
                  <a:srgbClr val="E7863A"/>
                </a:solidFill>
                <a:latin typeface="Times New Roman" panose="02020603050405020304" pitchFamily="18" charset="0"/>
                <a:cs typeface="Times New Roman" panose="02020603050405020304" pitchFamily="18" charset="0"/>
              </a:rPr>
              <a:t> </a:t>
            </a:r>
            <a:r>
              <a:rPr sz="3200" b="1" spc="-80" dirty="0">
                <a:solidFill>
                  <a:srgbClr val="E7863A"/>
                </a:solidFill>
                <a:latin typeface="Times New Roman" panose="02020603050405020304" pitchFamily="18" charset="0"/>
                <a:cs typeface="Times New Roman" panose="02020603050405020304" pitchFamily="18" charset="0"/>
              </a:rPr>
              <a:t>E</a:t>
            </a:r>
            <a:r>
              <a:rPr sz="3200" b="1" spc="-75" dirty="0">
                <a:solidFill>
                  <a:srgbClr val="E7863A"/>
                </a:solidFill>
                <a:latin typeface="Times New Roman" panose="02020603050405020304" pitchFamily="18" charset="0"/>
                <a:cs typeface="Times New Roman" panose="02020603050405020304" pitchFamily="18" charset="0"/>
              </a:rPr>
              <a:t> </a:t>
            </a:r>
            <a:r>
              <a:rPr sz="3200" b="1" dirty="0">
                <a:solidFill>
                  <a:srgbClr val="E7863A"/>
                </a:solidFill>
                <a:latin typeface="Times New Roman" panose="02020603050405020304" pitchFamily="18" charset="0"/>
                <a:cs typeface="Times New Roman" panose="02020603050405020304" pitchFamily="18" charset="0"/>
              </a:rPr>
              <a:t>C</a:t>
            </a:r>
            <a:r>
              <a:rPr sz="3200" b="1" spc="-95" dirty="0">
                <a:solidFill>
                  <a:srgbClr val="E7863A"/>
                </a:solidFill>
                <a:latin typeface="Times New Roman" panose="02020603050405020304" pitchFamily="18" charset="0"/>
                <a:cs typeface="Times New Roman" panose="02020603050405020304" pitchFamily="18" charset="0"/>
              </a:rPr>
              <a:t> </a:t>
            </a:r>
            <a:r>
              <a:rPr sz="3200" b="1" dirty="0">
                <a:solidFill>
                  <a:srgbClr val="E7863A"/>
                </a:solidFill>
                <a:latin typeface="Times New Roman" panose="02020603050405020304" pitchFamily="18" charset="0"/>
                <a:cs typeface="Times New Roman" panose="02020603050405020304" pitchFamily="18" charset="0"/>
              </a:rPr>
              <a:t>H</a:t>
            </a:r>
            <a:r>
              <a:rPr sz="3200" b="1" spc="-70" dirty="0">
                <a:solidFill>
                  <a:srgbClr val="E7863A"/>
                </a:solidFill>
                <a:latin typeface="Times New Roman" panose="02020603050405020304" pitchFamily="18" charset="0"/>
                <a:cs typeface="Times New Roman" panose="02020603050405020304" pitchFamily="18" charset="0"/>
              </a:rPr>
              <a:t> </a:t>
            </a:r>
            <a:r>
              <a:rPr sz="3200" b="1" dirty="0">
                <a:solidFill>
                  <a:srgbClr val="E7863A"/>
                </a:solidFill>
                <a:latin typeface="Times New Roman" panose="02020603050405020304" pitchFamily="18" charset="0"/>
                <a:cs typeface="Times New Roman" panose="02020603050405020304" pitchFamily="18" charset="0"/>
              </a:rPr>
              <a:t>N</a:t>
            </a:r>
            <a:r>
              <a:rPr sz="3200" b="1" spc="-75" dirty="0">
                <a:solidFill>
                  <a:srgbClr val="E7863A"/>
                </a:solidFill>
                <a:latin typeface="Times New Roman" panose="02020603050405020304" pitchFamily="18" charset="0"/>
                <a:cs typeface="Times New Roman" panose="02020603050405020304" pitchFamily="18" charset="0"/>
              </a:rPr>
              <a:t> </a:t>
            </a:r>
            <a:r>
              <a:rPr sz="3200" b="1" spc="-55" dirty="0">
                <a:solidFill>
                  <a:srgbClr val="E7863A"/>
                </a:solidFill>
                <a:latin typeface="Times New Roman" panose="02020603050405020304" pitchFamily="18" charset="0"/>
                <a:cs typeface="Times New Roman" panose="02020603050405020304" pitchFamily="18" charset="0"/>
              </a:rPr>
              <a:t>I</a:t>
            </a:r>
            <a:r>
              <a:rPr sz="3200" b="1" spc="-20" dirty="0">
                <a:solidFill>
                  <a:srgbClr val="E7863A"/>
                </a:solidFill>
                <a:latin typeface="Times New Roman" panose="02020603050405020304" pitchFamily="18" charset="0"/>
                <a:cs typeface="Times New Roman" panose="02020603050405020304" pitchFamily="18" charset="0"/>
              </a:rPr>
              <a:t>Q</a:t>
            </a:r>
            <a:r>
              <a:rPr sz="3200" b="1" spc="-85" dirty="0">
                <a:solidFill>
                  <a:srgbClr val="E7863A"/>
                </a:solidFill>
                <a:latin typeface="Times New Roman" panose="02020603050405020304" pitchFamily="18" charset="0"/>
                <a:cs typeface="Times New Roman" panose="02020603050405020304" pitchFamily="18" charset="0"/>
              </a:rPr>
              <a:t> </a:t>
            </a:r>
            <a:r>
              <a:rPr sz="3200" b="1" spc="-20" dirty="0">
                <a:solidFill>
                  <a:srgbClr val="E7863A"/>
                </a:solidFill>
                <a:latin typeface="Times New Roman" panose="02020603050405020304" pitchFamily="18" charset="0"/>
                <a:cs typeface="Times New Roman" panose="02020603050405020304" pitchFamily="18" charset="0"/>
              </a:rPr>
              <a:t>U</a:t>
            </a:r>
            <a:r>
              <a:rPr sz="3200" b="1" spc="-75" dirty="0">
                <a:solidFill>
                  <a:srgbClr val="E7863A"/>
                </a:solidFill>
                <a:latin typeface="Times New Roman" panose="02020603050405020304" pitchFamily="18" charset="0"/>
                <a:cs typeface="Times New Roman" panose="02020603050405020304" pitchFamily="18" charset="0"/>
              </a:rPr>
              <a:t> </a:t>
            </a:r>
            <a:r>
              <a:rPr sz="3200" b="1" spc="-50" dirty="0">
                <a:solidFill>
                  <a:srgbClr val="E7863A"/>
                </a:solidFill>
                <a:latin typeface="Times New Roman" panose="02020603050405020304" pitchFamily="18" charset="0"/>
                <a:cs typeface="Times New Roman" panose="02020603050405020304" pitchFamily="18" charset="0"/>
              </a:rPr>
              <a:t>E</a:t>
            </a:r>
            <a:endParaRPr sz="3200" dirty="0">
              <a:latin typeface="Times New Roman" panose="02020603050405020304" pitchFamily="18" charset="0"/>
              <a:cs typeface="Times New Roman" panose="02020603050405020304" pitchFamily="18" charset="0"/>
            </a:endParaRPr>
          </a:p>
        </p:txBody>
      </p:sp>
      <p:sp>
        <p:nvSpPr>
          <p:cNvPr id="3" name="object 3" descr="$PPTXTitle"/>
          <p:cNvSpPr txBox="1">
            <a:spLocks noGrp="1"/>
          </p:cNvSpPr>
          <p:nvPr>
            <p:ph type="title"/>
          </p:nvPr>
        </p:nvSpPr>
        <p:spPr>
          <a:xfrm>
            <a:off x="463550" y="2040035"/>
            <a:ext cx="11372851" cy="692497"/>
          </a:xfrm>
          <a:prstGeom prst="rect">
            <a:avLst/>
          </a:prstGeom>
        </p:spPr>
        <p:txBody>
          <a:bodyPr vert="horz" wrap="square" lIns="0" tIns="15240" rIns="0" bIns="0" rtlCol="0">
            <a:spAutoFit/>
          </a:bodyPr>
          <a:lstStyle/>
          <a:p>
            <a:pPr marL="12700">
              <a:lnSpc>
                <a:spcPct val="100000"/>
              </a:lnSpc>
              <a:spcBef>
                <a:spcPts val="120"/>
              </a:spcBef>
            </a:pPr>
            <a:r>
              <a:rPr sz="4400" spc="869" dirty="0">
                <a:latin typeface="Times New Roman" panose="02020603050405020304" pitchFamily="18" charset="0"/>
                <a:cs typeface="Times New Roman" panose="02020603050405020304" pitchFamily="18" charset="0"/>
              </a:rPr>
              <a:t>Fonctionnement</a:t>
            </a:r>
            <a:r>
              <a:rPr sz="4400" spc="-25" dirty="0">
                <a:latin typeface="Times New Roman" panose="02020603050405020304" pitchFamily="18" charset="0"/>
                <a:cs typeface="Times New Roman" panose="02020603050405020304" pitchFamily="18" charset="0"/>
              </a:rPr>
              <a:t> </a:t>
            </a:r>
            <a:r>
              <a:rPr sz="4400" spc="815" dirty="0">
                <a:latin typeface="Times New Roman" panose="02020603050405020304" pitchFamily="18" charset="0"/>
                <a:cs typeface="Times New Roman" panose="02020603050405020304" pitchFamily="18" charset="0"/>
              </a:rPr>
              <a:t>technique</a:t>
            </a:r>
          </a:p>
        </p:txBody>
      </p:sp>
      <p:sp>
        <p:nvSpPr>
          <p:cNvPr id="4" name="object 4"/>
          <p:cNvSpPr txBox="1"/>
          <p:nvPr/>
        </p:nvSpPr>
        <p:spPr>
          <a:xfrm>
            <a:off x="596899" y="3587750"/>
            <a:ext cx="4743451" cy="383438"/>
          </a:xfrm>
          <a:prstGeom prst="rect">
            <a:avLst/>
          </a:prstGeom>
        </p:spPr>
        <p:txBody>
          <a:bodyPr vert="horz" wrap="square" lIns="0" tIns="13970" rIns="0" bIns="0" rtlCol="0">
            <a:spAutoFit/>
          </a:bodyPr>
          <a:lstStyle/>
          <a:p>
            <a:pPr marL="12700">
              <a:lnSpc>
                <a:spcPct val="100000"/>
              </a:lnSpc>
              <a:spcBef>
                <a:spcPts val="110"/>
              </a:spcBef>
            </a:pPr>
            <a:r>
              <a:rPr sz="2400" dirty="0">
                <a:solidFill>
                  <a:srgbClr val="6A798F"/>
                </a:solidFill>
                <a:latin typeface="Times New Roman" panose="02020603050405020304" pitchFamily="18" charset="0"/>
                <a:cs typeface="Times New Roman" panose="02020603050405020304" pitchFamily="18" charset="0"/>
              </a:rPr>
              <a:t>Les technologies</a:t>
            </a:r>
            <a:r>
              <a:rPr sz="2400" spc="5" dirty="0">
                <a:solidFill>
                  <a:srgbClr val="6A798F"/>
                </a:solidFill>
                <a:latin typeface="Times New Roman" panose="02020603050405020304" pitchFamily="18" charset="0"/>
                <a:cs typeface="Times New Roman" panose="02020603050405020304" pitchFamily="18" charset="0"/>
              </a:rPr>
              <a:t> </a:t>
            </a:r>
            <a:r>
              <a:rPr sz="2400" dirty="0">
                <a:solidFill>
                  <a:srgbClr val="6A798F"/>
                </a:solidFill>
                <a:latin typeface="Times New Roman" panose="02020603050405020304" pitchFamily="18" charset="0"/>
                <a:cs typeface="Times New Roman" panose="02020603050405020304" pitchFamily="18" charset="0"/>
              </a:rPr>
              <a:t>derrière</a:t>
            </a:r>
            <a:r>
              <a:rPr sz="2400" spc="-10" dirty="0">
                <a:solidFill>
                  <a:srgbClr val="6A798F"/>
                </a:solidFill>
                <a:latin typeface="Times New Roman" panose="02020603050405020304" pitchFamily="18" charset="0"/>
                <a:cs typeface="Times New Roman" panose="02020603050405020304" pitchFamily="18" charset="0"/>
              </a:rPr>
              <a:t> AfriTalent</a:t>
            </a:r>
            <a:endParaRPr sz="2400"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3" cstate="print"/>
          <a:stretch>
            <a:fillRect/>
          </a:stretch>
        </p:blipFill>
        <p:spPr>
          <a:xfrm>
            <a:off x="0" y="0"/>
            <a:ext cx="12191999" cy="476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9599" y="857249"/>
            <a:ext cx="419100" cy="419100"/>
            <a:chOff x="609599" y="857249"/>
            <a:chExt cx="419100" cy="419100"/>
          </a:xfrm>
        </p:grpSpPr>
        <p:sp>
          <p:nvSpPr>
            <p:cNvPr id="3" name="object 3"/>
            <p:cNvSpPr/>
            <p:nvPr/>
          </p:nvSpPr>
          <p:spPr>
            <a:xfrm>
              <a:off x="609599" y="857249"/>
              <a:ext cx="419100" cy="419100"/>
            </a:xfrm>
            <a:custGeom>
              <a:avLst/>
              <a:gdLst/>
              <a:ahLst/>
              <a:cxnLst/>
              <a:rect l="l" t="t" r="r" b="b"/>
              <a:pathLst>
                <a:path w="419100" h="419100">
                  <a:moveTo>
                    <a:pt x="330104" y="419099"/>
                  </a:moveTo>
                  <a:lnTo>
                    <a:pt x="88995" y="419099"/>
                  </a:lnTo>
                  <a:lnTo>
                    <a:pt x="82801" y="418489"/>
                  </a:lnTo>
                  <a:lnTo>
                    <a:pt x="37131" y="399572"/>
                  </a:lnTo>
                  <a:lnTo>
                    <a:pt x="9643" y="366077"/>
                  </a:lnTo>
                  <a:lnTo>
                    <a:pt x="0" y="330104"/>
                  </a:lnTo>
                  <a:lnTo>
                    <a:pt x="0" y="323849"/>
                  </a:lnTo>
                  <a:lnTo>
                    <a:pt x="0" y="88995"/>
                  </a:lnTo>
                  <a:lnTo>
                    <a:pt x="12577" y="47531"/>
                  </a:lnTo>
                  <a:lnTo>
                    <a:pt x="47532" y="12576"/>
                  </a:lnTo>
                  <a:lnTo>
                    <a:pt x="88995" y="0"/>
                  </a:lnTo>
                  <a:lnTo>
                    <a:pt x="330104" y="0"/>
                  </a:lnTo>
                  <a:lnTo>
                    <a:pt x="371567" y="12576"/>
                  </a:lnTo>
                  <a:lnTo>
                    <a:pt x="406521" y="47531"/>
                  </a:lnTo>
                  <a:lnTo>
                    <a:pt x="419099" y="88995"/>
                  </a:lnTo>
                  <a:lnTo>
                    <a:pt x="419099" y="330104"/>
                  </a:lnTo>
                  <a:lnTo>
                    <a:pt x="406521" y="371567"/>
                  </a:lnTo>
                  <a:lnTo>
                    <a:pt x="371567" y="406521"/>
                  </a:lnTo>
                  <a:lnTo>
                    <a:pt x="336298" y="418489"/>
                  </a:lnTo>
                  <a:lnTo>
                    <a:pt x="330104" y="419099"/>
                  </a:lnTo>
                  <a:close/>
                </a:path>
              </a:pathLst>
            </a:custGeom>
            <a:solidFill>
              <a:srgbClr val="FFF2EB"/>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4" name="object 4"/>
            <p:cNvPicPr/>
            <p:nvPr/>
          </p:nvPicPr>
          <p:blipFill>
            <a:blip r:embed="rId3" cstate="print"/>
            <a:stretch>
              <a:fillRect/>
            </a:stretch>
          </p:blipFill>
          <p:spPr>
            <a:xfrm>
              <a:off x="730249" y="1012824"/>
              <a:ext cx="177800" cy="107950"/>
            </a:xfrm>
            <a:prstGeom prst="rect">
              <a:avLst/>
            </a:prstGeom>
          </p:spPr>
        </p:pic>
      </p:grpSp>
      <p:sp>
        <p:nvSpPr>
          <p:cNvPr id="5" name="object 5"/>
          <p:cNvSpPr txBox="1"/>
          <p:nvPr/>
        </p:nvSpPr>
        <p:spPr>
          <a:xfrm>
            <a:off x="1168399" y="747677"/>
            <a:ext cx="5416550" cy="2101922"/>
          </a:xfrm>
          <a:prstGeom prst="rect">
            <a:avLst/>
          </a:prstGeom>
        </p:spPr>
        <p:txBody>
          <a:bodyPr vert="horz" wrap="square" lIns="0" tIns="109220" rIns="0" bIns="0" rtlCol="0">
            <a:spAutoFit/>
          </a:bodyPr>
          <a:lstStyle/>
          <a:p>
            <a:pPr marL="12700">
              <a:lnSpc>
                <a:spcPct val="100000"/>
              </a:lnSpc>
              <a:spcBef>
                <a:spcPts val="860"/>
              </a:spcBef>
            </a:pPr>
            <a:r>
              <a:rPr sz="1400" b="1" spc="315" dirty="0">
                <a:solidFill>
                  <a:srgbClr val="1B294A"/>
                </a:solidFill>
                <a:latin typeface="Times New Roman" panose="02020603050405020304" pitchFamily="18" charset="0"/>
                <a:cs typeface="Times New Roman" panose="02020603050405020304" pitchFamily="18" charset="0"/>
              </a:rPr>
              <a:t>Site</a:t>
            </a:r>
            <a:r>
              <a:rPr sz="1400" b="1" spc="-40" dirty="0">
                <a:solidFill>
                  <a:srgbClr val="1B294A"/>
                </a:solidFill>
                <a:latin typeface="Times New Roman" panose="02020603050405020304" pitchFamily="18" charset="0"/>
                <a:cs typeface="Times New Roman" panose="02020603050405020304" pitchFamily="18" charset="0"/>
              </a:rPr>
              <a:t> </a:t>
            </a:r>
            <a:r>
              <a:rPr sz="1400" b="1" spc="355" dirty="0">
                <a:solidFill>
                  <a:srgbClr val="1B294A"/>
                </a:solidFill>
                <a:latin typeface="Times New Roman" panose="02020603050405020304" pitchFamily="18" charset="0"/>
                <a:cs typeface="Times New Roman" panose="02020603050405020304" pitchFamily="18" charset="0"/>
              </a:rPr>
              <a:t>statique</a:t>
            </a:r>
            <a:r>
              <a:rPr sz="1400" b="1" spc="-40" dirty="0">
                <a:solidFill>
                  <a:srgbClr val="1B294A"/>
                </a:solidFill>
                <a:latin typeface="Times New Roman" panose="02020603050405020304" pitchFamily="18" charset="0"/>
                <a:cs typeface="Times New Roman" panose="02020603050405020304" pitchFamily="18" charset="0"/>
              </a:rPr>
              <a:t> </a:t>
            </a:r>
            <a:r>
              <a:rPr sz="1400" b="1" spc="450" dirty="0">
                <a:solidFill>
                  <a:srgbClr val="1B294A"/>
                </a:solidFill>
                <a:latin typeface="Times New Roman" panose="02020603050405020304" pitchFamily="18" charset="0"/>
                <a:cs typeface="Times New Roman" panose="02020603050405020304" pitchFamily="18" charset="0"/>
              </a:rPr>
              <a:t>HTML/CSS/JS</a:t>
            </a:r>
            <a:endParaRPr sz="1400">
              <a:latin typeface="Times New Roman" panose="02020603050405020304" pitchFamily="18" charset="0"/>
              <a:cs typeface="Times New Roman" panose="02020603050405020304" pitchFamily="18" charset="0"/>
            </a:endParaRPr>
          </a:p>
          <a:p>
            <a:pPr marL="12700" marR="125730">
              <a:lnSpc>
                <a:spcPct val="125000"/>
              </a:lnSpc>
              <a:spcBef>
                <a:spcPts val="345"/>
              </a:spcBef>
            </a:pPr>
            <a:r>
              <a:rPr sz="1100" spc="-10" dirty="0">
                <a:solidFill>
                  <a:srgbClr val="3A4556"/>
                </a:solidFill>
                <a:latin typeface="Times New Roman" panose="02020603050405020304" pitchFamily="18" charset="0"/>
                <a:cs typeface="Times New Roman" panose="02020603050405020304" pitchFamily="18" charset="0"/>
              </a:rPr>
              <a:t>AfriTalent</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est</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construit</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en</a:t>
            </a:r>
            <a:r>
              <a:rPr sz="1100" spc="20"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HTML</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pur</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avec</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des</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fichiers</a:t>
            </a:r>
            <a:r>
              <a:rPr sz="1100" spc="-5" dirty="0">
                <a:solidFill>
                  <a:srgbClr val="3A4556"/>
                </a:solidFill>
                <a:latin typeface="Times New Roman" panose="02020603050405020304" pitchFamily="18" charset="0"/>
                <a:cs typeface="Times New Roman" panose="02020603050405020304" pitchFamily="18" charset="0"/>
              </a:rPr>
              <a:t> </a:t>
            </a:r>
            <a:r>
              <a:rPr sz="1100" spc="-80" dirty="0">
                <a:solidFill>
                  <a:srgbClr val="3A4556"/>
                </a:solidFill>
                <a:latin typeface="Times New Roman" panose="02020603050405020304" pitchFamily="18" charset="0"/>
                <a:cs typeface="Times New Roman" panose="02020603050405020304" pitchFamily="18" charset="0"/>
              </a:rPr>
              <a:t>CSS</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et</a:t>
            </a:r>
            <a:r>
              <a:rPr sz="1100" spc="-2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JavaScript</a:t>
            </a:r>
            <a:r>
              <a:rPr sz="1100" spc="-20"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séparés</a:t>
            </a:r>
            <a:r>
              <a:rPr sz="1050" spc="-10" dirty="0">
                <a:solidFill>
                  <a:srgbClr val="3A4556"/>
                </a:solidFill>
                <a:latin typeface="Times New Roman" panose="02020603050405020304" pitchFamily="18" charset="0"/>
                <a:cs typeface="Times New Roman" panose="02020603050405020304" pitchFamily="18" charset="0"/>
              </a:rPr>
              <a:t>.</a:t>
            </a:r>
            <a:r>
              <a:rPr sz="1050" spc="6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Chaque </a:t>
            </a:r>
            <a:r>
              <a:rPr sz="1100" dirty="0">
                <a:solidFill>
                  <a:srgbClr val="3A4556"/>
                </a:solidFill>
                <a:latin typeface="Times New Roman" panose="02020603050405020304" pitchFamily="18" charset="0"/>
                <a:cs typeface="Times New Roman" panose="02020603050405020304" pitchFamily="18" charset="0"/>
              </a:rPr>
              <a:t>page</a:t>
            </a:r>
            <a:r>
              <a:rPr sz="1100" spc="-3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est</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fichier</a:t>
            </a:r>
            <a:r>
              <a:rPr sz="1100" spc="-2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.html</a:t>
            </a:r>
            <a:r>
              <a:rPr sz="1000" spc="-30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indépendant</a:t>
            </a:r>
            <a:r>
              <a:rPr sz="1050" dirty="0">
                <a:solidFill>
                  <a:srgbClr val="3A4556"/>
                </a:solidFill>
                <a:latin typeface="Times New Roman" panose="02020603050405020304" pitchFamily="18" charset="0"/>
                <a:cs typeface="Times New Roman" panose="02020603050405020304" pitchFamily="18" charset="0"/>
              </a:rPr>
              <a:t>.</a:t>
            </a:r>
            <a:r>
              <a:rPr sz="1050" spc="60" dirty="0">
                <a:solidFill>
                  <a:srgbClr val="3A4556"/>
                </a:solidFill>
                <a:latin typeface="Times New Roman" panose="02020603050405020304" pitchFamily="18" charset="0"/>
                <a:cs typeface="Times New Roman" panose="02020603050405020304" pitchFamily="18" charset="0"/>
              </a:rPr>
              <a:t> </a:t>
            </a:r>
            <a:r>
              <a:rPr sz="1100" spc="-80" dirty="0">
                <a:solidFill>
                  <a:srgbClr val="3A4556"/>
                </a:solidFill>
                <a:latin typeface="Times New Roman" panose="02020603050405020304" pitchFamily="18" charset="0"/>
                <a:cs typeface="Times New Roman" panose="02020603050405020304" pitchFamily="18" charset="0"/>
              </a:rPr>
              <a:t>CSS</a:t>
            </a:r>
            <a:r>
              <a:rPr sz="1100" spc="-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personnalisé</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dans</a:t>
            </a:r>
            <a:r>
              <a:rPr sz="1100" spc="-1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style.css</a:t>
            </a:r>
            <a:r>
              <a:rPr sz="1050" dirty="0">
                <a:solidFill>
                  <a:srgbClr val="3A4556"/>
                </a:solidFill>
                <a:latin typeface="Times New Roman" panose="02020603050405020304" pitchFamily="18" charset="0"/>
                <a:cs typeface="Times New Roman" panose="02020603050405020304" pitchFamily="18" charset="0"/>
              </a:rPr>
              <a:t>,</a:t>
            </a:r>
            <a:r>
              <a:rPr sz="1050" spc="60"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JavaScript </a:t>
            </a:r>
            <a:r>
              <a:rPr sz="1100" dirty="0">
                <a:solidFill>
                  <a:srgbClr val="3A4556"/>
                </a:solidFill>
                <a:latin typeface="Times New Roman" panose="02020603050405020304" pitchFamily="18" charset="0"/>
                <a:cs typeface="Times New Roman" panose="02020603050405020304" pitchFamily="18" charset="0"/>
              </a:rPr>
              <a:t>interactif</a:t>
            </a:r>
            <a:r>
              <a:rPr sz="1100" spc="-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dans</a:t>
            </a:r>
            <a:r>
              <a:rPr sz="1100" spc="20" dirty="0">
                <a:solidFill>
                  <a:srgbClr val="3A4556"/>
                </a:solidFill>
                <a:latin typeface="Times New Roman" panose="02020603050405020304" pitchFamily="18" charset="0"/>
                <a:cs typeface="Times New Roman" panose="02020603050405020304" pitchFamily="18" charset="0"/>
              </a:rPr>
              <a:t> </a:t>
            </a:r>
            <a:r>
              <a:rPr sz="1000" spc="-10" dirty="0">
                <a:solidFill>
                  <a:srgbClr val="3A4556"/>
                </a:solidFill>
                <a:latin typeface="Times New Roman" panose="02020603050405020304" pitchFamily="18" charset="0"/>
                <a:cs typeface="Times New Roman" panose="02020603050405020304" pitchFamily="18" charset="0"/>
              </a:rPr>
              <a:t>main.js</a:t>
            </a:r>
            <a:r>
              <a:rPr sz="1050" spc="-10" dirty="0">
                <a:solidFill>
                  <a:srgbClr val="3A4556"/>
                </a:solidFill>
                <a:latin typeface="Times New Roman" panose="02020603050405020304" pitchFamily="18" charset="0"/>
                <a:cs typeface="Times New Roman" panose="02020603050405020304" pitchFamily="18" charset="0"/>
              </a:rPr>
              <a:t>.</a:t>
            </a:r>
            <a:endParaRPr sz="1050">
              <a:latin typeface="Times New Roman" panose="02020603050405020304" pitchFamily="18" charset="0"/>
              <a:cs typeface="Times New Roman" panose="02020603050405020304" pitchFamily="18" charset="0"/>
            </a:endParaRPr>
          </a:p>
          <a:p>
            <a:pPr>
              <a:lnSpc>
                <a:spcPct val="100000"/>
              </a:lnSpc>
              <a:spcBef>
                <a:spcPts val="740"/>
              </a:spcBef>
            </a:pPr>
            <a:endParaRPr sz="1000">
              <a:latin typeface="Times New Roman" panose="02020603050405020304" pitchFamily="18" charset="0"/>
              <a:cs typeface="Times New Roman" panose="02020603050405020304" pitchFamily="18" charset="0"/>
            </a:endParaRPr>
          </a:p>
          <a:p>
            <a:pPr marL="12700">
              <a:lnSpc>
                <a:spcPct val="100000"/>
              </a:lnSpc>
            </a:pPr>
            <a:r>
              <a:rPr sz="1400" b="1" spc="434" dirty="0">
                <a:solidFill>
                  <a:srgbClr val="1B294A"/>
                </a:solidFill>
                <a:latin typeface="Times New Roman" panose="02020603050405020304" pitchFamily="18" charset="0"/>
                <a:cs typeface="Times New Roman" panose="02020603050405020304" pitchFamily="18" charset="0"/>
              </a:rPr>
              <a:t>Hébergement</a:t>
            </a:r>
            <a:r>
              <a:rPr sz="1400" b="1" spc="-20" dirty="0">
                <a:solidFill>
                  <a:srgbClr val="1B294A"/>
                </a:solidFill>
                <a:latin typeface="Times New Roman" panose="02020603050405020304" pitchFamily="18" charset="0"/>
                <a:cs typeface="Times New Roman" panose="02020603050405020304" pitchFamily="18" charset="0"/>
              </a:rPr>
              <a:t> </a:t>
            </a:r>
            <a:r>
              <a:rPr sz="1400" b="1" spc="409" dirty="0">
                <a:solidFill>
                  <a:srgbClr val="1B294A"/>
                </a:solidFill>
                <a:latin typeface="Times New Roman" panose="02020603050405020304" pitchFamily="18" charset="0"/>
                <a:cs typeface="Times New Roman" panose="02020603050405020304" pitchFamily="18" charset="0"/>
              </a:rPr>
              <a:t>GitHub</a:t>
            </a:r>
            <a:r>
              <a:rPr sz="1400" b="1" spc="-45" dirty="0">
                <a:solidFill>
                  <a:srgbClr val="1B294A"/>
                </a:solidFill>
                <a:latin typeface="Times New Roman" panose="02020603050405020304" pitchFamily="18" charset="0"/>
                <a:cs typeface="Times New Roman" panose="02020603050405020304" pitchFamily="18" charset="0"/>
              </a:rPr>
              <a:t> </a:t>
            </a:r>
            <a:r>
              <a:rPr sz="1400" b="1" spc="395" dirty="0">
                <a:solidFill>
                  <a:srgbClr val="1B294A"/>
                </a:solidFill>
                <a:latin typeface="Times New Roman" panose="02020603050405020304" pitchFamily="18" charset="0"/>
                <a:cs typeface="Times New Roman" panose="02020603050405020304" pitchFamily="18" charset="0"/>
              </a:rPr>
              <a:t>Pages</a:t>
            </a:r>
            <a:endParaRPr sz="1400">
              <a:latin typeface="Times New Roman" panose="02020603050405020304" pitchFamily="18" charset="0"/>
              <a:cs typeface="Times New Roman" panose="02020603050405020304" pitchFamily="18" charset="0"/>
            </a:endParaRPr>
          </a:p>
          <a:p>
            <a:pPr marL="12700" marR="5080">
              <a:lnSpc>
                <a:spcPct val="125000"/>
              </a:lnSpc>
              <a:spcBef>
                <a:spcPts val="345"/>
              </a:spcBef>
            </a:pPr>
            <a:r>
              <a:rPr sz="1100" dirty="0">
                <a:solidFill>
                  <a:srgbClr val="3A4556"/>
                </a:solidFill>
                <a:latin typeface="Times New Roman" panose="02020603050405020304" pitchFamily="18" charset="0"/>
                <a:cs typeface="Times New Roman" panose="02020603050405020304" pitchFamily="18" charset="0"/>
              </a:rPr>
              <a:t>Le</a:t>
            </a:r>
            <a:r>
              <a:rPr sz="1100" spc="-3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site</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est</a:t>
            </a:r>
            <a:r>
              <a:rPr sz="1100" spc="-4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hébergé</a:t>
            </a:r>
            <a:r>
              <a:rPr sz="1100" spc="-3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gratuitement</a:t>
            </a:r>
            <a:r>
              <a:rPr sz="1100" spc="-4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sur</a:t>
            </a:r>
            <a:r>
              <a:rPr sz="1100" spc="-3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GitHub</a:t>
            </a:r>
            <a:r>
              <a:rPr sz="1100" spc="-30" dirty="0">
                <a:solidFill>
                  <a:srgbClr val="3A4556"/>
                </a:solidFill>
                <a:latin typeface="Times New Roman" panose="02020603050405020304" pitchFamily="18" charset="0"/>
                <a:cs typeface="Times New Roman" panose="02020603050405020304" pitchFamily="18" charset="0"/>
              </a:rPr>
              <a:t> </a:t>
            </a:r>
            <a:r>
              <a:rPr sz="1100" spc="-25" dirty="0">
                <a:solidFill>
                  <a:srgbClr val="3A4556"/>
                </a:solidFill>
                <a:latin typeface="Times New Roman" panose="02020603050405020304" pitchFamily="18" charset="0"/>
                <a:cs typeface="Times New Roman" panose="02020603050405020304" pitchFamily="18" charset="0"/>
              </a:rPr>
              <a:t>Pages</a:t>
            </a:r>
            <a:r>
              <a:rPr sz="1050" spc="-25" dirty="0">
                <a:solidFill>
                  <a:srgbClr val="3A4556"/>
                </a:solidFill>
                <a:latin typeface="Times New Roman" panose="02020603050405020304" pitchFamily="18" charset="0"/>
                <a:cs typeface="Times New Roman" panose="02020603050405020304" pitchFamily="18" charset="0"/>
              </a:rPr>
              <a:t>,</a:t>
            </a:r>
            <a:r>
              <a:rPr sz="1050" spc="3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servi</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directement</a:t>
            </a:r>
            <a:r>
              <a:rPr sz="1100" spc="-4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depuis</a:t>
            </a:r>
            <a:r>
              <a:rPr sz="1100" spc="-2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un</a:t>
            </a:r>
            <a:r>
              <a:rPr sz="1100" spc="-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dépôt GitHub</a:t>
            </a:r>
            <a:r>
              <a:rPr sz="1050" spc="-10" dirty="0">
                <a:solidFill>
                  <a:srgbClr val="3A4556"/>
                </a:solidFill>
                <a:latin typeface="Times New Roman" panose="02020603050405020304" pitchFamily="18" charset="0"/>
                <a:cs typeface="Times New Roman" panose="02020603050405020304" pitchFamily="18" charset="0"/>
              </a:rPr>
              <a:t>.</a:t>
            </a:r>
            <a:r>
              <a:rPr sz="1050" spc="105" dirty="0">
                <a:solidFill>
                  <a:srgbClr val="3A4556"/>
                </a:solidFill>
                <a:latin typeface="Times New Roman" panose="02020603050405020304" pitchFamily="18" charset="0"/>
                <a:cs typeface="Times New Roman" panose="02020603050405020304" pitchFamily="18" charset="0"/>
              </a:rPr>
              <a:t> </a:t>
            </a:r>
            <a:r>
              <a:rPr sz="1100" spc="-80" dirty="0">
                <a:solidFill>
                  <a:srgbClr val="3A4556"/>
                </a:solidFill>
                <a:latin typeface="Times New Roman" panose="02020603050405020304" pitchFamily="18" charset="0"/>
                <a:cs typeface="Times New Roman" panose="02020603050405020304" pitchFamily="18" charset="0"/>
              </a:rPr>
              <a:t>URL</a:t>
            </a:r>
            <a:r>
              <a:rPr sz="110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t>
            </a:r>
            <a:r>
              <a:rPr sz="1050" spc="10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jojo-fuhrer.github.io/DIALLO-Abdoulaye-Serge-AfriTalent/</a:t>
            </a:r>
            <a:r>
              <a:rPr sz="1050" dirty="0">
                <a:solidFill>
                  <a:srgbClr val="3A4556"/>
                </a:solidFill>
                <a:latin typeface="Times New Roman" panose="02020603050405020304" pitchFamily="18" charset="0"/>
                <a:cs typeface="Times New Roman" panose="02020603050405020304" pitchFamily="18" charset="0"/>
              </a:rPr>
              <a:t>.</a:t>
            </a:r>
            <a:r>
              <a:rPr sz="1050" spc="10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Choix </a:t>
            </a:r>
            <a:r>
              <a:rPr sz="1100" dirty="0">
                <a:solidFill>
                  <a:srgbClr val="3A4556"/>
                </a:solidFill>
                <a:latin typeface="Times New Roman" panose="02020603050405020304" pitchFamily="18" charset="0"/>
                <a:cs typeface="Times New Roman" panose="02020603050405020304" pitchFamily="18" charset="0"/>
              </a:rPr>
              <a:t>courant</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pour</a:t>
            </a:r>
            <a:r>
              <a:rPr sz="1100" spc="-10"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les projets étudiant</a:t>
            </a:r>
            <a:r>
              <a:rPr sz="1100" spc="-15" dirty="0">
                <a:solidFill>
                  <a:srgbClr val="3A4556"/>
                </a:solidFill>
                <a:latin typeface="Times New Roman" panose="02020603050405020304" pitchFamily="18" charset="0"/>
                <a:cs typeface="Times New Roman" panose="02020603050405020304" pitchFamily="18" charset="0"/>
              </a:rPr>
              <a:t> </a:t>
            </a:r>
            <a:r>
              <a:rPr sz="1100" dirty="0">
                <a:solidFill>
                  <a:srgbClr val="3A4556"/>
                </a:solidFill>
                <a:latin typeface="Times New Roman" panose="02020603050405020304" pitchFamily="18" charset="0"/>
                <a:cs typeface="Times New Roman" panose="02020603050405020304" pitchFamily="18" charset="0"/>
              </a:rPr>
              <a:t>et</a:t>
            </a:r>
            <a:r>
              <a:rPr sz="1100" spc="-15" dirty="0">
                <a:solidFill>
                  <a:srgbClr val="3A4556"/>
                </a:solidFill>
                <a:latin typeface="Times New Roman" panose="02020603050405020304" pitchFamily="18" charset="0"/>
                <a:cs typeface="Times New Roman" panose="02020603050405020304" pitchFamily="18" charset="0"/>
              </a:rPr>
              <a:t> </a:t>
            </a:r>
            <a:r>
              <a:rPr sz="1100" spc="-10" dirty="0">
                <a:solidFill>
                  <a:srgbClr val="3A4556"/>
                </a:solidFill>
                <a:latin typeface="Times New Roman" panose="02020603050405020304" pitchFamily="18" charset="0"/>
                <a:cs typeface="Times New Roman" panose="02020603050405020304" pitchFamily="18" charset="0"/>
              </a:rPr>
              <a:t>prototypes</a:t>
            </a:r>
            <a:r>
              <a:rPr sz="1050" spc="-10" dirty="0">
                <a:solidFill>
                  <a:srgbClr val="3A4556"/>
                </a:solidFill>
                <a:latin typeface="Times New Roman" panose="02020603050405020304" pitchFamily="18" charset="0"/>
                <a:cs typeface="Times New Roman" panose="02020603050405020304" pitchFamily="18" charset="0"/>
              </a:rPr>
              <a:t>.</a:t>
            </a:r>
            <a:endParaRPr sz="1050">
              <a:latin typeface="Times New Roman" panose="02020603050405020304" pitchFamily="18" charset="0"/>
              <a:cs typeface="Times New Roman" panose="02020603050405020304" pitchFamily="18" charset="0"/>
            </a:endParaRPr>
          </a:p>
        </p:txBody>
      </p:sp>
      <p:grpSp>
        <p:nvGrpSpPr>
          <p:cNvPr id="6" name="object 6"/>
          <p:cNvGrpSpPr/>
          <p:nvPr/>
        </p:nvGrpSpPr>
        <p:grpSpPr>
          <a:xfrm>
            <a:off x="609599" y="1914524"/>
            <a:ext cx="419100" cy="419100"/>
            <a:chOff x="609599" y="1914524"/>
            <a:chExt cx="419100" cy="419100"/>
          </a:xfrm>
        </p:grpSpPr>
        <p:sp>
          <p:nvSpPr>
            <p:cNvPr id="7" name="object 7"/>
            <p:cNvSpPr/>
            <p:nvPr/>
          </p:nvSpPr>
          <p:spPr>
            <a:xfrm>
              <a:off x="609599" y="1914524"/>
              <a:ext cx="419100" cy="419100"/>
            </a:xfrm>
            <a:custGeom>
              <a:avLst/>
              <a:gdLst/>
              <a:ahLst/>
              <a:cxnLst/>
              <a:rect l="l" t="t" r="r" b="b"/>
              <a:pathLst>
                <a:path w="419100" h="419100">
                  <a:moveTo>
                    <a:pt x="330104" y="419099"/>
                  </a:moveTo>
                  <a:lnTo>
                    <a:pt x="88995" y="419099"/>
                  </a:lnTo>
                  <a:lnTo>
                    <a:pt x="82801" y="418488"/>
                  </a:lnTo>
                  <a:lnTo>
                    <a:pt x="37131" y="399571"/>
                  </a:lnTo>
                  <a:lnTo>
                    <a:pt x="9643" y="366077"/>
                  </a:lnTo>
                  <a:lnTo>
                    <a:pt x="0" y="330103"/>
                  </a:lnTo>
                  <a:lnTo>
                    <a:pt x="0" y="323849"/>
                  </a:lnTo>
                  <a:lnTo>
                    <a:pt x="0" y="88995"/>
                  </a:lnTo>
                  <a:lnTo>
                    <a:pt x="12577" y="47530"/>
                  </a:lnTo>
                  <a:lnTo>
                    <a:pt x="47532" y="12577"/>
                  </a:lnTo>
                  <a:lnTo>
                    <a:pt x="88995" y="0"/>
                  </a:lnTo>
                  <a:lnTo>
                    <a:pt x="330104" y="0"/>
                  </a:lnTo>
                  <a:lnTo>
                    <a:pt x="371567" y="12577"/>
                  </a:lnTo>
                  <a:lnTo>
                    <a:pt x="406521" y="47530"/>
                  </a:lnTo>
                  <a:lnTo>
                    <a:pt x="419099" y="88995"/>
                  </a:lnTo>
                  <a:lnTo>
                    <a:pt x="419099" y="330103"/>
                  </a:lnTo>
                  <a:lnTo>
                    <a:pt x="406521" y="371566"/>
                  </a:lnTo>
                  <a:lnTo>
                    <a:pt x="371567" y="406521"/>
                  </a:lnTo>
                  <a:lnTo>
                    <a:pt x="336298" y="418488"/>
                  </a:lnTo>
                  <a:lnTo>
                    <a:pt x="330104" y="419099"/>
                  </a:lnTo>
                  <a:close/>
                </a:path>
              </a:pathLst>
            </a:custGeom>
            <a:solidFill>
              <a:srgbClr val="FFF2EB"/>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8" name="object 8"/>
            <p:cNvPicPr/>
            <p:nvPr/>
          </p:nvPicPr>
          <p:blipFill>
            <a:blip r:embed="rId4" cstate="print"/>
            <a:stretch>
              <a:fillRect/>
            </a:stretch>
          </p:blipFill>
          <p:spPr>
            <a:xfrm>
              <a:off x="714374" y="2051049"/>
              <a:ext cx="209550" cy="146050"/>
            </a:xfrm>
            <a:prstGeom prst="rect">
              <a:avLst/>
            </a:prstGeom>
          </p:spPr>
        </p:pic>
      </p:grpSp>
      <p:grpSp>
        <p:nvGrpSpPr>
          <p:cNvPr id="9" name="object 9"/>
          <p:cNvGrpSpPr/>
          <p:nvPr/>
        </p:nvGrpSpPr>
        <p:grpSpPr>
          <a:xfrm>
            <a:off x="609599" y="2952749"/>
            <a:ext cx="419100" cy="419100"/>
            <a:chOff x="609599" y="2952749"/>
            <a:chExt cx="419100" cy="419100"/>
          </a:xfrm>
        </p:grpSpPr>
        <p:sp>
          <p:nvSpPr>
            <p:cNvPr id="10" name="object 10"/>
            <p:cNvSpPr/>
            <p:nvPr/>
          </p:nvSpPr>
          <p:spPr>
            <a:xfrm>
              <a:off x="609599" y="2952749"/>
              <a:ext cx="419100" cy="419100"/>
            </a:xfrm>
            <a:custGeom>
              <a:avLst/>
              <a:gdLst/>
              <a:ahLst/>
              <a:cxnLst/>
              <a:rect l="l" t="t" r="r" b="b"/>
              <a:pathLst>
                <a:path w="419100" h="419100">
                  <a:moveTo>
                    <a:pt x="330104" y="419099"/>
                  </a:moveTo>
                  <a:lnTo>
                    <a:pt x="88995" y="419099"/>
                  </a:lnTo>
                  <a:lnTo>
                    <a:pt x="82801" y="418489"/>
                  </a:lnTo>
                  <a:lnTo>
                    <a:pt x="37131" y="399572"/>
                  </a:lnTo>
                  <a:lnTo>
                    <a:pt x="9643" y="366077"/>
                  </a:lnTo>
                  <a:lnTo>
                    <a:pt x="0" y="330103"/>
                  </a:lnTo>
                  <a:lnTo>
                    <a:pt x="0" y="323849"/>
                  </a:lnTo>
                  <a:lnTo>
                    <a:pt x="0" y="88995"/>
                  </a:lnTo>
                  <a:lnTo>
                    <a:pt x="12577" y="47531"/>
                  </a:lnTo>
                  <a:lnTo>
                    <a:pt x="47532" y="12575"/>
                  </a:lnTo>
                  <a:lnTo>
                    <a:pt x="88995" y="0"/>
                  </a:lnTo>
                  <a:lnTo>
                    <a:pt x="330104" y="0"/>
                  </a:lnTo>
                  <a:lnTo>
                    <a:pt x="371567" y="12575"/>
                  </a:lnTo>
                  <a:lnTo>
                    <a:pt x="406521" y="47531"/>
                  </a:lnTo>
                  <a:lnTo>
                    <a:pt x="419099" y="88995"/>
                  </a:lnTo>
                  <a:lnTo>
                    <a:pt x="419099" y="330103"/>
                  </a:lnTo>
                  <a:lnTo>
                    <a:pt x="406521" y="371566"/>
                  </a:lnTo>
                  <a:lnTo>
                    <a:pt x="371567" y="406520"/>
                  </a:lnTo>
                  <a:lnTo>
                    <a:pt x="336298" y="418489"/>
                  </a:lnTo>
                  <a:lnTo>
                    <a:pt x="330104" y="419099"/>
                  </a:lnTo>
                  <a:close/>
                </a:path>
              </a:pathLst>
            </a:custGeom>
            <a:solidFill>
              <a:srgbClr val="FFF2EB"/>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11" name="object 11"/>
            <p:cNvPicPr/>
            <p:nvPr/>
          </p:nvPicPr>
          <p:blipFill>
            <a:blip r:embed="rId5" cstate="print"/>
            <a:stretch>
              <a:fillRect/>
            </a:stretch>
          </p:blipFill>
          <p:spPr>
            <a:xfrm>
              <a:off x="739774" y="3070224"/>
              <a:ext cx="171450" cy="171450"/>
            </a:xfrm>
            <a:prstGeom prst="rect">
              <a:avLst/>
            </a:prstGeom>
          </p:spPr>
        </p:pic>
      </p:grpSp>
      <p:sp>
        <p:nvSpPr>
          <p:cNvPr id="12" name="object 12"/>
          <p:cNvSpPr txBox="1"/>
          <p:nvPr/>
        </p:nvSpPr>
        <p:spPr>
          <a:xfrm>
            <a:off x="1168399" y="2939330"/>
            <a:ext cx="2546350" cy="228909"/>
          </a:xfrm>
          <a:prstGeom prst="rect">
            <a:avLst/>
          </a:prstGeom>
        </p:spPr>
        <p:txBody>
          <a:bodyPr vert="horz" wrap="square" lIns="0" tIns="13335" rIns="0" bIns="0" rtlCol="0">
            <a:spAutoFit/>
          </a:bodyPr>
          <a:lstStyle/>
          <a:p>
            <a:pPr marL="12700">
              <a:lnSpc>
                <a:spcPct val="100000"/>
              </a:lnSpc>
              <a:spcBef>
                <a:spcPts val="105"/>
              </a:spcBef>
            </a:pPr>
            <a:r>
              <a:rPr sz="1400" b="1" spc="330" dirty="0">
                <a:solidFill>
                  <a:srgbClr val="1B294A"/>
                </a:solidFill>
                <a:latin typeface="Times New Roman" panose="02020603050405020304" pitchFamily="18" charset="0"/>
                <a:cs typeface="Times New Roman" panose="02020603050405020304" pitchFamily="18" charset="0"/>
              </a:rPr>
              <a:t>Bibliothèques</a:t>
            </a:r>
            <a:r>
              <a:rPr sz="1400" b="1" spc="-35" dirty="0">
                <a:solidFill>
                  <a:srgbClr val="1B294A"/>
                </a:solidFill>
                <a:latin typeface="Times New Roman" panose="02020603050405020304" pitchFamily="18" charset="0"/>
                <a:cs typeface="Times New Roman" panose="02020603050405020304" pitchFamily="18" charset="0"/>
              </a:rPr>
              <a:t> </a:t>
            </a:r>
            <a:r>
              <a:rPr sz="1400" b="1" spc="254" dirty="0">
                <a:solidFill>
                  <a:srgbClr val="1B294A"/>
                </a:solidFill>
                <a:latin typeface="Times New Roman" panose="02020603050405020304" pitchFamily="18" charset="0"/>
                <a:cs typeface="Times New Roman" panose="02020603050405020304" pitchFamily="18" charset="0"/>
              </a:rPr>
              <a:t>utilisées</a:t>
            </a:r>
            <a:endParaRPr sz="1400">
              <a:latin typeface="Times New Roman" panose="02020603050405020304" pitchFamily="18" charset="0"/>
              <a:cs typeface="Times New Roman" panose="02020603050405020304" pitchFamily="18" charset="0"/>
            </a:endParaRPr>
          </a:p>
        </p:txBody>
      </p:sp>
      <p:grpSp>
        <p:nvGrpSpPr>
          <p:cNvPr id="13" name="object 13"/>
          <p:cNvGrpSpPr/>
          <p:nvPr/>
        </p:nvGrpSpPr>
        <p:grpSpPr>
          <a:xfrm>
            <a:off x="6737349" y="983223"/>
            <a:ext cx="5252085" cy="2844165"/>
            <a:chOff x="6793991" y="0"/>
            <a:chExt cx="5252085" cy="2844165"/>
          </a:xfrm>
        </p:grpSpPr>
        <p:sp>
          <p:nvSpPr>
            <p:cNvPr id="14" name="object 14"/>
            <p:cNvSpPr/>
            <p:nvPr/>
          </p:nvSpPr>
          <p:spPr>
            <a:xfrm>
              <a:off x="6793991" y="0"/>
              <a:ext cx="5252085" cy="2844165"/>
            </a:xfrm>
            <a:custGeom>
              <a:avLst/>
              <a:gdLst/>
              <a:ahLst/>
              <a:cxnLst/>
              <a:rect l="l" t="t" r="r" b="b"/>
              <a:pathLst>
                <a:path w="5252084" h="2844165">
                  <a:moveTo>
                    <a:pt x="5251703" y="2843783"/>
                  </a:moveTo>
                  <a:lnTo>
                    <a:pt x="0" y="2843783"/>
                  </a:lnTo>
                  <a:lnTo>
                    <a:pt x="0" y="0"/>
                  </a:lnTo>
                  <a:lnTo>
                    <a:pt x="273557" y="0"/>
                  </a:lnTo>
                  <a:lnTo>
                    <a:pt x="262298" y="543"/>
                  </a:lnTo>
                  <a:lnTo>
                    <a:pt x="251254" y="2175"/>
                  </a:lnTo>
                  <a:lnTo>
                    <a:pt x="210044" y="19245"/>
                  </a:lnTo>
                  <a:lnTo>
                    <a:pt x="178502" y="50786"/>
                  </a:lnTo>
                  <a:lnTo>
                    <a:pt x="161432" y="91996"/>
                  </a:lnTo>
                  <a:lnTo>
                    <a:pt x="159257" y="114300"/>
                  </a:lnTo>
                  <a:lnTo>
                    <a:pt x="159257" y="2552699"/>
                  </a:lnTo>
                  <a:lnTo>
                    <a:pt x="167957" y="2596440"/>
                  </a:lnTo>
                  <a:lnTo>
                    <a:pt x="192735" y="2633522"/>
                  </a:lnTo>
                  <a:lnTo>
                    <a:pt x="229816" y="2658299"/>
                  </a:lnTo>
                  <a:lnTo>
                    <a:pt x="273557" y="2666999"/>
                  </a:lnTo>
                  <a:lnTo>
                    <a:pt x="5251703" y="2666999"/>
                  </a:lnTo>
                  <a:lnTo>
                    <a:pt x="5251703" y="2843783"/>
                  </a:lnTo>
                  <a:close/>
                </a:path>
                <a:path w="5252084" h="2844165">
                  <a:moveTo>
                    <a:pt x="5251703" y="2666999"/>
                  </a:moveTo>
                  <a:lnTo>
                    <a:pt x="4978907" y="2666999"/>
                  </a:lnTo>
                  <a:lnTo>
                    <a:pt x="4990166" y="2666456"/>
                  </a:lnTo>
                  <a:lnTo>
                    <a:pt x="5001209" y="2664824"/>
                  </a:lnTo>
                  <a:lnTo>
                    <a:pt x="5042419" y="2647754"/>
                  </a:lnTo>
                  <a:lnTo>
                    <a:pt x="5073961" y="2616213"/>
                  </a:lnTo>
                  <a:lnTo>
                    <a:pt x="5091031" y="2575002"/>
                  </a:lnTo>
                  <a:lnTo>
                    <a:pt x="5093207" y="2552699"/>
                  </a:lnTo>
                  <a:lnTo>
                    <a:pt x="5093207" y="114300"/>
                  </a:lnTo>
                  <a:lnTo>
                    <a:pt x="5084505" y="70559"/>
                  </a:lnTo>
                  <a:lnTo>
                    <a:pt x="5059728" y="33477"/>
                  </a:lnTo>
                  <a:lnTo>
                    <a:pt x="5022646" y="8700"/>
                  </a:lnTo>
                  <a:lnTo>
                    <a:pt x="4978907" y="0"/>
                  </a:lnTo>
                  <a:lnTo>
                    <a:pt x="5251703" y="0"/>
                  </a:lnTo>
                  <a:lnTo>
                    <a:pt x="5251703" y="2666999"/>
                  </a:lnTo>
                  <a:close/>
                </a:path>
              </a:pathLst>
            </a:custGeom>
            <a:solidFill>
              <a:srgbClr val="000000">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15" name="object 15"/>
            <p:cNvPicPr/>
            <p:nvPr/>
          </p:nvPicPr>
          <p:blipFill>
            <a:blip r:embed="rId6" cstate="print"/>
            <a:stretch>
              <a:fillRect/>
            </a:stretch>
          </p:blipFill>
          <p:spPr>
            <a:xfrm>
              <a:off x="6953249" y="0"/>
              <a:ext cx="4933949" cy="2666999"/>
            </a:xfrm>
            <a:prstGeom prst="rect">
              <a:avLst/>
            </a:prstGeom>
          </p:spPr>
        </p:pic>
      </p:grpSp>
      <p:sp>
        <p:nvSpPr>
          <p:cNvPr id="16" name="object 16"/>
          <p:cNvSpPr txBox="1"/>
          <p:nvPr/>
        </p:nvSpPr>
        <p:spPr>
          <a:xfrm>
            <a:off x="8738244" y="2846297"/>
            <a:ext cx="1359535" cy="155812"/>
          </a:xfrm>
          <a:prstGeom prst="rect">
            <a:avLst/>
          </a:prstGeom>
        </p:spPr>
        <p:txBody>
          <a:bodyPr vert="horz" wrap="square" lIns="0" tIns="17145" rIns="0" bIns="0" rtlCol="0">
            <a:spAutoFit/>
          </a:bodyPr>
          <a:lstStyle/>
          <a:p>
            <a:pPr marL="12700">
              <a:lnSpc>
                <a:spcPct val="100000"/>
              </a:lnSpc>
              <a:spcBef>
                <a:spcPts val="135"/>
              </a:spcBef>
            </a:pPr>
            <a:r>
              <a:rPr sz="900" dirty="0">
                <a:solidFill>
                  <a:srgbClr val="6A798F"/>
                </a:solidFill>
                <a:latin typeface="Times New Roman" panose="02020603050405020304" pitchFamily="18" charset="0"/>
                <a:cs typeface="Times New Roman" panose="02020603050405020304" pitchFamily="18" charset="0"/>
              </a:rPr>
              <a:t>Technologies</a:t>
            </a:r>
            <a:r>
              <a:rPr sz="900" spc="65" dirty="0">
                <a:solidFill>
                  <a:srgbClr val="6A798F"/>
                </a:solidFill>
                <a:latin typeface="Times New Roman" panose="02020603050405020304" pitchFamily="18" charset="0"/>
                <a:cs typeface="Times New Roman" panose="02020603050405020304" pitchFamily="18" charset="0"/>
              </a:rPr>
              <a:t> </a:t>
            </a:r>
            <a:r>
              <a:rPr sz="900" dirty="0">
                <a:solidFill>
                  <a:srgbClr val="6A798F"/>
                </a:solidFill>
                <a:latin typeface="Times New Roman" panose="02020603050405020304" pitchFamily="18" charset="0"/>
                <a:cs typeface="Times New Roman" panose="02020603050405020304" pitchFamily="18" charset="0"/>
              </a:rPr>
              <a:t>web</a:t>
            </a:r>
            <a:r>
              <a:rPr sz="900" spc="60" dirty="0">
                <a:solidFill>
                  <a:srgbClr val="6A798F"/>
                </a:solidFill>
                <a:latin typeface="Times New Roman" panose="02020603050405020304" pitchFamily="18" charset="0"/>
                <a:cs typeface="Times New Roman" panose="02020603050405020304" pitchFamily="18" charset="0"/>
              </a:rPr>
              <a:t> </a:t>
            </a:r>
            <a:r>
              <a:rPr sz="900" spc="-10" dirty="0">
                <a:solidFill>
                  <a:srgbClr val="6A798F"/>
                </a:solidFill>
                <a:latin typeface="Times New Roman" panose="02020603050405020304" pitchFamily="18" charset="0"/>
                <a:cs typeface="Times New Roman" panose="02020603050405020304" pitchFamily="18" charset="0"/>
              </a:rPr>
              <a:t>utilisées</a:t>
            </a:r>
            <a:endParaRPr sz="900">
              <a:latin typeface="Times New Roman" panose="02020603050405020304" pitchFamily="18" charset="0"/>
              <a:cs typeface="Times New Roman" panose="02020603050405020304" pitchFamily="18" charset="0"/>
            </a:endParaRPr>
          </a:p>
        </p:txBody>
      </p:sp>
      <p:grpSp>
        <p:nvGrpSpPr>
          <p:cNvPr id="17" name="object 17"/>
          <p:cNvGrpSpPr/>
          <p:nvPr/>
        </p:nvGrpSpPr>
        <p:grpSpPr>
          <a:xfrm>
            <a:off x="6883907" y="4316909"/>
            <a:ext cx="4933950" cy="1733550"/>
            <a:chOff x="6953249" y="3152775"/>
            <a:chExt cx="4933950" cy="1733550"/>
          </a:xfrm>
        </p:grpSpPr>
        <p:sp>
          <p:nvSpPr>
            <p:cNvPr id="18" name="object 18"/>
            <p:cNvSpPr/>
            <p:nvPr/>
          </p:nvSpPr>
          <p:spPr>
            <a:xfrm>
              <a:off x="6953249" y="3152775"/>
              <a:ext cx="4933950" cy="1733550"/>
            </a:xfrm>
            <a:custGeom>
              <a:avLst/>
              <a:gdLst/>
              <a:ahLst/>
              <a:cxnLst/>
              <a:rect l="l" t="t" r="r" b="b"/>
              <a:pathLst>
                <a:path w="4933950" h="1733550">
                  <a:moveTo>
                    <a:pt x="4827154" y="1733548"/>
                  </a:moveTo>
                  <a:lnTo>
                    <a:pt x="106795" y="1733548"/>
                  </a:lnTo>
                  <a:lnTo>
                    <a:pt x="99361" y="1732816"/>
                  </a:lnTo>
                  <a:lnTo>
                    <a:pt x="57037" y="1718451"/>
                  </a:lnTo>
                  <a:lnTo>
                    <a:pt x="23432" y="1688988"/>
                  </a:lnTo>
                  <a:lnTo>
                    <a:pt x="3660" y="1648907"/>
                  </a:lnTo>
                  <a:lnTo>
                    <a:pt x="0" y="1626752"/>
                  </a:lnTo>
                  <a:lnTo>
                    <a:pt x="0" y="1619248"/>
                  </a:lnTo>
                  <a:lnTo>
                    <a:pt x="0" y="106793"/>
                  </a:lnTo>
                  <a:lnTo>
                    <a:pt x="11572" y="63624"/>
                  </a:lnTo>
                  <a:lnTo>
                    <a:pt x="38784" y="28168"/>
                  </a:lnTo>
                  <a:lnTo>
                    <a:pt x="77492" y="5826"/>
                  </a:lnTo>
                  <a:lnTo>
                    <a:pt x="106795" y="0"/>
                  </a:lnTo>
                  <a:lnTo>
                    <a:pt x="4827154" y="0"/>
                  </a:lnTo>
                  <a:lnTo>
                    <a:pt x="4870322" y="11570"/>
                  </a:lnTo>
                  <a:lnTo>
                    <a:pt x="4905778" y="38783"/>
                  </a:lnTo>
                  <a:lnTo>
                    <a:pt x="4928118" y="77491"/>
                  </a:lnTo>
                  <a:lnTo>
                    <a:pt x="4933948" y="106793"/>
                  </a:lnTo>
                  <a:lnTo>
                    <a:pt x="4933948" y="1626752"/>
                  </a:lnTo>
                  <a:lnTo>
                    <a:pt x="4922374" y="1669922"/>
                  </a:lnTo>
                  <a:lnTo>
                    <a:pt x="4895163" y="1705376"/>
                  </a:lnTo>
                  <a:lnTo>
                    <a:pt x="4856455" y="1727717"/>
                  </a:lnTo>
                  <a:lnTo>
                    <a:pt x="4834587" y="1732816"/>
                  </a:lnTo>
                  <a:lnTo>
                    <a:pt x="4827154" y="1733548"/>
                  </a:lnTo>
                  <a:close/>
                </a:path>
              </a:pathLst>
            </a:custGeom>
            <a:solidFill>
              <a:srgbClr val="1B294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19" name="object 19"/>
            <p:cNvPicPr/>
            <p:nvPr/>
          </p:nvPicPr>
          <p:blipFill>
            <a:blip r:embed="rId7" cstate="print"/>
            <a:stretch>
              <a:fillRect/>
            </a:stretch>
          </p:blipFill>
          <p:spPr>
            <a:xfrm>
              <a:off x="7133529" y="3355974"/>
              <a:ext cx="127000" cy="107950"/>
            </a:xfrm>
            <a:prstGeom prst="rect">
              <a:avLst/>
            </a:prstGeom>
          </p:spPr>
        </p:pic>
        <p:sp>
          <p:nvSpPr>
            <p:cNvPr id="20" name="object 20"/>
            <p:cNvSpPr/>
            <p:nvPr/>
          </p:nvSpPr>
          <p:spPr>
            <a:xfrm>
              <a:off x="7124699" y="3838574"/>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21" name="object 21"/>
            <p:cNvPicPr/>
            <p:nvPr/>
          </p:nvPicPr>
          <p:blipFill>
            <a:blip r:embed="rId8" cstate="print"/>
            <a:stretch>
              <a:fillRect/>
            </a:stretch>
          </p:blipFill>
          <p:spPr>
            <a:xfrm>
              <a:off x="7124004" y="3670299"/>
              <a:ext cx="31750" cy="73025"/>
            </a:xfrm>
            <a:prstGeom prst="rect">
              <a:avLst/>
            </a:prstGeom>
          </p:spPr>
        </p:pic>
        <p:sp>
          <p:nvSpPr>
            <p:cNvPr id="22" name="object 22"/>
            <p:cNvSpPr/>
            <p:nvPr/>
          </p:nvSpPr>
          <p:spPr>
            <a:xfrm>
              <a:off x="9496424" y="3838574"/>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23" name="object 23"/>
            <p:cNvPicPr/>
            <p:nvPr/>
          </p:nvPicPr>
          <p:blipFill>
            <a:blip r:embed="rId8" cstate="print"/>
            <a:stretch>
              <a:fillRect/>
            </a:stretch>
          </p:blipFill>
          <p:spPr>
            <a:xfrm>
              <a:off x="9497515" y="3670299"/>
              <a:ext cx="31750" cy="73025"/>
            </a:xfrm>
            <a:prstGeom prst="rect">
              <a:avLst/>
            </a:prstGeom>
          </p:spPr>
        </p:pic>
        <p:sp>
          <p:nvSpPr>
            <p:cNvPr id="24" name="object 24"/>
            <p:cNvSpPr/>
            <p:nvPr/>
          </p:nvSpPr>
          <p:spPr>
            <a:xfrm>
              <a:off x="7124699" y="4133849"/>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25" name="object 25"/>
            <p:cNvPicPr/>
            <p:nvPr/>
          </p:nvPicPr>
          <p:blipFill>
            <a:blip r:embed="rId8" cstate="print"/>
            <a:stretch>
              <a:fillRect/>
            </a:stretch>
          </p:blipFill>
          <p:spPr>
            <a:xfrm>
              <a:off x="7124004" y="3956049"/>
              <a:ext cx="31750" cy="73025"/>
            </a:xfrm>
            <a:prstGeom prst="rect">
              <a:avLst/>
            </a:prstGeom>
          </p:spPr>
        </p:pic>
        <p:sp>
          <p:nvSpPr>
            <p:cNvPr id="26" name="object 26"/>
            <p:cNvSpPr/>
            <p:nvPr/>
          </p:nvSpPr>
          <p:spPr>
            <a:xfrm>
              <a:off x="9496424" y="4133849"/>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27" name="object 27"/>
            <p:cNvPicPr/>
            <p:nvPr/>
          </p:nvPicPr>
          <p:blipFill>
            <a:blip r:embed="rId8" cstate="print"/>
            <a:stretch>
              <a:fillRect/>
            </a:stretch>
          </p:blipFill>
          <p:spPr>
            <a:xfrm>
              <a:off x="9497515" y="3956049"/>
              <a:ext cx="31750" cy="73025"/>
            </a:xfrm>
            <a:prstGeom prst="rect">
              <a:avLst/>
            </a:prstGeom>
          </p:spPr>
        </p:pic>
        <p:sp>
          <p:nvSpPr>
            <p:cNvPr id="28" name="object 28"/>
            <p:cNvSpPr/>
            <p:nvPr/>
          </p:nvSpPr>
          <p:spPr>
            <a:xfrm>
              <a:off x="7124699" y="4419599"/>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29" name="object 29"/>
            <p:cNvPicPr/>
            <p:nvPr/>
          </p:nvPicPr>
          <p:blipFill>
            <a:blip r:embed="rId8" cstate="print"/>
            <a:stretch>
              <a:fillRect/>
            </a:stretch>
          </p:blipFill>
          <p:spPr>
            <a:xfrm>
              <a:off x="7124004" y="4251324"/>
              <a:ext cx="31750" cy="73025"/>
            </a:xfrm>
            <a:prstGeom prst="rect">
              <a:avLst/>
            </a:prstGeom>
          </p:spPr>
        </p:pic>
        <p:sp>
          <p:nvSpPr>
            <p:cNvPr id="30" name="object 30"/>
            <p:cNvSpPr/>
            <p:nvPr/>
          </p:nvSpPr>
          <p:spPr>
            <a:xfrm>
              <a:off x="9496424" y="4419599"/>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31" name="object 31"/>
            <p:cNvPicPr/>
            <p:nvPr/>
          </p:nvPicPr>
          <p:blipFill>
            <a:blip r:embed="rId8" cstate="print"/>
            <a:stretch>
              <a:fillRect/>
            </a:stretch>
          </p:blipFill>
          <p:spPr>
            <a:xfrm>
              <a:off x="9497515" y="4251324"/>
              <a:ext cx="31750" cy="73025"/>
            </a:xfrm>
            <a:prstGeom prst="rect">
              <a:avLst/>
            </a:prstGeom>
          </p:spPr>
        </p:pic>
        <p:sp>
          <p:nvSpPr>
            <p:cNvPr id="32" name="object 32"/>
            <p:cNvSpPr/>
            <p:nvPr/>
          </p:nvSpPr>
          <p:spPr>
            <a:xfrm>
              <a:off x="7124699" y="4705349"/>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33" name="object 33"/>
            <p:cNvPicPr/>
            <p:nvPr/>
          </p:nvPicPr>
          <p:blipFill>
            <a:blip r:embed="rId8" cstate="print"/>
            <a:stretch>
              <a:fillRect/>
            </a:stretch>
          </p:blipFill>
          <p:spPr>
            <a:xfrm>
              <a:off x="7124004" y="4537074"/>
              <a:ext cx="31750" cy="73025"/>
            </a:xfrm>
            <a:prstGeom prst="rect">
              <a:avLst/>
            </a:prstGeom>
          </p:spPr>
        </p:pic>
        <p:sp>
          <p:nvSpPr>
            <p:cNvPr id="34" name="object 34"/>
            <p:cNvSpPr/>
            <p:nvPr/>
          </p:nvSpPr>
          <p:spPr>
            <a:xfrm>
              <a:off x="9496424" y="4705349"/>
              <a:ext cx="2219325" cy="9525"/>
            </a:xfrm>
            <a:custGeom>
              <a:avLst/>
              <a:gdLst/>
              <a:ahLst/>
              <a:cxnLst/>
              <a:rect l="l" t="t" r="r" b="b"/>
              <a:pathLst>
                <a:path w="2219325" h="9525">
                  <a:moveTo>
                    <a:pt x="2219324" y="9524"/>
                  </a:moveTo>
                  <a:lnTo>
                    <a:pt x="0" y="9524"/>
                  </a:lnTo>
                  <a:lnTo>
                    <a:pt x="0" y="0"/>
                  </a:lnTo>
                  <a:lnTo>
                    <a:pt x="2219324" y="0"/>
                  </a:lnTo>
                  <a:lnTo>
                    <a:pt x="2219324" y="9524"/>
                  </a:lnTo>
                  <a:close/>
                </a:path>
              </a:pathLst>
            </a:custGeom>
            <a:solidFill>
              <a:srgbClr val="FFFFFF">
                <a:alpha val="7839"/>
              </a:srgbClr>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pic>
          <p:nvPicPr>
            <p:cNvPr id="35" name="object 35"/>
            <p:cNvPicPr/>
            <p:nvPr/>
          </p:nvPicPr>
          <p:blipFill>
            <a:blip r:embed="rId8" cstate="print"/>
            <a:stretch>
              <a:fillRect/>
            </a:stretch>
          </p:blipFill>
          <p:spPr>
            <a:xfrm>
              <a:off x="9497515" y="4537074"/>
              <a:ext cx="31750" cy="73025"/>
            </a:xfrm>
            <a:prstGeom prst="rect">
              <a:avLst/>
            </a:prstGeom>
          </p:spPr>
        </p:pic>
      </p:grpSp>
      <p:sp>
        <p:nvSpPr>
          <p:cNvPr id="36" name="object 36"/>
          <p:cNvSpPr txBox="1"/>
          <p:nvPr/>
        </p:nvSpPr>
        <p:spPr>
          <a:xfrm>
            <a:off x="7238812" y="4470253"/>
            <a:ext cx="3385185" cy="1445909"/>
          </a:xfrm>
          <a:prstGeom prst="rect">
            <a:avLst/>
          </a:prstGeom>
        </p:spPr>
        <p:txBody>
          <a:bodyPr vert="horz" wrap="square" lIns="0" tIns="12065" rIns="0" bIns="0" rtlCol="0">
            <a:spAutoFit/>
          </a:bodyPr>
          <a:lstStyle/>
          <a:p>
            <a:pPr marL="90170">
              <a:lnSpc>
                <a:spcPct val="100000"/>
              </a:lnSpc>
              <a:spcBef>
                <a:spcPts val="95"/>
              </a:spcBef>
            </a:pPr>
            <a:r>
              <a:rPr sz="1100" b="1" spc="290" dirty="0">
                <a:solidFill>
                  <a:srgbClr val="FFFFFF"/>
                </a:solidFill>
                <a:latin typeface="Times New Roman" panose="02020603050405020304" pitchFamily="18" charset="0"/>
                <a:cs typeface="Times New Roman" panose="02020603050405020304" pitchFamily="18" charset="0"/>
              </a:rPr>
              <a:t>Architecture</a:t>
            </a:r>
            <a:r>
              <a:rPr sz="1100" b="1" spc="-35" dirty="0">
                <a:solidFill>
                  <a:srgbClr val="FFFFFF"/>
                </a:solidFill>
                <a:latin typeface="Times New Roman" panose="02020603050405020304" pitchFamily="18" charset="0"/>
                <a:cs typeface="Times New Roman" panose="02020603050405020304" pitchFamily="18" charset="0"/>
              </a:rPr>
              <a:t> </a:t>
            </a:r>
            <a:r>
              <a:rPr sz="1100" b="1" spc="365" dirty="0">
                <a:solidFill>
                  <a:srgbClr val="FFFFFF"/>
                </a:solidFill>
                <a:latin typeface="Times New Roman" panose="02020603050405020304" pitchFamily="18" charset="0"/>
                <a:cs typeface="Times New Roman" panose="02020603050405020304" pitchFamily="18" charset="0"/>
              </a:rPr>
              <a:t>des</a:t>
            </a:r>
            <a:r>
              <a:rPr sz="1100" b="1" spc="-15" dirty="0">
                <a:solidFill>
                  <a:srgbClr val="FFFFFF"/>
                </a:solidFill>
                <a:latin typeface="Times New Roman" panose="02020603050405020304" pitchFamily="18" charset="0"/>
                <a:cs typeface="Times New Roman" panose="02020603050405020304" pitchFamily="18" charset="0"/>
              </a:rPr>
              <a:t> </a:t>
            </a:r>
            <a:r>
              <a:rPr sz="1100" b="1" spc="235" dirty="0">
                <a:solidFill>
                  <a:srgbClr val="FFFFFF"/>
                </a:solidFill>
                <a:latin typeface="Times New Roman" panose="02020603050405020304" pitchFamily="18" charset="0"/>
                <a:cs typeface="Times New Roman" panose="02020603050405020304" pitchFamily="18" charset="0"/>
              </a:rPr>
              <a:t>fichiers</a:t>
            </a:r>
            <a:endParaRPr sz="1100" dirty="0">
              <a:latin typeface="Times New Roman" panose="02020603050405020304" pitchFamily="18" charset="0"/>
              <a:cs typeface="Times New Roman" panose="02020603050405020304" pitchFamily="18" charset="0"/>
            </a:endParaRPr>
          </a:p>
          <a:p>
            <a:pPr>
              <a:lnSpc>
                <a:spcPct val="100000"/>
              </a:lnSpc>
              <a:spcBef>
                <a:spcPts val="170"/>
              </a:spcBef>
            </a:pPr>
            <a:endParaRPr sz="1000" dirty="0">
              <a:latin typeface="Times New Roman" panose="02020603050405020304" pitchFamily="18" charset="0"/>
              <a:cs typeface="Times New Roman" panose="02020603050405020304" pitchFamily="18" charset="0"/>
            </a:endParaRPr>
          </a:p>
          <a:p>
            <a:pPr marL="12700">
              <a:lnSpc>
                <a:spcPct val="100000"/>
              </a:lnSpc>
              <a:tabLst>
                <a:tab pos="2385695" algn="l"/>
              </a:tabLst>
            </a:pPr>
            <a:r>
              <a:rPr sz="900" spc="-10" dirty="0">
                <a:solidFill>
                  <a:srgbClr val="FEFEFE"/>
                </a:solidFill>
                <a:latin typeface="Times New Roman" panose="02020603050405020304" pitchFamily="18" charset="0"/>
                <a:cs typeface="Times New Roman" panose="02020603050405020304" pitchFamily="18" charset="0"/>
              </a:rPr>
              <a:t>index.html</a:t>
            </a:r>
            <a:r>
              <a:rPr sz="900" dirty="0">
                <a:solidFill>
                  <a:srgbClr val="FEFEFE"/>
                </a:solidFill>
                <a:latin typeface="Times New Roman" panose="02020603050405020304" pitchFamily="18" charset="0"/>
                <a:cs typeface="Times New Roman" panose="02020603050405020304" pitchFamily="18" charset="0"/>
              </a:rPr>
              <a:t>	</a:t>
            </a:r>
            <a:r>
              <a:rPr sz="900" spc="-10" dirty="0">
                <a:solidFill>
                  <a:srgbClr val="FEFEFE"/>
                </a:solidFill>
                <a:latin typeface="Times New Roman" panose="02020603050405020304" pitchFamily="18" charset="0"/>
                <a:cs typeface="Times New Roman" panose="02020603050405020304" pitchFamily="18" charset="0"/>
              </a:rPr>
              <a:t>freelances.html</a:t>
            </a:r>
            <a:endParaRPr sz="900" dirty="0">
              <a:latin typeface="Times New Roman" panose="02020603050405020304" pitchFamily="18" charset="0"/>
              <a:cs typeface="Times New Roman" panose="02020603050405020304" pitchFamily="18" charset="0"/>
            </a:endParaRPr>
          </a:p>
          <a:p>
            <a:pPr>
              <a:lnSpc>
                <a:spcPct val="100000"/>
              </a:lnSpc>
              <a:spcBef>
                <a:spcPts val="265"/>
              </a:spcBef>
            </a:pPr>
            <a:endParaRPr sz="900" dirty="0">
              <a:latin typeface="Times New Roman" panose="02020603050405020304" pitchFamily="18" charset="0"/>
              <a:cs typeface="Times New Roman" panose="02020603050405020304" pitchFamily="18" charset="0"/>
            </a:endParaRPr>
          </a:p>
          <a:p>
            <a:pPr marL="12700">
              <a:lnSpc>
                <a:spcPct val="100000"/>
              </a:lnSpc>
              <a:spcBef>
                <a:spcPts val="5"/>
              </a:spcBef>
              <a:tabLst>
                <a:tab pos="2385695" algn="l"/>
              </a:tabLst>
            </a:pPr>
            <a:r>
              <a:rPr sz="900" spc="-10" dirty="0">
                <a:solidFill>
                  <a:srgbClr val="FEFEFE"/>
                </a:solidFill>
                <a:latin typeface="Times New Roman" panose="02020603050405020304" pitchFamily="18" charset="0"/>
                <a:cs typeface="Times New Roman" panose="02020603050405020304" pitchFamily="18" charset="0"/>
              </a:rPr>
              <a:t>tarifs.html</a:t>
            </a:r>
            <a:r>
              <a:rPr sz="900" dirty="0">
                <a:solidFill>
                  <a:srgbClr val="FEFEFE"/>
                </a:solidFill>
                <a:latin typeface="Times New Roman" panose="02020603050405020304" pitchFamily="18" charset="0"/>
                <a:cs typeface="Times New Roman" panose="02020603050405020304" pitchFamily="18" charset="0"/>
              </a:rPr>
              <a:t>	</a:t>
            </a:r>
            <a:r>
              <a:rPr sz="900" spc="-10" dirty="0">
                <a:solidFill>
                  <a:srgbClr val="FEFEFE"/>
                </a:solidFill>
                <a:latin typeface="Times New Roman" panose="02020603050405020304" pitchFamily="18" charset="0"/>
                <a:cs typeface="Times New Roman" panose="02020603050405020304" pitchFamily="18" charset="0"/>
              </a:rPr>
              <a:t>about.html</a:t>
            </a:r>
            <a:endParaRPr sz="900" dirty="0">
              <a:latin typeface="Times New Roman" panose="02020603050405020304" pitchFamily="18" charset="0"/>
              <a:cs typeface="Times New Roman" panose="02020603050405020304" pitchFamily="18" charset="0"/>
            </a:endParaRPr>
          </a:p>
          <a:p>
            <a:pPr>
              <a:lnSpc>
                <a:spcPct val="100000"/>
              </a:lnSpc>
              <a:spcBef>
                <a:spcPts val="340"/>
              </a:spcBef>
            </a:pPr>
            <a:endParaRPr sz="900" dirty="0">
              <a:latin typeface="Times New Roman" panose="02020603050405020304" pitchFamily="18" charset="0"/>
              <a:cs typeface="Times New Roman" panose="02020603050405020304" pitchFamily="18" charset="0"/>
            </a:endParaRPr>
          </a:p>
          <a:p>
            <a:pPr marL="12700">
              <a:lnSpc>
                <a:spcPct val="100000"/>
              </a:lnSpc>
              <a:tabLst>
                <a:tab pos="2385695" algn="l"/>
              </a:tabLst>
            </a:pPr>
            <a:r>
              <a:rPr sz="900" spc="-10" dirty="0">
                <a:solidFill>
                  <a:srgbClr val="FEFEFE"/>
                </a:solidFill>
                <a:latin typeface="Times New Roman" panose="02020603050405020304" pitchFamily="18" charset="0"/>
                <a:cs typeface="Times New Roman" panose="02020603050405020304" pitchFamily="18" charset="0"/>
              </a:rPr>
              <a:t>contact.html</a:t>
            </a:r>
            <a:r>
              <a:rPr sz="900" dirty="0">
                <a:solidFill>
                  <a:srgbClr val="FEFEFE"/>
                </a:solidFill>
                <a:latin typeface="Times New Roman" panose="02020603050405020304" pitchFamily="18" charset="0"/>
                <a:cs typeface="Times New Roman" panose="02020603050405020304" pitchFamily="18" charset="0"/>
              </a:rPr>
              <a:t>	</a:t>
            </a:r>
            <a:r>
              <a:rPr sz="900" spc="-10" dirty="0">
                <a:solidFill>
                  <a:srgbClr val="FEFEFE"/>
                </a:solidFill>
                <a:latin typeface="Times New Roman" panose="02020603050405020304" pitchFamily="18" charset="0"/>
                <a:cs typeface="Times New Roman" panose="02020603050405020304" pitchFamily="18" charset="0"/>
              </a:rPr>
              <a:t>css/style.css</a:t>
            </a:r>
            <a:endParaRPr sz="900" dirty="0">
              <a:latin typeface="Times New Roman" panose="02020603050405020304" pitchFamily="18" charset="0"/>
              <a:cs typeface="Times New Roman" panose="02020603050405020304" pitchFamily="18" charset="0"/>
            </a:endParaRPr>
          </a:p>
          <a:p>
            <a:pPr>
              <a:lnSpc>
                <a:spcPct val="100000"/>
              </a:lnSpc>
              <a:spcBef>
                <a:spcPts val="265"/>
              </a:spcBef>
            </a:pPr>
            <a:endParaRPr sz="900" dirty="0">
              <a:latin typeface="Times New Roman" panose="02020603050405020304" pitchFamily="18" charset="0"/>
              <a:cs typeface="Times New Roman" panose="02020603050405020304" pitchFamily="18" charset="0"/>
            </a:endParaRPr>
          </a:p>
          <a:p>
            <a:pPr marL="12700">
              <a:lnSpc>
                <a:spcPct val="100000"/>
              </a:lnSpc>
              <a:tabLst>
                <a:tab pos="2385695" algn="l"/>
              </a:tabLst>
            </a:pPr>
            <a:r>
              <a:rPr sz="900" spc="-10" dirty="0">
                <a:solidFill>
                  <a:srgbClr val="FEFEFE"/>
                </a:solidFill>
                <a:latin typeface="Times New Roman" panose="02020603050405020304" pitchFamily="18" charset="0"/>
                <a:cs typeface="Times New Roman" panose="02020603050405020304" pitchFamily="18" charset="0"/>
              </a:rPr>
              <a:t>js/main.js</a:t>
            </a:r>
            <a:r>
              <a:rPr sz="900" dirty="0">
                <a:solidFill>
                  <a:srgbClr val="FEFEFE"/>
                </a:solidFill>
                <a:latin typeface="Times New Roman" panose="02020603050405020304" pitchFamily="18" charset="0"/>
                <a:cs typeface="Times New Roman" panose="02020603050405020304" pitchFamily="18" charset="0"/>
              </a:rPr>
              <a:t>	</a:t>
            </a:r>
            <a:r>
              <a:rPr sz="900" spc="-10" dirty="0">
                <a:solidFill>
                  <a:srgbClr val="FEFEFE"/>
                </a:solidFill>
                <a:latin typeface="Times New Roman" panose="02020603050405020304" pitchFamily="18" charset="0"/>
                <a:cs typeface="Times New Roman" panose="02020603050405020304" pitchFamily="18" charset="0"/>
              </a:rPr>
              <a:t>images/</a:t>
            </a:r>
            <a:endParaRPr sz="900" dirty="0">
              <a:latin typeface="Times New Roman" panose="02020603050405020304" pitchFamily="18" charset="0"/>
              <a:cs typeface="Times New Roman" panose="02020603050405020304" pitchFamily="18" charset="0"/>
            </a:endParaRPr>
          </a:p>
        </p:txBody>
      </p:sp>
      <p:sp>
        <p:nvSpPr>
          <p:cNvPr id="37" name="object 37"/>
          <p:cNvSpPr txBox="1"/>
          <p:nvPr/>
        </p:nvSpPr>
        <p:spPr>
          <a:xfrm>
            <a:off x="1301750" y="3164686"/>
            <a:ext cx="4745355" cy="837409"/>
          </a:xfrm>
          <a:prstGeom prst="rect">
            <a:avLst/>
          </a:prstGeom>
        </p:spPr>
        <p:txBody>
          <a:bodyPr vert="horz" wrap="square" lIns="0" tIns="67310" rIns="0" bIns="0" rtlCol="0">
            <a:spAutoFit/>
          </a:bodyPr>
          <a:lstStyle/>
          <a:p>
            <a:pPr marL="12700">
              <a:lnSpc>
                <a:spcPct val="100000"/>
              </a:lnSpc>
              <a:spcBef>
                <a:spcPts val="530"/>
              </a:spcBef>
            </a:pPr>
            <a:r>
              <a:rPr sz="1000" b="1" spc="-30" dirty="0">
                <a:solidFill>
                  <a:srgbClr val="3A4556"/>
                </a:solidFill>
                <a:latin typeface="Times New Roman" panose="02020603050405020304" pitchFamily="18" charset="0"/>
                <a:cs typeface="Times New Roman" panose="02020603050405020304" pitchFamily="18" charset="0"/>
              </a:rPr>
              <a:t>Bootstrap</a:t>
            </a:r>
            <a:r>
              <a:rPr sz="1000" b="1" spc="-40" dirty="0">
                <a:solidFill>
                  <a:srgbClr val="3A4556"/>
                </a:solidFill>
                <a:latin typeface="Times New Roman" panose="02020603050405020304" pitchFamily="18" charset="0"/>
                <a:cs typeface="Times New Roman" panose="02020603050405020304" pitchFamily="18" charset="0"/>
              </a:rPr>
              <a:t> </a:t>
            </a:r>
            <a:r>
              <a:rPr sz="1000" b="1" dirty="0">
                <a:solidFill>
                  <a:srgbClr val="3A4556"/>
                </a:solidFill>
                <a:latin typeface="Times New Roman" panose="02020603050405020304" pitchFamily="18" charset="0"/>
                <a:cs typeface="Times New Roman" panose="02020603050405020304" pitchFamily="18" charset="0"/>
              </a:rPr>
              <a:t>5.3.3</a:t>
            </a:r>
            <a:r>
              <a:rPr sz="1000" b="1" spc="15" dirty="0">
                <a:solidFill>
                  <a:srgbClr val="3A4556"/>
                </a:solidFill>
                <a:latin typeface="Times New Roman" panose="02020603050405020304" pitchFamily="18" charset="0"/>
                <a:cs typeface="Times New Roman" panose="02020603050405020304" pitchFamily="18" charset="0"/>
              </a:rPr>
              <a:t> </a:t>
            </a:r>
            <a:r>
              <a:rPr sz="1000" spc="434" dirty="0">
                <a:solidFill>
                  <a:srgbClr val="3A4556"/>
                </a:solidFill>
                <a:latin typeface="Times New Roman" panose="02020603050405020304" pitchFamily="18" charset="0"/>
                <a:cs typeface="Times New Roman" panose="02020603050405020304" pitchFamily="18" charset="0"/>
              </a:rPr>
              <a:t>—</a:t>
            </a:r>
            <a:r>
              <a:rPr sz="1000" spc="-6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Framework </a:t>
            </a:r>
            <a:r>
              <a:rPr sz="1000" spc="-60" dirty="0">
                <a:solidFill>
                  <a:srgbClr val="3A4556"/>
                </a:solidFill>
                <a:latin typeface="Times New Roman" panose="02020603050405020304" pitchFamily="18" charset="0"/>
                <a:cs typeface="Times New Roman" panose="02020603050405020304" pitchFamily="18" charset="0"/>
              </a:rPr>
              <a:t>CSS</a:t>
            </a:r>
            <a:r>
              <a:rPr sz="1000" spc="4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responsive</a:t>
            </a:r>
            <a:r>
              <a:rPr sz="1000" spc="3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avec</a:t>
            </a:r>
            <a:r>
              <a:rPr sz="1000" spc="3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composants</a:t>
            </a:r>
            <a:r>
              <a:rPr sz="1000" spc="45" dirty="0">
                <a:solidFill>
                  <a:srgbClr val="3A4556"/>
                </a:solidFill>
                <a:latin typeface="Times New Roman" panose="02020603050405020304" pitchFamily="18" charset="0"/>
                <a:cs typeface="Times New Roman" panose="02020603050405020304" pitchFamily="18" charset="0"/>
              </a:rPr>
              <a:t> </a:t>
            </a:r>
            <a:r>
              <a:rPr sz="1000" spc="-25" dirty="0">
                <a:solidFill>
                  <a:srgbClr val="3A4556"/>
                </a:solidFill>
                <a:latin typeface="Times New Roman" panose="02020603050405020304" pitchFamily="18" charset="0"/>
                <a:cs typeface="Times New Roman" panose="02020603050405020304" pitchFamily="18" charset="0"/>
              </a:rPr>
              <a:t>UI</a:t>
            </a:r>
            <a:endParaRPr sz="1000">
              <a:latin typeface="Times New Roman" panose="02020603050405020304" pitchFamily="18" charset="0"/>
              <a:cs typeface="Times New Roman" panose="02020603050405020304" pitchFamily="18" charset="0"/>
            </a:endParaRPr>
          </a:p>
          <a:p>
            <a:pPr marL="12700">
              <a:lnSpc>
                <a:spcPct val="100000"/>
              </a:lnSpc>
              <a:spcBef>
                <a:spcPts val="434"/>
              </a:spcBef>
            </a:pPr>
            <a:r>
              <a:rPr sz="1000" b="1" spc="-30" dirty="0">
                <a:solidFill>
                  <a:srgbClr val="3A4556"/>
                </a:solidFill>
                <a:latin typeface="Times New Roman" panose="02020603050405020304" pitchFamily="18" charset="0"/>
                <a:cs typeface="Times New Roman" panose="02020603050405020304" pitchFamily="18" charset="0"/>
              </a:rPr>
              <a:t>Bootstrap</a:t>
            </a:r>
            <a:r>
              <a:rPr sz="1000" b="1" spc="-40" dirty="0">
                <a:solidFill>
                  <a:srgbClr val="3A4556"/>
                </a:solidFill>
                <a:latin typeface="Times New Roman" panose="02020603050405020304" pitchFamily="18" charset="0"/>
                <a:cs typeface="Times New Roman" panose="02020603050405020304" pitchFamily="18" charset="0"/>
              </a:rPr>
              <a:t> </a:t>
            </a:r>
            <a:r>
              <a:rPr sz="1000" b="1" spc="-25" dirty="0">
                <a:solidFill>
                  <a:srgbClr val="3A4556"/>
                </a:solidFill>
                <a:latin typeface="Times New Roman" panose="02020603050405020304" pitchFamily="18" charset="0"/>
                <a:cs typeface="Times New Roman" panose="02020603050405020304" pitchFamily="18" charset="0"/>
              </a:rPr>
              <a:t>Icons</a:t>
            </a:r>
            <a:r>
              <a:rPr sz="1000" b="1" spc="-35" dirty="0">
                <a:solidFill>
                  <a:srgbClr val="3A4556"/>
                </a:solidFill>
                <a:latin typeface="Times New Roman" panose="02020603050405020304" pitchFamily="18" charset="0"/>
                <a:cs typeface="Times New Roman" panose="02020603050405020304" pitchFamily="18" charset="0"/>
              </a:rPr>
              <a:t> </a:t>
            </a:r>
            <a:r>
              <a:rPr sz="1000" b="1" spc="-70" dirty="0">
                <a:solidFill>
                  <a:srgbClr val="3A4556"/>
                </a:solidFill>
                <a:latin typeface="Times New Roman" panose="02020603050405020304" pitchFamily="18" charset="0"/>
                <a:cs typeface="Times New Roman" panose="02020603050405020304" pitchFamily="18" charset="0"/>
              </a:rPr>
              <a:t>1.11.3</a:t>
            </a:r>
            <a:r>
              <a:rPr sz="1000" b="1" spc="15" dirty="0">
                <a:solidFill>
                  <a:srgbClr val="3A4556"/>
                </a:solidFill>
                <a:latin typeface="Times New Roman" panose="02020603050405020304" pitchFamily="18" charset="0"/>
                <a:cs typeface="Times New Roman" panose="02020603050405020304" pitchFamily="18" charset="0"/>
              </a:rPr>
              <a:t> </a:t>
            </a:r>
            <a:r>
              <a:rPr sz="1000" spc="434" dirty="0">
                <a:solidFill>
                  <a:srgbClr val="3A4556"/>
                </a:solidFill>
                <a:latin typeface="Times New Roman" panose="02020603050405020304" pitchFamily="18" charset="0"/>
                <a:cs typeface="Times New Roman" panose="02020603050405020304" pitchFamily="18" charset="0"/>
              </a:rPr>
              <a:t>—</a:t>
            </a:r>
            <a:r>
              <a:rPr sz="1000" spc="-7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Bibliothèque</a:t>
            </a:r>
            <a:r>
              <a:rPr sz="1000" spc="3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d'</a:t>
            </a:r>
            <a:r>
              <a:rPr sz="1000" spc="-155" dirty="0">
                <a:solidFill>
                  <a:srgbClr val="3A4556"/>
                </a:solidFill>
                <a:latin typeface="Times New Roman" panose="02020603050405020304" pitchFamily="18" charset="0"/>
                <a:cs typeface="Times New Roman" panose="02020603050405020304" pitchFamily="18" charset="0"/>
              </a:rPr>
              <a:t> </a:t>
            </a:r>
            <a:r>
              <a:rPr sz="1000" spc="-10" dirty="0">
                <a:solidFill>
                  <a:srgbClr val="3A4556"/>
                </a:solidFill>
                <a:latin typeface="Times New Roman" panose="02020603050405020304" pitchFamily="18" charset="0"/>
                <a:cs typeface="Times New Roman" panose="02020603050405020304" pitchFamily="18" charset="0"/>
              </a:rPr>
              <a:t>icônes</a:t>
            </a:r>
            <a:endParaRPr sz="1000">
              <a:latin typeface="Times New Roman" panose="02020603050405020304" pitchFamily="18" charset="0"/>
              <a:cs typeface="Times New Roman" panose="02020603050405020304" pitchFamily="18" charset="0"/>
            </a:endParaRPr>
          </a:p>
          <a:p>
            <a:pPr marL="12700">
              <a:lnSpc>
                <a:spcPct val="100000"/>
              </a:lnSpc>
              <a:spcBef>
                <a:spcPts val="434"/>
              </a:spcBef>
            </a:pPr>
            <a:r>
              <a:rPr sz="1000" b="1" spc="-35" dirty="0">
                <a:solidFill>
                  <a:srgbClr val="3A4556"/>
                </a:solidFill>
                <a:latin typeface="Times New Roman" panose="02020603050405020304" pitchFamily="18" charset="0"/>
                <a:cs typeface="Times New Roman" panose="02020603050405020304" pitchFamily="18" charset="0"/>
              </a:rPr>
              <a:t>Google</a:t>
            </a:r>
            <a:r>
              <a:rPr sz="1000" b="1" spc="-65" dirty="0">
                <a:solidFill>
                  <a:srgbClr val="3A4556"/>
                </a:solidFill>
                <a:latin typeface="Times New Roman" panose="02020603050405020304" pitchFamily="18" charset="0"/>
                <a:cs typeface="Times New Roman" panose="02020603050405020304" pitchFamily="18" charset="0"/>
              </a:rPr>
              <a:t> </a:t>
            </a:r>
            <a:r>
              <a:rPr sz="1000" b="1" spc="-30" dirty="0">
                <a:solidFill>
                  <a:srgbClr val="3A4556"/>
                </a:solidFill>
                <a:latin typeface="Times New Roman" panose="02020603050405020304" pitchFamily="18" charset="0"/>
                <a:cs typeface="Times New Roman" panose="02020603050405020304" pitchFamily="18" charset="0"/>
              </a:rPr>
              <a:t>Fonts</a:t>
            </a:r>
            <a:r>
              <a:rPr sz="1000" b="1" spc="-20" dirty="0">
                <a:solidFill>
                  <a:srgbClr val="3A4556"/>
                </a:solidFill>
                <a:latin typeface="Times New Roman" panose="02020603050405020304" pitchFamily="18" charset="0"/>
                <a:cs typeface="Times New Roman" panose="02020603050405020304" pitchFamily="18" charset="0"/>
              </a:rPr>
              <a:t> </a:t>
            </a:r>
            <a:r>
              <a:rPr sz="1000" spc="434" dirty="0">
                <a:solidFill>
                  <a:srgbClr val="3A4556"/>
                </a:solidFill>
                <a:latin typeface="Times New Roman" panose="02020603050405020304" pitchFamily="18" charset="0"/>
                <a:cs typeface="Times New Roman" panose="02020603050405020304" pitchFamily="18" charset="0"/>
              </a:rPr>
              <a:t>—</a:t>
            </a:r>
            <a:r>
              <a:rPr sz="1000" spc="-9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Syne</a:t>
            </a:r>
            <a:r>
              <a:rPr sz="1000" spc="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t>
            </a:r>
            <a:r>
              <a:rPr sz="1000" spc="4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Inter pour</a:t>
            </a:r>
            <a:r>
              <a:rPr sz="1000" spc="-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la</a:t>
            </a:r>
            <a:r>
              <a:rPr sz="1000" spc="35" dirty="0">
                <a:solidFill>
                  <a:srgbClr val="3A4556"/>
                </a:solidFill>
                <a:latin typeface="Times New Roman" panose="02020603050405020304" pitchFamily="18" charset="0"/>
                <a:cs typeface="Times New Roman" panose="02020603050405020304" pitchFamily="18" charset="0"/>
              </a:rPr>
              <a:t> </a:t>
            </a:r>
            <a:r>
              <a:rPr sz="1000" spc="-10" dirty="0">
                <a:solidFill>
                  <a:srgbClr val="3A4556"/>
                </a:solidFill>
                <a:latin typeface="Times New Roman" panose="02020603050405020304" pitchFamily="18" charset="0"/>
                <a:cs typeface="Times New Roman" panose="02020603050405020304" pitchFamily="18" charset="0"/>
              </a:rPr>
              <a:t>typographie</a:t>
            </a:r>
            <a:endParaRPr sz="1000">
              <a:latin typeface="Times New Roman" panose="02020603050405020304" pitchFamily="18" charset="0"/>
              <a:cs typeface="Times New Roman" panose="02020603050405020304" pitchFamily="18" charset="0"/>
            </a:endParaRPr>
          </a:p>
          <a:p>
            <a:pPr marL="12700">
              <a:lnSpc>
                <a:spcPct val="100000"/>
              </a:lnSpc>
              <a:spcBef>
                <a:spcPts val="434"/>
              </a:spcBef>
            </a:pPr>
            <a:r>
              <a:rPr sz="1000" dirty="0">
                <a:solidFill>
                  <a:srgbClr val="3A4556"/>
                </a:solidFill>
                <a:latin typeface="Times New Roman" panose="02020603050405020304" pitchFamily="18" charset="0"/>
                <a:cs typeface="Times New Roman" panose="02020603050405020304" pitchFamily="18" charset="0"/>
              </a:rPr>
              <a:t>JavaScript</a:t>
            </a:r>
            <a:r>
              <a:rPr sz="1000" spc="-1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t>
            </a:r>
            <a:r>
              <a:rPr sz="1000" spc="5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compteurs animés,</a:t>
            </a:r>
            <a:r>
              <a:rPr sz="1000" spc="6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mode sombre,</a:t>
            </a:r>
            <a:r>
              <a:rPr sz="1000" spc="5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filtrage,</a:t>
            </a:r>
            <a:r>
              <a:rPr sz="1000" spc="6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animations scroll,</a:t>
            </a:r>
            <a:r>
              <a:rPr sz="1000" spc="60"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retour</a:t>
            </a:r>
            <a:r>
              <a:rPr sz="1000" spc="-5" dirty="0">
                <a:solidFill>
                  <a:srgbClr val="3A4556"/>
                </a:solidFill>
                <a:latin typeface="Times New Roman" panose="02020603050405020304" pitchFamily="18" charset="0"/>
                <a:cs typeface="Times New Roman" panose="02020603050405020304" pitchFamily="18" charset="0"/>
              </a:rPr>
              <a:t> </a:t>
            </a:r>
            <a:r>
              <a:rPr sz="1000" dirty="0">
                <a:solidFill>
                  <a:srgbClr val="3A4556"/>
                </a:solidFill>
                <a:latin typeface="Times New Roman" panose="02020603050405020304" pitchFamily="18" charset="0"/>
                <a:cs typeface="Times New Roman" panose="02020603050405020304" pitchFamily="18" charset="0"/>
              </a:rPr>
              <a:t>en</a:t>
            </a:r>
            <a:r>
              <a:rPr sz="1000" spc="25" dirty="0">
                <a:solidFill>
                  <a:srgbClr val="3A4556"/>
                </a:solidFill>
                <a:latin typeface="Times New Roman" panose="02020603050405020304" pitchFamily="18" charset="0"/>
                <a:cs typeface="Times New Roman" panose="02020603050405020304" pitchFamily="18" charset="0"/>
              </a:rPr>
              <a:t> </a:t>
            </a:r>
            <a:r>
              <a:rPr sz="1000" spc="-20" dirty="0">
                <a:solidFill>
                  <a:srgbClr val="3A4556"/>
                </a:solidFill>
                <a:latin typeface="Times New Roman" panose="02020603050405020304" pitchFamily="18" charset="0"/>
                <a:cs typeface="Times New Roman" panose="02020603050405020304" pitchFamily="18" charset="0"/>
              </a:rPr>
              <a:t>haut</a:t>
            </a:r>
            <a:endParaRPr sz="1000">
              <a:latin typeface="Times New Roman" panose="02020603050405020304" pitchFamily="18" charset="0"/>
              <a:cs typeface="Times New Roman" panose="02020603050405020304" pitchFamily="18" charset="0"/>
            </a:endParaRPr>
          </a:p>
        </p:txBody>
      </p:sp>
      <p:sp>
        <p:nvSpPr>
          <p:cNvPr id="38" name="object 38"/>
          <p:cNvSpPr/>
          <p:nvPr/>
        </p:nvSpPr>
        <p:spPr>
          <a:xfrm>
            <a:off x="1181099" y="3295649"/>
            <a:ext cx="47625" cy="47625"/>
          </a:xfrm>
          <a:custGeom>
            <a:avLst/>
            <a:gdLst/>
            <a:ahLst/>
            <a:cxnLst/>
            <a:rect l="l" t="t" r="r" b="b"/>
            <a:pathLst>
              <a:path w="47625" h="47625">
                <a:moveTo>
                  <a:pt x="26970" y="47623"/>
                </a:moveTo>
                <a:lnTo>
                  <a:pt x="20654" y="47623"/>
                </a:lnTo>
                <a:lnTo>
                  <a:pt x="17617" y="47019"/>
                </a:lnTo>
                <a:lnTo>
                  <a:pt x="0" y="26969"/>
                </a:lnTo>
                <a:lnTo>
                  <a:pt x="0" y="20653"/>
                </a:lnTo>
                <a:lnTo>
                  <a:pt x="20654" y="0"/>
                </a:lnTo>
                <a:lnTo>
                  <a:pt x="26970" y="0"/>
                </a:lnTo>
                <a:lnTo>
                  <a:pt x="47625" y="23812"/>
                </a:lnTo>
                <a:lnTo>
                  <a:pt x="47624" y="26969"/>
                </a:lnTo>
                <a:lnTo>
                  <a:pt x="26970" y="47623"/>
                </a:lnTo>
                <a:close/>
              </a:path>
            </a:pathLst>
          </a:custGeom>
          <a:solidFill>
            <a:srgbClr val="E7863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39" name="object 39"/>
          <p:cNvSpPr/>
          <p:nvPr/>
        </p:nvSpPr>
        <p:spPr>
          <a:xfrm>
            <a:off x="1181099" y="3495674"/>
            <a:ext cx="47625" cy="47625"/>
          </a:xfrm>
          <a:custGeom>
            <a:avLst/>
            <a:gdLst/>
            <a:ahLst/>
            <a:cxnLst/>
            <a:rect l="l" t="t" r="r" b="b"/>
            <a:pathLst>
              <a:path w="47625" h="47625">
                <a:moveTo>
                  <a:pt x="26970" y="47623"/>
                </a:moveTo>
                <a:lnTo>
                  <a:pt x="20654" y="47623"/>
                </a:lnTo>
                <a:lnTo>
                  <a:pt x="17617" y="47020"/>
                </a:lnTo>
                <a:lnTo>
                  <a:pt x="0" y="26969"/>
                </a:lnTo>
                <a:lnTo>
                  <a:pt x="0" y="20653"/>
                </a:lnTo>
                <a:lnTo>
                  <a:pt x="20654" y="0"/>
                </a:lnTo>
                <a:lnTo>
                  <a:pt x="26970" y="0"/>
                </a:lnTo>
                <a:lnTo>
                  <a:pt x="47625" y="23812"/>
                </a:lnTo>
                <a:lnTo>
                  <a:pt x="47624" y="26969"/>
                </a:lnTo>
                <a:lnTo>
                  <a:pt x="26970" y="47623"/>
                </a:lnTo>
                <a:close/>
              </a:path>
            </a:pathLst>
          </a:custGeom>
          <a:solidFill>
            <a:srgbClr val="E7863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40" name="object 40"/>
          <p:cNvSpPr/>
          <p:nvPr/>
        </p:nvSpPr>
        <p:spPr>
          <a:xfrm>
            <a:off x="1181099" y="3695699"/>
            <a:ext cx="47625" cy="47625"/>
          </a:xfrm>
          <a:custGeom>
            <a:avLst/>
            <a:gdLst/>
            <a:ahLst/>
            <a:cxnLst/>
            <a:rect l="l" t="t" r="r" b="b"/>
            <a:pathLst>
              <a:path w="47625" h="47625">
                <a:moveTo>
                  <a:pt x="26970" y="47623"/>
                </a:moveTo>
                <a:lnTo>
                  <a:pt x="20654" y="47623"/>
                </a:lnTo>
                <a:lnTo>
                  <a:pt x="17617" y="47019"/>
                </a:lnTo>
                <a:lnTo>
                  <a:pt x="0" y="26969"/>
                </a:lnTo>
                <a:lnTo>
                  <a:pt x="0" y="20654"/>
                </a:lnTo>
                <a:lnTo>
                  <a:pt x="20654" y="0"/>
                </a:lnTo>
                <a:lnTo>
                  <a:pt x="26970" y="0"/>
                </a:lnTo>
                <a:lnTo>
                  <a:pt x="47625" y="23812"/>
                </a:lnTo>
                <a:lnTo>
                  <a:pt x="47624" y="26969"/>
                </a:lnTo>
                <a:lnTo>
                  <a:pt x="26970" y="47623"/>
                </a:lnTo>
                <a:close/>
              </a:path>
            </a:pathLst>
          </a:custGeom>
          <a:solidFill>
            <a:srgbClr val="E7863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41" name="object 41"/>
          <p:cNvSpPr/>
          <p:nvPr/>
        </p:nvSpPr>
        <p:spPr>
          <a:xfrm>
            <a:off x="1181099" y="3895724"/>
            <a:ext cx="47625" cy="47625"/>
          </a:xfrm>
          <a:custGeom>
            <a:avLst/>
            <a:gdLst/>
            <a:ahLst/>
            <a:cxnLst/>
            <a:rect l="l" t="t" r="r" b="b"/>
            <a:pathLst>
              <a:path w="47625" h="47625">
                <a:moveTo>
                  <a:pt x="26970" y="47623"/>
                </a:moveTo>
                <a:lnTo>
                  <a:pt x="20654" y="47623"/>
                </a:lnTo>
                <a:lnTo>
                  <a:pt x="17617" y="47019"/>
                </a:lnTo>
                <a:lnTo>
                  <a:pt x="0" y="26970"/>
                </a:lnTo>
                <a:lnTo>
                  <a:pt x="0" y="20653"/>
                </a:lnTo>
                <a:lnTo>
                  <a:pt x="20654" y="0"/>
                </a:lnTo>
                <a:lnTo>
                  <a:pt x="26970" y="0"/>
                </a:lnTo>
                <a:lnTo>
                  <a:pt x="47625" y="23812"/>
                </a:lnTo>
                <a:lnTo>
                  <a:pt x="47624" y="26970"/>
                </a:lnTo>
                <a:lnTo>
                  <a:pt x="26970" y="47623"/>
                </a:lnTo>
                <a:close/>
              </a:path>
            </a:pathLst>
          </a:custGeom>
          <a:solidFill>
            <a:srgbClr val="E7863A"/>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sp>
        <p:nvSpPr>
          <p:cNvPr id="42" name="object 42"/>
          <p:cNvSpPr txBox="1"/>
          <p:nvPr/>
        </p:nvSpPr>
        <p:spPr>
          <a:xfrm>
            <a:off x="11256714" y="5029155"/>
            <a:ext cx="332105" cy="154529"/>
          </a:xfrm>
          <a:prstGeom prst="rect">
            <a:avLst/>
          </a:prstGeom>
        </p:spPr>
        <p:txBody>
          <a:bodyPr vert="horz" wrap="square" lIns="0" tIns="15875" rIns="0" bIns="0" rtlCol="0">
            <a:spAutoFit/>
          </a:bodyPr>
          <a:lstStyle/>
          <a:p>
            <a:pPr marL="12700">
              <a:lnSpc>
                <a:spcPct val="100000"/>
              </a:lnSpc>
              <a:spcBef>
                <a:spcPts val="125"/>
              </a:spcBef>
            </a:pPr>
            <a:r>
              <a:rPr sz="900" dirty="0">
                <a:solidFill>
                  <a:srgbClr val="6A798F"/>
                </a:solidFill>
                <a:latin typeface="Times New Roman" panose="02020603050405020304" pitchFamily="18" charset="0"/>
                <a:cs typeface="Times New Roman" panose="02020603050405020304" pitchFamily="18" charset="0"/>
              </a:rPr>
              <a:t>08</a:t>
            </a:r>
            <a:r>
              <a:rPr sz="900" spc="40" dirty="0">
                <a:solidFill>
                  <a:srgbClr val="6A798F"/>
                </a:solidFill>
                <a:latin typeface="Times New Roman" panose="02020603050405020304" pitchFamily="18" charset="0"/>
                <a:cs typeface="Times New Roman" panose="02020603050405020304" pitchFamily="18" charset="0"/>
              </a:rPr>
              <a:t> </a:t>
            </a:r>
            <a:r>
              <a:rPr sz="900" spc="60" dirty="0">
                <a:solidFill>
                  <a:srgbClr val="6A798F"/>
                </a:solidFill>
                <a:latin typeface="Times New Roman" panose="02020603050405020304" pitchFamily="18" charset="0"/>
                <a:cs typeface="Times New Roman" panose="02020603050405020304" pitchFamily="18" charset="0"/>
              </a:rPr>
              <a:t>/</a:t>
            </a:r>
            <a:r>
              <a:rPr sz="900" spc="30" dirty="0">
                <a:solidFill>
                  <a:srgbClr val="6A798F"/>
                </a:solidFill>
                <a:latin typeface="Times New Roman" panose="02020603050405020304" pitchFamily="18" charset="0"/>
                <a:cs typeface="Times New Roman" panose="02020603050405020304" pitchFamily="18" charset="0"/>
              </a:rPr>
              <a:t> </a:t>
            </a:r>
            <a:r>
              <a:rPr sz="900" spc="-135" dirty="0">
                <a:solidFill>
                  <a:srgbClr val="6A798F"/>
                </a:solidFill>
                <a:latin typeface="Times New Roman" panose="02020603050405020304" pitchFamily="18" charset="0"/>
                <a:cs typeface="Times New Roman" panose="02020603050405020304" pitchFamily="18" charset="0"/>
              </a:rPr>
              <a:t>11</a:t>
            </a:r>
            <a:endParaRPr sz="9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447630"/>
            <a:ext cx="635000" cy="146835"/>
          </a:xfrm>
          <a:prstGeom prst="rect">
            <a:avLst/>
          </a:prstGeom>
        </p:spPr>
        <p:txBody>
          <a:bodyPr vert="horz" wrap="square" lIns="0" tIns="15875" rIns="0" bIns="0" rtlCol="0">
            <a:spAutoFit/>
          </a:bodyPr>
          <a:lstStyle/>
          <a:p>
            <a:pPr marL="12700">
              <a:lnSpc>
                <a:spcPct val="100000"/>
              </a:lnSpc>
              <a:spcBef>
                <a:spcPts val="125"/>
              </a:spcBef>
            </a:pPr>
            <a:r>
              <a:rPr sz="850" b="1" spc="80" dirty="0">
                <a:solidFill>
                  <a:srgbClr val="E7863A"/>
                </a:solidFill>
                <a:latin typeface="Times New Roman" panose="02020603050405020304" pitchFamily="18" charset="0"/>
                <a:cs typeface="Times New Roman" panose="02020603050405020304" pitchFamily="18" charset="0"/>
              </a:rPr>
              <a:t>AN</a:t>
            </a:r>
            <a:r>
              <a:rPr sz="850" b="1" spc="-80"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ALYS</a:t>
            </a:r>
            <a:r>
              <a:rPr sz="850" b="1" spc="-90"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E</a:t>
            </a:r>
            <a:endParaRPr sz="850">
              <a:latin typeface="Times New Roman" panose="02020603050405020304" pitchFamily="18" charset="0"/>
              <a:cs typeface="Times New Roman" panose="02020603050405020304" pitchFamily="18" charset="0"/>
            </a:endParaRPr>
          </a:p>
        </p:txBody>
      </p:sp>
      <p:sp>
        <p:nvSpPr>
          <p:cNvPr id="3" name="object 3"/>
          <p:cNvSpPr txBox="1"/>
          <p:nvPr/>
        </p:nvSpPr>
        <p:spPr>
          <a:xfrm>
            <a:off x="596899" y="430085"/>
            <a:ext cx="4494530" cy="899794"/>
          </a:xfrm>
          <a:prstGeom prst="rect">
            <a:avLst/>
          </a:prstGeom>
        </p:spPr>
        <p:txBody>
          <a:bodyPr vert="horz" wrap="square" lIns="0" tIns="217170" rIns="0" bIns="0" rtlCol="0">
            <a:spAutoFit/>
          </a:bodyPr>
          <a:lstStyle/>
          <a:p>
            <a:pPr marL="12700">
              <a:lnSpc>
                <a:spcPct val="100000"/>
              </a:lnSpc>
              <a:spcBef>
                <a:spcPts val="1710"/>
              </a:spcBef>
            </a:pPr>
            <a:r>
              <a:rPr sz="2550" b="1" spc="720" dirty="0">
                <a:solidFill>
                  <a:srgbClr val="1B294A"/>
                </a:solidFill>
                <a:latin typeface="Times New Roman" panose="02020603050405020304" pitchFamily="18" charset="0"/>
                <a:cs typeface="Times New Roman" panose="02020603050405020304" pitchFamily="18" charset="0"/>
              </a:rPr>
              <a:t>Points</a:t>
            </a:r>
            <a:r>
              <a:rPr sz="2550" b="1" spc="-55" dirty="0">
                <a:solidFill>
                  <a:srgbClr val="1B294A"/>
                </a:solidFill>
                <a:latin typeface="Times New Roman" panose="02020603050405020304" pitchFamily="18" charset="0"/>
                <a:cs typeface="Times New Roman" panose="02020603050405020304" pitchFamily="18" charset="0"/>
              </a:rPr>
              <a:t> </a:t>
            </a:r>
            <a:r>
              <a:rPr sz="2550" b="1" spc="670" dirty="0">
                <a:solidFill>
                  <a:srgbClr val="1B294A"/>
                </a:solidFill>
                <a:latin typeface="Times New Roman" panose="02020603050405020304" pitchFamily="18" charset="0"/>
                <a:cs typeface="Times New Roman" panose="02020603050405020304" pitchFamily="18" charset="0"/>
              </a:rPr>
              <a:t>forts</a:t>
            </a:r>
            <a:r>
              <a:rPr sz="2550" b="1" spc="-55" dirty="0">
                <a:solidFill>
                  <a:srgbClr val="1B294A"/>
                </a:solidFill>
                <a:latin typeface="Times New Roman" panose="02020603050405020304" pitchFamily="18" charset="0"/>
                <a:cs typeface="Times New Roman" panose="02020603050405020304" pitchFamily="18" charset="0"/>
              </a:rPr>
              <a:t> </a:t>
            </a:r>
            <a:r>
              <a:rPr sz="2550" b="1" spc="1015" dirty="0">
                <a:solidFill>
                  <a:srgbClr val="1B294A"/>
                </a:solidFill>
                <a:latin typeface="Times New Roman" panose="02020603050405020304" pitchFamily="18" charset="0"/>
                <a:cs typeface="Times New Roman" panose="02020603050405020304" pitchFamily="18" charset="0"/>
              </a:rPr>
              <a:t>du</a:t>
            </a:r>
            <a:r>
              <a:rPr sz="2550" b="1" spc="-65" dirty="0">
                <a:solidFill>
                  <a:srgbClr val="1B294A"/>
                </a:solidFill>
                <a:latin typeface="Times New Roman" panose="02020603050405020304" pitchFamily="18" charset="0"/>
                <a:cs typeface="Times New Roman" panose="02020603050405020304" pitchFamily="18" charset="0"/>
              </a:rPr>
              <a:t> </a:t>
            </a:r>
            <a:r>
              <a:rPr sz="2550" b="1" spc="600" dirty="0">
                <a:solidFill>
                  <a:srgbClr val="1B294A"/>
                </a:solidFill>
                <a:latin typeface="Times New Roman" panose="02020603050405020304" pitchFamily="18" charset="0"/>
                <a:cs typeface="Times New Roman" panose="02020603050405020304" pitchFamily="18" charset="0"/>
              </a:rPr>
              <a:t>site</a:t>
            </a:r>
            <a:endParaRPr sz="2550">
              <a:latin typeface="Times New Roman" panose="02020603050405020304" pitchFamily="18" charset="0"/>
              <a:cs typeface="Times New Roman" panose="02020603050405020304" pitchFamily="18" charset="0"/>
            </a:endParaRPr>
          </a:p>
          <a:p>
            <a:pPr marL="12700">
              <a:lnSpc>
                <a:spcPct val="100000"/>
              </a:lnSpc>
              <a:spcBef>
                <a:spcPts val="765"/>
              </a:spcBef>
            </a:pPr>
            <a:r>
              <a:rPr sz="1200" dirty="0">
                <a:solidFill>
                  <a:srgbClr val="6A798F"/>
                </a:solidFill>
                <a:latin typeface="Times New Roman" panose="02020603050405020304" pitchFamily="18" charset="0"/>
                <a:cs typeface="Times New Roman" panose="02020603050405020304" pitchFamily="18" charset="0"/>
              </a:rPr>
              <a:t>Ce</a:t>
            </a:r>
            <a:r>
              <a:rPr sz="1200" spc="-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qui</a:t>
            </a:r>
            <a:r>
              <a:rPr sz="1200" spc="4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fonctionne</a:t>
            </a:r>
            <a:r>
              <a:rPr sz="1200" spc="-15"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vraiment</a:t>
            </a:r>
            <a:r>
              <a:rPr sz="1200" spc="-20" dirty="0">
                <a:solidFill>
                  <a:srgbClr val="6A798F"/>
                </a:solidFill>
                <a:latin typeface="Times New Roman" panose="02020603050405020304" pitchFamily="18" charset="0"/>
                <a:cs typeface="Times New Roman" panose="02020603050405020304" pitchFamily="18" charset="0"/>
              </a:rPr>
              <a:t> bien</a:t>
            </a:r>
            <a:endParaRPr sz="120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609599" y="1685925"/>
            <a:ext cx="5372100" cy="1895475"/>
            <a:chOff x="609599" y="1685925"/>
            <a:chExt cx="5372100" cy="1895475"/>
          </a:xfrm>
        </p:grpSpPr>
        <p:sp>
          <p:nvSpPr>
            <p:cNvPr id="5" name="object 5"/>
            <p:cNvSpPr/>
            <p:nvPr/>
          </p:nvSpPr>
          <p:spPr>
            <a:xfrm>
              <a:off x="609599" y="1704974"/>
              <a:ext cx="5372100" cy="1876425"/>
            </a:xfrm>
            <a:custGeom>
              <a:avLst/>
              <a:gdLst/>
              <a:ahLst/>
              <a:cxnLst/>
              <a:rect l="l" t="t" r="r" b="b"/>
              <a:pathLst>
                <a:path w="5372100" h="1876425">
                  <a:moveTo>
                    <a:pt x="5238749" y="1876424"/>
                  </a:moveTo>
                  <a:lnTo>
                    <a:pt x="133350" y="1876424"/>
                  </a:lnTo>
                  <a:lnTo>
                    <a:pt x="126798" y="1876264"/>
                  </a:lnTo>
                  <a:lnTo>
                    <a:pt x="88432" y="1868632"/>
                  </a:lnTo>
                  <a:lnTo>
                    <a:pt x="53906" y="1850178"/>
                  </a:lnTo>
                  <a:lnTo>
                    <a:pt x="26246" y="1822517"/>
                  </a:lnTo>
                  <a:lnTo>
                    <a:pt x="7791" y="1787991"/>
                  </a:lnTo>
                  <a:lnTo>
                    <a:pt x="160" y="1749625"/>
                  </a:lnTo>
                  <a:lnTo>
                    <a:pt x="0" y="106794"/>
                  </a:lnTo>
                  <a:lnTo>
                    <a:pt x="854" y="99361"/>
                  </a:lnTo>
                  <a:lnTo>
                    <a:pt x="17608" y="57038"/>
                  </a:lnTo>
                  <a:lnTo>
                    <a:pt x="45248" y="28170"/>
                  </a:lnTo>
                  <a:lnTo>
                    <a:pt x="88432" y="6678"/>
                  </a:lnTo>
                  <a:lnTo>
                    <a:pt x="126798" y="137"/>
                  </a:lnTo>
                  <a:lnTo>
                    <a:pt x="133350" y="0"/>
                  </a:lnTo>
                  <a:lnTo>
                    <a:pt x="5238749" y="0"/>
                  </a:lnTo>
                  <a:lnTo>
                    <a:pt x="5277458" y="4920"/>
                  </a:lnTo>
                  <a:lnTo>
                    <a:pt x="5320113" y="23432"/>
                  </a:lnTo>
                  <a:lnTo>
                    <a:pt x="5354489" y="57038"/>
                  </a:lnTo>
                  <a:lnTo>
                    <a:pt x="5371245" y="99361"/>
                  </a:lnTo>
                  <a:lnTo>
                    <a:pt x="5372099" y="1743074"/>
                  </a:lnTo>
                  <a:lnTo>
                    <a:pt x="5371939" y="1749625"/>
                  </a:lnTo>
                  <a:lnTo>
                    <a:pt x="5364307" y="1787991"/>
                  </a:lnTo>
                  <a:lnTo>
                    <a:pt x="5345852" y="1822517"/>
                  </a:lnTo>
                  <a:lnTo>
                    <a:pt x="5318191" y="1850178"/>
                  </a:lnTo>
                  <a:lnTo>
                    <a:pt x="5283665" y="1868632"/>
                  </a:lnTo>
                  <a:lnTo>
                    <a:pt x="5245300" y="1876264"/>
                  </a:lnTo>
                  <a:lnTo>
                    <a:pt x="5238749" y="18764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609599" y="1685925"/>
              <a:ext cx="5372100" cy="133350"/>
            </a:xfrm>
            <a:custGeom>
              <a:avLst/>
              <a:gdLst/>
              <a:ahLst/>
              <a:cxnLst/>
              <a:rect l="l" t="t" r="r" b="b"/>
              <a:pathLst>
                <a:path w="5372100" h="133350">
                  <a:moveTo>
                    <a:pt x="0" y="133349"/>
                  </a:moveTo>
                  <a:lnTo>
                    <a:pt x="5709" y="94698"/>
                  </a:lnTo>
                  <a:lnTo>
                    <a:pt x="22452" y="59250"/>
                  </a:lnTo>
                  <a:lnTo>
                    <a:pt x="48794" y="30217"/>
                  </a:lnTo>
                  <a:lnTo>
                    <a:pt x="82319" y="10150"/>
                  </a:lnTo>
                  <a:lnTo>
                    <a:pt x="120213" y="634"/>
                  </a:lnTo>
                  <a:lnTo>
                    <a:pt x="133349" y="0"/>
                  </a:lnTo>
                  <a:lnTo>
                    <a:pt x="5238749" y="0"/>
                  </a:lnTo>
                  <a:lnTo>
                    <a:pt x="5277400" y="5709"/>
                  </a:lnTo>
                  <a:lnTo>
                    <a:pt x="5312848" y="22452"/>
                  </a:lnTo>
                  <a:lnTo>
                    <a:pt x="5331987" y="38099"/>
                  </a:lnTo>
                  <a:lnTo>
                    <a:pt x="133349" y="38099"/>
                  </a:lnTo>
                  <a:lnTo>
                    <a:pt x="120213" y="38553"/>
                  </a:lnTo>
                  <a:lnTo>
                    <a:pt x="82319" y="45350"/>
                  </a:lnTo>
                  <a:lnTo>
                    <a:pt x="39057" y="65998"/>
                  </a:lnTo>
                  <a:lnTo>
                    <a:pt x="10150" y="96899"/>
                  </a:lnTo>
                  <a:lnTo>
                    <a:pt x="634" y="123966"/>
                  </a:lnTo>
                  <a:lnTo>
                    <a:pt x="0" y="133349"/>
                  </a:lnTo>
                  <a:close/>
                </a:path>
                <a:path w="5372100" h="133350">
                  <a:moveTo>
                    <a:pt x="5372099" y="133349"/>
                  </a:moveTo>
                  <a:lnTo>
                    <a:pt x="5356335" y="88403"/>
                  </a:lnTo>
                  <a:lnTo>
                    <a:pt x="5323304" y="59683"/>
                  </a:lnTo>
                  <a:lnTo>
                    <a:pt x="5277400" y="42178"/>
                  </a:lnTo>
                  <a:lnTo>
                    <a:pt x="5238749" y="38099"/>
                  </a:lnTo>
                  <a:lnTo>
                    <a:pt x="5331987" y="38099"/>
                  </a:lnTo>
                  <a:lnTo>
                    <a:pt x="5356335" y="70425"/>
                  </a:lnTo>
                  <a:lnTo>
                    <a:pt x="5369561" y="107329"/>
                  </a:lnTo>
                  <a:lnTo>
                    <a:pt x="5371465" y="120213"/>
                  </a:lnTo>
                  <a:lnTo>
                    <a:pt x="5372099" y="13334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7" name="object 7"/>
            <p:cNvPicPr/>
            <p:nvPr/>
          </p:nvPicPr>
          <p:blipFill>
            <a:blip r:embed="rId3" cstate="print"/>
            <a:stretch>
              <a:fillRect/>
            </a:stretch>
          </p:blipFill>
          <p:spPr>
            <a:xfrm>
              <a:off x="885824" y="2009774"/>
              <a:ext cx="247650" cy="225425"/>
            </a:xfrm>
            <a:prstGeom prst="rect">
              <a:avLst/>
            </a:prstGeom>
          </p:spPr>
        </p:pic>
      </p:grpSp>
      <p:sp>
        <p:nvSpPr>
          <p:cNvPr id="8" name="object 8"/>
          <p:cNvSpPr txBox="1"/>
          <p:nvPr/>
        </p:nvSpPr>
        <p:spPr>
          <a:xfrm>
            <a:off x="1244600" y="1980596"/>
            <a:ext cx="1971675" cy="251992"/>
          </a:xfrm>
          <a:prstGeom prst="rect">
            <a:avLst/>
          </a:prstGeom>
        </p:spPr>
        <p:txBody>
          <a:bodyPr vert="horz" wrap="square" lIns="0" tIns="13335" rIns="0" bIns="0" rtlCol="0">
            <a:spAutoFit/>
          </a:bodyPr>
          <a:lstStyle/>
          <a:p>
            <a:pPr marL="12700">
              <a:lnSpc>
                <a:spcPct val="100000"/>
              </a:lnSpc>
              <a:spcBef>
                <a:spcPts val="105"/>
              </a:spcBef>
            </a:pPr>
            <a:r>
              <a:rPr sz="1550" b="1" spc="75" dirty="0">
                <a:solidFill>
                  <a:srgbClr val="1B294A"/>
                </a:solidFill>
                <a:latin typeface="Times New Roman" panose="02020603050405020304" pitchFamily="18" charset="0"/>
                <a:cs typeface="Times New Roman" panose="02020603050405020304" pitchFamily="18" charset="0"/>
              </a:rPr>
              <a:t>Simplicité</a:t>
            </a:r>
            <a:r>
              <a:rPr sz="1550" b="1" spc="-95" dirty="0">
                <a:solidFill>
                  <a:srgbClr val="1B294A"/>
                </a:solidFill>
                <a:latin typeface="Times New Roman" panose="02020603050405020304" pitchFamily="18" charset="0"/>
                <a:cs typeface="Times New Roman" panose="02020603050405020304" pitchFamily="18" charset="0"/>
              </a:rPr>
              <a:t> </a:t>
            </a:r>
            <a:r>
              <a:rPr sz="1550" b="1" spc="140" dirty="0">
                <a:solidFill>
                  <a:srgbClr val="1B294A"/>
                </a:solidFill>
                <a:latin typeface="Times New Roman" panose="02020603050405020304" pitchFamily="18" charset="0"/>
                <a:cs typeface="Times New Roman" panose="02020603050405020304" pitchFamily="18" charset="0"/>
              </a:rPr>
              <a:t>et</a:t>
            </a:r>
            <a:r>
              <a:rPr sz="1550" b="1" spc="-75" dirty="0">
                <a:solidFill>
                  <a:srgbClr val="1B294A"/>
                </a:solidFill>
                <a:latin typeface="Times New Roman" panose="02020603050405020304" pitchFamily="18" charset="0"/>
                <a:cs typeface="Times New Roman" panose="02020603050405020304" pitchFamily="18" charset="0"/>
              </a:rPr>
              <a:t> </a:t>
            </a:r>
            <a:r>
              <a:rPr sz="1550" b="1" spc="95" dirty="0">
                <a:solidFill>
                  <a:srgbClr val="1B294A"/>
                </a:solidFill>
                <a:latin typeface="Times New Roman" panose="02020603050405020304" pitchFamily="18" charset="0"/>
                <a:cs typeface="Times New Roman" panose="02020603050405020304" pitchFamily="18" charset="0"/>
              </a:rPr>
              <a:t>clarté</a:t>
            </a:r>
            <a:endParaRPr sz="1550">
              <a:latin typeface="Times New Roman" panose="02020603050405020304" pitchFamily="18" charset="0"/>
              <a:cs typeface="Times New Roman" panose="02020603050405020304" pitchFamily="18" charset="0"/>
            </a:endParaRPr>
          </a:p>
        </p:txBody>
      </p:sp>
      <p:sp>
        <p:nvSpPr>
          <p:cNvPr id="9" name="object 9"/>
          <p:cNvSpPr txBox="1"/>
          <p:nvPr/>
        </p:nvSpPr>
        <p:spPr>
          <a:xfrm>
            <a:off x="863599" y="2351689"/>
            <a:ext cx="4729480" cy="977900"/>
          </a:xfrm>
          <a:prstGeom prst="rect">
            <a:avLst/>
          </a:prstGeom>
        </p:spPr>
        <p:txBody>
          <a:bodyPr vert="horz" wrap="square" lIns="0" tIns="12065" rIns="0" bIns="0" rtlCol="0">
            <a:spAutoFit/>
          </a:bodyPr>
          <a:lstStyle/>
          <a:p>
            <a:pPr marL="12700" marR="5080">
              <a:lnSpc>
                <a:spcPct val="130200"/>
              </a:lnSpc>
              <a:spcBef>
                <a:spcPts val="95"/>
              </a:spcBef>
            </a:pPr>
            <a:r>
              <a:rPr sz="1200" dirty="0">
                <a:solidFill>
                  <a:srgbClr val="3A4556"/>
                </a:solidFill>
                <a:latin typeface="Times New Roman" panose="02020603050405020304" pitchFamily="18" charset="0"/>
                <a:cs typeface="Times New Roman" panose="02020603050405020304" pitchFamily="18" charset="0"/>
              </a:rPr>
              <a:t>Le</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site</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est</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facile</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à</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comprendre</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dès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premier</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regard.</a:t>
            </a:r>
            <a:r>
              <a:rPr sz="1200" spc="4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a:t>
            </a:r>
            <a:r>
              <a:rPr sz="1200" spc="-2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message</a:t>
            </a:r>
            <a:r>
              <a:rPr sz="1200" spc="-25" dirty="0">
                <a:solidFill>
                  <a:srgbClr val="3A4556"/>
                </a:solidFill>
                <a:latin typeface="Times New Roman" panose="02020603050405020304" pitchFamily="18" charset="0"/>
                <a:cs typeface="Times New Roman" panose="02020603050405020304" pitchFamily="18" charset="0"/>
              </a:rPr>
              <a:t> est </a:t>
            </a:r>
            <a:r>
              <a:rPr sz="1200" dirty="0">
                <a:solidFill>
                  <a:srgbClr val="3A4556"/>
                </a:solidFill>
                <a:latin typeface="Times New Roman" panose="02020603050405020304" pitchFamily="18" charset="0"/>
                <a:cs typeface="Times New Roman" panose="02020603050405020304" pitchFamily="18" charset="0"/>
              </a:rPr>
              <a:t>clair</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t>
            </a:r>
            <a:r>
              <a:rPr sz="1200" spc="6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connecter</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les freelances</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tech</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africains</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aux</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entreprises.</a:t>
            </a:r>
            <a:r>
              <a:rPr sz="1200" spc="65" dirty="0">
                <a:solidFill>
                  <a:srgbClr val="3A4556"/>
                </a:solidFill>
                <a:latin typeface="Times New Roman" panose="02020603050405020304" pitchFamily="18" charset="0"/>
                <a:cs typeface="Times New Roman" panose="02020603050405020304" pitchFamily="18" charset="0"/>
              </a:rPr>
              <a:t> </a:t>
            </a:r>
            <a:r>
              <a:rPr sz="1200" spc="-25" dirty="0">
                <a:solidFill>
                  <a:srgbClr val="3A4556"/>
                </a:solidFill>
                <a:latin typeface="Times New Roman" panose="02020603050405020304" pitchFamily="18" charset="0"/>
                <a:cs typeface="Times New Roman" panose="02020603050405020304" pitchFamily="18" charset="0"/>
              </a:rPr>
              <a:t>Les </a:t>
            </a:r>
            <a:r>
              <a:rPr sz="1200" dirty="0">
                <a:solidFill>
                  <a:srgbClr val="3A4556"/>
                </a:solidFill>
                <a:latin typeface="Times New Roman" panose="02020603050405020304" pitchFamily="18" charset="0"/>
                <a:cs typeface="Times New Roman" panose="02020603050405020304" pitchFamily="18" charset="0"/>
              </a:rPr>
              <a:t>textes</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sont</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courts,</a:t>
            </a:r>
            <a:r>
              <a:rPr sz="1200" spc="7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précis</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et</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vont</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droit</a:t>
            </a:r>
            <a:r>
              <a:rPr sz="1200" spc="-1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au</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but.</a:t>
            </a:r>
            <a:r>
              <a:rPr sz="1200" spc="7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Un</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visiteur</a:t>
            </a:r>
            <a:r>
              <a:rPr sz="1200" spc="-10" dirty="0">
                <a:solidFill>
                  <a:srgbClr val="3A4556"/>
                </a:solidFill>
                <a:latin typeface="Times New Roman" panose="02020603050405020304" pitchFamily="18" charset="0"/>
                <a:cs typeface="Times New Roman" panose="02020603050405020304" pitchFamily="18" charset="0"/>
              </a:rPr>
              <a:t> comprend </a:t>
            </a:r>
            <a:r>
              <a:rPr sz="1200" dirty="0">
                <a:solidFill>
                  <a:srgbClr val="3A4556"/>
                </a:solidFill>
                <a:latin typeface="Times New Roman" panose="02020603050405020304" pitchFamily="18" charset="0"/>
                <a:cs typeface="Times New Roman" panose="02020603050405020304" pitchFamily="18" charset="0"/>
              </a:rPr>
              <a:t>l'objectif</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du</a:t>
            </a:r>
            <a:r>
              <a:rPr sz="1200" spc="5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site</a:t>
            </a:r>
            <a:r>
              <a:rPr sz="1200" spc="1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en</a:t>
            </a:r>
            <a:r>
              <a:rPr sz="1200" spc="5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moins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de</a:t>
            </a:r>
            <a:r>
              <a:rPr sz="1200" spc="1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5</a:t>
            </a:r>
            <a:r>
              <a:rPr sz="1200" spc="25"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secondes.</a:t>
            </a:r>
            <a:endParaRPr sz="1200">
              <a:latin typeface="Times New Roman" panose="02020603050405020304" pitchFamily="18" charset="0"/>
              <a:cs typeface="Times New Roman" panose="02020603050405020304" pitchFamily="18" charset="0"/>
            </a:endParaRPr>
          </a:p>
        </p:txBody>
      </p:sp>
      <p:grpSp>
        <p:nvGrpSpPr>
          <p:cNvPr id="10" name="object 10"/>
          <p:cNvGrpSpPr/>
          <p:nvPr/>
        </p:nvGrpSpPr>
        <p:grpSpPr>
          <a:xfrm>
            <a:off x="6210298" y="1685925"/>
            <a:ext cx="5372100" cy="1895475"/>
            <a:chOff x="6210298" y="1685925"/>
            <a:chExt cx="5372100" cy="1895475"/>
          </a:xfrm>
        </p:grpSpPr>
        <p:sp>
          <p:nvSpPr>
            <p:cNvPr id="11" name="object 11"/>
            <p:cNvSpPr/>
            <p:nvPr/>
          </p:nvSpPr>
          <p:spPr>
            <a:xfrm>
              <a:off x="6210298" y="1704974"/>
              <a:ext cx="5372100" cy="1876425"/>
            </a:xfrm>
            <a:custGeom>
              <a:avLst/>
              <a:gdLst/>
              <a:ahLst/>
              <a:cxnLst/>
              <a:rect l="l" t="t" r="r" b="b"/>
              <a:pathLst>
                <a:path w="5372100" h="1876425">
                  <a:moveTo>
                    <a:pt x="5238750" y="1876424"/>
                  </a:moveTo>
                  <a:lnTo>
                    <a:pt x="133350" y="1876424"/>
                  </a:lnTo>
                  <a:lnTo>
                    <a:pt x="126799" y="1876264"/>
                  </a:lnTo>
                  <a:lnTo>
                    <a:pt x="88432" y="1868632"/>
                  </a:lnTo>
                  <a:lnTo>
                    <a:pt x="53906" y="1850178"/>
                  </a:lnTo>
                  <a:lnTo>
                    <a:pt x="26246" y="1822517"/>
                  </a:lnTo>
                  <a:lnTo>
                    <a:pt x="7791" y="1787991"/>
                  </a:lnTo>
                  <a:lnTo>
                    <a:pt x="160" y="1749625"/>
                  </a:lnTo>
                  <a:lnTo>
                    <a:pt x="0" y="106794"/>
                  </a:lnTo>
                  <a:lnTo>
                    <a:pt x="854" y="99361"/>
                  </a:lnTo>
                  <a:lnTo>
                    <a:pt x="17609" y="57038"/>
                  </a:lnTo>
                  <a:lnTo>
                    <a:pt x="45248" y="28170"/>
                  </a:lnTo>
                  <a:lnTo>
                    <a:pt x="88432" y="6678"/>
                  </a:lnTo>
                  <a:lnTo>
                    <a:pt x="126799" y="137"/>
                  </a:lnTo>
                  <a:lnTo>
                    <a:pt x="133350" y="0"/>
                  </a:lnTo>
                  <a:lnTo>
                    <a:pt x="5238750" y="0"/>
                  </a:lnTo>
                  <a:lnTo>
                    <a:pt x="5277457" y="4920"/>
                  </a:lnTo>
                  <a:lnTo>
                    <a:pt x="5320113" y="23432"/>
                  </a:lnTo>
                  <a:lnTo>
                    <a:pt x="5354489" y="57038"/>
                  </a:lnTo>
                  <a:lnTo>
                    <a:pt x="5371244" y="99361"/>
                  </a:lnTo>
                  <a:lnTo>
                    <a:pt x="5372100" y="1743074"/>
                  </a:lnTo>
                  <a:lnTo>
                    <a:pt x="5371939" y="1749625"/>
                  </a:lnTo>
                  <a:lnTo>
                    <a:pt x="5364307" y="1787991"/>
                  </a:lnTo>
                  <a:lnTo>
                    <a:pt x="5345853" y="1822517"/>
                  </a:lnTo>
                  <a:lnTo>
                    <a:pt x="5318191" y="1850178"/>
                  </a:lnTo>
                  <a:lnTo>
                    <a:pt x="5283664" y="1868632"/>
                  </a:lnTo>
                  <a:lnTo>
                    <a:pt x="5245300" y="1876264"/>
                  </a:lnTo>
                  <a:lnTo>
                    <a:pt x="5238750" y="18764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6210299" y="1685925"/>
              <a:ext cx="5372100" cy="133350"/>
            </a:xfrm>
            <a:custGeom>
              <a:avLst/>
              <a:gdLst/>
              <a:ahLst/>
              <a:cxnLst/>
              <a:rect l="l" t="t" r="r" b="b"/>
              <a:pathLst>
                <a:path w="5372100" h="133350">
                  <a:moveTo>
                    <a:pt x="0" y="133349"/>
                  </a:moveTo>
                  <a:lnTo>
                    <a:pt x="5709" y="94698"/>
                  </a:lnTo>
                  <a:lnTo>
                    <a:pt x="22452" y="59250"/>
                  </a:lnTo>
                  <a:lnTo>
                    <a:pt x="48794" y="30217"/>
                  </a:lnTo>
                  <a:lnTo>
                    <a:pt x="82318" y="10150"/>
                  </a:lnTo>
                  <a:lnTo>
                    <a:pt x="120213" y="634"/>
                  </a:lnTo>
                  <a:lnTo>
                    <a:pt x="133349" y="0"/>
                  </a:lnTo>
                  <a:lnTo>
                    <a:pt x="5238749" y="0"/>
                  </a:lnTo>
                  <a:lnTo>
                    <a:pt x="5277399" y="5709"/>
                  </a:lnTo>
                  <a:lnTo>
                    <a:pt x="5312847" y="22452"/>
                  </a:lnTo>
                  <a:lnTo>
                    <a:pt x="5331987" y="38099"/>
                  </a:lnTo>
                  <a:lnTo>
                    <a:pt x="133349" y="38099"/>
                  </a:lnTo>
                  <a:lnTo>
                    <a:pt x="120213" y="38553"/>
                  </a:lnTo>
                  <a:lnTo>
                    <a:pt x="82318" y="45350"/>
                  </a:lnTo>
                  <a:lnTo>
                    <a:pt x="39057" y="65998"/>
                  </a:lnTo>
                  <a:lnTo>
                    <a:pt x="10150" y="96899"/>
                  </a:lnTo>
                  <a:lnTo>
                    <a:pt x="634" y="123966"/>
                  </a:lnTo>
                  <a:lnTo>
                    <a:pt x="0" y="133349"/>
                  </a:lnTo>
                  <a:close/>
                </a:path>
                <a:path w="5372100" h="133350">
                  <a:moveTo>
                    <a:pt x="5372099" y="133349"/>
                  </a:moveTo>
                  <a:lnTo>
                    <a:pt x="5356334" y="88403"/>
                  </a:lnTo>
                  <a:lnTo>
                    <a:pt x="5323304" y="59683"/>
                  </a:lnTo>
                  <a:lnTo>
                    <a:pt x="5277399" y="42178"/>
                  </a:lnTo>
                  <a:lnTo>
                    <a:pt x="5238749" y="38099"/>
                  </a:lnTo>
                  <a:lnTo>
                    <a:pt x="5331987" y="38099"/>
                  </a:lnTo>
                  <a:lnTo>
                    <a:pt x="5356334" y="70425"/>
                  </a:lnTo>
                  <a:lnTo>
                    <a:pt x="5369561" y="107329"/>
                  </a:lnTo>
                  <a:lnTo>
                    <a:pt x="5371464" y="120213"/>
                  </a:lnTo>
                  <a:lnTo>
                    <a:pt x="5372099" y="13334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3" name="object 13"/>
            <p:cNvPicPr/>
            <p:nvPr/>
          </p:nvPicPr>
          <p:blipFill>
            <a:blip r:embed="rId4" cstate="print"/>
            <a:stretch>
              <a:fillRect/>
            </a:stretch>
          </p:blipFill>
          <p:spPr>
            <a:xfrm>
              <a:off x="6524624" y="2022474"/>
              <a:ext cx="171450" cy="212725"/>
            </a:xfrm>
            <a:prstGeom prst="rect">
              <a:avLst/>
            </a:prstGeom>
          </p:spPr>
        </p:pic>
      </p:grpSp>
      <p:sp>
        <p:nvSpPr>
          <p:cNvPr id="14" name="object 14"/>
          <p:cNvSpPr txBox="1"/>
          <p:nvPr/>
        </p:nvSpPr>
        <p:spPr>
          <a:xfrm>
            <a:off x="6845299" y="1980596"/>
            <a:ext cx="1811020" cy="251992"/>
          </a:xfrm>
          <a:prstGeom prst="rect">
            <a:avLst/>
          </a:prstGeom>
        </p:spPr>
        <p:txBody>
          <a:bodyPr vert="horz" wrap="square" lIns="0" tIns="13335" rIns="0" bIns="0" rtlCol="0">
            <a:spAutoFit/>
          </a:bodyPr>
          <a:lstStyle/>
          <a:p>
            <a:pPr marL="12700">
              <a:lnSpc>
                <a:spcPct val="100000"/>
              </a:lnSpc>
              <a:spcBef>
                <a:spcPts val="105"/>
              </a:spcBef>
            </a:pPr>
            <a:r>
              <a:rPr sz="1550" b="1" spc="100" dirty="0">
                <a:solidFill>
                  <a:srgbClr val="1B294A"/>
                </a:solidFill>
                <a:latin typeface="Times New Roman" panose="02020603050405020304" pitchFamily="18" charset="0"/>
                <a:cs typeface="Times New Roman" panose="02020603050405020304" pitchFamily="18" charset="0"/>
              </a:rPr>
              <a:t>Navigation</a:t>
            </a:r>
            <a:r>
              <a:rPr sz="1550" b="1" spc="-45" dirty="0">
                <a:solidFill>
                  <a:srgbClr val="1B294A"/>
                </a:solidFill>
                <a:latin typeface="Times New Roman" panose="02020603050405020304" pitchFamily="18" charset="0"/>
                <a:cs typeface="Times New Roman" panose="02020603050405020304" pitchFamily="18" charset="0"/>
              </a:rPr>
              <a:t> </a:t>
            </a:r>
            <a:r>
              <a:rPr sz="1550" b="1" spc="80" dirty="0">
                <a:solidFill>
                  <a:srgbClr val="1B294A"/>
                </a:solidFill>
                <a:latin typeface="Times New Roman" panose="02020603050405020304" pitchFamily="18" charset="0"/>
                <a:cs typeface="Times New Roman" panose="02020603050405020304" pitchFamily="18" charset="0"/>
              </a:rPr>
              <a:t>fluide</a:t>
            </a:r>
            <a:endParaRPr sz="1550">
              <a:latin typeface="Times New Roman" panose="02020603050405020304" pitchFamily="18" charset="0"/>
              <a:cs typeface="Times New Roman" panose="02020603050405020304" pitchFamily="18" charset="0"/>
            </a:endParaRPr>
          </a:p>
        </p:txBody>
      </p:sp>
      <p:sp>
        <p:nvSpPr>
          <p:cNvPr id="15" name="object 15"/>
          <p:cNvSpPr txBox="1"/>
          <p:nvPr/>
        </p:nvSpPr>
        <p:spPr>
          <a:xfrm>
            <a:off x="6464300" y="2351689"/>
            <a:ext cx="4784725" cy="977900"/>
          </a:xfrm>
          <a:prstGeom prst="rect">
            <a:avLst/>
          </a:prstGeom>
        </p:spPr>
        <p:txBody>
          <a:bodyPr vert="horz" wrap="square" lIns="0" tIns="12065" rIns="0" bIns="0" rtlCol="0">
            <a:spAutoFit/>
          </a:bodyPr>
          <a:lstStyle/>
          <a:p>
            <a:pPr marL="12700" marR="5080">
              <a:lnSpc>
                <a:spcPct val="130200"/>
              </a:lnSpc>
              <a:spcBef>
                <a:spcPts val="95"/>
              </a:spcBef>
            </a:pPr>
            <a:r>
              <a:rPr sz="1200" spc="-10" dirty="0">
                <a:solidFill>
                  <a:srgbClr val="3A4556"/>
                </a:solidFill>
                <a:latin typeface="Times New Roman" panose="02020603050405020304" pitchFamily="18" charset="0"/>
                <a:cs typeface="Times New Roman" panose="02020603050405020304" pitchFamily="18" charset="0"/>
              </a:rPr>
              <a:t>La</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barre</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de</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navigation</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fixe</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permet</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de</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se</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déplacer</a:t>
            </a:r>
            <a:r>
              <a:rPr sz="1200" spc="-1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facilement</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entre</a:t>
            </a:r>
            <a:r>
              <a:rPr sz="1200" spc="-5" dirty="0">
                <a:solidFill>
                  <a:srgbClr val="3A4556"/>
                </a:solidFill>
                <a:latin typeface="Times New Roman" panose="02020603050405020304" pitchFamily="18" charset="0"/>
                <a:cs typeface="Times New Roman" panose="02020603050405020304" pitchFamily="18" charset="0"/>
              </a:rPr>
              <a:t> </a:t>
            </a:r>
            <a:r>
              <a:rPr sz="1200" spc="-25" dirty="0">
                <a:solidFill>
                  <a:srgbClr val="3A4556"/>
                </a:solidFill>
                <a:latin typeface="Times New Roman" panose="02020603050405020304" pitchFamily="18" charset="0"/>
                <a:cs typeface="Times New Roman" panose="02020603050405020304" pitchFamily="18" charset="0"/>
              </a:rPr>
              <a:t>les </a:t>
            </a:r>
            <a:r>
              <a:rPr sz="1200" dirty="0">
                <a:solidFill>
                  <a:srgbClr val="3A4556"/>
                </a:solidFill>
                <a:latin typeface="Times New Roman" panose="02020603050405020304" pitchFamily="18" charset="0"/>
                <a:cs typeface="Times New Roman" panose="02020603050405020304" pitchFamily="18" charset="0"/>
              </a:rPr>
              <a:t>pages.</a:t>
            </a:r>
            <a:r>
              <a:rPr sz="1200" spc="1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a:t>
            </a:r>
            <a:r>
              <a:rPr sz="1200" spc="-4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menu</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responsive</a:t>
            </a:r>
            <a:r>
              <a:rPr sz="1200" spc="-4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s'</a:t>
            </a:r>
            <a:r>
              <a:rPr sz="1200" spc="-2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adapte</a:t>
            </a:r>
            <a:r>
              <a:rPr sz="1200" spc="-4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parfaitement</a:t>
            </a:r>
            <a:r>
              <a:rPr sz="1200" spc="-5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aux</a:t>
            </a:r>
            <a:r>
              <a:rPr sz="1200" spc="-6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écrans</a:t>
            </a:r>
            <a:r>
              <a:rPr sz="1200" spc="-3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mobiles. </a:t>
            </a:r>
            <a:r>
              <a:rPr sz="1200" dirty="0">
                <a:solidFill>
                  <a:srgbClr val="3A4556"/>
                </a:solidFill>
                <a:latin typeface="Times New Roman" panose="02020603050405020304" pitchFamily="18" charset="0"/>
                <a:cs typeface="Times New Roman" panose="02020603050405020304" pitchFamily="18" charset="0"/>
              </a:rPr>
              <a:t>Le</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bouton</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t>
            </a:r>
            <a:r>
              <a:rPr sz="1200" spc="-40" dirty="0">
                <a:solidFill>
                  <a:srgbClr val="3A4556"/>
                </a:solidFill>
                <a:latin typeface="Times New Roman" panose="02020603050405020304" pitchFamily="18" charset="0"/>
                <a:cs typeface="Times New Roman" panose="02020603050405020304" pitchFamily="18" charset="0"/>
              </a:rPr>
              <a:t> </a:t>
            </a:r>
            <a:r>
              <a:rPr sz="1200" spc="-20" dirty="0">
                <a:solidFill>
                  <a:srgbClr val="3A4556"/>
                </a:solidFill>
                <a:latin typeface="Times New Roman" panose="02020603050405020304" pitchFamily="18" charset="0"/>
                <a:cs typeface="Times New Roman" panose="02020603050405020304" pitchFamily="18" charset="0"/>
              </a:rPr>
              <a:t>Retour</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en</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haut</a:t>
            </a:r>
            <a:r>
              <a:rPr sz="1200" spc="-4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facilite</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la navigation</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sur</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les</a:t>
            </a:r>
            <a:r>
              <a:rPr sz="1200" spc="-25"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longues </a:t>
            </a:r>
            <a:r>
              <a:rPr sz="1200" dirty="0">
                <a:solidFill>
                  <a:srgbClr val="3A4556"/>
                </a:solidFill>
                <a:latin typeface="Times New Roman" panose="02020603050405020304" pitchFamily="18" charset="0"/>
                <a:cs typeface="Times New Roman" panose="02020603050405020304" pitchFamily="18" charset="0"/>
              </a:rPr>
              <a:t>pages.</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Les</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liens</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sont</a:t>
            </a:r>
            <a:r>
              <a:rPr sz="1200" spc="-5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logiquement</a:t>
            </a:r>
            <a:r>
              <a:rPr sz="1200" spc="-5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organisés.</a:t>
            </a:r>
            <a:endParaRPr sz="1200">
              <a:latin typeface="Times New Roman" panose="02020603050405020304" pitchFamily="18" charset="0"/>
              <a:cs typeface="Times New Roman" panose="02020603050405020304" pitchFamily="18" charset="0"/>
            </a:endParaRPr>
          </a:p>
        </p:txBody>
      </p:sp>
      <p:grpSp>
        <p:nvGrpSpPr>
          <p:cNvPr id="16" name="object 16"/>
          <p:cNvGrpSpPr/>
          <p:nvPr/>
        </p:nvGrpSpPr>
        <p:grpSpPr>
          <a:xfrm>
            <a:off x="609599" y="3810000"/>
            <a:ext cx="5372100" cy="1895475"/>
            <a:chOff x="609599" y="3810000"/>
            <a:chExt cx="5372100" cy="1895475"/>
          </a:xfrm>
        </p:grpSpPr>
        <p:sp>
          <p:nvSpPr>
            <p:cNvPr id="17" name="object 17"/>
            <p:cNvSpPr/>
            <p:nvPr/>
          </p:nvSpPr>
          <p:spPr>
            <a:xfrm>
              <a:off x="609599" y="3829049"/>
              <a:ext cx="5372100" cy="1876425"/>
            </a:xfrm>
            <a:custGeom>
              <a:avLst/>
              <a:gdLst/>
              <a:ahLst/>
              <a:cxnLst/>
              <a:rect l="l" t="t" r="r" b="b"/>
              <a:pathLst>
                <a:path w="5372100" h="1876425">
                  <a:moveTo>
                    <a:pt x="5238749" y="1876424"/>
                  </a:moveTo>
                  <a:lnTo>
                    <a:pt x="133350" y="1876424"/>
                  </a:lnTo>
                  <a:lnTo>
                    <a:pt x="126798" y="1876264"/>
                  </a:lnTo>
                  <a:lnTo>
                    <a:pt x="88432" y="1868632"/>
                  </a:lnTo>
                  <a:lnTo>
                    <a:pt x="53906" y="1850177"/>
                  </a:lnTo>
                  <a:lnTo>
                    <a:pt x="26246" y="1822517"/>
                  </a:lnTo>
                  <a:lnTo>
                    <a:pt x="7791" y="1787991"/>
                  </a:lnTo>
                  <a:lnTo>
                    <a:pt x="160" y="1749625"/>
                  </a:lnTo>
                  <a:lnTo>
                    <a:pt x="0" y="106794"/>
                  </a:lnTo>
                  <a:lnTo>
                    <a:pt x="854" y="99361"/>
                  </a:lnTo>
                  <a:lnTo>
                    <a:pt x="17608" y="57038"/>
                  </a:lnTo>
                  <a:lnTo>
                    <a:pt x="45248" y="28170"/>
                  </a:lnTo>
                  <a:lnTo>
                    <a:pt x="88432" y="6678"/>
                  </a:lnTo>
                  <a:lnTo>
                    <a:pt x="126798" y="137"/>
                  </a:lnTo>
                  <a:lnTo>
                    <a:pt x="133350" y="0"/>
                  </a:lnTo>
                  <a:lnTo>
                    <a:pt x="5238749" y="0"/>
                  </a:lnTo>
                  <a:lnTo>
                    <a:pt x="5277458" y="4920"/>
                  </a:lnTo>
                  <a:lnTo>
                    <a:pt x="5320113" y="23432"/>
                  </a:lnTo>
                  <a:lnTo>
                    <a:pt x="5354489" y="57038"/>
                  </a:lnTo>
                  <a:lnTo>
                    <a:pt x="5371245" y="99361"/>
                  </a:lnTo>
                  <a:lnTo>
                    <a:pt x="5372099" y="1743074"/>
                  </a:lnTo>
                  <a:lnTo>
                    <a:pt x="5371939" y="1749625"/>
                  </a:lnTo>
                  <a:lnTo>
                    <a:pt x="5364307" y="1787991"/>
                  </a:lnTo>
                  <a:lnTo>
                    <a:pt x="5345852" y="1822518"/>
                  </a:lnTo>
                  <a:lnTo>
                    <a:pt x="5318191" y="1850177"/>
                  </a:lnTo>
                  <a:lnTo>
                    <a:pt x="5283665" y="1868632"/>
                  </a:lnTo>
                  <a:lnTo>
                    <a:pt x="5245300" y="1876264"/>
                  </a:lnTo>
                  <a:lnTo>
                    <a:pt x="5238749" y="18764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609599" y="3810000"/>
              <a:ext cx="5372100" cy="133350"/>
            </a:xfrm>
            <a:custGeom>
              <a:avLst/>
              <a:gdLst/>
              <a:ahLst/>
              <a:cxnLst/>
              <a:rect l="l" t="t" r="r" b="b"/>
              <a:pathLst>
                <a:path w="5372100" h="133350">
                  <a:moveTo>
                    <a:pt x="0" y="133349"/>
                  </a:moveTo>
                  <a:lnTo>
                    <a:pt x="5709" y="94698"/>
                  </a:lnTo>
                  <a:lnTo>
                    <a:pt x="22452" y="59250"/>
                  </a:lnTo>
                  <a:lnTo>
                    <a:pt x="48794" y="30217"/>
                  </a:lnTo>
                  <a:lnTo>
                    <a:pt x="82319" y="10150"/>
                  </a:lnTo>
                  <a:lnTo>
                    <a:pt x="120213" y="634"/>
                  </a:lnTo>
                  <a:lnTo>
                    <a:pt x="133349" y="0"/>
                  </a:lnTo>
                  <a:lnTo>
                    <a:pt x="5238749" y="0"/>
                  </a:lnTo>
                  <a:lnTo>
                    <a:pt x="5277400" y="5709"/>
                  </a:lnTo>
                  <a:lnTo>
                    <a:pt x="5312848" y="22452"/>
                  </a:lnTo>
                  <a:lnTo>
                    <a:pt x="5331987" y="38099"/>
                  </a:lnTo>
                  <a:lnTo>
                    <a:pt x="133349" y="38099"/>
                  </a:lnTo>
                  <a:lnTo>
                    <a:pt x="120213" y="38553"/>
                  </a:lnTo>
                  <a:lnTo>
                    <a:pt x="82319" y="45350"/>
                  </a:lnTo>
                  <a:lnTo>
                    <a:pt x="39057" y="65997"/>
                  </a:lnTo>
                  <a:lnTo>
                    <a:pt x="10150" y="96898"/>
                  </a:lnTo>
                  <a:lnTo>
                    <a:pt x="634" y="123966"/>
                  </a:lnTo>
                  <a:lnTo>
                    <a:pt x="0" y="133349"/>
                  </a:lnTo>
                  <a:close/>
                </a:path>
                <a:path w="5372100" h="133350">
                  <a:moveTo>
                    <a:pt x="5372099" y="133349"/>
                  </a:moveTo>
                  <a:lnTo>
                    <a:pt x="5356335" y="88403"/>
                  </a:lnTo>
                  <a:lnTo>
                    <a:pt x="5323304" y="59683"/>
                  </a:lnTo>
                  <a:lnTo>
                    <a:pt x="5277400" y="42178"/>
                  </a:lnTo>
                  <a:lnTo>
                    <a:pt x="5238749" y="38099"/>
                  </a:lnTo>
                  <a:lnTo>
                    <a:pt x="5331987" y="38099"/>
                  </a:lnTo>
                  <a:lnTo>
                    <a:pt x="5356335" y="70425"/>
                  </a:lnTo>
                  <a:lnTo>
                    <a:pt x="5369561" y="107329"/>
                  </a:lnTo>
                  <a:lnTo>
                    <a:pt x="5371465" y="120213"/>
                  </a:lnTo>
                  <a:lnTo>
                    <a:pt x="5372099" y="13334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9" name="object 19"/>
            <p:cNvPicPr/>
            <p:nvPr/>
          </p:nvPicPr>
          <p:blipFill>
            <a:blip r:embed="rId5" cstate="print"/>
            <a:stretch>
              <a:fillRect/>
            </a:stretch>
          </p:blipFill>
          <p:spPr>
            <a:xfrm>
              <a:off x="898524" y="4146549"/>
              <a:ext cx="222250" cy="222250"/>
            </a:xfrm>
            <a:prstGeom prst="rect">
              <a:avLst/>
            </a:prstGeom>
          </p:spPr>
        </p:pic>
      </p:grpSp>
      <p:sp>
        <p:nvSpPr>
          <p:cNvPr id="20" name="object 20"/>
          <p:cNvSpPr txBox="1"/>
          <p:nvPr/>
        </p:nvSpPr>
        <p:spPr>
          <a:xfrm>
            <a:off x="1244600" y="4104671"/>
            <a:ext cx="2179955" cy="251992"/>
          </a:xfrm>
          <a:prstGeom prst="rect">
            <a:avLst/>
          </a:prstGeom>
        </p:spPr>
        <p:txBody>
          <a:bodyPr vert="horz" wrap="square" lIns="0" tIns="13335" rIns="0" bIns="0" rtlCol="0">
            <a:spAutoFit/>
          </a:bodyPr>
          <a:lstStyle/>
          <a:p>
            <a:pPr marL="12700">
              <a:lnSpc>
                <a:spcPct val="100000"/>
              </a:lnSpc>
              <a:spcBef>
                <a:spcPts val="105"/>
              </a:spcBef>
            </a:pPr>
            <a:r>
              <a:rPr sz="1550" b="1" spc="70" dirty="0">
                <a:solidFill>
                  <a:srgbClr val="1B294A"/>
                </a:solidFill>
                <a:latin typeface="Times New Roman" panose="02020603050405020304" pitchFamily="18" charset="0"/>
                <a:cs typeface="Times New Roman" panose="02020603050405020304" pitchFamily="18" charset="0"/>
              </a:rPr>
              <a:t>Design</a:t>
            </a:r>
            <a:r>
              <a:rPr sz="1550" b="1" spc="-55" dirty="0">
                <a:solidFill>
                  <a:srgbClr val="1B294A"/>
                </a:solidFill>
                <a:latin typeface="Times New Roman" panose="02020603050405020304" pitchFamily="18" charset="0"/>
                <a:cs typeface="Times New Roman" panose="02020603050405020304" pitchFamily="18" charset="0"/>
              </a:rPr>
              <a:t> </a:t>
            </a:r>
            <a:r>
              <a:rPr sz="1550" b="1" spc="45" dirty="0">
                <a:solidFill>
                  <a:srgbClr val="1B294A"/>
                </a:solidFill>
                <a:latin typeface="Times New Roman" panose="02020603050405020304" pitchFamily="18" charset="0"/>
                <a:cs typeface="Times New Roman" panose="02020603050405020304" pitchFamily="18" charset="0"/>
              </a:rPr>
              <a:t>professionnel</a:t>
            </a:r>
            <a:endParaRPr sz="1550">
              <a:latin typeface="Times New Roman" panose="02020603050405020304" pitchFamily="18" charset="0"/>
              <a:cs typeface="Times New Roman" panose="02020603050405020304" pitchFamily="18" charset="0"/>
            </a:endParaRPr>
          </a:p>
        </p:txBody>
      </p:sp>
      <p:sp>
        <p:nvSpPr>
          <p:cNvPr id="21" name="object 21"/>
          <p:cNvSpPr txBox="1"/>
          <p:nvPr/>
        </p:nvSpPr>
        <p:spPr>
          <a:xfrm>
            <a:off x="863599" y="4475764"/>
            <a:ext cx="4853940" cy="977900"/>
          </a:xfrm>
          <a:prstGeom prst="rect">
            <a:avLst/>
          </a:prstGeom>
        </p:spPr>
        <p:txBody>
          <a:bodyPr vert="horz" wrap="square" lIns="0" tIns="12065" rIns="0" bIns="0" rtlCol="0">
            <a:spAutoFit/>
          </a:bodyPr>
          <a:lstStyle/>
          <a:p>
            <a:pPr marL="12700" marR="5080">
              <a:lnSpc>
                <a:spcPct val="130200"/>
              </a:lnSpc>
              <a:spcBef>
                <a:spcPts val="95"/>
              </a:spcBef>
            </a:pPr>
            <a:r>
              <a:rPr sz="1200" dirty="0">
                <a:solidFill>
                  <a:srgbClr val="3A4556"/>
                </a:solidFill>
                <a:latin typeface="Times New Roman" panose="02020603050405020304" pitchFamily="18" charset="0"/>
                <a:cs typeface="Times New Roman" panose="02020603050405020304" pitchFamily="18" charset="0"/>
              </a:rPr>
              <a:t>Le</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design</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est</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moderne,</a:t>
            </a:r>
            <a:r>
              <a:rPr sz="1200" spc="4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épuré</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et</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cohérent</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sur</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toutes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pages.</a:t>
            </a:r>
            <a:r>
              <a:rPr sz="1200" spc="50" dirty="0">
                <a:solidFill>
                  <a:srgbClr val="3A4556"/>
                </a:solidFill>
                <a:latin typeface="Times New Roman" panose="02020603050405020304" pitchFamily="18" charset="0"/>
                <a:cs typeface="Times New Roman" panose="02020603050405020304" pitchFamily="18" charset="0"/>
              </a:rPr>
              <a:t> </a:t>
            </a:r>
            <a:r>
              <a:rPr sz="1200" spc="-25" dirty="0">
                <a:solidFill>
                  <a:srgbClr val="3A4556"/>
                </a:solidFill>
                <a:latin typeface="Times New Roman" panose="02020603050405020304" pitchFamily="18" charset="0"/>
                <a:cs typeface="Times New Roman" panose="02020603050405020304" pitchFamily="18" charset="0"/>
              </a:rPr>
              <a:t>Les </a:t>
            </a:r>
            <a:r>
              <a:rPr sz="1200" dirty="0">
                <a:solidFill>
                  <a:srgbClr val="3A4556"/>
                </a:solidFill>
                <a:latin typeface="Times New Roman" panose="02020603050405020304" pitchFamily="18" charset="0"/>
                <a:cs typeface="Times New Roman" panose="02020603050405020304" pitchFamily="18" charset="0"/>
              </a:rPr>
              <a:t>cartes,</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les</a:t>
            </a:r>
            <a:r>
              <a:rPr sz="1200" spc="-3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animations</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et</a:t>
            </a:r>
            <a:r>
              <a:rPr sz="1200" spc="-5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Bento</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Grid</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donnent</a:t>
            </a:r>
            <a:r>
              <a:rPr sz="1200" spc="-5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une</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impression </a:t>
            </a:r>
            <a:r>
              <a:rPr sz="1200" spc="-25" dirty="0">
                <a:solidFill>
                  <a:srgbClr val="3A4556"/>
                </a:solidFill>
                <a:latin typeface="Times New Roman" panose="02020603050405020304" pitchFamily="18" charset="0"/>
                <a:cs typeface="Times New Roman" panose="02020603050405020304" pitchFamily="18" charset="0"/>
              </a:rPr>
              <a:t>de </a:t>
            </a:r>
            <a:r>
              <a:rPr sz="1200" dirty="0">
                <a:solidFill>
                  <a:srgbClr val="3A4556"/>
                </a:solidFill>
                <a:latin typeface="Times New Roman" panose="02020603050405020304" pitchFamily="18" charset="0"/>
                <a:cs typeface="Times New Roman" panose="02020603050405020304" pitchFamily="18" charset="0"/>
              </a:rPr>
              <a:t>qualité.</a:t>
            </a:r>
            <a:r>
              <a:rPr sz="1200" spc="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Le</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mode</a:t>
            </a:r>
            <a:r>
              <a:rPr sz="1200" spc="-4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sombre/clair</a:t>
            </a:r>
            <a:r>
              <a:rPr sz="1200" spc="-4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est</a:t>
            </a:r>
            <a:r>
              <a:rPr sz="1200" spc="-4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un plus</a:t>
            </a:r>
            <a:r>
              <a:rPr sz="1200" spc="-3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appréciable.</a:t>
            </a:r>
            <a:r>
              <a:rPr sz="1200" spc="30" dirty="0">
                <a:solidFill>
                  <a:srgbClr val="3A4556"/>
                </a:solidFill>
                <a:latin typeface="Times New Roman" panose="02020603050405020304" pitchFamily="18" charset="0"/>
                <a:cs typeface="Times New Roman" panose="02020603050405020304" pitchFamily="18" charset="0"/>
              </a:rPr>
              <a:t> </a:t>
            </a:r>
            <a:r>
              <a:rPr sz="1200" spc="-75" dirty="0">
                <a:solidFill>
                  <a:srgbClr val="3A4556"/>
                </a:solidFill>
                <a:latin typeface="Times New Roman" panose="02020603050405020304" pitchFamily="18" charset="0"/>
                <a:cs typeface="Times New Roman" panose="02020603050405020304" pitchFamily="18" charset="0"/>
              </a:rPr>
              <a:t>L'</a:t>
            </a:r>
            <a:r>
              <a:rPr sz="1200" spc="-2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usage</a:t>
            </a:r>
            <a:r>
              <a:rPr sz="1200" spc="-3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d'</a:t>
            </a:r>
            <a:r>
              <a:rPr sz="1200" spc="-215"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icônes </a:t>
            </a:r>
            <a:r>
              <a:rPr sz="1200" dirty="0">
                <a:solidFill>
                  <a:srgbClr val="3A4556"/>
                </a:solidFill>
                <a:latin typeface="Times New Roman" panose="02020603050405020304" pitchFamily="18" charset="0"/>
                <a:cs typeface="Times New Roman" panose="02020603050405020304" pitchFamily="18" charset="0"/>
              </a:rPr>
              <a:t>Bootstrap</a:t>
            </a:r>
            <a:r>
              <a:rPr sz="1200" spc="-20"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Icons</a:t>
            </a:r>
            <a:r>
              <a:rPr sz="1200" spc="-1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renforce</a:t>
            </a:r>
            <a:r>
              <a:rPr sz="1200" spc="-25" dirty="0">
                <a:solidFill>
                  <a:srgbClr val="3A4556"/>
                </a:solidFill>
                <a:latin typeface="Times New Roman" panose="02020603050405020304" pitchFamily="18" charset="0"/>
                <a:cs typeface="Times New Roman" panose="02020603050405020304" pitchFamily="18" charset="0"/>
              </a:rPr>
              <a:t> </a:t>
            </a:r>
            <a:r>
              <a:rPr sz="1200" dirty="0">
                <a:solidFill>
                  <a:srgbClr val="3A4556"/>
                </a:solidFill>
                <a:latin typeface="Times New Roman" panose="02020603050405020304" pitchFamily="18" charset="0"/>
                <a:cs typeface="Times New Roman" panose="02020603050405020304" pitchFamily="18" charset="0"/>
              </a:rPr>
              <a:t>la</a:t>
            </a:r>
            <a:r>
              <a:rPr sz="1200" spc="10" dirty="0">
                <a:solidFill>
                  <a:srgbClr val="3A4556"/>
                </a:solidFill>
                <a:latin typeface="Times New Roman" panose="02020603050405020304" pitchFamily="18" charset="0"/>
                <a:cs typeface="Times New Roman" panose="02020603050405020304" pitchFamily="18" charset="0"/>
              </a:rPr>
              <a:t> </a:t>
            </a:r>
            <a:r>
              <a:rPr sz="1200" spc="-10" dirty="0">
                <a:solidFill>
                  <a:srgbClr val="3A4556"/>
                </a:solidFill>
                <a:latin typeface="Times New Roman" panose="02020603050405020304" pitchFamily="18" charset="0"/>
                <a:cs typeface="Times New Roman" panose="02020603050405020304" pitchFamily="18" charset="0"/>
              </a:rPr>
              <a:t>lisibilité.</a:t>
            </a:r>
            <a:endParaRPr sz="1200">
              <a:latin typeface="Times New Roman" panose="02020603050405020304" pitchFamily="18" charset="0"/>
              <a:cs typeface="Times New Roman" panose="02020603050405020304" pitchFamily="18" charset="0"/>
            </a:endParaRPr>
          </a:p>
        </p:txBody>
      </p:sp>
      <p:grpSp>
        <p:nvGrpSpPr>
          <p:cNvPr id="22" name="object 22"/>
          <p:cNvGrpSpPr/>
          <p:nvPr/>
        </p:nvGrpSpPr>
        <p:grpSpPr>
          <a:xfrm>
            <a:off x="6210299" y="3809999"/>
            <a:ext cx="5372100" cy="1895475"/>
            <a:chOff x="6210299" y="3809999"/>
            <a:chExt cx="5372100" cy="1895475"/>
          </a:xfrm>
        </p:grpSpPr>
        <p:sp>
          <p:nvSpPr>
            <p:cNvPr id="23" name="object 23"/>
            <p:cNvSpPr/>
            <p:nvPr/>
          </p:nvSpPr>
          <p:spPr>
            <a:xfrm>
              <a:off x="6210299" y="3809999"/>
              <a:ext cx="5372100" cy="1895475"/>
            </a:xfrm>
            <a:custGeom>
              <a:avLst/>
              <a:gdLst/>
              <a:ahLst/>
              <a:cxnLst/>
              <a:rect l="l" t="t" r="r" b="b"/>
              <a:pathLst>
                <a:path w="5372100" h="1895475">
                  <a:moveTo>
                    <a:pt x="5238749" y="1895474"/>
                  </a:moveTo>
                  <a:lnTo>
                    <a:pt x="133349" y="1895474"/>
                  </a:lnTo>
                  <a:lnTo>
                    <a:pt x="126798" y="1895314"/>
                  </a:lnTo>
                  <a:lnTo>
                    <a:pt x="88432" y="1887682"/>
                  </a:lnTo>
                  <a:lnTo>
                    <a:pt x="53906" y="1869227"/>
                  </a:lnTo>
                  <a:lnTo>
                    <a:pt x="26246" y="1841567"/>
                  </a:lnTo>
                  <a:lnTo>
                    <a:pt x="7791" y="1807041"/>
                  </a:lnTo>
                  <a:lnTo>
                    <a:pt x="159" y="1768675"/>
                  </a:lnTo>
                  <a:lnTo>
                    <a:pt x="0" y="1762124"/>
                  </a:lnTo>
                  <a:lnTo>
                    <a:pt x="0" y="133349"/>
                  </a:lnTo>
                  <a:lnTo>
                    <a:pt x="5740" y="94639"/>
                  </a:lnTo>
                  <a:lnTo>
                    <a:pt x="22473" y="59264"/>
                  </a:lnTo>
                  <a:lnTo>
                    <a:pt x="48752" y="30267"/>
                  </a:lnTo>
                  <a:lnTo>
                    <a:pt x="82318" y="10150"/>
                  </a:lnTo>
                  <a:lnTo>
                    <a:pt x="120279" y="640"/>
                  </a:lnTo>
                  <a:lnTo>
                    <a:pt x="133349" y="0"/>
                  </a:lnTo>
                  <a:lnTo>
                    <a:pt x="5238749" y="0"/>
                  </a:lnTo>
                  <a:lnTo>
                    <a:pt x="5277457" y="5740"/>
                  </a:lnTo>
                  <a:lnTo>
                    <a:pt x="5312833" y="22473"/>
                  </a:lnTo>
                  <a:lnTo>
                    <a:pt x="5341830" y="48752"/>
                  </a:lnTo>
                  <a:lnTo>
                    <a:pt x="5361947" y="82318"/>
                  </a:lnTo>
                  <a:lnTo>
                    <a:pt x="5371457" y="120279"/>
                  </a:lnTo>
                  <a:lnTo>
                    <a:pt x="5372099" y="133349"/>
                  </a:lnTo>
                  <a:lnTo>
                    <a:pt x="5372099" y="1762124"/>
                  </a:lnTo>
                  <a:lnTo>
                    <a:pt x="5366357" y="1800834"/>
                  </a:lnTo>
                  <a:lnTo>
                    <a:pt x="5349625" y="1836209"/>
                  </a:lnTo>
                  <a:lnTo>
                    <a:pt x="5323345" y="1865206"/>
                  </a:lnTo>
                  <a:lnTo>
                    <a:pt x="5289777" y="1885323"/>
                  </a:lnTo>
                  <a:lnTo>
                    <a:pt x="5251819" y="1894834"/>
                  </a:lnTo>
                  <a:lnTo>
                    <a:pt x="5238749" y="1895474"/>
                  </a:lnTo>
                  <a:close/>
                </a:path>
              </a:pathLst>
            </a:custGeom>
            <a:solidFill>
              <a:srgbClr val="1B294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24" name="object 24"/>
            <p:cNvPicPr/>
            <p:nvPr/>
          </p:nvPicPr>
          <p:blipFill>
            <a:blip r:embed="rId6" cstate="print"/>
            <a:stretch>
              <a:fillRect/>
            </a:stretch>
          </p:blipFill>
          <p:spPr>
            <a:xfrm>
              <a:off x="6499224" y="4108449"/>
              <a:ext cx="222250" cy="222250"/>
            </a:xfrm>
            <a:prstGeom prst="rect">
              <a:avLst/>
            </a:prstGeom>
          </p:spPr>
        </p:pic>
      </p:grpSp>
      <p:sp>
        <p:nvSpPr>
          <p:cNvPr id="25" name="object 25"/>
          <p:cNvSpPr txBox="1"/>
          <p:nvPr/>
        </p:nvSpPr>
        <p:spPr>
          <a:xfrm>
            <a:off x="6845299" y="4066571"/>
            <a:ext cx="3359150" cy="251992"/>
          </a:xfrm>
          <a:prstGeom prst="rect">
            <a:avLst/>
          </a:prstGeom>
        </p:spPr>
        <p:txBody>
          <a:bodyPr vert="horz" wrap="square" lIns="0" tIns="13335" rIns="0" bIns="0" rtlCol="0">
            <a:spAutoFit/>
          </a:bodyPr>
          <a:lstStyle/>
          <a:p>
            <a:pPr marL="12700">
              <a:lnSpc>
                <a:spcPct val="100000"/>
              </a:lnSpc>
              <a:spcBef>
                <a:spcPts val="105"/>
              </a:spcBef>
            </a:pPr>
            <a:r>
              <a:rPr sz="1550" b="1" spc="114" dirty="0">
                <a:solidFill>
                  <a:srgbClr val="FFFFFF"/>
                </a:solidFill>
                <a:latin typeface="Times New Roman" panose="02020603050405020304" pitchFamily="18" charset="0"/>
                <a:cs typeface="Times New Roman" panose="02020603050405020304" pitchFamily="18" charset="0"/>
              </a:rPr>
              <a:t>Adaptation</a:t>
            </a:r>
            <a:r>
              <a:rPr sz="1550" b="1" spc="-50" dirty="0">
                <a:solidFill>
                  <a:srgbClr val="FFFFFF"/>
                </a:solidFill>
                <a:latin typeface="Times New Roman" panose="02020603050405020304" pitchFamily="18" charset="0"/>
                <a:cs typeface="Times New Roman" panose="02020603050405020304" pitchFamily="18" charset="0"/>
              </a:rPr>
              <a:t> </a:t>
            </a:r>
            <a:r>
              <a:rPr sz="1550" b="1" spc="150" dirty="0">
                <a:solidFill>
                  <a:srgbClr val="FFFFFF"/>
                </a:solidFill>
                <a:latin typeface="Times New Roman" panose="02020603050405020304" pitchFamily="18" charset="0"/>
                <a:cs typeface="Times New Roman" panose="02020603050405020304" pitchFamily="18" charset="0"/>
              </a:rPr>
              <a:t>au</a:t>
            </a:r>
            <a:r>
              <a:rPr sz="1550" b="1" spc="-45" dirty="0">
                <a:solidFill>
                  <a:srgbClr val="FFFFFF"/>
                </a:solidFill>
                <a:latin typeface="Times New Roman" panose="02020603050405020304" pitchFamily="18" charset="0"/>
                <a:cs typeface="Times New Roman" panose="02020603050405020304" pitchFamily="18" charset="0"/>
              </a:rPr>
              <a:t> </a:t>
            </a:r>
            <a:r>
              <a:rPr sz="1550" b="1" spc="125" dirty="0">
                <a:solidFill>
                  <a:srgbClr val="FFFFFF"/>
                </a:solidFill>
                <a:latin typeface="Times New Roman" panose="02020603050405020304" pitchFamily="18" charset="0"/>
                <a:cs typeface="Times New Roman" panose="02020603050405020304" pitchFamily="18" charset="0"/>
              </a:rPr>
              <a:t>contexte</a:t>
            </a:r>
            <a:r>
              <a:rPr sz="1550" b="1" spc="-85" dirty="0">
                <a:solidFill>
                  <a:srgbClr val="FFFFFF"/>
                </a:solidFill>
                <a:latin typeface="Times New Roman" panose="02020603050405020304" pitchFamily="18" charset="0"/>
                <a:cs typeface="Times New Roman" panose="02020603050405020304" pitchFamily="18" charset="0"/>
              </a:rPr>
              <a:t> </a:t>
            </a:r>
            <a:r>
              <a:rPr sz="1550" b="1" spc="85" dirty="0">
                <a:solidFill>
                  <a:srgbClr val="FFFFFF"/>
                </a:solidFill>
                <a:latin typeface="Times New Roman" panose="02020603050405020304" pitchFamily="18" charset="0"/>
                <a:cs typeface="Times New Roman" panose="02020603050405020304" pitchFamily="18" charset="0"/>
              </a:rPr>
              <a:t>africain</a:t>
            </a:r>
            <a:endParaRPr sz="1550">
              <a:latin typeface="Times New Roman" panose="02020603050405020304" pitchFamily="18" charset="0"/>
              <a:cs typeface="Times New Roman" panose="02020603050405020304" pitchFamily="18" charset="0"/>
            </a:endParaRPr>
          </a:p>
        </p:txBody>
      </p:sp>
      <p:sp>
        <p:nvSpPr>
          <p:cNvPr id="26" name="object 26"/>
          <p:cNvSpPr txBox="1"/>
          <p:nvPr/>
        </p:nvSpPr>
        <p:spPr>
          <a:xfrm>
            <a:off x="6464300" y="4437664"/>
            <a:ext cx="4760595" cy="977900"/>
          </a:xfrm>
          <a:prstGeom prst="rect">
            <a:avLst/>
          </a:prstGeom>
        </p:spPr>
        <p:txBody>
          <a:bodyPr vert="horz" wrap="square" lIns="0" tIns="12065" rIns="0" bIns="0" rtlCol="0">
            <a:spAutoFit/>
          </a:bodyPr>
          <a:lstStyle/>
          <a:p>
            <a:pPr marL="12700" marR="5080">
              <a:lnSpc>
                <a:spcPct val="130200"/>
              </a:lnSpc>
              <a:spcBef>
                <a:spcPts val="95"/>
              </a:spcBef>
            </a:pPr>
            <a:r>
              <a:rPr sz="1200" dirty="0">
                <a:solidFill>
                  <a:srgbClr val="FEFEFE"/>
                </a:solidFill>
                <a:latin typeface="Times New Roman" panose="02020603050405020304" pitchFamily="18" charset="0"/>
                <a:cs typeface="Times New Roman" panose="02020603050405020304" pitchFamily="18" charset="0"/>
              </a:rPr>
              <a:t>Les</a:t>
            </a:r>
            <a:r>
              <a:rPr sz="1200" spc="-2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tarifs</a:t>
            </a:r>
            <a:r>
              <a:rPr sz="1200" spc="-1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sont</a:t>
            </a:r>
            <a:r>
              <a:rPr sz="1200" spc="-3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en</a:t>
            </a:r>
            <a:r>
              <a:rPr sz="1200" spc="10" dirty="0">
                <a:solidFill>
                  <a:srgbClr val="FEFEFE"/>
                </a:solidFill>
                <a:latin typeface="Times New Roman" panose="02020603050405020304" pitchFamily="18" charset="0"/>
                <a:cs typeface="Times New Roman" panose="02020603050405020304" pitchFamily="18" charset="0"/>
              </a:rPr>
              <a:t> </a:t>
            </a:r>
            <a:r>
              <a:rPr sz="1200" spc="-75" dirty="0">
                <a:solidFill>
                  <a:srgbClr val="FEFEFE"/>
                </a:solidFill>
                <a:latin typeface="Times New Roman" panose="02020603050405020304" pitchFamily="18" charset="0"/>
                <a:cs typeface="Times New Roman" panose="02020603050405020304" pitchFamily="18" charset="0"/>
              </a:rPr>
              <a:t>FCFA,</a:t>
            </a:r>
            <a:r>
              <a:rPr sz="1200" spc="4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ce</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qui</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est</a:t>
            </a:r>
            <a:r>
              <a:rPr sz="1200" spc="-3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adapté</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au</a:t>
            </a:r>
            <a:r>
              <a:rPr sz="1200" spc="1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public</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cible.</a:t>
            </a:r>
            <a:r>
              <a:rPr sz="1200" spc="4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Le</a:t>
            </a:r>
            <a:r>
              <a:rPr sz="1200" spc="-30"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paiement </a:t>
            </a:r>
            <a:r>
              <a:rPr sz="1200" dirty="0">
                <a:solidFill>
                  <a:srgbClr val="FEFEFE"/>
                </a:solidFill>
                <a:latin typeface="Times New Roman" panose="02020603050405020304" pitchFamily="18" charset="0"/>
                <a:cs typeface="Times New Roman" panose="02020603050405020304" pitchFamily="18" charset="0"/>
              </a:rPr>
              <a:t>Mobile</a:t>
            </a:r>
            <a:r>
              <a:rPr sz="1200" spc="-2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Money</a:t>
            </a:r>
            <a:r>
              <a:rPr sz="1200" spc="-4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est</a:t>
            </a:r>
            <a:r>
              <a:rPr sz="1200" spc="-3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proposé,</a:t>
            </a:r>
            <a:r>
              <a:rPr sz="1200" spc="5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un</a:t>
            </a:r>
            <a:r>
              <a:rPr sz="1200" spc="1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choix</a:t>
            </a:r>
            <a:r>
              <a:rPr sz="1200" spc="-4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stratégique</a:t>
            </a:r>
            <a:r>
              <a:rPr sz="1200" spc="-2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essentiel.</a:t>
            </a:r>
            <a:r>
              <a:rPr sz="1200" spc="45" dirty="0">
                <a:solidFill>
                  <a:srgbClr val="FEFEFE"/>
                </a:solidFill>
                <a:latin typeface="Times New Roman" panose="02020603050405020304" pitchFamily="18" charset="0"/>
                <a:cs typeface="Times New Roman" panose="02020603050405020304" pitchFamily="18" charset="0"/>
              </a:rPr>
              <a:t> </a:t>
            </a:r>
            <a:r>
              <a:rPr sz="1200" spc="-25" dirty="0">
                <a:solidFill>
                  <a:srgbClr val="FEFEFE"/>
                </a:solidFill>
                <a:latin typeface="Times New Roman" panose="02020603050405020304" pitchFamily="18" charset="0"/>
                <a:cs typeface="Times New Roman" panose="02020603050405020304" pitchFamily="18" charset="0"/>
              </a:rPr>
              <a:t>La </a:t>
            </a:r>
            <a:r>
              <a:rPr sz="1200" dirty="0">
                <a:solidFill>
                  <a:srgbClr val="FEFEFE"/>
                </a:solidFill>
                <a:latin typeface="Times New Roman" panose="02020603050405020304" pitchFamily="18" charset="0"/>
                <a:cs typeface="Times New Roman" panose="02020603050405020304" pitchFamily="18" charset="0"/>
              </a:rPr>
              <a:t>plateforme couvre </a:t>
            </a:r>
            <a:r>
              <a:rPr sz="1200" spc="-125" dirty="0">
                <a:solidFill>
                  <a:srgbClr val="FEFEFE"/>
                </a:solidFill>
                <a:latin typeface="Times New Roman" panose="02020603050405020304" pitchFamily="18" charset="0"/>
                <a:cs typeface="Times New Roman" panose="02020603050405020304" pitchFamily="18" charset="0"/>
              </a:rPr>
              <a:t>15</a:t>
            </a:r>
            <a:r>
              <a:rPr sz="1200" spc="2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pays</a:t>
            </a:r>
            <a:r>
              <a:rPr sz="1200" spc="1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africains</a:t>
            </a:r>
            <a:r>
              <a:rPr sz="1200" spc="1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et</a:t>
            </a:r>
            <a:r>
              <a:rPr sz="1200" spc="-1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les</a:t>
            </a:r>
            <a:r>
              <a:rPr sz="1200" spc="1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témoignages</a:t>
            </a:r>
            <a:r>
              <a:rPr sz="1200" spc="1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viennent</a:t>
            </a:r>
            <a:r>
              <a:rPr sz="1200" spc="-5" dirty="0">
                <a:solidFill>
                  <a:srgbClr val="FEFEFE"/>
                </a:solidFill>
                <a:latin typeface="Times New Roman" panose="02020603050405020304" pitchFamily="18" charset="0"/>
                <a:cs typeface="Times New Roman" panose="02020603050405020304" pitchFamily="18" charset="0"/>
              </a:rPr>
              <a:t> </a:t>
            </a:r>
            <a:r>
              <a:rPr sz="1200" spc="-25" dirty="0">
                <a:solidFill>
                  <a:srgbClr val="FEFEFE"/>
                </a:solidFill>
                <a:latin typeface="Times New Roman" panose="02020603050405020304" pitchFamily="18" charset="0"/>
                <a:cs typeface="Times New Roman" panose="02020603050405020304" pitchFamily="18" charset="0"/>
              </a:rPr>
              <a:t>de </a:t>
            </a:r>
            <a:r>
              <a:rPr sz="1200" dirty="0">
                <a:solidFill>
                  <a:srgbClr val="FEFEFE"/>
                </a:solidFill>
                <a:latin typeface="Times New Roman" panose="02020603050405020304" pitchFamily="18" charset="0"/>
                <a:cs typeface="Times New Roman" panose="02020603050405020304" pitchFamily="18" charset="0"/>
              </a:rPr>
              <a:t>différentes</a:t>
            </a:r>
            <a:r>
              <a:rPr sz="1200" spc="-1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villes</a:t>
            </a:r>
            <a:r>
              <a:rPr sz="1200" spc="-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du</a:t>
            </a:r>
            <a:r>
              <a:rPr sz="1200" spc="20"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continent</a:t>
            </a:r>
            <a:r>
              <a:rPr sz="1200" spc="-25" dirty="0">
                <a:solidFill>
                  <a:srgbClr val="FEFEFE"/>
                </a:solidFill>
                <a:latin typeface="Times New Roman" panose="02020603050405020304" pitchFamily="18" charset="0"/>
                <a:cs typeface="Times New Roman" panose="02020603050405020304" pitchFamily="18" charset="0"/>
              </a:rPr>
              <a:t> (Dakar,</a:t>
            </a:r>
            <a:r>
              <a:rPr sz="1200" spc="55" dirty="0">
                <a:solidFill>
                  <a:srgbClr val="FEFEFE"/>
                </a:solidFill>
                <a:latin typeface="Times New Roman" panose="02020603050405020304" pitchFamily="18" charset="0"/>
                <a:cs typeface="Times New Roman" panose="02020603050405020304" pitchFamily="18" charset="0"/>
              </a:rPr>
              <a:t> </a:t>
            </a:r>
            <a:r>
              <a:rPr sz="1200" dirty="0">
                <a:solidFill>
                  <a:srgbClr val="FEFEFE"/>
                </a:solidFill>
                <a:latin typeface="Times New Roman" panose="02020603050405020304" pitchFamily="18" charset="0"/>
                <a:cs typeface="Times New Roman" panose="02020603050405020304" pitchFamily="18" charset="0"/>
              </a:rPr>
              <a:t>Accra,</a:t>
            </a:r>
            <a:r>
              <a:rPr sz="1200" spc="55" dirty="0">
                <a:solidFill>
                  <a:srgbClr val="FEFEFE"/>
                </a:solidFill>
                <a:latin typeface="Times New Roman" panose="02020603050405020304" pitchFamily="18" charset="0"/>
                <a:cs typeface="Times New Roman" panose="02020603050405020304" pitchFamily="18" charset="0"/>
              </a:rPr>
              <a:t> </a:t>
            </a:r>
            <a:r>
              <a:rPr sz="1200" spc="-10" dirty="0">
                <a:solidFill>
                  <a:srgbClr val="FEFEFE"/>
                </a:solidFill>
                <a:latin typeface="Times New Roman" panose="02020603050405020304" pitchFamily="18" charset="0"/>
                <a:cs typeface="Times New Roman" panose="02020603050405020304" pitchFamily="18" charset="0"/>
              </a:rPr>
              <a:t>Abidjan).</a:t>
            </a:r>
            <a:endParaRPr sz="1200">
              <a:latin typeface="Times New Roman" panose="02020603050405020304" pitchFamily="18" charset="0"/>
              <a:cs typeface="Times New Roman" panose="02020603050405020304" pitchFamily="18" charset="0"/>
            </a:endParaRPr>
          </a:p>
        </p:txBody>
      </p:sp>
      <p:pic>
        <p:nvPicPr>
          <p:cNvPr id="27" name="object 27"/>
          <p:cNvPicPr/>
          <p:nvPr/>
        </p:nvPicPr>
        <p:blipFill>
          <a:blip r:embed="rId7" cstate="print"/>
          <a:stretch>
            <a:fillRect/>
          </a:stretch>
        </p:blipFill>
        <p:spPr>
          <a:xfrm>
            <a:off x="0" y="0"/>
            <a:ext cx="12191999" cy="47624"/>
          </a:xfrm>
          <a:prstGeom prst="rect">
            <a:avLst/>
          </a:prstGeom>
        </p:spPr>
      </p:pic>
      <p:sp>
        <p:nvSpPr>
          <p:cNvPr id="28" name="object 28"/>
          <p:cNvSpPr txBox="1"/>
          <p:nvPr/>
        </p:nvSpPr>
        <p:spPr>
          <a:xfrm>
            <a:off x="10202118" y="-576014"/>
            <a:ext cx="1431290" cy="2244725"/>
          </a:xfrm>
          <a:prstGeom prst="rect">
            <a:avLst/>
          </a:prstGeom>
        </p:spPr>
        <p:txBody>
          <a:bodyPr vert="horz" wrap="square" lIns="0" tIns="13970" rIns="0" bIns="0" rtlCol="0">
            <a:spAutoFit/>
          </a:bodyPr>
          <a:lstStyle/>
          <a:p>
            <a:pPr marL="12700">
              <a:lnSpc>
                <a:spcPct val="100000"/>
              </a:lnSpc>
              <a:spcBef>
                <a:spcPts val="110"/>
              </a:spcBef>
            </a:pPr>
            <a:r>
              <a:rPr sz="14550" spc="55" dirty="0">
                <a:solidFill>
                  <a:srgbClr val="FCF7F2"/>
                </a:solidFill>
                <a:latin typeface="Times New Roman" panose="02020603050405020304" pitchFamily="18" charset="0"/>
                <a:cs typeface="Times New Roman" panose="02020603050405020304" pitchFamily="18" charset="0"/>
              </a:rPr>
              <a:t>✓</a:t>
            </a:r>
            <a:endParaRPr sz="14550">
              <a:latin typeface="Times New Roman" panose="02020603050405020304" pitchFamily="18" charset="0"/>
              <a:cs typeface="Times New Roman" panose="02020603050405020304" pitchFamily="18" charset="0"/>
            </a:endParaRPr>
          </a:p>
        </p:txBody>
      </p:sp>
      <p:sp>
        <p:nvSpPr>
          <p:cNvPr id="29" name="object 29"/>
          <p:cNvSpPr txBox="1"/>
          <p:nvPr/>
        </p:nvSpPr>
        <p:spPr>
          <a:xfrm>
            <a:off x="11256565" y="6467317"/>
            <a:ext cx="332105" cy="146835"/>
          </a:xfrm>
          <a:prstGeom prst="rect">
            <a:avLst/>
          </a:prstGeom>
        </p:spPr>
        <p:txBody>
          <a:bodyPr vert="horz" wrap="square" lIns="0" tIns="15875" rIns="0" bIns="0" rtlCol="0">
            <a:spAutoFit/>
          </a:bodyPr>
          <a:lstStyle/>
          <a:p>
            <a:pPr marL="12700">
              <a:lnSpc>
                <a:spcPct val="100000"/>
              </a:lnSpc>
              <a:spcBef>
                <a:spcPts val="125"/>
              </a:spcBef>
            </a:pPr>
            <a:r>
              <a:rPr sz="850" dirty="0">
                <a:solidFill>
                  <a:srgbClr val="6A798F"/>
                </a:solidFill>
                <a:latin typeface="Times New Roman" panose="02020603050405020304" pitchFamily="18" charset="0"/>
                <a:cs typeface="Times New Roman" panose="02020603050405020304" pitchFamily="18" charset="0"/>
              </a:rPr>
              <a:t>09</a:t>
            </a:r>
            <a:r>
              <a:rPr sz="850" spc="40" dirty="0">
                <a:solidFill>
                  <a:srgbClr val="6A798F"/>
                </a:solidFill>
                <a:latin typeface="Times New Roman" panose="02020603050405020304" pitchFamily="18" charset="0"/>
                <a:cs typeface="Times New Roman" panose="02020603050405020304" pitchFamily="18" charset="0"/>
              </a:rPr>
              <a:t> </a:t>
            </a:r>
            <a:r>
              <a:rPr sz="850" spc="60" dirty="0">
                <a:solidFill>
                  <a:srgbClr val="6A798F"/>
                </a:solidFill>
                <a:latin typeface="Times New Roman" panose="02020603050405020304" pitchFamily="18" charset="0"/>
                <a:cs typeface="Times New Roman" panose="02020603050405020304" pitchFamily="18" charset="0"/>
              </a:rPr>
              <a:t>/</a:t>
            </a:r>
            <a:r>
              <a:rPr sz="850" spc="30" dirty="0">
                <a:solidFill>
                  <a:srgbClr val="6A798F"/>
                </a:solidFill>
                <a:latin typeface="Times New Roman" panose="02020603050405020304" pitchFamily="18" charset="0"/>
                <a:cs typeface="Times New Roman" panose="02020603050405020304" pitchFamily="18" charset="0"/>
              </a:rPr>
              <a:t> </a:t>
            </a:r>
            <a:r>
              <a:rPr sz="850" spc="-135" dirty="0">
                <a:solidFill>
                  <a:srgbClr val="6A798F"/>
                </a:solidFill>
                <a:latin typeface="Times New Roman" panose="02020603050405020304" pitchFamily="18" charset="0"/>
                <a:cs typeface="Times New Roman" panose="02020603050405020304" pitchFamily="18" charset="0"/>
              </a:rPr>
              <a:t>11</a:t>
            </a:r>
            <a:endParaRPr sz="85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899" y="447630"/>
            <a:ext cx="1024890" cy="146835"/>
          </a:xfrm>
          <a:prstGeom prst="rect">
            <a:avLst/>
          </a:prstGeom>
        </p:spPr>
        <p:txBody>
          <a:bodyPr vert="horz" wrap="square" lIns="0" tIns="15875" rIns="0" bIns="0" rtlCol="0">
            <a:spAutoFit/>
          </a:bodyPr>
          <a:lstStyle/>
          <a:p>
            <a:pPr marL="12700">
              <a:lnSpc>
                <a:spcPct val="100000"/>
              </a:lnSpc>
              <a:spcBef>
                <a:spcPts val="125"/>
              </a:spcBef>
            </a:pPr>
            <a:r>
              <a:rPr sz="850" b="1" spc="-35" dirty="0">
                <a:solidFill>
                  <a:srgbClr val="E7863A"/>
                </a:solidFill>
                <a:latin typeface="Times New Roman" panose="02020603050405020304" pitchFamily="18" charset="0"/>
                <a:cs typeface="Times New Roman" panose="02020603050405020304" pitchFamily="18" charset="0"/>
              </a:rPr>
              <a:t>P</a:t>
            </a:r>
            <a:r>
              <a:rPr sz="850" b="1" spc="-90"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a:t>
            </a:r>
            <a:r>
              <a:rPr sz="850" b="1" spc="-75"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R</a:t>
            </a:r>
            <a:r>
              <a:rPr sz="850" b="1" spc="-110" dirty="0">
                <a:solidFill>
                  <a:srgbClr val="E7863A"/>
                </a:solidFill>
                <a:latin typeface="Times New Roman" panose="02020603050405020304" pitchFamily="18" charset="0"/>
                <a:cs typeface="Times New Roman" panose="02020603050405020304" pitchFamily="18" charset="0"/>
              </a:rPr>
              <a:t> </a:t>
            </a:r>
            <a:r>
              <a:rPr sz="850" b="1" spc="-30" dirty="0">
                <a:solidFill>
                  <a:srgbClr val="E7863A"/>
                </a:solidFill>
                <a:latin typeface="Times New Roman" panose="02020603050405020304" pitchFamily="18" charset="0"/>
                <a:cs typeface="Times New Roman" panose="02020603050405020304" pitchFamily="18" charset="0"/>
              </a:rPr>
              <a:t>S</a:t>
            </a:r>
            <a:r>
              <a:rPr sz="850" b="1" spc="-90" dirty="0">
                <a:solidFill>
                  <a:srgbClr val="E7863A"/>
                </a:solidFill>
                <a:latin typeface="Times New Roman" panose="02020603050405020304" pitchFamily="18" charset="0"/>
                <a:cs typeface="Times New Roman" panose="02020603050405020304" pitchFamily="18" charset="0"/>
              </a:rPr>
              <a:t> </a:t>
            </a:r>
            <a:r>
              <a:rPr sz="850" b="1" spc="-35" dirty="0">
                <a:solidFill>
                  <a:srgbClr val="E7863A"/>
                </a:solidFill>
                <a:latin typeface="Times New Roman" panose="02020603050405020304" pitchFamily="18" charset="0"/>
                <a:cs typeface="Times New Roman" panose="02020603050405020304" pitchFamily="18" charset="0"/>
              </a:rPr>
              <a:t>P</a:t>
            </a:r>
            <a:r>
              <a:rPr sz="850" b="1" spc="-90" dirty="0">
                <a:solidFill>
                  <a:srgbClr val="E7863A"/>
                </a:solidFill>
                <a:latin typeface="Times New Roman" panose="02020603050405020304" pitchFamily="18" charset="0"/>
                <a:cs typeface="Times New Roman" panose="02020603050405020304" pitchFamily="18" charset="0"/>
              </a:rPr>
              <a:t> </a:t>
            </a:r>
            <a:r>
              <a:rPr sz="850" b="1" spc="-80" dirty="0">
                <a:solidFill>
                  <a:srgbClr val="E7863A"/>
                </a:solidFill>
                <a:latin typeface="Times New Roman" panose="02020603050405020304" pitchFamily="18" charset="0"/>
                <a:cs typeface="Times New Roman" panose="02020603050405020304" pitchFamily="18" charset="0"/>
              </a:rPr>
              <a:t>E</a:t>
            </a:r>
            <a:r>
              <a:rPr sz="850" b="1" spc="-75"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C</a:t>
            </a:r>
            <a:r>
              <a:rPr sz="850" b="1" spc="-90" dirty="0">
                <a:solidFill>
                  <a:srgbClr val="E7863A"/>
                </a:solidFill>
                <a:latin typeface="Times New Roman" panose="02020603050405020304" pitchFamily="18" charset="0"/>
                <a:cs typeface="Times New Roman" panose="02020603050405020304" pitchFamily="18" charset="0"/>
              </a:rPr>
              <a:t> </a:t>
            </a:r>
            <a:r>
              <a:rPr sz="850" b="1" dirty="0">
                <a:solidFill>
                  <a:srgbClr val="E7863A"/>
                </a:solidFill>
                <a:latin typeface="Times New Roman" panose="02020603050405020304" pitchFamily="18" charset="0"/>
                <a:cs typeface="Times New Roman" panose="02020603050405020304" pitchFamily="18" charset="0"/>
              </a:rPr>
              <a:t>T</a:t>
            </a:r>
            <a:r>
              <a:rPr sz="850" b="1" spc="-95"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I</a:t>
            </a:r>
            <a:r>
              <a:rPr sz="850" b="1" spc="-30" dirty="0">
                <a:solidFill>
                  <a:srgbClr val="E7863A"/>
                </a:solidFill>
                <a:latin typeface="Times New Roman" panose="02020603050405020304" pitchFamily="18" charset="0"/>
                <a:cs typeface="Times New Roman" panose="02020603050405020304" pitchFamily="18" charset="0"/>
              </a:rPr>
              <a:t> </a:t>
            </a:r>
            <a:r>
              <a:rPr sz="850" b="1" spc="55" dirty="0">
                <a:solidFill>
                  <a:srgbClr val="E7863A"/>
                </a:solidFill>
                <a:latin typeface="Times New Roman" panose="02020603050405020304" pitchFamily="18" charset="0"/>
                <a:cs typeface="Times New Roman" panose="02020603050405020304" pitchFamily="18" charset="0"/>
              </a:rPr>
              <a:t>VE</a:t>
            </a:r>
            <a:r>
              <a:rPr sz="850" b="1" spc="-75" dirty="0">
                <a:solidFill>
                  <a:srgbClr val="E7863A"/>
                </a:solidFill>
                <a:latin typeface="Times New Roman" panose="02020603050405020304" pitchFamily="18" charset="0"/>
                <a:cs typeface="Times New Roman" panose="02020603050405020304" pitchFamily="18" charset="0"/>
              </a:rPr>
              <a:t> </a:t>
            </a:r>
            <a:r>
              <a:rPr sz="850" b="1" spc="-50" dirty="0">
                <a:solidFill>
                  <a:srgbClr val="E7863A"/>
                </a:solidFill>
                <a:latin typeface="Times New Roman" panose="02020603050405020304" pitchFamily="18" charset="0"/>
                <a:cs typeface="Times New Roman" panose="02020603050405020304" pitchFamily="18" charset="0"/>
              </a:rPr>
              <a:t>S</a:t>
            </a:r>
            <a:endParaRPr sz="850">
              <a:latin typeface="Times New Roman" panose="02020603050405020304" pitchFamily="18" charset="0"/>
              <a:cs typeface="Times New Roman" panose="02020603050405020304" pitchFamily="18" charset="0"/>
            </a:endParaRPr>
          </a:p>
        </p:txBody>
      </p:sp>
      <p:sp>
        <p:nvSpPr>
          <p:cNvPr id="3" name="object 3" descr="$PPTXTitle"/>
          <p:cNvSpPr txBox="1">
            <a:spLocks noGrp="1"/>
          </p:cNvSpPr>
          <p:nvPr>
            <p:ph type="title"/>
          </p:nvPr>
        </p:nvSpPr>
        <p:spPr>
          <a:xfrm>
            <a:off x="596899" y="632195"/>
            <a:ext cx="8172450" cy="417830"/>
          </a:xfrm>
          <a:prstGeom prst="rect">
            <a:avLst/>
          </a:prstGeom>
        </p:spPr>
        <p:txBody>
          <a:bodyPr vert="horz" wrap="square" lIns="0" tIns="15240" rIns="0" bIns="0" rtlCol="0">
            <a:spAutoFit/>
          </a:bodyPr>
          <a:lstStyle/>
          <a:p>
            <a:pPr marL="12700">
              <a:lnSpc>
                <a:spcPct val="100000"/>
              </a:lnSpc>
              <a:spcBef>
                <a:spcPts val="120"/>
              </a:spcBef>
            </a:pPr>
            <a:r>
              <a:rPr spc="715" dirty="0">
                <a:latin typeface="Times New Roman" panose="02020603050405020304" pitchFamily="18" charset="0"/>
                <a:cs typeface="Times New Roman" panose="02020603050405020304" pitchFamily="18" charset="0"/>
              </a:rPr>
              <a:t>Limites</a:t>
            </a:r>
            <a:r>
              <a:rPr spc="-60" dirty="0">
                <a:latin typeface="Times New Roman" panose="02020603050405020304" pitchFamily="18" charset="0"/>
                <a:cs typeface="Times New Roman" panose="02020603050405020304" pitchFamily="18" charset="0"/>
              </a:rPr>
              <a:t> </a:t>
            </a:r>
            <a:r>
              <a:rPr spc="844" dirty="0">
                <a:latin typeface="Times New Roman" panose="02020603050405020304" pitchFamily="18" charset="0"/>
                <a:cs typeface="Times New Roman" panose="02020603050405020304" pitchFamily="18" charset="0"/>
              </a:rPr>
              <a:t>et</a:t>
            </a:r>
            <a:r>
              <a:rPr spc="-50" dirty="0">
                <a:latin typeface="Times New Roman" panose="02020603050405020304" pitchFamily="18" charset="0"/>
                <a:cs typeface="Times New Roman" panose="02020603050405020304" pitchFamily="18" charset="0"/>
              </a:rPr>
              <a:t> </a:t>
            </a:r>
            <a:r>
              <a:rPr spc="740" dirty="0">
                <a:latin typeface="Times New Roman" panose="02020603050405020304" pitchFamily="18" charset="0"/>
                <a:cs typeface="Times New Roman" panose="02020603050405020304" pitchFamily="18" charset="0"/>
              </a:rPr>
              <a:t>améliorations</a:t>
            </a:r>
            <a:r>
              <a:rPr spc="-55" dirty="0">
                <a:latin typeface="Times New Roman" panose="02020603050405020304" pitchFamily="18" charset="0"/>
                <a:cs typeface="Times New Roman" panose="02020603050405020304" pitchFamily="18" charset="0"/>
              </a:rPr>
              <a:t> </a:t>
            </a:r>
            <a:r>
              <a:rPr spc="665" dirty="0">
                <a:latin typeface="Times New Roman" panose="02020603050405020304" pitchFamily="18" charset="0"/>
                <a:cs typeface="Times New Roman" panose="02020603050405020304" pitchFamily="18" charset="0"/>
              </a:rPr>
              <a:t>possibles</a:t>
            </a:r>
          </a:p>
        </p:txBody>
      </p:sp>
      <p:sp>
        <p:nvSpPr>
          <p:cNvPr id="4" name="object 4"/>
          <p:cNvSpPr txBox="1"/>
          <p:nvPr/>
        </p:nvSpPr>
        <p:spPr>
          <a:xfrm>
            <a:off x="596899" y="1119354"/>
            <a:ext cx="2864485" cy="198772"/>
          </a:xfrm>
          <a:prstGeom prst="rect">
            <a:avLst/>
          </a:prstGeom>
        </p:spPr>
        <p:txBody>
          <a:bodyPr vert="horz" wrap="square" lIns="0" tIns="13970" rIns="0" bIns="0" rtlCol="0">
            <a:spAutoFit/>
          </a:bodyPr>
          <a:lstStyle/>
          <a:p>
            <a:pPr marL="12700">
              <a:lnSpc>
                <a:spcPct val="100000"/>
              </a:lnSpc>
              <a:spcBef>
                <a:spcPts val="110"/>
              </a:spcBef>
            </a:pPr>
            <a:r>
              <a:rPr sz="1200" spc="-10" dirty="0">
                <a:solidFill>
                  <a:srgbClr val="6A798F"/>
                </a:solidFill>
                <a:latin typeface="Times New Roman" panose="02020603050405020304" pitchFamily="18" charset="0"/>
                <a:cs typeface="Times New Roman" panose="02020603050405020304" pitchFamily="18" charset="0"/>
              </a:rPr>
              <a:t>Vers</a:t>
            </a:r>
            <a:r>
              <a:rPr sz="1200" spc="-3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une</a:t>
            </a:r>
            <a:r>
              <a:rPr sz="1200" spc="-4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version encore</a:t>
            </a:r>
            <a:r>
              <a:rPr sz="1200" spc="-40" dirty="0">
                <a:solidFill>
                  <a:srgbClr val="6A798F"/>
                </a:solidFill>
                <a:latin typeface="Times New Roman" panose="02020603050405020304" pitchFamily="18" charset="0"/>
                <a:cs typeface="Times New Roman" panose="02020603050405020304" pitchFamily="18" charset="0"/>
              </a:rPr>
              <a:t> </a:t>
            </a:r>
            <a:r>
              <a:rPr sz="1200" dirty="0">
                <a:solidFill>
                  <a:srgbClr val="6A798F"/>
                </a:solidFill>
                <a:latin typeface="Times New Roman" panose="02020603050405020304" pitchFamily="18" charset="0"/>
                <a:cs typeface="Times New Roman" panose="02020603050405020304" pitchFamily="18" charset="0"/>
              </a:rPr>
              <a:t>plus</a:t>
            </a:r>
            <a:r>
              <a:rPr sz="1200" spc="-25" dirty="0">
                <a:solidFill>
                  <a:srgbClr val="6A798F"/>
                </a:solidFill>
                <a:latin typeface="Times New Roman" panose="02020603050405020304" pitchFamily="18" charset="0"/>
                <a:cs typeface="Times New Roman" panose="02020603050405020304" pitchFamily="18" charset="0"/>
              </a:rPr>
              <a:t> </a:t>
            </a:r>
            <a:r>
              <a:rPr sz="1200" spc="-10" dirty="0">
                <a:solidFill>
                  <a:srgbClr val="6A798F"/>
                </a:solidFill>
                <a:latin typeface="Times New Roman" panose="02020603050405020304" pitchFamily="18" charset="0"/>
                <a:cs typeface="Times New Roman" panose="02020603050405020304" pitchFamily="18" charset="0"/>
              </a:rPr>
              <a:t>performante</a:t>
            </a:r>
            <a:endParaRPr sz="1200">
              <a:latin typeface="Times New Roman" panose="02020603050405020304" pitchFamily="18" charset="0"/>
              <a:cs typeface="Times New Roman" panose="02020603050405020304" pitchFamily="18" charset="0"/>
            </a:endParaRPr>
          </a:p>
        </p:txBody>
      </p:sp>
      <p:grpSp>
        <p:nvGrpSpPr>
          <p:cNvPr id="5" name="object 5"/>
          <p:cNvGrpSpPr/>
          <p:nvPr/>
        </p:nvGrpSpPr>
        <p:grpSpPr>
          <a:xfrm>
            <a:off x="609599" y="1628774"/>
            <a:ext cx="5353050" cy="4695825"/>
            <a:chOff x="609599" y="1628774"/>
            <a:chExt cx="5353050" cy="4695825"/>
          </a:xfrm>
        </p:grpSpPr>
        <p:sp>
          <p:nvSpPr>
            <p:cNvPr id="6" name="object 6"/>
            <p:cNvSpPr/>
            <p:nvPr/>
          </p:nvSpPr>
          <p:spPr>
            <a:xfrm>
              <a:off x="609599" y="1628774"/>
              <a:ext cx="5353050" cy="4695825"/>
            </a:xfrm>
            <a:custGeom>
              <a:avLst/>
              <a:gdLst/>
              <a:ahLst/>
              <a:cxnLst/>
              <a:rect l="l" t="t" r="r" b="b"/>
              <a:pathLst>
                <a:path w="5353050" h="4695825">
                  <a:moveTo>
                    <a:pt x="5219699" y="4695824"/>
                  </a:moveTo>
                  <a:lnTo>
                    <a:pt x="133349" y="4695824"/>
                  </a:lnTo>
                  <a:lnTo>
                    <a:pt x="126798" y="4695664"/>
                  </a:lnTo>
                  <a:lnTo>
                    <a:pt x="88432" y="4688032"/>
                  </a:lnTo>
                  <a:lnTo>
                    <a:pt x="53906" y="4669577"/>
                  </a:lnTo>
                  <a:lnTo>
                    <a:pt x="26246" y="4641917"/>
                  </a:lnTo>
                  <a:lnTo>
                    <a:pt x="7791" y="4607390"/>
                  </a:lnTo>
                  <a:lnTo>
                    <a:pt x="160" y="4569025"/>
                  </a:lnTo>
                  <a:lnTo>
                    <a:pt x="0" y="4562474"/>
                  </a:lnTo>
                  <a:lnTo>
                    <a:pt x="0" y="133349"/>
                  </a:lnTo>
                  <a:lnTo>
                    <a:pt x="5740" y="94639"/>
                  </a:lnTo>
                  <a:lnTo>
                    <a:pt x="22473" y="59264"/>
                  </a:lnTo>
                  <a:lnTo>
                    <a:pt x="48752" y="30267"/>
                  </a:lnTo>
                  <a:lnTo>
                    <a:pt x="82319" y="10150"/>
                  </a:lnTo>
                  <a:lnTo>
                    <a:pt x="120279" y="640"/>
                  </a:lnTo>
                  <a:lnTo>
                    <a:pt x="133349" y="0"/>
                  </a:lnTo>
                  <a:lnTo>
                    <a:pt x="5219699" y="0"/>
                  </a:lnTo>
                  <a:lnTo>
                    <a:pt x="5258408" y="5740"/>
                  </a:lnTo>
                  <a:lnTo>
                    <a:pt x="5293783" y="22473"/>
                  </a:lnTo>
                  <a:lnTo>
                    <a:pt x="5322781" y="48752"/>
                  </a:lnTo>
                  <a:lnTo>
                    <a:pt x="5342898" y="82318"/>
                  </a:lnTo>
                  <a:lnTo>
                    <a:pt x="5352409" y="120279"/>
                  </a:lnTo>
                  <a:lnTo>
                    <a:pt x="5353049" y="133349"/>
                  </a:lnTo>
                  <a:lnTo>
                    <a:pt x="5353049" y="4562474"/>
                  </a:lnTo>
                  <a:lnTo>
                    <a:pt x="5347308" y="4601183"/>
                  </a:lnTo>
                  <a:lnTo>
                    <a:pt x="5330575" y="4636559"/>
                  </a:lnTo>
                  <a:lnTo>
                    <a:pt x="5304296" y="4665556"/>
                  </a:lnTo>
                  <a:lnTo>
                    <a:pt x="5270729" y="4685673"/>
                  </a:lnTo>
                  <a:lnTo>
                    <a:pt x="5232770" y="4695184"/>
                  </a:lnTo>
                  <a:lnTo>
                    <a:pt x="5219699" y="4695824"/>
                  </a:lnTo>
                  <a:close/>
                </a:path>
              </a:pathLst>
            </a:custGeom>
            <a:solidFill>
              <a:srgbClr val="F6F7F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7" name="object 7"/>
            <p:cNvPicPr/>
            <p:nvPr/>
          </p:nvPicPr>
          <p:blipFill>
            <a:blip r:embed="rId2" cstate="print"/>
            <a:stretch>
              <a:fillRect/>
            </a:stretch>
          </p:blipFill>
          <p:spPr>
            <a:xfrm>
              <a:off x="882649" y="1939924"/>
              <a:ext cx="196850" cy="168275"/>
            </a:xfrm>
            <a:prstGeom prst="rect">
              <a:avLst/>
            </a:prstGeom>
          </p:spPr>
        </p:pic>
      </p:grpSp>
      <p:sp>
        <p:nvSpPr>
          <p:cNvPr id="8" name="object 8"/>
          <p:cNvSpPr txBox="1"/>
          <p:nvPr/>
        </p:nvSpPr>
        <p:spPr>
          <a:xfrm>
            <a:off x="1168399" y="1886042"/>
            <a:ext cx="1614805" cy="228268"/>
          </a:xfrm>
          <a:prstGeom prst="rect">
            <a:avLst/>
          </a:prstGeom>
        </p:spPr>
        <p:txBody>
          <a:bodyPr vert="horz" wrap="square" lIns="0" tIns="12700" rIns="0" bIns="0" rtlCol="0">
            <a:spAutoFit/>
          </a:bodyPr>
          <a:lstStyle/>
          <a:p>
            <a:pPr marL="12700">
              <a:lnSpc>
                <a:spcPct val="100000"/>
              </a:lnSpc>
              <a:spcBef>
                <a:spcPts val="100"/>
              </a:spcBef>
            </a:pPr>
            <a:r>
              <a:rPr sz="1400" b="1" spc="65" dirty="0">
                <a:solidFill>
                  <a:srgbClr val="1B294A"/>
                </a:solidFill>
                <a:latin typeface="Times New Roman" panose="02020603050405020304" pitchFamily="18" charset="0"/>
                <a:cs typeface="Times New Roman" panose="02020603050405020304" pitchFamily="18" charset="0"/>
              </a:rPr>
              <a:t>Limites</a:t>
            </a:r>
            <a:r>
              <a:rPr sz="1400" b="1" spc="-55" dirty="0">
                <a:solidFill>
                  <a:srgbClr val="1B294A"/>
                </a:solidFill>
                <a:latin typeface="Times New Roman" panose="02020603050405020304" pitchFamily="18" charset="0"/>
                <a:cs typeface="Times New Roman" panose="02020603050405020304" pitchFamily="18" charset="0"/>
              </a:rPr>
              <a:t> </a:t>
            </a:r>
            <a:r>
              <a:rPr sz="1400" b="1" spc="65" dirty="0">
                <a:solidFill>
                  <a:srgbClr val="1B294A"/>
                </a:solidFill>
                <a:latin typeface="Times New Roman" panose="02020603050405020304" pitchFamily="18" charset="0"/>
                <a:cs typeface="Times New Roman" panose="02020603050405020304" pitchFamily="18" charset="0"/>
              </a:rPr>
              <a:t>actuelles</a:t>
            </a:r>
            <a:endParaRPr sz="1400">
              <a:latin typeface="Times New Roman" panose="02020603050405020304" pitchFamily="18" charset="0"/>
              <a:cs typeface="Times New Roman" panose="02020603050405020304" pitchFamily="18" charset="0"/>
            </a:endParaRPr>
          </a:p>
        </p:txBody>
      </p:sp>
      <p:sp>
        <p:nvSpPr>
          <p:cNvPr id="9" name="object 9"/>
          <p:cNvSpPr/>
          <p:nvPr/>
        </p:nvSpPr>
        <p:spPr>
          <a:xfrm>
            <a:off x="876299" y="2362199"/>
            <a:ext cx="266700" cy="266700"/>
          </a:xfrm>
          <a:custGeom>
            <a:avLst/>
            <a:gdLst/>
            <a:ahLst/>
            <a:cxnLst/>
            <a:rect l="l" t="t" r="r" b="b"/>
            <a:pathLst>
              <a:path w="266700" h="266700">
                <a:moveTo>
                  <a:pt x="133349" y="266699"/>
                </a:moveTo>
                <a:lnTo>
                  <a:pt x="94640" y="260958"/>
                </a:lnTo>
                <a:lnTo>
                  <a:pt x="59264" y="244226"/>
                </a:lnTo>
                <a:lnTo>
                  <a:pt x="30267" y="217947"/>
                </a:lnTo>
                <a:lnTo>
                  <a:pt x="10150" y="184380"/>
                </a:lnTo>
                <a:lnTo>
                  <a:pt x="640" y="146420"/>
                </a:lnTo>
                <a:lnTo>
                  <a:pt x="0" y="133349"/>
                </a:lnTo>
                <a:lnTo>
                  <a:pt x="160" y="126798"/>
                </a:lnTo>
                <a:lnTo>
                  <a:pt x="7791" y="88432"/>
                </a:lnTo>
                <a:lnTo>
                  <a:pt x="26246" y="53906"/>
                </a:lnTo>
                <a:lnTo>
                  <a:pt x="53906" y="26246"/>
                </a:lnTo>
                <a:lnTo>
                  <a:pt x="88432" y="7791"/>
                </a:lnTo>
                <a:lnTo>
                  <a:pt x="126798" y="160"/>
                </a:lnTo>
                <a:lnTo>
                  <a:pt x="133349" y="0"/>
                </a:lnTo>
                <a:lnTo>
                  <a:pt x="139901" y="160"/>
                </a:lnTo>
                <a:lnTo>
                  <a:pt x="178266" y="7791"/>
                </a:lnTo>
                <a:lnTo>
                  <a:pt x="212793" y="26246"/>
                </a:lnTo>
                <a:lnTo>
                  <a:pt x="240453" y="53906"/>
                </a:lnTo>
                <a:lnTo>
                  <a:pt x="258908" y="88432"/>
                </a:lnTo>
                <a:lnTo>
                  <a:pt x="266539" y="126798"/>
                </a:lnTo>
                <a:lnTo>
                  <a:pt x="266699" y="133349"/>
                </a:lnTo>
                <a:lnTo>
                  <a:pt x="266539" y="139901"/>
                </a:lnTo>
                <a:lnTo>
                  <a:pt x="258908" y="178266"/>
                </a:lnTo>
                <a:lnTo>
                  <a:pt x="240453" y="212793"/>
                </a:lnTo>
                <a:lnTo>
                  <a:pt x="212793" y="240453"/>
                </a:lnTo>
                <a:lnTo>
                  <a:pt x="178266" y="258908"/>
                </a:lnTo>
                <a:lnTo>
                  <a:pt x="139901" y="266539"/>
                </a:lnTo>
                <a:lnTo>
                  <a:pt x="133349" y="266699"/>
                </a:lnTo>
                <a:close/>
              </a:path>
            </a:pathLst>
          </a:custGeom>
          <a:solidFill>
            <a:srgbClr val="E7EC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txBox="1"/>
          <p:nvPr/>
        </p:nvSpPr>
        <p:spPr>
          <a:xfrm>
            <a:off x="970160" y="2399092"/>
            <a:ext cx="74930" cy="171201"/>
          </a:xfrm>
          <a:prstGeom prst="rect">
            <a:avLst/>
          </a:prstGeom>
        </p:spPr>
        <p:txBody>
          <a:bodyPr vert="horz" wrap="square" lIns="0" tIns="17145" rIns="0" bIns="0" rtlCol="0">
            <a:spAutoFit/>
          </a:bodyPr>
          <a:lstStyle/>
          <a:p>
            <a:pPr marL="12700">
              <a:lnSpc>
                <a:spcPct val="100000"/>
              </a:lnSpc>
              <a:spcBef>
                <a:spcPts val="135"/>
              </a:spcBef>
            </a:pPr>
            <a:r>
              <a:rPr sz="1000" b="1" spc="-110" dirty="0">
                <a:solidFill>
                  <a:srgbClr val="3A4556"/>
                </a:solidFill>
                <a:latin typeface="Times New Roman" panose="02020603050405020304" pitchFamily="18" charset="0"/>
                <a:cs typeface="Times New Roman" panose="02020603050405020304" pitchFamily="18" charset="0"/>
              </a:rPr>
              <a:t>1</a:t>
            </a:r>
            <a:endParaRPr sz="1000">
              <a:latin typeface="Times New Roman" panose="02020603050405020304" pitchFamily="18" charset="0"/>
              <a:cs typeface="Times New Roman" panose="02020603050405020304" pitchFamily="18" charset="0"/>
            </a:endParaRPr>
          </a:p>
        </p:txBody>
      </p:sp>
      <p:sp>
        <p:nvSpPr>
          <p:cNvPr id="11" name="object 11"/>
          <p:cNvSpPr txBox="1"/>
          <p:nvPr/>
        </p:nvSpPr>
        <p:spPr>
          <a:xfrm>
            <a:off x="1244600" y="2260410"/>
            <a:ext cx="4397375" cy="693844"/>
          </a:xfrm>
          <a:prstGeom prst="rect">
            <a:avLst/>
          </a:prstGeom>
        </p:spPr>
        <p:txBody>
          <a:bodyPr vert="horz" wrap="square" lIns="0" tIns="101600" rIns="0" bIns="0" rtlCol="0">
            <a:spAutoFit/>
          </a:bodyPr>
          <a:lstStyle/>
          <a:p>
            <a:pPr marL="12700">
              <a:lnSpc>
                <a:spcPct val="100000"/>
              </a:lnSpc>
              <a:spcBef>
                <a:spcPts val="800"/>
              </a:spcBef>
            </a:pPr>
            <a:r>
              <a:rPr sz="1200" b="1" spc="-65" dirty="0">
                <a:solidFill>
                  <a:srgbClr val="1B294A"/>
                </a:solidFill>
                <a:latin typeface="Times New Roman" panose="02020603050405020304" pitchFamily="18" charset="0"/>
                <a:cs typeface="Times New Roman" panose="02020603050405020304" pitchFamily="18" charset="0"/>
              </a:rPr>
              <a:t>Pas</a:t>
            </a:r>
            <a:r>
              <a:rPr sz="1200" b="1" spc="-50" dirty="0">
                <a:solidFill>
                  <a:srgbClr val="1B294A"/>
                </a:solidFill>
                <a:latin typeface="Times New Roman" panose="02020603050405020304" pitchFamily="18" charset="0"/>
                <a:cs typeface="Times New Roman" panose="02020603050405020304" pitchFamily="18" charset="0"/>
              </a:rPr>
              <a:t> </a:t>
            </a:r>
            <a:r>
              <a:rPr sz="1200" b="1" spc="-20" dirty="0">
                <a:solidFill>
                  <a:srgbClr val="1B294A"/>
                </a:solidFill>
                <a:latin typeface="Times New Roman" panose="02020603050405020304" pitchFamily="18" charset="0"/>
                <a:cs typeface="Times New Roman" panose="02020603050405020304" pitchFamily="18" charset="0"/>
              </a:rPr>
              <a:t>de</a:t>
            </a:r>
            <a:r>
              <a:rPr sz="1200" b="1" spc="-55" dirty="0">
                <a:solidFill>
                  <a:srgbClr val="1B294A"/>
                </a:solidFill>
                <a:latin typeface="Times New Roman" panose="02020603050405020304" pitchFamily="18" charset="0"/>
                <a:cs typeface="Times New Roman" panose="02020603050405020304" pitchFamily="18" charset="0"/>
              </a:rPr>
              <a:t> </a:t>
            </a:r>
            <a:r>
              <a:rPr sz="1200" b="1" spc="-30" dirty="0">
                <a:solidFill>
                  <a:srgbClr val="1B294A"/>
                </a:solidFill>
                <a:latin typeface="Times New Roman" panose="02020603050405020304" pitchFamily="18" charset="0"/>
                <a:cs typeface="Times New Roman" panose="02020603050405020304" pitchFamily="18" charset="0"/>
              </a:rPr>
              <a:t>base</a:t>
            </a:r>
            <a:r>
              <a:rPr sz="1200" b="1" spc="-55" dirty="0">
                <a:solidFill>
                  <a:srgbClr val="1B294A"/>
                </a:solidFill>
                <a:latin typeface="Times New Roman" panose="02020603050405020304" pitchFamily="18" charset="0"/>
                <a:cs typeface="Times New Roman" panose="02020603050405020304" pitchFamily="18" charset="0"/>
              </a:rPr>
              <a:t> </a:t>
            </a:r>
            <a:r>
              <a:rPr sz="1200" b="1" spc="-20" dirty="0">
                <a:solidFill>
                  <a:srgbClr val="1B294A"/>
                </a:solidFill>
                <a:latin typeface="Times New Roman" panose="02020603050405020304" pitchFamily="18" charset="0"/>
                <a:cs typeface="Times New Roman" panose="02020603050405020304" pitchFamily="18" charset="0"/>
              </a:rPr>
              <a:t>de</a:t>
            </a:r>
            <a:r>
              <a:rPr sz="1200" b="1" spc="-55"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données</a:t>
            </a:r>
            <a:endParaRPr sz="1200">
              <a:latin typeface="Times New Roman" panose="02020603050405020304" pitchFamily="18" charset="0"/>
              <a:cs typeface="Times New Roman" panose="02020603050405020304" pitchFamily="18" charset="0"/>
            </a:endParaRPr>
          </a:p>
          <a:p>
            <a:pPr marL="12700" marR="5080">
              <a:lnSpc>
                <a:spcPct val="119000"/>
              </a:lnSpc>
              <a:spcBef>
                <a:spcPts val="345"/>
              </a:spcBef>
            </a:pPr>
            <a:r>
              <a:rPr sz="1050" dirty="0">
                <a:solidFill>
                  <a:srgbClr val="6A798F"/>
                </a:solidFill>
                <a:latin typeface="Times New Roman" panose="02020603050405020304" pitchFamily="18" charset="0"/>
                <a:cs typeface="Times New Roman" panose="02020603050405020304" pitchFamily="18" charset="0"/>
              </a:rPr>
              <a:t>Le</a:t>
            </a:r>
            <a:r>
              <a:rPr sz="1050" spc="-3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site</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est</a:t>
            </a:r>
            <a:r>
              <a:rPr sz="1050" spc="-4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statique</a:t>
            </a:r>
            <a:r>
              <a:rPr sz="1000" dirty="0">
                <a:solidFill>
                  <a:srgbClr val="6A798F"/>
                </a:solidFill>
                <a:latin typeface="Times New Roman" panose="02020603050405020304" pitchFamily="18" charset="0"/>
                <a:cs typeface="Times New Roman" panose="02020603050405020304" pitchFamily="18" charset="0"/>
              </a:rPr>
              <a:t>,</a:t>
            </a:r>
            <a:r>
              <a:rPr sz="1000" spc="4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les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profils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freelances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et</a:t>
            </a:r>
            <a:r>
              <a:rPr sz="1050" spc="-3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les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données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sont</a:t>
            </a:r>
            <a:r>
              <a:rPr sz="1050" spc="-3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codés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en</a:t>
            </a:r>
            <a:r>
              <a:rPr sz="1050" spc="5" dirty="0">
                <a:solidFill>
                  <a:srgbClr val="6A798F"/>
                </a:solidFill>
                <a:latin typeface="Times New Roman" panose="02020603050405020304" pitchFamily="18" charset="0"/>
                <a:cs typeface="Times New Roman" panose="02020603050405020304" pitchFamily="18" charset="0"/>
              </a:rPr>
              <a:t> </a:t>
            </a:r>
            <a:r>
              <a:rPr sz="1050" spc="-25" dirty="0">
                <a:solidFill>
                  <a:srgbClr val="6A798F"/>
                </a:solidFill>
                <a:latin typeface="Times New Roman" panose="02020603050405020304" pitchFamily="18" charset="0"/>
                <a:cs typeface="Times New Roman" panose="02020603050405020304" pitchFamily="18" charset="0"/>
              </a:rPr>
              <a:t>dur </a:t>
            </a:r>
            <a:r>
              <a:rPr sz="1050" dirty="0">
                <a:solidFill>
                  <a:srgbClr val="6A798F"/>
                </a:solidFill>
                <a:latin typeface="Times New Roman" panose="02020603050405020304" pitchFamily="18" charset="0"/>
                <a:cs typeface="Times New Roman" panose="02020603050405020304" pitchFamily="18" charset="0"/>
              </a:rPr>
              <a:t>dans</a:t>
            </a:r>
            <a:r>
              <a:rPr sz="1050" spc="-3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le</a:t>
            </a:r>
            <a:r>
              <a:rPr sz="1050" spc="-30"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HTML</a:t>
            </a:r>
            <a:r>
              <a:rPr sz="1000" spc="-10" dirty="0">
                <a:solidFill>
                  <a:srgbClr val="6A798F"/>
                </a:solidFill>
                <a:latin typeface="Times New Roman" panose="02020603050405020304" pitchFamily="18" charset="0"/>
                <a:cs typeface="Times New Roman" panose="02020603050405020304" pitchFamily="18" charset="0"/>
              </a:rPr>
              <a:t>.</a:t>
            </a:r>
            <a:r>
              <a:rPr sz="1000" spc="3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Impossible</a:t>
            </a:r>
            <a:r>
              <a:rPr sz="1050" spc="-3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a:t>
            </a:r>
            <a:r>
              <a:rPr sz="1000" dirty="0">
                <a:solidFill>
                  <a:srgbClr val="6A798F"/>
                </a:solidFill>
                <a:latin typeface="Times New Roman" panose="02020603050405020304" pitchFamily="18" charset="0"/>
                <a:cs typeface="Times New Roman" panose="02020603050405020304" pitchFamily="18" charset="0"/>
              </a:rPr>
              <a:t>'</a:t>
            </a:r>
            <a:r>
              <a:rPr sz="1000" spc="-17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ajouter</a:t>
            </a:r>
            <a:r>
              <a:rPr sz="1050" spc="-3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un </a:t>
            </a:r>
            <a:r>
              <a:rPr sz="1050" spc="-10" dirty="0">
                <a:solidFill>
                  <a:srgbClr val="6A798F"/>
                </a:solidFill>
                <a:latin typeface="Times New Roman" panose="02020603050405020304" pitchFamily="18" charset="0"/>
                <a:cs typeface="Times New Roman" panose="02020603050405020304" pitchFamily="18" charset="0"/>
              </a:rPr>
              <a:t>nouveau</a:t>
            </a:r>
            <a:r>
              <a:rPr sz="1050" spc="-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freelance</a:t>
            </a:r>
            <a:r>
              <a:rPr sz="1050" spc="-30"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sans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modifier</a:t>
            </a:r>
            <a:r>
              <a:rPr sz="1050" spc="-35" dirty="0">
                <a:solidFill>
                  <a:srgbClr val="6A798F"/>
                </a:solidFill>
                <a:latin typeface="Times New Roman" panose="02020603050405020304" pitchFamily="18" charset="0"/>
                <a:cs typeface="Times New Roman" panose="02020603050405020304" pitchFamily="18" charset="0"/>
              </a:rPr>
              <a:t> </a:t>
            </a:r>
            <a:r>
              <a:rPr sz="1050" spc="-25" dirty="0">
                <a:solidFill>
                  <a:srgbClr val="6A798F"/>
                </a:solidFill>
                <a:latin typeface="Times New Roman" panose="02020603050405020304" pitchFamily="18" charset="0"/>
                <a:cs typeface="Times New Roman" panose="02020603050405020304" pitchFamily="18" charset="0"/>
              </a:rPr>
              <a:t>le </a:t>
            </a:r>
            <a:r>
              <a:rPr sz="1050" dirty="0">
                <a:solidFill>
                  <a:srgbClr val="6A798F"/>
                </a:solidFill>
                <a:latin typeface="Times New Roman" panose="02020603050405020304" pitchFamily="18" charset="0"/>
                <a:cs typeface="Times New Roman" panose="02020603050405020304" pitchFamily="18" charset="0"/>
              </a:rPr>
              <a:t>code</a:t>
            </a:r>
            <a:r>
              <a:rPr sz="1050" spc="1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source</a:t>
            </a:r>
            <a:r>
              <a:rPr sz="1000" spc="-10" dirty="0">
                <a:solidFill>
                  <a:srgbClr val="6A798F"/>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sp>
        <p:nvSpPr>
          <p:cNvPr id="12" name="object 12"/>
          <p:cNvSpPr/>
          <p:nvPr/>
        </p:nvSpPr>
        <p:spPr>
          <a:xfrm>
            <a:off x="876299" y="3352799"/>
            <a:ext cx="266700" cy="266700"/>
          </a:xfrm>
          <a:custGeom>
            <a:avLst/>
            <a:gdLst/>
            <a:ahLst/>
            <a:cxnLst/>
            <a:rect l="l" t="t" r="r" b="b"/>
            <a:pathLst>
              <a:path w="266700" h="266700">
                <a:moveTo>
                  <a:pt x="133349" y="266699"/>
                </a:moveTo>
                <a:lnTo>
                  <a:pt x="94640" y="260959"/>
                </a:lnTo>
                <a:lnTo>
                  <a:pt x="59264" y="244225"/>
                </a:lnTo>
                <a:lnTo>
                  <a:pt x="30267" y="217946"/>
                </a:lnTo>
                <a:lnTo>
                  <a:pt x="10150" y="184380"/>
                </a:lnTo>
                <a:lnTo>
                  <a:pt x="640" y="146420"/>
                </a:lnTo>
                <a:lnTo>
                  <a:pt x="0" y="133349"/>
                </a:lnTo>
                <a:lnTo>
                  <a:pt x="160" y="126798"/>
                </a:lnTo>
                <a:lnTo>
                  <a:pt x="7791" y="88432"/>
                </a:lnTo>
                <a:lnTo>
                  <a:pt x="26246" y="53906"/>
                </a:lnTo>
                <a:lnTo>
                  <a:pt x="53906" y="26246"/>
                </a:lnTo>
                <a:lnTo>
                  <a:pt x="88432" y="7791"/>
                </a:lnTo>
                <a:lnTo>
                  <a:pt x="126798" y="160"/>
                </a:lnTo>
                <a:lnTo>
                  <a:pt x="133349" y="0"/>
                </a:lnTo>
                <a:lnTo>
                  <a:pt x="139901" y="160"/>
                </a:lnTo>
                <a:lnTo>
                  <a:pt x="178266" y="7791"/>
                </a:lnTo>
                <a:lnTo>
                  <a:pt x="212793" y="26245"/>
                </a:lnTo>
                <a:lnTo>
                  <a:pt x="240453" y="53906"/>
                </a:lnTo>
                <a:lnTo>
                  <a:pt x="258908" y="88432"/>
                </a:lnTo>
                <a:lnTo>
                  <a:pt x="266539" y="126798"/>
                </a:lnTo>
                <a:lnTo>
                  <a:pt x="266699" y="133349"/>
                </a:lnTo>
                <a:lnTo>
                  <a:pt x="266539" y="139900"/>
                </a:lnTo>
                <a:lnTo>
                  <a:pt x="258908" y="178266"/>
                </a:lnTo>
                <a:lnTo>
                  <a:pt x="240453" y="212792"/>
                </a:lnTo>
                <a:lnTo>
                  <a:pt x="212793" y="240453"/>
                </a:lnTo>
                <a:lnTo>
                  <a:pt x="178266" y="258908"/>
                </a:lnTo>
                <a:lnTo>
                  <a:pt x="139901" y="266539"/>
                </a:lnTo>
                <a:lnTo>
                  <a:pt x="133349" y="266699"/>
                </a:lnTo>
                <a:close/>
              </a:path>
            </a:pathLst>
          </a:custGeom>
          <a:solidFill>
            <a:srgbClr val="E7EC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txBox="1"/>
          <p:nvPr/>
        </p:nvSpPr>
        <p:spPr>
          <a:xfrm>
            <a:off x="957808" y="3389692"/>
            <a:ext cx="103505" cy="171201"/>
          </a:xfrm>
          <a:prstGeom prst="rect">
            <a:avLst/>
          </a:prstGeom>
        </p:spPr>
        <p:txBody>
          <a:bodyPr vert="horz" wrap="square" lIns="0" tIns="17145" rIns="0" bIns="0" rtlCol="0">
            <a:spAutoFit/>
          </a:bodyPr>
          <a:lstStyle/>
          <a:p>
            <a:pPr marL="12700">
              <a:lnSpc>
                <a:spcPct val="100000"/>
              </a:lnSpc>
              <a:spcBef>
                <a:spcPts val="135"/>
              </a:spcBef>
            </a:pPr>
            <a:r>
              <a:rPr sz="1000" b="1" spc="5" dirty="0">
                <a:solidFill>
                  <a:srgbClr val="3A4556"/>
                </a:solidFill>
                <a:latin typeface="Times New Roman" panose="02020603050405020304" pitchFamily="18" charset="0"/>
                <a:cs typeface="Times New Roman" panose="02020603050405020304" pitchFamily="18" charset="0"/>
              </a:rPr>
              <a:t>2</a:t>
            </a:r>
            <a:endParaRPr sz="1000">
              <a:latin typeface="Times New Roman" panose="02020603050405020304" pitchFamily="18" charset="0"/>
              <a:cs typeface="Times New Roman" panose="02020603050405020304" pitchFamily="18" charset="0"/>
            </a:endParaRPr>
          </a:p>
        </p:txBody>
      </p:sp>
      <p:sp>
        <p:nvSpPr>
          <p:cNvPr id="14" name="object 14"/>
          <p:cNvSpPr txBox="1"/>
          <p:nvPr/>
        </p:nvSpPr>
        <p:spPr>
          <a:xfrm>
            <a:off x="1244600" y="3251010"/>
            <a:ext cx="4304665" cy="693844"/>
          </a:xfrm>
          <a:prstGeom prst="rect">
            <a:avLst/>
          </a:prstGeom>
        </p:spPr>
        <p:txBody>
          <a:bodyPr vert="horz" wrap="square" lIns="0" tIns="101600" rIns="0" bIns="0" rtlCol="0">
            <a:spAutoFit/>
          </a:bodyPr>
          <a:lstStyle/>
          <a:p>
            <a:pPr marL="12700">
              <a:lnSpc>
                <a:spcPct val="100000"/>
              </a:lnSpc>
              <a:spcBef>
                <a:spcPts val="800"/>
              </a:spcBef>
            </a:pPr>
            <a:r>
              <a:rPr sz="1200" b="1" spc="-45" dirty="0">
                <a:solidFill>
                  <a:srgbClr val="1B294A"/>
                </a:solidFill>
                <a:latin typeface="Times New Roman" panose="02020603050405020304" pitchFamily="18" charset="0"/>
                <a:cs typeface="Times New Roman" panose="02020603050405020304" pitchFamily="18" charset="0"/>
              </a:rPr>
              <a:t>Fonctionnalités</a:t>
            </a:r>
            <a:r>
              <a:rPr sz="1200" b="1" spc="-5"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limitées</a:t>
            </a:r>
            <a:endParaRPr sz="1200">
              <a:latin typeface="Times New Roman" panose="02020603050405020304" pitchFamily="18" charset="0"/>
              <a:cs typeface="Times New Roman" panose="02020603050405020304" pitchFamily="18" charset="0"/>
            </a:endParaRPr>
          </a:p>
          <a:p>
            <a:pPr marL="12700" marR="5080">
              <a:lnSpc>
                <a:spcPct val="119000"/>
              </a:lnSpc>
              <a:spcBef>
                <a:spcPts val="345"/>
              </a:spcBef>
            </a:pPr>
            <a:r>
              <a:rPr sz="1050" spc="-45" dirty="0">
                <a:solidFill>
                  <a:srgbClr val="6A798F"/>
                </a:solidFill>
                <a:latin typeface="Times New Roman" panose="02020603050405020304" pitchFamily="18" charset="0"/>
                <a:cs typeface="Times New Roman" panose="02020603050405020304" pitchFamily="18" charset="0"/>
              </a:rPr>
              <a:t>Pas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4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système</a:t>
            </a:r>
            <a:r>
              <a:rPr sz="1050" spc="-3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a:t>
            </a:r>
            <a:r>
              <a:rPr sz="1000" dirty="0">
                <a:solidFill>
                  <a:srgbClr val="6A798F"/>
                </a:solidFill>
                <a:latin typeface="Times New Roman" panose="02020603050405020304" pitchFamily="18" charset="0"/>
                <a:cs typeface="Times New Roman" panose="02020603050405020304" pitchFamily="18" charset="0"/>
              </a:rPr>
              <a:t>'</a:t>
            </a:r>
            <a:r>
              <a:rPr sz="1000" spc="-17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authentification</a:t>
            </a:r>
            <a:r>
              <a:rPr sz="1000" dirty="0">
                <a:solidFill>
                  <a:srgbClr val="6A798F"/>
                </a:solidFill>
                <a:latin typeface="Times New Roman" panose="02020603050405020304" pitchFamily="18" charset="0"/>
                <a:cs typeface="Times New Roman" panose="02020603050405020304" pitchFamily="18" charset="0"/>
              </a:rPr>
              <a:t>,</a:t>
            </a:r>
            <a:r>
              <a:rPr sz="1000" spc="4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pas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3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tableau de</a:t>
            </a:r>
            <a:r>
              <a:rPr sz="1050" spc="-3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bord</a:t>
            </a:r>
            <a:r>
              <a:rPr sz="1050" spc="-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utilisateur</a:t>
            </a:r>
            <a:r>
              <a:rPr sz="1000" spc="-10" dirty="0">
                <a:solidFill>
                  <a:srgbClr val="6A798F"/>
                </a:solidFill>
                <a:latin typeface="Times New Roman" panose="02020603050405020304" pitchFamily="18" charset="0"/>
                <a:cs typeface="Times New Roman" panose="02020603050405020304" pitchFamily="18" charset="0"/>
              </a:rPr>
              <a:t>,</a:t>
            </a:r>
            <a:r>
              <a:rPr sz="1000" spc="40" dirty="0">
                <a:solidFill>
                  <a:srgbClr val="6A798F"/>
                </a:solidFill>
                <a:latin typeface="Times New Roman" panose="02020603050405020304" pitchFamily="18" charset="0"/>
                <a:cs typeface="Times New Roman" panose="02020603050405020304" pitchFamily="18" charset="0"/>
              </a:rPr>
              <a:t> </a:t>
            </a:r>
            <a:r>
              <a:rPr sz="1050" spc="-25" dirty="0">
                <a:solidFill>
                  <a:srgbClr val="6A798F"/>
                </a:solidFill>
                <a:latin typeface="Times New Roman" panose="02020603050405020304" pitchFamily="18" charset="0"/>
                <a:cs typeface="Times New Roman" panose="02020603050405020304" pitchFamily="18" charset="0"/>
              </a:rPr>
              <a:t>pas </a:t>
            </a:r>
            <a:r>
              <a:rPr sz="1050" dirty="0">
                <a:solidFill>
                  <a:srgbClr val="6A798F"/>
                </a:solidFill>
                <a:latin typeface="Times New Roman" panose="02020603050405020304" pitchFamily="18" charset="0"/>
                <a:cs typeface="Times New Roman" panose="02020603050405020304" pitchFamily="18" charset="0"/>
              </a:rPr>
              <a:t>de</a:t>
            </a:r>
            <a:r>
              <a:rPr sz="1050" spc="-2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messagerie</a:t>
            </a:r>
            <a:r>
              <a:rPr sz="1050" spc="-2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réelle</a:t>
            </a:r>
            <a:r>
              <a:rPr sz="1000" spc="-10" dirty="0">
                <a:solidFill>
                  <a:srgbClr val="6A798F"/>
                </a:solidFill>
                <a:latin typeface="Times New Roman" panose="02020603050405020304" pitchFamily="18" charset="0"/>
                <a:cs typeface="Times New Roman" panose="02020603050405020304" pitchFamily="18" charset="0"/>
              </a:rPr>
              <a:t>,</a:t>
            </a:r>
            <a:r>
              <a:rPr sz="1000" spc="5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pas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système</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2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paiement</a:t>
            </a:r>
            <a:r>
              <a:rPr sz="1050" spc="-30"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fonctionnel</a:t>
            </a:r>
            <a:r>
              <a:rPr sz="1000" spc="-10" dirty="0">
                <a:solidFill>
                  <a:srgbClr val="6A798F"/>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sp>
        <p:nvSpPr>
          <p:cNvPr id="15" name="object 15"/>
          <p:cNvSpPr/>
          <p:nvPr/>
        </p:nvSpPr>
        <p:spPr>
          <a:xfrm>
            <a:off x="876299" y="4152899"/>
            <a:ext cx="266700" cy="266700"/>
          </a:xfrm>
          <a:custGeom>
            <a:avLst/>
            <a:gdLst/>
            <a:ahLst/>
            <a:cxnLst/>
            <a:rect l="l" t="t" r="r" b="b"/>
            <a:pathLst>
              <a:path w="266700" h="266700">
                <a:moveTo>
                  <a:pt x="133349" y="266699"/>
                </a:moveTo>
                <a:lnTo>
                  <a:pt x="94640" y="260958"/>
                </a:lnTo>
                <a:lnTo>
                  <a:pt x="59264" y="244226"/>
                </a:lnTo>
                <a:lnTo>
                  <a:pt x="30267" y="217946"/>
                </a:lnTo>
                <a:lnTo>
                  <a:pt x="10150" y="184380"/>
                </a:lnTo>
                <a:lnTo>
                  <a:pt x="640" y="146420"/>
                </a:lnTo>
                <a:lnTo>
                  <a:pt x="0" y="133349"/>
                </a:lnTo>
                <a:lnTo>
                  <a:pt x="160" y="126798"/>
                </a:lnTo>
                <a:lnTo>
                  <a:pt x="7791" y="88432"/>
                </a:lnTo>
                <a:lnTo>
                  <a:pt x="26246" y="53906"/>
                </a:lnTo>
                <a:lnTo>
                  <a:pt x="53906" y="26246"/>
                </a:lnTo>
                <a:lnTo>
                  <a:pt x="88432" y="7791"/>
                </a:lnTo>
                <a:lnTo>
                  <a:pt x="126798" y="160"/>
                </a:lnTo>
                <a:lnTo>
                  <a:pt x="133349" y="0"/>
                </a:lnTo>
                <a:lnTo>
                  <a:pt x="139901" y="160"/>
                </a:lnTo>
                <a:lnTo>
                  <a:pt x="178266" y="7791"/>
                </a:lnTo>
                <a:lnTo>
                  <a:pt x="212793" y="26246"/>
                </a:lnTo>
                <a:lnTo>
                  <a:pt x="240453" y="53906"/>
                </a:lnTo>
                <a:lnTo>
                  <a:pt x="258908" y="88432"/>
                </a:lnTo>
                <a:lnTo>
                  <a:pt x="266539" y="126798"/>
                </a:lnTo>
                <a:lnTo>
                  <a:pt x="266699" y="133349"/>
                </a:lnTo>
                <a:lnTo>
                  <a:pt x="266539" y="139900"/>
                </a:lnTo>
                <a:lnTo>
                  <a:pt x="258908" y="178266"/>
                </a:lnTo>
                <a:lnTo>
                  <a:pt x="240453" y="212792"/>
                </a:lnTo>
                <a:lnTo>
                  <a:pt x="212793" y="240453"/>
                </a:lnTo>
                <a:lnTo>
                  <a:pt x="178266" y="258907"/>
                </a:lnTo>
                <a:lnTo>
                  <a:pt x="139901" y="266539"/>
                </a:lnTo>
                <a:lnTo>
                  <a:pt x="133349" y="266699"/>
                </a:lnTo>
                <a:close/>
              </a:path>
            </a:pathLst>
          </a:custGeom>
          <a:solidFill>
            <a:srgbClr val="E7EC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txBox="1"/>
          <p:nvPr/>
        </p:nvSpPr>
        <p:spPr>
          <a:xfrm>
            <a:off x="956915" y="4180267"/>
            <a:ext cx="106680" cy="171201"/>
          </a:xfrm>
          <a:prstGeom prst="rect">
            <a:avLst/>
          </a:prstGeom>
        </p:spPr>
        <p:txBody>
          <a:bodyPr vert="horz" wrap="square" lIns="0" tIns="17145" rIns="0" bIns="0" rtlCol="0">
            <a:spAutoFit/>
          </a:bodyPr>
          <a:lstStyle/>
          <a:p>
            <a:pPr marL="12700">
              <a:lnSpc>
                <a:spcPct val="100000"/>
              </a:lnSpc>
              <a:spcBef>
                <a:spcPts val="135"/>
              </a:spcBef>
            </a:pPr>
            <a:r>
              <a:rPr sz="1000" b="1" spc="30" dirty="0">
                <a:solidFill>
                  <a:srgbClr val="3A4556"/>
                </a:solidFill>
                <a:latin typeface="Times New Roman" panose="02020603050405020304" pitchFamily="18" charset="0"/>
                <a:cs typeface="Times New Roman" panose="02020603050405020304" pitchFamily="18" charset="0"/>
              </a:rPr>
              <a:t>3</a:t>
            </a:r>
            <a:endParaRPr sz="1000">
              <a:latin typeface="Times New Roman" panose="02020603050405020304" pitchFamily="18" charset="0"/>
              <a:cs typeface="Times New Roman" panose="02020603050405020304" pitchFamily="18" charset="0"/>
            </a:endParaRPr>
          </a:p>
        </p:txBody>
      </p:sp>
      <p:sp>
        <p:nvSpPr>
          <p:cNvPr id="17" name="object 17"/>
          <p:cNvSpPr txBox="1"/>
          <p:nvPr/>
        </p:nvSpPr>
        <p:spPr>
          <a:xfrm>
            <a:off x="1244600" y="4051109"/>
            <a:ext cx="4451350" cy="693844"/>
          </a:xfrm>
          <a:prstGeom prst="rect">
            <a:avLst/>
          </a:prstGeom>
        </p:spPr>
        <p:txBody>
          <a:bodyPr vert="horz" wrap="square" lIns="0" tIns="101600" rIns="0" bIns="0" rtlCol="0">
            <a:spAutoFit/>
          </a:bodyPr>
          <a:lstStyle/>
          <a:p>
            <a:pPr marL="12700">
              <a:lnSpc>
                <a:spcPct val="100000"/>
              </a:lnSpc>
              <a:spcBef>
                <a:spcPts val="800"/>
              </a:spcBef>
            </a:pPr>
            <a:r>
              <a:rPr sz="1200" b="1" spc="-45" dirty="0">
                <a:solidFill>
                  <a:srgbClr val="1B294A"/>
                </a:solidFill>
                <a:latin typeface="Times New Roman" panose="02020603050405020304" pitchFamily="18" charset="0"/>
                <a:cs typeface="Times New Roman" panose="02020603050405020304" pitchFamily="18" charset="0"/>
              </a:rPr>
              <a:t>Contenu</a:t>
            </a:r>
            <a:r>
              <a:rPr sz="1200" b="1" spc="-20"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générique</a:t>
            </a:r>
            <a:endParaRPr sz="1200">
              <a:latin typeface="Times New Roman" panose="02020603050405020304" pitchFamily="18" charset="0"/>
              <a:cs typeface="Times New Roman" panose="02020603050405020304" pitchFamily="18" charset="0"/>
            </a:endParaRPr>
          </a:p>
          <a:p>
            <a:pPr marL="12700" marR="5080">
              <a:lnSpc>
                <a:spcPct val="119000"/>
              </a:lnSpc>
              <a:spcBef>
                <a:spcPts val="345"/>
              </a:spcBef>
            </a:pPr>
            <a:r>
              <a:rPr sz="1050" spc="-10" dirty="0">
                <a:solidFill>
                  <a:srgbClr val="6A798F"/>
                </a:solidFill>
                <a:latin typeface="Times New Roman" panose="02020603050405020304" pitchFamily="18" charset="0"/>
                <a:cs typeface="Times New Roman" panose="02020603050405020304" pitchFamily="18" charset="0"/>
              </a:rPr>
              <a:t>Les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profils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freelances</a:t>
            </a:r>
            <a:r>
              <a:rPr sz="1000" dirty="0">
                <a:solidFill>
                  <a:srgbClr val="6A798F"/>
                </a:solidFill>
                <a:latin typeface="Times New Roman" panose="02020603050405020304" pitchFamily="18" charset="0"/>
                <a:cs typeface="Times New Roman" panose="02020603050405020304" pitchFamily="18" charset="0"/>
              </a:rPr>
              <a:t>,</a:t>
            </a:r>
            <a:r>
              <a:rPr sz="1000" spc="4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les</a:t>
            </a:r>
            <a:r>
              <a:rPr sz="1050" spc="-20"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témoignages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et</a:t>
            </a:r>
            <a:r>
              <a:rPr sz="1050" spc="-3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les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statistiques</a:t>
            </a:r>
            <a:r>
              <a:rPr sz="1050" spc="-2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semblent</a:t>
            </a:r>
            <a:r>
              <a:rPr sz="1050" spc="-3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être</a:t>
            </a:r>
            <a:r>
              <a:rPr sz="1050" spc="-20" dirty="0">
                <a:solidFill>
                  <a:srgbClr val="6A798F"/>
                </a:solidFill>
                <a:latin typeface="Times New Roman" panose="02020603050405020304" pitchFamily="18" charset="0"/>
                <a:cs typeface="Times New Roman" panose="02020603050405020304" pitchFamily="18" charset="0"/>
              </a:rPr>
              <a:t> </a:t>
            </a:r>
            <a:r>
              <a:rPr sz="1050" spc="-25" dirty="0">
                <a:solidFill>
                  <a:srgbClr val="6A798F"/>
                </a:solidFill>
                <a:latin typeface="Times New Roman" panose="02020603050405020304" pitchFamily="18" charset="0"/>
                <a:cs typeface="Times New Roman" panose="02020603050405020304" pitchFamily="18" charset="0"/>
              </a:rPr>
              <a:t>des </a:t>
            </a:r>
            <a:r>
              <a:rPr sz="1050" dirty="0">
                <a:solidFill>
                  <a:srgbClr val="6A798F"/>
                </a:solidFill>
                <a:latin typeface="Times New Roman" panose="02020603050405020304" pitchFamily="18" charset="0"/>
                <a:cs typeface="Times New Roman" panose="02020603050405020304" pitchFamily="18" charset="0"/>
              </a:rPr>
              <a:t>données fictives</a:t>
            </a:r>
            <a:r>
              <a:rPr sz="1050" spc="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démonstration</a:t>
            </a:r>
            <a:r>
              <a:rPr sz="1000" spc="-10" dirty="0">
                <a:solidFill>
                  <a:srgbClr val="6A798F"/>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sp>
        <p:nvSpPr>
          <p:cNvPr id="18" name="object 18"/>
          <p:cNvSpPr/>
          <p:nvPr/>
        </p:nvSpPr>
        <p:spPr>
          <a:xfrm>
            <a:off x="876299" y="4952999"/>
            <a:ext cx="266700" cy="266700"/>
          </a:xfrm>
          <a:custGeom>
            <a:avLst/>
            <a:gdLst/>
            <a:ahLst/>
            <a:cxnLst/>
            <a:rect l="l" t="t" r="r" b="b"/>
            <a:pathLst>
              <a:path w="266700" h="266700">
                <a:moveTo>
                  <a:pt x="133349" y="266699"/>
                </a:moveTo>
                <a:lnTo>
                  <a:pt x="94640" y="260958"/>
                </a:lnTo>
                <a:lnTo>
                  <a:pt x="59264" y="244225"/>
                </a:lnTo>
                <a:lnTo>
                  <a:pt x="30267" y="217946"/>
                </a:lnTo>
                <a:lnTo>
                  <a:pt x="10150" y="184379"/>
                </a:lnTo>
                <a:lnTo>
                  <a:pt x="640" y="146420"/>
                </a:lnTo>
                <a:lnTo>
                  <a:pt x="0" y="133349"/>
                </a:lnTo>
                <a:lnTo>
                  <a:pt x="160" y="126798"/>
                </a:lnTo>
                <a:lnTo>
                  <a:pt x="7791" y="88432"/>
                </a:lnTo>
                <a:lnTo>
                  <a:pt x="26246" y="53906"/>
                </a:lnTo>
                <a:lnTo>
                  <a:pt x="53906" y="26245"/>
                </a:lnTo>
                <a:lnTo>
                  <a:pt x="88432" y="7791"/>
                </a:lnTo>
                <a:lnTo>
                  <a:pt x="126798" y="160"/>
                </a:lnTo>
                <a:lnTo>
                  <a:pt x="133349" y="0"/>
                </a:lnTo>
                <a:lnTo>
                  <a:pt x="139901" y="160"/>
                </a:lnTo>
                <a:lnTo>
                  <a:pt x="178266" y="7791"/>
                </a:lnTo>
                <a:lnTo>
                  <a:pt x="212793" y="26245"/>
                </a:lnTo>
                <a:lnTo>
                  <a:pt x="240453" y="53906"/>
                </a:lnTo>
                <a:lnTo>
                  <a:pt x="258908" y="88432"/>
                </a:lnTo>
                <a:lnTo>
                  <a:pt x="266539" y="126798"/>
                </a:lnTo>
                <a:lnTo>
                  <a:pt x="266699" y="133349"/>
                </a:lnTo>
                <a:lnTo>
                  <a:pt x="266539" y="139901"/>
                </a:lnTo>
                <a:lnTo>
                  <a:pt x="258908" y="178266"/>
                </a:lnTo>
                <a:lnTo>
                  <a:pt x="240453" y="212792"/>
                </a:lnTo>
                <a:lnTo>
                  <a:pt x="212793" y="240453"/>
                </a:lnTo>
                <a:lnTo>
                  <a:pt x="178266" y="258907"/>
                </a:lnTo>
                <a:lnTo>
                  <a:pt x="139901" y="266539"/>
                </a:lnTo>
                <a:lnTo>
                  <a:pt x="133349" y="266699"/>
                </a:lnTo>
                <a:close/>
              </a:path>
            </a:pathLst>
          </a:custGeom>
          <a:solidFill>
            <a:srgbClr val="E7EC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txBox="1"/>
          <p:nvPr/>
        </p:nvSpPr>
        <p:spPr>
          <a:xfrm>
            <a:off x="954980" y="4980367"/>
            <a:ext cx="111125" cy="171201"/>
          </a:xfrm>
          <a:prstGeom prst="rect">
            <a:avLst/>
          </a:prstGeom>
        </p:spPr>
        <p:txBody>
          <a:bodyPr vert="horz" wrap="square" lIns="0" tIns="17145" rIns="0" bIns="0" rtlCol="0">
            <a:spAutoFit/>
          </a:bodyPr>
          <a:lstStyle/>
          <a:p>
            <a:pPr marL="12700">
              <a:lnSpc>
                <a:spcPct val="100000"/>
              </a:lnSpc>
              <a:spcBef>
                <a:spcPts val="135"/>
              </a:spcBef>
            </a:pPr>
            <a:r>
              <a:rPr sz="1000" b="1" spc="65" dirty="0">
                <a:solidFill>
                  <a:srgbClr val="3A4556"/>
                </a:solidFill>
                <a:latin typeface="Times New Roman" panose="02020603050405020304" pitchFamily="18" charset="0"/>
                <a:cs typeface="Times New Roman" panose="02020603050405020304" pitchFamily="18" charset="0"/>
              </a:rPr>
              <a:t>4</a:t>
            </a:r>
            <a:endParaRPr sz="1000">
              <a:latin typeface="Times New Roman" panose="02020603050405020304" pitchFamily="18" charset="0"/>
              <a:cs typeface="Times New Roman" panose="02020603050405020304" pitchFamily="18" charset="0"/>
            </a:endParaRPr>
          </a:p>
        </p:txBody>
      </p:sp>
      <p:sp>
        <p:nvSpPr>
          <p:cNvPr id="20" name="object 20"/>
          <p:cNvSpPr txBox="1"/>
          <p:nvPr/>
        </p:nvSpPr>
        <p:spPr>
          <a:xfrm>
            <a:off x="1244600" y="4862320"/>
            <a:ext cx="4116704" cy="711200"/>
          </a:xfrm>
          <a:prstGeom prst="rect">
            <a:avLst/>
          </a:prstGeom>
        </p:spPr>
        <p:txBody>
          <a:bodyPr vert="horz" wrap="square" lIns="0" tIns="90805" rIns="0" bIns="0" rtlCol="0">
            <a:spAutoFit/>
          </a:bodyPr>
          <a:lstStyle/>
          <a:p>
            <a:pPr marL="12700">
              <a:lnSpc>
                <a:spcPct val="100000"/>
              </a:lnSpc>
              <a:spcBef>
                <a:spcPts val="715"/>
              </a:spcBef>
            </a:pPr>
            <a:r>
              <a:rPr sz="1200" b="1" spc="-85" dirty="0">
                <a:solidFill>
                  <a:srgbClr val="1B294A"/>
                </a:solidFill>
                <a:latin typeface="Times New Roman" panose="02020603050405020304" pitchFamily="18" charset="0"/>
                <a:cs typeface="Times New Roman" panose="02020603050405020304" pitchFamily="18" charset="0"/>
              </a:rPr>
              <a:t>SEO</a:t>
            </a:r>
            <a:r>
              <a:rPr sz="1200" b="1" spc="-65" dirty="0">
                <a:solidFill>
                  <a:srgbClr val="1B294A"/>
                </a:solidFill>
                <a:latin typeface="Times New Roman" panose="02020603050405020304" pitchFamily="18" charset="0"/>
                <a:cs typeface="Times New Roman" panose="02020603050405020304" pitchFamily="18" charset="0"/>
              </a:rPr>
              <a:t> </a:t>
            </a:r>
            <a:r>
              <a:rPr sz="1200" b="1" dirty="0">
                <a:solidFill>
                  <a:srgbClr val="1B294A"/>
                </a:solidFill>
                <a:latin typeface="Times New Roman" panose="02020603050405020304" pitchFamily="18" charset="0"/>
                <a:cs typeface="Times New Roman" panose="02020603050405020304" pitchFamily="18" charset="0"/>
              </a:rPr>
              <a:t>et</a:t>
            </a:r>
            <a:r>
              <a:rPr sz="1200" b="1" spc="-65"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accessibilité</a:t>
            </a:r>
            <a:endParaRPr sz="1200">
              <a:latin typeface="Times New Roman" panose="02020603050405020304" pitchFamily="18" charset="0"/>
              <a:cs typeface="Times New Roman" panose="02020603050405020304" pitchFamily="18" charset="0"/>
            </a:endParaRPr>
          </a:p>
          <a:p>
            <a:pPr marL="12700" marR="5080">
              <a:lnSpc>
                <a:spcPct val="125000"/>
              </a:lnSpc>
              <a:spcBef>
                <a:spcPts val="195"/>
              </a:spcBef>
            </a:pPr>
            <a:r>
              <a:rPr sz="1050" spc="-45" dirty="0">
                <a:solidFill>
                  <a:srgbClr val="6A798F"/>
                </a:solidFill>
                <a:latin typeface="Times New Roman" panose="02020603050405020304" pitchFamily="18" charset="0"/>
                <a:cs typeface="Times New Roman" panose="02020603050405020304" pitchFamily="18" charset="0"/>
              </a:rPr>
              <a:t>Pas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3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meta description</a:t>
            </a:r>
            <a:r>
              <a:rPr sz="1000" dirty="0">
                <a:solidFill>
                  <a:srgbClr val="6A798F"/>
                </a:solidFill>
                <a:latin typeface="Times New Roman" panose="02020603050405020304" pitchFamily="18" charset="0"/>
                <a:cs typeface="Times New Roman" panose="02020603050405020304" pitchFamily="18" charset="0"/>
              </a:rPr>
              <a:t>,</a:t>
            </a:r>
            <a:r>
              <a:rPr sz="1000" spc="4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pas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de</a:t>
            </a:r>
            <a:r>
              <a:rPr sz="1050" spc="-30"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balises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structurées</a:t>
            </a:r>
            <a:r>
              <a:rPr sz="1000" dirty="0">
                <a:solidFill>
                  <a:srgbClr val="6A798F"/>
                </a:solidFill>
                <a:latin typeface="Times New Roman" panose="02020603050405020304" pitchFamily="18" charset="0"/>
                <a:cs typeface="Times New Roman" panose="02020603050405020304" pitchFamily="18" charset="0"/>
              </a:rPr>
              <a:t>,</a:t>
            </a:r>
            <a:r>
              <a:rPr sz="1000" spc="4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certaines</a:t>
            </a:r>
            <a:r>
              <a:rPr sz="1050" spc="-25"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images manquent</a:t>
            </a:r>
            <a:r>
              <a:rPr sz="1050" spc="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d</a:t>
            </a:r>
            <a:r>
              <a:rPr sz="1000" dirty="0">
                <a:solidFill>
                  <a:srgbClr val="6A798F"/>
                </a:solidFill>
                <a:latin typeface="Times New Roman" panose="02020603050405020304" pitchFamily="18" charset="0"/>
                <a:cs typeface="Times New Roman" panose="02020603050405020304" pitchFamily="18" charset="0"/>
              </a:rPr>
              <a:t>'</a:t>
            </a:r>
            <a:r>
              <a:rPr sz="1000" spc="-170"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attributs</a:t>
            </a:r>
            <a:r>
              <a:rPr sz="1050" spc="25" dirty="0">
                <a:solidFill>
                  <a:srgbClr val="6A798F"/>
                </a:solidFill>
                <a:latin typeface="Times New Roman" panose="02020603050405020304" pitchFamily="18" charset="0"/>
                <a:cs typeface="Times New Roman" panose="02020603050405020304" pitchFamily="18" charset="0"/>
              </a:rPr>
              <a:t> </a:t>
            </a:r>
            <a:r>
              <a:rPr sz="1050" dirty="0">
                <a:solidFill>
                  <a:srgbClr val="6A798F"/>
                </a:solidFill>
                <a:latin typeface="Times New Roman" panose="02020603050405020304" pitchFamily="18" charset="0"/>
                <a:cs typeface="Times New Roman" panose="02020603050405020304" pitchFamily="18" charset="0"/>
              </a:rPr>
              <a:t>alt</a:t>
            </a:r>
            <a:r>
              <a:rPr sz="1050" spc="10" dirty="0">
                <a:solidFill>
                  <a:srgbClr val="6A798F"/>
                </a:solidFill>
                <a:latin typeface="Times New Roman" panose="02020603050405020304" pitchFamily="18" charset="0"/>
                <a:cs typeface="Times New Roman" panose="02020603050405020304" pitchFamily="18" charset="0"/>
              </a:rPr>
              <a:t> </a:t>
            </a:r>
            <a:r>
              <a:rPr sz="1050" spc="-10" dirty="0">
                <a:solidFill>
                  <a:srgbClr val="6A798F"/>
                </a:solidFill>
                <a:latin typeface="Times New Roman" panose="02020603050405020304" pitchFamily="18" charset="0"/>
                <a:cs typeface="Times New Roman" panose="02020603050405020304" pitchFamily="18" charset="0"/>
              </a:rPr>
              <a:t>pertinents</a:t>
            </a:r>
            <a:r>
              <a:rPr sz="1000" spc="-10" dirty="0">
                <a:solidFill>
                  <a:srgbClr val="6A798F"/>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grpSp>
        <p:nvGrpSpPr>
          <p:cNvPr id="21" name="object 21"/>
          <p:cNvGrpSpPr/>
          <p:nvPr/>
        </p:nvGrpSpPr>
        <p:grpSpPr>
          <a:xfrm>
            <a:off x="6229349" y="1628774"/>
            <a:ext cx="5353050" cy="4695825"/>
            <a:chOff x="6229349" y="1628774"/>
            <a:chExt cx="5353050" cy="4695825"/>
          </a:xfrm>
        </p:grpSpPr>
        <p:sp>
          <p:nvSpPr>
            <p:cNvPr id="22" name="object 22"/>
            <p:cNvSpPr/>
            <p:nvPr/>
          </p:nvSpPr>
          <p:spPr>
            <a:xfrm>
              <a:off x="6234112" y="1633537"/>
              <a:ext cx="5343525" cy="4686300"/>
            </a:xfrm>
            <a:custGeom>
              <a:avLst/>
              <a:gdLst/>
              <a:ahLst/>
              <a:cxnLst/>
              <a:rect l="l" t="t" r="r" b="b"/>
              <a:pathLst>
                <a:path w="5343525" h="4686300">
                  <a:moveTo>
                    <a:pt x="5223379" y="4686299"/>
                  </a:moveTo>
                  <a:lnTo>
                    <a:pt x="120143" y="4686299"/>
                  </a:lnTo>
                  <a:lnTo>
                    <a:pt x="111781" y="4685475"/>
                  </a:lnTo>
                  <a:lnTo>
                    <a:pt x="71578" y="4673278"/>
                  </a:lnTo>
                  <a:lnTo>
                    <a:pt x="31692" y="4642666"/>
                  </a:lnTo>
                  <a:lnTo>
                    <a:pt x="6555" y="4599119"/>
                  </a:lnTo>
                  <a:lnTo>
                    <a:pt x="0" y="4566155"/>
                  </a:lnTo>
                  <a:lnTo>
                    <a:pt x="0" y="4557712"/>
                  </a:lnTo>
                  <a:lnTo>
                    <a:pt x="0" y="120144"/>
                  </a:lnTo>
                  <a:lnTo>
                    <a:pt x="13018" y="71578"/>
                  </a:lnTo>
                  <a:lnTo>
                    <a:pt x="43632" y="31692"/>
                  </a:lnTo>
                  <a:lnTo>
                    <a:pt x="87178" y="6557"/>
                  </a:lnTo>
                  <a:lnTo>
                    <a:pt x="120143" y="0"/>
                  </a:lnTo>
                  <a:lnTo>
                    <a:pt x="5223379" y="0"/>
                  </a:lnTo>
                  <a:lnTo>
                    <a:pt x="5271945" y="13018"/>
                  </a:lnTo>
                  <a:lnTo>
                    <a:pt x="5311832" y="43632"/>
                  </a:lnTo>
                  <a:lnTo>
                    <a:pt x="5336966" y="87179"/>
                  </a:lnTo>
                  <a:lnTo>
                    <a:pt x="5343524" y="120144"/>
                  </a:lnTo>
                  <a:lnTo>
                    <a:pt x="5343524" y="4566155"/>
                  </a:lnTo>
                  <a:lnTo>
                    <a:pt x="5330504" y="4614719"/>
                  </a:lnTo>
                  <a:lnTo>
                    <a:pt x="5299891" y="4654606"/>
                  </a:lnTo>
                  <a:lnTo>
                    <a:pt x="5256343" y="4679741"/>
                  </a:lnTo>
                  <a:lnTo>
                    <a:pt x="5231741" y="4685475"/>
                  </a:lnTo>
                  <a:lnTo>
                    <a:pt x="5223379" y="4686299"/>
                  </a:lnTo>
                  <a:close/>
                </a:path>
              </a:pathLst>
            </a:custGeom>
            <a:solidFill>
              <a:srgbClr val="FFF2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3" name="object 23"/>
            <p:cNvSpPr/>
            <p:nvPr/>
          </p:nvSpPr>
          <p:spPr>
            <a:xfrm>
              <a:off x="6234112" y="1633537"/>
              <a:ext cx="5343525" cy="4686300"/>
            </a:xfrm>
            <a:custGeom>
              <a:avLst/>
              <a:gdLst/>
              <a:ahLst/>
              <a:cxnLst/>
              <a:rect l="l" t="t" r="r" b="b"/>
              <a:pathLst>
                <a:path w="5343525" h="4686300">
                  <a:moveTo>
                    <a:pt x="0" y="4557712"/>
                  </a:moveTo>
                  <a:lnTo>
                    <a:pt x="0" y="128587"/>
                  </a:lnTo>
                  <a:lnTo>
                    <a:pt x="0" y="120144"/>
                  </a:lnTo>
                  <a:lnTo>
                    <a:pt x="823" y="111782"/>
                  </a:lnTo>
                  <a:lnTo>
                    <a:pt x="2470" y="103501"/>
                  </a:lnTo>
                  <a:lnTo>
                    <a:pt x="4117" y="95220"/>
                  </a:lnTo>
                  <a:lnTo>
                    <a:pt x="6555" y="87179"/>
                  </a:lnTo>
                  <a:lnTo>
                    <a:pt x="9787" y="79378"/>
                  </a:lnTo>
                  <a:lnTo>
                    <a:pt x="13018" y="71578"/>
                  </a:lnTo>
                  <a:lnTo>
                    <a:pt x="16979" y="64168"/>
                  </a:lnTo>
                  <a:lnTo>
                    <a:pt x="21670" y="57147"/>
                  </a:lnTo>
                  <a:lnTo>
                    <a:pt x="26361" y="50127"/>
                  </a:lnTo>
                  <a:lnTo>
                    <a:pt x="57147" y="21670"/>
                  </a:lnTo>
                  <a:lnTo>
                    <a:pt x="95219" y="4117"/>
                  </a:lnTo>
                  <a:lnTo>
                    <a:pt x="120143" y="0"/>
                  </a:lnTo>
                  <a:lnTo>
                    <a:pt x="128587" y="0"/>
                  </a:lnTo>
                  <a:lnTo>
                    <a:pt x="5214937" y="0"/>
                  </a:lnTo>
                  <a:lnTo>
                    <a:pt x="5223379" y="0"/>
                  </a:lnTo>
                  <a:lnTo>
                    <a:pt x="5231741" y="823"/>
                  </a:lnTo>
                  <a:lnTo>
                    <a:pt x="5271945" y="13018"/>
                  </a:lnTo>
                  <a:lnTo>
                    <a:pt x="5305861" y="37662"/>
                  </a:lnTo>
                  <a:lnTo>
                    <a:pt x="5321852" y="57147"/>
                  </a:lnTo>
                  <a:lnTo>
                    <a:pt x="5326544" y="64168"/>
                  </a:lnTo>
                  <a:lnTo>
                    <a:pt x="5330504" y="71578"/>
                  </a:lnTo>
                  <a:lnTo>
                    <a:pt x="5333735" y="79379"/>
                  </a:lnTo>
                  <a:lnTo>
                    <a:pt x="5336966" y="87179"/>
                  </a:lnTo>
                  <a:lnTo>
                    <a:pt x="5339405" y="95220"/>
                  </a:lnTo>
                  <a:lnTo>
                    <a:pt x="5341052" y="103501"/>
                  </a:lnTo>
                  <a:lnTo>
                    <a:pt x="5342700" y="111782"/>
                  </a:lnTo>
                  <a:lnTo>
                    <a:pt x="5343524" y="120144"/>
                  </a:lnTo>
                  <a:lnTo>
                    <a:pt x="5343524" y="128587"/>
                  </a:lnTo>
                  <a:lnTo>
                    <a:pt x="5343524" y="4557712"/>
                  </a:lnTo>
                  <a:lnTo>
                    <a:pt x="5343524" y="4566155"/>
                  </a:lnTo>
                  <a:lnTo>
                    <a:pt x="5342700" y="4574516"/>
                  </a:lnTo>
                  <a:lnTo>
                    <a:pt x="5330504" y="4614719"/>
                  </a:lnTo>
                  <a:lnTo>
                    <a:pt x="5321852" y="4629150"/>
                  </a:lnTo>
                  <a:lnTo>
                    <a:pt x="5317162" y="4636170"/>
                  </a:lnTo>
                  <a:lnTo>
                    <a:pt x="5286375" y="4664627"/>
                  </a:lnTo>
                  <a:lnTo>
                    <a:pt x="5248302" y="4682180"/>
                  </a:lnTo>
                  <a:lnTo>
                    <a:pt x="5240022" y="4683827"/>
                  </a:lnTo>
                  <a:lnTo>
                    <a:pt x="5231741" y="4685475"/>
                  </a:lnTo>
                  <a:lnTo>
                    <a:pt x="5223379" y="4686299"/>
                  </a:lnTo>
                  <a:lnTo>
                    <a:pt x="5214937" y="4686299"/>
                  </a:lnTo>
                  <a:lnTo>
                    <a:pt x="128587" y="4686299"/>
                  </a:lnTo>
                  <a:lnTo>
                    <a:pt x="120143" y="4686299"/>
                  </a:lnTo>
                  <a:lnTo>
                    <a:pt x="111781" y="4685475"/>
                  </a:lnTo>
                  <a:lnTo>
                    <a:pt x="103500" y="4683827"/>
                  </a:lnTo>
                  <a:lnTo>
                    <a:pt x="95219" y="4682180"/>
                  </a:lnTo>
                  <a:lnTo>
                    <a:pt x="57147" y="4664627"/>
                  </a:lnTo>
                  <a:lnTo>
                    <a:pt x="50127" y="4659936"/>
                  </a:lnTo>
                  <a:lnTo>
                    <a:pt x="21670" y="4629150"/>
                  </a:lnTo>
                  <a:lnTo>
                    <a:pt x="16979" y="4622130"/>
                  </a:lnTo>
                  <a:lnTo>
                    <a:pt x="2470" y="4582797"/>
                  </a:lnTo>
                  <a:lnTo>
                    <a:pt x="0" y="4566155"/>
                  </a:lnTo>
                  <a:lnTo>
                    <a:pt x="0" y="4557712"/>
                  </a:lnTo>
                  <a:close/>
                </a:path>
              </a:pathLst>
            </a:custGeom>
            <a:ln w="9524">
              <a:solidFill>
                <a:srgbClr val="E7863A"/>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24" name="object 24"/>
            <p:cNvPicPr/>
            <p:nvPr/>
          </p:nvPicPr>
          <p:blipFill>
            <a:blip r:embed="rId3" cstate="print"/>
            <a:stretch>
              <a:fillRect/>
            </a:stretch>
          </p:blipFill>
          <p:spPr>
            <a:xfrm>
              <a:off x="6521449" y="1984374"/>
              <a:ext cx="177800" cy="107950"/>
            </a:xfrm>
            <a:prstGeom prst="rect">
              <a:avLst/>
            </a:prstGeom>
          </p:spPr>
        </p:pic>
      </p:grpSp>
      <p:sp>
        <p:nvSpPr>
          <p:cNvPr id="25" name="object 25"/>
          <p:cNvSpPr txBox="1"/>
          <p:nvPr/>
        </p:nvSpPr>
        <p:spPr>
          <a:xfrm>
            <a:off x="6797674" y="1895567"/>
            <a:ext cx="2332355" cy="228268"/>
          </a:xfrm>
          <a:prstGeom prst="rect">
            <a:avLst/>
          </a:prstGeom>
        </p:spPr>
        <p:txBody>
          <a:bodyPr vert="horz" wrap="square" lIns="0" tIns="12700" rIns="0" bIns="0" rtlCol="0">
            <a:spAutoFit/>
          </a:bodyPr>
          <a:lstStyle/>
          <a:p>
            <a:pPr marL="12700">
              <a:lnSpc>
                <a:spcPct val="100000"/>
              </a:lnSpc>
              <a:spcBef>
                <a:spcPts val="100"/>
              </a:spcBef>
            </a:pPr>
            <a:r>
              <a:rPr sz="1400" b="1" spc="65" dirty="0">
                <a:solidFill>
                  <a:srgbClr val="1B294A"/>
                </a:solidFill>
                <a:latin typeface="Times New Roman" panose="02020603050405020304" pitchFamily="18" charset="0"/>
                <a:cs typeface="Times New Roman" panose="02020603050405020304" pitchFamily="18" charset="0"/>
              </a:rPr>
              <a:t>Améliorations</a:t>
            </a:r>
            <a:r>
              <a:rPr sz="1400" b="1" spc="-40" dirty="0">
                <a:solidFill>
                  <a:srgbClr val="1B294A"/>
                </a:solidFill>
                <a:latin typeface="Times New Roman" panose="02020603050405020304" pitchFamily="18" charset="0"/>
                <a:cs typeface="Times New Roman" panose="02020603050405020304" pitchFamily="18" charset="0"/>
              </a:rPr>
              <a:t> </a:t>
            </a:r>
            <a:r>
              <a:rPr sz="1400" b="1" spc="40" dirty="0">
                <a:solidFill>
                  <a:srgbClr val="1B294A"/>
                </a:solidFill>
                <a:latin typeface="Times New Roman" panose="02020603050405020304" pitchFamily="18" charset="0"/>
                <a:cs typeface="Times New Roman" panose="02020603050405020304" pitchFamily="18" charset="0"/>
              </a:rPr>
              <a:t>suggérées</a:t>
            </a:r>
            <a:endParaRPr sz="1400">
              <a:latin typeface="Times New Roman" panose="02020603050405020304" pitchFamily="18" charset="0"/>
              <a:cs typeface="Times New Roman" panose="02020603050405020304" pitchFamily="18" charset="0"/>
            </a:endParaRPr>
          </a:p>
        </p:txBody>
      </p:sp>
      <p:sp>
        <p:nvSpPr>
          <p:cNvPr id="26" name="object 26"/>
          <p:cNvSpPr/>
          <p:nvPr/>
        </p:nvSpPr>
        <p:spPr>
          <a:xfrm>
            <a:off x="6505574" y="2371724"/>
            <a:ext cx="266700" cy="266700"/>
          </a:xfrm>
          <a:custGeom>
            <a:avLst/>
            <a:gdLst/>
            <a:ahLst/>
            <a:cxnLst/>
            <a:rect l="l" t="t" r="r" b="b"/>
            <a:pathLst>
              <a:path w="266700" h="266700">
                <a:moveTo>
                  <a:pt x="133349" y="266699"/>
                </a:moveTo>
                <a:lnTo>
                  <a:pt x="94639" y="260959"/>
                </a:lnTo>
                <a:lnTo>
                  <a:pt x="59263" y="244225"/>
                </a:lnTo>
                <a:lnTo>
                  <a:pt x="30266" y="217946"/>
                </a:lnTo>
                <a:lnTo>
                  <a:pt x="10149" y="184380"/>
                </a:lnTo>
                <a:lnTo>
                  <a:pt x="640" y="146420"/>
                </a:lnTo>
                <a:lnTo>
                  <a:pt x="0" y="133349"/>
                </a:lnTo>
                <a:lnTo>
                  <a:pt x="159" y="126798"/>
                </a:lnTo>
                <a:lnTo>
                  <a:pt x="7790" y="88432"/>
                </a:lnTo>
                <a:lnTo>
                  <a:pt x="26244" y="53906"/>
                </a:lnTo>
                <a:lnTo>
                  <a:pt x="53905" y="26246"/>
                </a:lnTo>
                <a:lnTo>
                  <a:pt x="88432" y="7791"/>
                </a:lnTo>
                <a:lnTo>
                  <a:pt x="126798" y="160"/>
                </a:lnTo>
                <a:lnTo>
                  <a:pt x="133349" y="0"/>
                </a:lnTo>
                <a:lnTo>
                  <a:pt x="139900" y="160"/>
                </a:lnTo>
                <a:lnTo>
                  <a:pt x="178266" y="7791"/>
                </a:lnTo>
                <a:lnTo>
                  <a:pt x="212792" y="26245"/>
                </a:lnTo>
                <a:lnTo>
                  <a:pt x="240453" y="53906"/>
                </a:lnTo>
                <a:lnTo>
                  <a:pt x="258907" y="88432"/>
                </a:lnTo>
                <a:lnTo>
                  <a:pt x="266539" y="126798"/>
                </a:lnTo>
                <a:lnTo>
                  <a:pt x="266699" y="133349"/>
                </a:lnTo>
                <a:lnTo>
                  <a:pt x="266539" y="139901"/>
                </a:lnTo>
                <a:lnTo>
                  <a:pt x="258907" y="178266"/>
                </a:lnTo>
                <a:lnTo>
                  <a:pt x="240453" y="212793"/>
                </a:lnTo>
                <a:lnTo>
                  <a:pt x="212792" y="240453"/>
                </a:lnTo>
                <a:lnTo>
                  <a:pt x="178266" y="258908"/>
                </a:lnTo>
                <a:lnTo>
                  <a:pt x="139900"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7" name="object 27"/>
          <p:cNvSpPr txBox="1"/>
          <p:nvPr/>
        </p:nvSpPr>
        <p:spPr>
          <a:xfrm>
            <a:off x="6599435" y="2408617"/>
            <a:ext cx="74930" cy="171201"/>
          </a:xfrm>
          <a:prstGeom prst="rect">
            <a:avLst/>
          </a:prstGeom>
        </p:spPr>
        <p:txBody>
          <a:bodyPr vert="horz" wrap="square" lIns="0" tIns="17145" rIns="0" bIns="0" rtlCol="0">
            <a:spAutoFit/>
          </a:bodyPr>
          <a:lstStyle/>
          <a:p>
            <a:pPr marL="12700">
              <a:lnSpc>
                <a:spcPct val="100000"/>
              </a:lnSpc>
              <a:spcBef>
                <a:spcPts val="135"/>
              </a:spcBef>
            </a:pPr>
            <a:r>
              <a:rPr sz="1000" b="1" spc="-110" dirty="0">
                <a:solidFill>
                  <a:srgbClr val="FFFFFF"/>
                </a:solidFill>
                <a:latin typeface="Times New Roman" panose="02020603050405020304" pitchFamily="18" charset="0"/>
                <a:cs typeface="Times New Roman" panose="02020603050405020304" pitchFamily="18" charset="0"/>
              </a:rPr>
              <a:t>1</a:t>
            </a:r>
            <a:endParaRPr sz="1000">
              <a:latin typeface="Times New Roman" panose="02020603050405020304" pitchFamily="18" charset="0"/>
              <a:cs typeface="Times New Roman" panose="02020603050405020304" pitchFamily="18" charset="0"/>
            </a:endParaRPr>
          </a:p>
        </p:txBody>
      </p:sp>
      <p:sp>
        <p:nvSpPr>
          <p:cNvPr id="28" name="object 28"/>
          <p:cNvSpPr txBox="1"/>
          <p:nvPr/>
        </p:nvSpPr>
        <p:spPr>
          <a:xfrm>
            <a:off x="6873874" y="2269935"/>
            <a:ext cx="4343400" cy="693844"/>
          </a:xfrm>
          <a:prstGeom prst="rect">
            <a:avLst/>
          </a:prstGeom>
        </p:spPr>
        <p:txBody>
          <a:bodyPr vert="horz" wrap="square" lIns="0" tIns="101600" rIns="0" bIns="0" rtlCol="0">
            <a:spAutoFit/>
          </a:bodyPr>
          <a:lstStyle/>
          <a:p>
            <a:pPr marL="12700">
              <a:lnSpc>
                <a:spcPct val="100000"/>
              </a:lnSpc>
              <a:spcBef>
                <a:spcPts val="800"/>
              </a:spcBef>
            </a:pPr>
            <a:r>
              <a:rPr sz="1200" b="1" spc="-40" dirty="0">
                <a:solidFill>
                  <a:srgbClr val="1B294A"/>
                </a:solidFill>
                <a:latin typeface="Times New Roman" panose="02020603050405020304" pitchFamily="18" charset="0"/>
                <a:cs typeface="Times New Roman" panose="02020603050405020304" pitchFamily="18" charset="0"/>
              </a:rPr>
              <a:t>Ajouter</a:t>
            </a:r>
            <a:r>
              <a:rPr sz="1200" b="1" spc="-50" dirty="0">
                <a:solidFill>
                  <a:srgbClr val="1B294A"/>
                </a:solidFill>
                <a:latin typeface="Times New Roman" panose="02020603050405020304" pitchFamily="18" charset="0"/>
                <a:cs typeface="Times New Roman" panose="02020603050405020304" pitchFamily="18" charset="0"/>
              </a:rPr>
              <a:t> </a:t>
            </a:r>
            <a:r>
              <a:rPr sz="1200" b="1" spc="-70" dirty="0">
                <a:solidFill>
                  <a:srgbClr val="1B294A"/>
                </a:solidFill>
                <a:latin typeface="Times New Roman" panose="02020603050405020304" pitchFamily="18" charset="0"/>
                <a:cs typeface="Times New Roman" panose="02020603050405020304" pitchFamily="18" charset="0"/>
              </a:rPr>
              <a:t>un</a:t>
            </a:r>
            <a:r>
              <a:rPr sz="1200" b="1" spc="-15" dirty="0">
                <a:solidFill>
                  <a:srgbClr val="1B294A"/>
                </a:solidFill>
                <a:latin typeface="Times New Roman" panose="02020603050405020304" pitchFamily="18" charset="0"/>
                <a:cs typeface="Times New Roman" panose="02020603050405020304" pitchFamily="18" charset="0"/>
              </a:rPr>
              <a:t> </a:t>
            </a:r>
            <a:r>
              <a:rPr sz="1200" b="1" spc="-35" dirty="0">
                <a:solidFill>
                  <a:srgbClr val="1B294A"/>
                </a:solidFill>
                <a:latin typeface="Times New Roman" panose="02020603050405020304" pitchFamily="18" charset="0"/>
                <a:cs typeface="Times New Roman" panose="02020603050405020304" pitchFamily="18" charset="0"/>
              </a:rPr>
              <a:t>backend</a:t>
            </a:r>
            <a:r>
              <a:rPr sz="1200" b="1" spc="-20"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dynamique</a:t>
            </a:r>
            <a:endParaRPr sz="1200">
              <a:latin typeface="Times New Roman" panose="02020603050405020304" pitchFamily="18" charset="0"/>
              <a:cs typeface="Times New Roman" panose="02020603050405020304" pitchFamily="18" charset="0"/>
            </a:endParaRPr>
          </a:p>
          <a:p>
            <a:pPr marL="12700" marR="5080">
              <a:lnSpc>
                <a:spcPct val="119000"/>
              </a:lnSpc>
              <a:spcBef>
                <a:spcPts val="345"/>
              </a:spcBef>
            </a:pPr>
            <a:r>
              <a:rPr sz="1050" dirty="0">
                <a:solidFill>
                  <a:srgbClr val="3A4556"/>
                </a:solidFill>
                <a:latin typeface="Times New Roman" panose="02020603050405020304" pitchFamily="18" charset="0"/>
                <a:cs typeface="Times New Roman" panose="02020603050405020304" pitchFamily="18" charset="0"/>
              </a:rPr>
              <a:t>Intégrer</a:t>
            </a:r>
            <a:r>
              <a:rPr sz="1050" spc="-5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une</a:t>
            </a:r>
            <a:r>
              <a:rPr sz="105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base</a:t>
            </a:r>
            <a:r>
              <a:rPr sz="105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a:t>
            </a:r>
            <a:r>
              <a:rPr sz="105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données</a:t>
            </a:r>
            <a:r>
              <a:rPr sz="1050" spc="-40" dirty="0">
                <a:solidFill>
                  <a:srgbClr val="3A4556"/>
                </a:solidFill>
                <a:latin typeface="Times New Roman" panose="02020603050405020304" pitchFamily="18" charset="0"/>
                <a:cs typeface="Times New Roman" panose="02020603050405020304" pitchFamily="18" charset="0"/>
              </a:rPr>
              <a:t> </a:t>
            </a:r>
            <a:r>
              <a:rPr sz="1000" spc="-20" dirty="0">
                <a:solidFill>
                  <a:srgbClr val="3A4556"/>
                </a:solidFill>
                <a:latin typeface="Times New Roman" panose="02020603050405020304" pitchFamily="18" charset="0"/>
                <a:cs typeface="Times New Roman" panose="02020603050405020304" pitchFamily="18" charset="0"/>
              </a:rPr>
              <a:t>(</a:t>
            </a:r>
            <a:r>
              <a:rPr sz="1050" spc="-20" dirty="0">
                <a:solidFill>
                  <a:srgbClr val="3A4556"/>
                </a:solidFill>
                <a:latin typeface="Times New Roman" panose="02020603050405020304" pitchFamily="18" charset="0"/>
                <a:cs typeface="Times New Roman" panose="02020603050405020304" pitchFamily="18" charset="0"/>
              </a:rPr>
              <a:t>MySQL</a:t>
            </a:r>
            <a:r>
              <a:rPr sz="1000" spc="-20" dirty="0">
                <a:solidFill>
                  <a:srgbClr val="3A4556"/>
                </a:solidFill>
                <a:latin typeface="Times New Roman" panose="02020603050405020304" pitchFamily="18" charset="0"/>
                <a:cs typeface="Times New Roman" panose="02020603050405020304" pitchFamily="18" charset="0"/>
              </a:rPr>
              <a:t>,</a:t>
            </a:r>
            <a:r>
              <a:rPr sz="100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MongoDB</a:t>
            </a:r>
            <a:r>
              <a:rPr sz="1000" spc="-1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et</a:t>
            </a:r>
            <a:r>
              <a:rPr sz="1050" spc="-5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un</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serveur</a:t>
            </a:r>
            <a:r>
              <a:rPr sz="1050" spc="-45" dirty="0">
                <a:solidFill>
                  <a:srgbClr val="3A4556"/>
                </a:solidFill>
                <a:latin typeface="Times New Roman" panose="02020603050405020304" pitchFamily="18" charset="0"/>
                <a:cs typeface="Times New Roman" panose="02020603050405020304" pitchFamily="18" charset="0"/>
              </a:rPr>
              <a:t> </a:t>
            </a:r>
            <a:r>
              <a:rPr sz="1000" spc="-10" dirty="0">
                <a:solidFill>
                  <a:srgbClr val="3A4556"/>
                </a:solidFill>
                <a:latin typeface="Times New Roman" panose="02020603050405020304" pitchFamily="18" charset="0"/>
                <a:cs typeface="Times New Roman" panose="02020603050405020304" pitchFamily="18" charset="0"/>
              </a:rPr>
              <a:t>(</a:t>
            </a:r>
            <a:r>
              <a:rPr sz="1050" spc="-10" dirty="0">
                <a:solidFill>
                  <a:srgbClr val="3A4556"/>
                </a:solidFill>
                <a:latin typeface="Times New Roman" panose="02020603050405020304" pitchFamily="18" charset="0"/>
                <a:cs typeface="Times New Roman" panose="02020603050405020304" pitchFamily="18" charset="0"/>
              </a:rPr>
              <a:t>Node</a:t>
            </a:r>
            <a:r>
              <a:rPr sz="1000" spc="-10" dirty="0">
                <a:solidFill>
                  <a:srgbClr val="3A4556"/>
                </a:solidFill>
                <a:latin typeface="Times New Roman" panose="02020603050405020304" pitchFamily="18" charset="0"/>
                <a:cs typeface="Times New Roman" panose="02020603050405020304" pitchFamily="18" charset="0"/>
              </a:rPr>
              <a:t>.</a:t>
            </a:r>
            <a:r>
              <a:rPr sz="1050" spc="-10" dirty="0">
                <a:solidFill>
                  <a:srgbClr val="3A4556"/>
                </a:solidFill>
                <a:latin typeface="Times New Roman" panose="02020603050405020304" pitchFamily="18" charset="0"/>
                <a:cs typeface="Times New Roman" panose="02020603050405020304" pitchFamily="18" charset="0"/>
              </a:rPr>
              <a:t>js</a:t>
            </a:r>
            <a:r>
              <a:rPr sz="1000" spc="-10" dirty="0">
                <a:solidFill>
                  <a:srgbClr val="3A4556"/>
                </a:solidFill>
                <a:latin typeface="Times New Roman" panose="02020603050405020304" pitchFamily="18" charset="0"/>
                <a:cs typeface="Times New Roman" panose="02020603050405020304" pitchFamily="18" charset="0"/>
              </a:rPr>
              <a:t>, </a:t>
            </a:r>
            <a:r>
              <a:rPr sz="1050" spc="-45" dirty="0">
                <a:solidFill>
                  <a:srgbClr val="3A4556"/>
                </a:solidFill>
                <a:latin typeface="Times New Roman" panose="02020603050405020304" pitchFamily="18" charset="0"/>
                <a:cs typeface="Times New Roman" panose="02020603050405020304" pitchFamily="18" charset="0"/>
              </a:rPr>
              <a:t>PHP</a:t>
            </a:r>
            <a:r>
              <a:rPr sz="1000" spc="-45" dirty="0">
                <a:solidFill>
                  <a:srgbClr val="3A4556"/>
                </a:solidFill>
                <a:latin typeface="Times New Roman" panose="02020603050405020304" pitchFamily="18" charset="0"/>
                <a:cs typeface="Times New Roman" panose="02020603050405020304" pitchFamily="18" charset="0"/>
              </a:rPr>
              <a:t>)</a:t>
            </a:r>
            <a:r>
              <a:rPr sz="1000" spc="6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pour</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gérer</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les</a:t>
            </a:r>
            <a:r>
              <a:rPr sz="1050" spc="-1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utilisateurs</a:t>
            </a:r>
            <a:r>
              <a:rPr sz="1000" spc="-10" dirty="0">
                <a:solidFill>
                  <a:srgbClr val="3A4556"/>
                </a:solidFill>
                <a:latin typeface="Times New Roman" panose="02020603050405020304" pitchFamily="18" charset="0"/>
                <a:cs typeface="Times New Roman" panose="02020603050405020304" pitchFamily="18" charset="0"/>
              </a:rPr>
              <a:t>,</a:t>
            </a:r>
            <a:r>
              <a:rPr sz="1000" spc="5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les</a:t>
            </a:r>
            <a:r>
              <a:rPr sz="1050" spc="-2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missions</a:t>
            </a:r>
            <a:r>
              <a:rPr sz="1050" spc="-1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et</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les</a:t>
            </a:r>
            <a:r>
              <a:rPr sz="1050" spc="-2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paiements</a:t>
            </a:r>
            <a:r>
              <a:rPr sz="1050" spc="-1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réels</a:t>
            </a:r>
            <a:r>
              <a:rPr sz="1000" spc="-10" dirty="0">
                <a:solidFill>
                  <a:srgbClr val="3A4556"/>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sp>
        <p:nvSpPr>
          <p:cNvPr id="29" name="object 29"/>
          <p:cNvSpPr/>
          <p:nvPr/>
        </p:nvSpPr>
        <p:spPr>
          <a:xfrm>
            <a:off x="6505574" y="3171824"/>
            <a:ext cx="266700" cy="266700"/>
          </a:xfrm>
          <a:custGeom>
            <a:avLst/>
            <a:gdLst/>
            <a:ahLst/>
            <a:cxnLst/>
            <a:rect l="l" t="t" r="r" b="b"/>
            <a:pathLst>
              <a:path w="266700" h="266700">
                <a:moveTo>
                  <a:pt x="133349" y="266699"/>
                </a:moveTo>
                <a:lnTo>
                  <a:pt x="94639" y="260959"/>
                </a:lnTo>
                <a:lnTo>
                  <a:pt x="59263" y="244226"/>
                </a:lnTo>
                <a:lnTo>
                  <a:pt x="30266" y="217946"/>
                </a:lnTo>
                <a:lnTo>
                  <a:pt x="10149" y="184380"/>
                </a:lnTo>
                <a:lnTo>
                  <a:pt x="640" y="146420"/>
                </a:lnTo>
                <a:lnTo>
                  <a:pt x="0" y="133349"/>
                </a:lnTo>
                <a:lnTo>
                  <a:pt x="159" y="126798"/>
                </a:lnTo>
                <a:lnTo>
                  <a:pt x="7790" y="88432"/>
                </a:lnTo>
                <a:lnTo>
                  <a:pt x="26244" y="53906"/>
                </a:lnTo>
                <a:lnTo>
                  <a:pt x="53905" y="26246"/>
                </a:lnTo>
                <a:lnTo>
                  <a:pt x="88432" y="7791"/>
                </a:lnTo>
                <a:lnTo>
                  <a:pt x="126798" y="160"/>
                </a:lnTo>
                <a:lnTo>
                  <a:pt x="133349" y="0"/>
                </a:lnTo>
                <a:lnTo>
                  <a:pt x="139900" y="160"/>
                </a:lnTo>
                <a:lnTo>
                  <a:pt x="178266" y="7791"/>
                </a:lnTo>
                <a:lnTo>
                  <a:pt x="212792" y="26246"/>
                </a:lnTo>
                <a:lnTo>
                  <a:pt x="240453" y="53906"/>
                </a:lnTo>
                <a:lnTo>
                  <a:pt x="258907" y="88432"/>
                </a:lnTo>
                <a:lnTo>
                  <a:pt x="266539" y="126798"/>
                </a:lnTo>
                <a:lnTo>
                  <a:pt x="266699" y="133349"/>
                </a:lnTo>
                <a:lnTo>
                  <a:pt x="266539" y="139900"/>
                </a:lnTo>
                <a:lnTo>
                  <a:pt x="258907" y="178266"/>
                </a:lnTo>
                <a:lnTo>
                  <a:pt x="240453" y="212792"/>
                </a:lnTo>
                <a:lnTo>
                  <a:pt x="212792" y="240453"/>
                </a:lnTo>
                <a:lnTo>
                  <a:pt x="178266" y="258907"/>
                </a:lnTo>
                <a:lnTo>
                  <a:pt x="139900"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0" name="object 30"/>
          <p:cNvSpPr txBox="1"/>
          <p:nvPr/>
        </p:nvSpPr>
        <p:spPr>
          <a:xfrm>
            <a:off x="6587082" y="3199192"/>
            <a:ext cx="103505" cy="171201"/>
          </a:xfrm>
          <a:prstGeom prst="rect">
            <a:avLst/>
          </a:prstGeom>
        </p:spPr>
        <p:txBody>
          <a:bodyPr vert="horz" wrap="square" lIns="0" tIns="17145" rIns="0" bIns="0" rtlCol="0">
            <a:spAutoFit/>
          </a:bodyPr>
          <a:lstStyle/>
          <a:p>
            <a:pPr marL="12700">
              <a:lnSpc>
                <a:spcPct val="100000"/>
              </a:lnSpc>
              <a:spcBef>
                <a:spcPts val="135"/>
              </a:spcBef>
            </a:pPr>
            <a:r>
              <a:rPr sz="1000" b="1" spc="5" dirty="0">
                <a:solidFill>
                  <a:srgbClr val="FFFFFF"/>
                </a:solidFill>
                <a:latin typeface="Times New Roman" panose="02020603050405020304" pitchFamily="18" charset="0"/>
                <a:cs typeface="Times New Roman" panose="02020603050405020304" pitchFamily="18" charset="0"/>
              </a:rPr>
              <a:t>2</a:t>
            </a:r>
            <a:endParaRPr sz="1000">
              <a:latin typeface="Times New Roman" panose="02020603050405020304" pitchFamily="18" charset="0"/>
              <a:cs typeface="Times New Roman" panose="02020603050405020304" pitchFamily="18" charset="0"/>
            </a:endParaRPr>
          </a:p>
        </p:txBody>
      </p:sp>
      <p:sp>
        <p:nvSpPr>
          <p:cNvPr id="31" name="object 31"/>
          <p:cNvSpPr txBox="1"/>
          <p:nvPr/>
        </p:nvSpPr>
        <p:spPr>
          <a:xfrm>
            <a:off x="6873874" y="3057383"/>
            <a:ext cx="4166235" cy="735330"/>
          </a:xfrm>
          <a:prstGeom prst="rect">
            <a:avLst/>
          </a:prstGeom>
        </p:spPr>
        <p:txBody>
          <a:bodyPr vert="horz" wrap="square" lIns="0" tIns="101600" rIns="0" bIns="0" rtlCol="0">
            <a:spAutoFit/>
          </a:bodyPr>
          <a:lstStyle/>
          <a:p>
            <a:pPr marL="12700">
              <a:lnSpc>
                <a:spcPct val="100000"/>
              </a:lnSpc>
              <a:spcBef>
                <a:spcPts val="800"/>
              </a:spcBef>
            </a:pPr>
            <a:r>
              <a:rPr sz="1200" b="1" spc="-35" dirty="0">
                <a:solidFill>
                  <a:srgbClr val="1B294A"/>
                </a:solidFill>
                <a:latin typeface="Times New Roman" panose="02020603050405020304" pitchFamily="18" charset="0"/>
                <a:cs typeface="Times New Roman" panose="02020603050405020304" pitchFamily="18" charset="0"/>
              </a:rPr>
              <a:t>Système</a:t>
            </a:r>
            <a:r>
              <a:rPr sz="1200" b="1" spc="-45"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d</a:t>
            </a:r>
            <a:r>
              <a:rPr sz="1300" b="1" spc="-10" dirty="0">
                <a:solidFill>
                  <a:srgbClr val="1B294A"/>
                </a:solidFill>
                <a:latin typeface="Times New Roman" panose="02020603050405020304" pitchFamily="18" charset="0"/>
                <a:cs typeface="Times New Roman" panose="02020603050405020304" pitchFamily="18" charset="0"/>
              </a:rPr>
              <a:t>'</a:t>
            </a:r>
            <a:r>
              <a:rPr sz="1200" b="1" spc="-10" dirty="0">
                <a:solidFill>
                  <a:srgbClr val="1B294A"/>
                </a:solidFill>
                <a:latin typeface="Times New Roman" panose="02020603050405020304" pitchFamily="18" charset="0"/>
                <a:cs typeface="Times New Roman" panose="02020603050405020304" pitchFamily="18" charset="0"/>
              </a:rPr>
              <a:t>authentification</a:t>
            </a:r>
            <a:endParaRPr sz="1200">
              <a:latin typeface="Times New Roman" panose="02020603050405020304" pitchFamily="18" charset="0"/>
              <a:cs typeface="Times New Roman" panose="02020603050405020304" pitchFamily="18" charset="0"/>
            </a:endParaRPr>
          </a:p>
          <a:p>
            <a:pPr marL="12700" marR="5080">
              <a:lnSpc>
                <a:spcPct val="119000"/>
              </a:lnSpc>
              <a:spcBef>
                <a:spcPts val="325"/>
              </a:spcBef>
            </a:pPr>
            <a:r>
              <a:rPr sz="1050" spc="-10" dirty="0">
                <a:solidFill>
                  <a:srgbClr val="3A4556"/>
                </a:solidFill>
                <a:latin typeface="Times New Roman" panose="02020603050405020304" pitchFamily="18" charset="0"/>
                <a:cs typeface="Times New Roman" panose="02020603050405020304" pitchFamily="18" charset="0"/>
              </a:rPr>
              <a:t>Permettre</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aux</a:t>
            </a:r>
            <a:r>
              <a:rPr sz="1050" spc="-5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utilisateurs</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créer</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un</a:t>
            </a:r>
            <a:r>
              <a:rPr sz="1050" spc="-1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compte</a:t>
            </a:r>
            <a:r>
              <a:rPr sz="1000" dirty="0">
                <a:solidFill>
                  <a:srgbClr val="3A4556"/>
                </a:solidFill>
                <a:latin typeface="Times New Roman" panose="02020603050405020304" pitchFamily="18" charset="0"/>
                <a:cs typeface="Times New Roman" panose="02020603050405020304" pitchFamily="18" charset="0"/>
              </a:rPr>
              <a:t>,</a:t>
            </a:r>
            <a:r>
              <a:rPr sz="100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se</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connecter</a:t>
            </a:r>
            <a:r>
              <a:rPr sz="1000" dirty="0">
                <a:solidFill>
                  <a:srgbClr val="3A4556"/>
                </a:solidFill>
                <a:latin typeface="Times New Roman" panose="02020603050405020304" pitchFamily="18" charset="0"/>
                <a:cs typeface="Times New Roman" panose="02020603050405020304" pitchFamily="18" charset="0"/>
              </a:rPr>
              <a:t>,</a:t>
            </a:r>
            <a:r>
              <a:rPr sz="100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gérer</a:t>
            </a:r>
            <a:r>
              <a:rPr sz="1050" spc="-40" dirty="0">
                <a:solidFill>
                  <a:srgbClr val="3A4556"/>
                </a:solidFill>
                <a:latin typeface="Times New Roman" panose="02020603050405020304" pitchFamily="18" charset="0"/>
                <a:cs typeface="Times New Roman" panose="02020603050405020304" pitchFamily="18" charset="0"/>
              </a:rPr>
              <a:t> </a:t>
            </a:r>
            <a:r>
              <a:rPr sz="1050" spc="-20" dirty="0">
                <a:solidFill>
                  <a:srgbClr val="3A4556"/>
                </a:solidFill>
                <a:latin typeface="Times New Roman" panose="02020603050405020304" pitchFamily="18" charset="0"/>
                <a:cs typeface="Times New Roman" panose="02020603050405020304" pitchFamily="18" charset="0"/>
              </a:rPr>
              <a:t>leur </a:t>
            </a:r>
            <a:r>
              <a:rPr sz="1050" dirty="0">
                <a:solidFill>
                  <a:srgbClr val="3A4556"/>
                </a:solidFill>
                <a:latin typeface="Times New Roman" panose="02020603050405020304" pitchFamily="18" charset="0"/>
                <a:cs typeface="Times New Roman" panose="02020603050405020304" pitchFamily="18" charset="0"/>
              </a:rPr>
              <a:t>profil</a:t>
            </a:r>
            <a:r>
              <a:rPr sz="1050" spc="6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et</a:t>
            </a:r>
            <a:r>
              <a:rPr sz="1050" spc="-1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leur</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historique de</a:t>
            </a:r>
            <a:r>
              <a:rPr sz="1050" spc="-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missions</a:t>
            </a:r>
            <a:r>
              <a:rPr sz="1000" spc="-10" dirty="0">
                <a:solidFill>
                  <a:srgbClr val="3A4556"/>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sp>
        <p:nvSpPr>
          <p:cNvPr id="32" name="object 32"/>
          <p:cNvSpPr/>
          <p:nvPr/>
        </p:nvSpPr>
        <p:spPr>
          <a:xfrm>
            <a:off x="6505574" y="3971924"/>
            <a:ext cx="266700" cy="266700"/>
          </a:xfrm>
          <a:custGeom>
            <a:avLst/>
            <a:gdLst/>
            <a:ahLst/>
            <a:cxnLst/>
            <a:rect l="l" t="t" r="r" b="b"/>
            <a:pathLst>
              <a:path w="266700" h="266700">
                <a:moveTo>
                  <a:pt x="133349" y="266699"/>
                </a:moveTo>
                <a:lnTo>
                  <a:pt x="94639" y="260958"/>
                </a:lnTo>
                <a:lnTo>
                  <a:pt x="59263" y="244225"/>
                </a:lnTo>
                <a:lnTo>
                  <a:pt x="30266" y="217946"/>
                </a:lnTo>
                <a:lnTo>
                  <a:pt x="10149" y="184379"/>
                </a:lnTo>
                <a:lnTo>
                  <a:pt x="640" y="146420"/>
                </a:lnTo>
                <a:lnTo>
                  <a:pt x="0" y="133349"/>
                </a:lnTo>
                <a:lnTo>
                  <a:pt x="159" y="126798"/>
                </a:lnTo>
                <a:lnTo>
                  <a:pt x="7790" y="88432"/>
                </a:lnTo>
                <a:lnTo>
                  <a:pt x="26244" y="53906"/>
                </a:lnTo>
                <a:lnTo>
                  <a:pt x="53905" y="26246"/>
                </a:lnTo>
                <a:lnTo>
                  <a:pt x="88432" y="7791"/>
                </a:lnTo>
                <a:lnTo>
                  <a:pt x="126798" y="160"/>
                </a:lnTo>
                <a:lnTo>
                  <a:pt x="133349" y="0"/>
                </a:lnTo>
                <a:lnTo>
                  <a:pt x="139900" y="160"/>
                </a:lnTo>
                <a:lnTo>
                  <a:pt x="178266" y="7791"/>
                </a:lnTo>
                <a:lnTo>
                  <a:pt x="212792" y="26246"/>
                </a:lnTo>
                <a:lnTo>
                  <a:pt x="240453" y="53905"/>
                </a:lnTo>
                <a:lnTo>
                  <a:pt x="258907" y="88432"/>
                </a:lnTo>
                <a:lnTo>
                  <a:pt x="266539" y="126798"/>
                </a:lnTo>
                <a:lnTo>
                  <a:pt x="266699" y="133349"/>
                </a:lnTo>
                <a:lnTo>
                  <a:pt x="266539" y="139901"/>
                </a:lnTo>
                <a:lnTo>
                  <a:pt x="258907" y="178266"/>
                </a:lnTo>
                <a:lnTo>
                  <a:pt x="240453" y="212792"/>
                </a:lnTo>
                <a:lnTo>
                  <a:pt x="212792" y="240452"/>
                </a:lnTo>
                <a:lnTo>
                  <a:pt x="178266" y="258907"/>
                </a:lnTo>
                <a:lnTo>
                  <a:pt x="139900"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3" name="object 33"/>
          <p:cNvSpPr txBox="1"/>
          <p:nvPr/>
        </p:nvSpPr>
        <p:spPr>
          <a:xfrm>
            <a:off x="6586189" y="3999292"/>
            <a:ext cx="106680" cy="171201"/>
          </a:xfrm>
          <a:prstGeom prst="rect">
            <a:avLst/>
          </a:prstGeom>
        </p:spPr>
        <p:txBody>
          <a:bodyPr vert="horz" wrap="square" lIns="0" tIns="17145" rIns="0" bIns="0" rtlCol="0">
            <a:spAutoFit/>
          </a:bodyPr>
          <a:lstStyle/>
          <a:p>
            <a:pPr marL="12700">
              <a:lnSpc>
                <a:spcPct val="100000"/>
              </a:lnSpc>
              <a:spcBef>
                <a:spcPts val="135"/>
              </a:spcBef>
            </a:pPr>
            <a:r>
              <a:rPr sz="1000" b="1" spc="30" dirty="0">
                <a:solidFill>
                  <a:srgbClr val="FFFFFF"/>
                </a:solidFill>
                <a:latin typeface="Times New Roman" panose="02020603050405020304" pitchFamily="18" charset="0"/>
                <a:cs typeface="Times New Roman" panose="02020603050405020304" pitchFamily="18" charset="0"/>
              </a:rPr>
              <a:t>3</a:t>
            </a:r>
            <a:endParaRPr sz="1000">
              <a:latin typeface="Times New Roman" panose="02020603050405020304" pitchFamily="18" charset="0"/>
              <a:cs typeface="Times New Roman" panose="02020603050405020304" pitchFamily="18" charset="0"/>
            </a:endParaRPr>
          </a:p>
        </p:txBody>
      </p:sp>
      <p:sp>
        <p:nvSpPr>
          <p:cNvPr id="34" name="object 34"/>
          <p:cNvSpPr txBox="1"/>
          <p:nvPr/>
        </p:nvSpPr>
        <p:spPr>
          <a:xfrm>
            <a:off x="6873874" y="3881245"/>
            <a:ext cx="4401820" cy="711200"/>
          </a:xfrm>
          <a:prstGeom prst="rect">
            <a:avLst/>
          </a:prstGeom>
        </p:spPr>
        <p:txBody>
          <a:bodyPr vert="horz" wrap="square" lIns="0" tIns="90805" rIns="0" bIns="0" rtlCol="0">
            <a:spAutoFit/>
          </a:bodyPr>
          <a:lstStyle/>
          <a:p>
            <a:pPr marL="12700">
              <a:lnSpc>
                <a:spcPct val="100000"/>
              </a:lnSpc>
              <a:spcBef>
                <a:spcPts val="715"/>
              </a:spcBef>
            </a:pPr>
            <a:r>
              <a:rPr sz="1200" b="1" spc="-45" dirty="0">
                <a:solidFill>
                  <a:srgbClr val="1B294A"/>
                </a:solidFill>
                <a:latin typeface="Times New Roman" panose="02020603050405020304" pitchFamily="18" charset="0"/>
                <a:cs typeface="Times New Roman" panose="02020603050405020304" pitchFamily="18" charset="0"/>
              </a:rPr>
              <a:t>Fonctionnalités</a:t>
            </a:r>
            <a:r>
              <a:rPr sz="1200" b="1" spc="-5"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avancées</a:t>
            </a:r>
            <a:endParaRPr sz="1200">
              <a:latin typeface="Times New Roman" panose="02020603050405020304" pitchFamily="18" charset="0"/>
              <a:cs typeface="Times New Roman" panose="02020603050405020304" pitchFamily="18" charset="0"/>
            </a:endParaRPr>
          </a:p>
          <a:p>
            <a:pPr marL="12700" marR="5080">
              <a:lnSpc>
                <a:spcPct val="125000"/>
              </a:lnSpc>
              <a:spcBef>
                <a:spcPts val="195"/>
              </a:spcBef>
            </a:pPr>
            <a:r>
              <a:rPr sz="1050" spc="-10" dirty="0">
                <a:solidFill>
                  <a:srgbClr val="3A4556"/>
                </a:solidFill>
                <a:latin typeface="Times New Roman" panose="02020603050405020304" pitchFamily="18" charset="0"/>
                <a:cs typeface="Times New Roman" panose="02020603050405020304" pitchFamily="18" charset="0"/>
              </a:rPr>
              <a:t>Messagerie</a:t>
            </a:r>
            <a:r>
              <a:rPr sz="1050" spc="-5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en</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temps</a:t>
            </a:r>
            <a:r>
              <a:rPr sz="105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réel</a:t>
            </a:r>
            <a:r>
              <a:rPr sz="1050" spc="5" dirty="0">
                <a:solidFill>
                  <a:srgbClr val="3A4556"/>
                </a:solidFill>
                <a:latin typeface="Times New Roman" panose="02020603050405020304" pitchFamily="18" charset="0"/>
                <a:cs typeface="Times New Roman" panose="02020603050405020304" pitchFamily="18" charset="0"/>
              </a:rPr>
              <a:t> </a:t>
            </a:r>
            <a:r>
              <a:rPr sz="1000" spc="-10" dirty="0">
                <a:solidFill>
                  <a:srgbClr val="3A4556"/>
                </a:solidFill>
                <a:latin typeface="Times New Roman" panose="02020603050405020304" pitchFamily="18" charset="0"/>
                <a:cs typeface="Times New Roman" panose="02020603050405020304" pitchFamily="18" charset="0"/>
              </a:rPr>
              <a:t>(</a:t>
            </a:r>
            <a:r>
              <a:rPr sz="1050" spc="-10" dirty="0">
                <a:solidFill>
                  <a:srgbClr val="3A4556"/>
                </a:solidFill>
                <a:latin typeface="Times New Roman" panose="02020603050405020304" pitchFamily="18" charset="0"/>
                <a:cs typeface="Times New Roman" panose="02020603050405020304" pitchFamily="18" charset="0"/>
              </a:rPr>
              <a:t>WebSocket</a:t>
            </a:r>
            <a:r>
              <a:rPr sz="1000" spc="-10" dirty="0">
                <a:solidFill>
                  <a:srgbClr val="3A4556"/>
                </a:solidFill>
                <a:latin typeface="Times New Roman" panose="02020603050405020304" pitchFamily="18" charset="0"/>
                <a:cs typeface="Times New Roman" panose="02020603050405020304" pitchFamily="18" charset="0"/>
              </a:rPr>
              <a:t>),</a:t>
            </a:r>
            <a:r>
              <a:rPr sz="100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système</a:t>
            </a:r>
            <a:r>
              <a:rPr sz="105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a:t>
            </a:r>
            <a:r>
              <a:rPr sz="1050" spc="-5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notation</a:t>
            </a:r>
            <a:r>
              <a:rPr sz="1000" dirty="0">
                <a:solidFill>
                  <a:srgbClr val="3A4556"/>
                </a:solidFill>
                <a:latin typeface="Times New Roman" panose="02020603050405020304" pitchFamily="18" charset="0"/>
                <a:cs typeface="Times New Roman" panose="02020603050405020304" pitchFamily="18" charset="0"/>
              </a:rPr>
              <a:t>,</a:t>
            </a:r>
            <a:r>
              <a:rPr sz="1000" spc="2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notifications</a:t>
            </a:r>
            <a:r>
              <a:rPr sz="1000" spc="-1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recherche</a:t>
            </a:r>
            <a:r>
              <a:rPr sz="105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avancée</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avec</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filtres</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multiples</a:t>
            </a:r>
            <a:r>
              <a:rPr sz="1000" dirty="0">
                <a:solidFill>
                  <a:srgbClr val="3A4556"/>
                </a:solidFill>
                <a:latin typeface="Times New Roman" panose="02020603050405020304" pitchFamily="18" charset="0"/>
                <a:cs typeface="Times New Roman" panose="02020603050405020304" pitchFamily="18" charset="0"/>
              </a:rPr>
              <a:t>,</a:t>
            </a:r>
            <a:r>
              <a:rPr sz="100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système</a:t>
            </a:r>
            <a:r>
              <a:rPr sz="1050" spc="-2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a:t>
            </a:r>
            <a:r>
              <a:rPr sz="105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paiement</a:t>
            </a:r>
            <a:r>
              <a:rPr sz="1050" spc="-3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intégré</a:t>
            </a:r>
            <a:r>
              <a:rPr sz="1000" spc="-10" dirty="0">
                <a:solidFill>
                  <a:srgbClr val="3A4556"/>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sp>
        <p:nvSpPr>
          <p:cNvPr id="35" name="object 35"/>
          <p:cNvSpPr/>
          <p:nvPr/>
        </p:nvSpPr>
        <p:spPr>
          <a:xfrm>
            <a:off x="6505574" y="4772024"/>
            <a:ext cx="266700" cy="266700"/>
          </a:xfrm>
          <a:custGeom>
            <a:avLst/>
            <a:gdLst/>
            <a:ahLst/>
            <a:cxnLst/>
            <a:rect l="l" t="t" r="r" b="b"/>
            <a:pathLst>
              <a:path w="266700" h="266700">
                <a:moveTo>
                  <a:pt x="133349" y="266699"/>
                </a:moveTo>
                <a:lnTo>
                  <a:pt x="94639" y="260958"/>
                </a:lnTo>
                <a:lnTo>
                  <a:pt x="59263" y="244225"/>
                </a:lnTo>
                <a:lnTo>
                  <a:pt x="30266" y="217946"/>
                </a:lnTo>
                <a:lnTo>
                  <a:pt x="10149" y="184379"/>
                </a:lnTo>
                <a:lnTo>
                  <a:pt x="640" y="146420"/>
                </a:lnTo>
                <a:lnTo>
                  <a:pt x="0" y="133349"/>
                </a:lnTo>
                <a:lnTo>
                  <a:pt x="159" y="126798"/>
                </a:lnTo>
                <a:lnTo>
                  <a:pt x="7790" y="88432"/>
                </a:lnTo>
                <a:lnTo>
                  <a:pt x="26244" y="53906"/>
                </a:lnTo>
                <a:lnTo>
                  <a:pt x="53905" y="26245"/>
                </a:lnTo>
                <a:lnTo>
                  <a:pt x="88432" y="7791"/>
                </a:lnTo>
                <a:lnTo>
                  <a:pt x="126798" y="160"/>
                </a:lnTo>
                <a:lnTo>
                  <a:pt x="133349" y="0"/>
                </a:lnTo>
                <a:lnTo>
                  <a:pt x="139900" y="160"/>
                </a:lnTo>
                <a:lnTo>
                  <a:pt x="178266" y="7791"/>
                </a:lnTo>
                <a:lnTo>
                  <a:pt x="212792" y="26245"/>
                </a:lnTo>
                <a:lnTo>
                  <a:pt x="240453" y="53905"/>
                </a:lnTo>
                <a:lnTo>
                  <a:pt x="258907" y="88432"/>
                </a:lnTo>
                <a:lnTo>
                  <a:pt x="266539" y="126798"/>
                </a:lnTo>
                <a:lnTo>
                  <a:pt x="266699" y="133349"/>
                </a:lnTo>
                <a:lnTo>
                  <a:pt x="266539" y="139901"/>
                </a:lnTo>
                <a:lnTo>
                  <a:pt x="258907" y="178266"/>
                </a:lnTo>
                <a:lnTo>
                  <a:pt x="240453" y="212792"/>
                </a:lnTo>
                <a:lnTo>
                  <a:pt x="212792" y="240452"/>
                </a:lnTo>
                <a:lnTo>
                  <a:pt x="178266" y="258907"/>
                </a:lnTo>
                <a:lnTo>
                  <a:pt x="139900" y="266539"/>
                </a:lnTo>
                <a:lnTo>
                  <a:pt x="133349" y="266699"/>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6" name="object 36"/>
          <p:cNvSpPr txBox="1"/>
          <p:nvPr/>
        </p:nvSpPr>
        <p:spPr>
          <a:xfrm>
            <a:off x="6584254" y="4799392"/>
            <a:ext cx="111125" cy="171201"/>
          </a:xfrm>
          <a:prstGeom prst="rect">
            <a:avLst/>
          </a:prstGeom>
        </p:spPr>
        <p:txBody>
          <a:bodyPr vert="horz" wrap="square" lIns="0" tIns="17145" rIns="0" bIns="0" rtlCol="0">
            <a:spAutoFit/>
          </a:bodyPr>
          <a:lstStyle/>
          <a:p>
            <a:pPr marL="12700">
              <a:lnSpc>
                <a:spcPct val="100000"/>
              </a:lnSpc>
              <a:spcBef>
                <a:spcPts val="135"/>
              </a:spcBef>
            </a:pPr>
            <a:r>
              <a:rPr sz="1000" b="1" spc="65" dirty="0">
                <a:solidFill>
                  <a:srgbClr val="FFFFFF"/>
                </a:solidFill>
                <a:latin typeface="Times New Roman" panose="02020603050405020304" pitchFamily="18" charset="0"/>
                <a:cs typeface="Times New Roman" panose="02020603050405020304" pitchFamily="18" charset="0"/>
              </a:rPr>
              <a:t>4</a:t>
            </a:r>
            <a:endParaRPr sz="1000">
              <a:latin typeface="Times New Roman" panose="02020603050405020304" pitchFamily="18" charset="0"/>
              <a:cs typeface="Times New Roman" panose="02020603050405020304" pitchFamily="18" charset="0"/>
            </a:endParaRPr>
          </a:p>
        </p:txBody>
      </p:sp>
      <p:sp>
        <p:nvSpPr>
          <p:cNvPr id="37" name="object 37"/>
          <p:cNvSpPr txBox="1"/>
          <p:nvPr/>
        </p:nvSpPr>
        <p:spPr>
          <a:xfrm>
            <a:off x="6873874" y="4669387"/>
            <a:ext cx="4442460" cy="713740"/>
          </a:xfrm>
          <a:prstGeom prst="rect">
            <a:avLst/>
          </a:prstGeom>
        </p:spPr>
        <p:txBody>
          <a:bodyPr vert="horz" wrap="square" lIns="0" tIns="89535" rIns="0" bIns="0" rtlCol="0">
            <a:spAutoFit/>
          </a:bodyPr>
          <a:lstStyle/>
          <a:p>
            <a:pPr marL="12700">
              <a:lnSpc>
                <a:spcPct val="100000"/>
              </a:lnSpc>
              <a:spcBef>
                <a:spcPts val="705"/>
              </a:spcBef>
            </a:pPr>
            <a:r>
              <a:rPr sz="1200" b="1" spc="-45" dirty="0">
                <a:solidFill>
                  <a:srgbClr val="1B294A"/>
                </a:solidFill>
                <a:latin typeface="Times New Roman" panose="02020603050405020304" pitchFamily="18" charset="0"/>
                <a:cs typeface="Times New Roman" panose="02020603050405020304" pitchFamily="18" charset="0"/>
              </a:rPr>
              <a:t>Optimisations</a:t>
            </a:r>
            <a:r>
              <a:rPr sz="1200" b="1" spc="-5" dirty="0">
                <a:solidFill>
                  <a:srgbClr val="1B294A"/>
                </a:solidFill>
                <a:latin typeface="Times New Roman" panose="02020603050405020304" pitchFamily="18" charset="0"/>
                <a:cs typeface="Times New Roman" panose="02020603050405020304" pitchFamily="18" charset="0"/>
              </a:rPr>
              <a:t> </a:t>
            </a:r>
            <a:r>
              <a:rPr sz="1200" b="1" spc="-10" dirty="0">
                <a:solidFill>
                  <a:srgbClr val="1B294A"/>
                </a:solidFill>
                <a:latin typeface="Times New Roman" panose="02020603050405020304" pitchFamily="18" charset="0"/>
                <a:cs typeface="Times New Roman" panose="02020603050405020304" pitchFamily="18" charset="0"/>
              </a:rPr>
              <a:t>UX</a:t>
            </a:r>
            <a:r>
              <a:rPr sz="1300" b="1" spc="-10" dirty="0">
                <a:solidFill>
                  <a:srgbClr val="1B294A"/>
                </a:solidFill>
                <a:latin typeface="Times New Roman" panose="02020603050405020304" pitchFamily="18" charset="0"/>
                <a:cs typeface="Times New Roman" panose="02020603050405020304" pitchFamily="18" charset="0"/>
              </a:rPr>
              <a:t>/</a:t>
            </a:r>
            <a:r>
              <a:rPr sz="1200" b="1" spc="-10" dirty="0">
                <a:solidFill>
                  <a:srgbClr val="1B294A"/>
                </a:solidFill>
                <a:latin typeface="Times New Roman" panose="02020603050405020304" pitchFamily="18" charset="0"/>
                <a:cs typeface="Times New Roman" panose="02020603050405020304" pitchFamily="18" charset="0"/>
              </a:rPr>
              <a:t>SEO</a:t>
            </a:r>
            <a:endParaRPr sz="1200">
              <a:latin typeface="Times New Roman" panose="02020603050405020304" pitchFamily="18" charset="0"/>
              <a:cs typeface="Times New Roman" panose="02020603050405020304" pitchFamily="18" charset="0"/>
            </a:endParaRPr>
          </a:p>
          <a:p>
            <a:pPr marL="12700" marR="5080">
              <a:lnSpc>
                <a:spcPct val="119000"/>
              </a:lnSpc>
              <a:spcBef>
                <a:spcPts val="250"/>
              </a:spcBef>
            </a:pPr>
            <a:r>
              <a:rPr sz="1050" dirty="0">
                <a:solidFill>
                  <a:srgbClr val="3A4556"/>
                </a:solidFill>
                <a:latin typeface="Times New Roman" panose="02020603050405020304" pitchFamily="18" charset="0"/>
                <a:cs typeface="Times New Roman" panose="02020603050405020304" pitchFamily="18" charset="0"/>
              </a:rPr>
              <a:t>Ajouter</a:t>
            </a:r>
            <a:r>
              <a:rPr sz="105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des</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meta</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descriptions</a:t>
            </a:r>
            <a:r>
              <a:rPr sz="1000" dirty="0">
                <a:solidFill>
                  <a:srgbClr val="3A4556"/>
                </a:solidFill>
                <a:latin typeface="Times New Roman" panose="02020603050405020304" pitchFamily="18" charset="0"/>
                <a:cs typeface="Times New Roman" panose="02020603050405020304" pitchFamily="18" charset="0"/>
              </a:rPr>
              <a:t>,</a:t>
            </a:r>
            <a:r>
              <a:rPr sz="1000" spc="40"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améliorer</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l</a:t>
            </a:r>
            <a:r>
              <a:rPr sz="1000" dirty="0">
                <a:solidFill>
                  <a:srgbClr val="3A4556"/>
                </a:solidFill>
                <a:latin typeface="Times New Roman" panose="02020603050405020304" pitchFamily="18" charset="0"/>
                <a:cs typeface="Times New Roman" panose="02020603050405020304" pitchFamily="18" charset="0"/>
              </a:rPr>
              <a:t>'</a:t>
            </a:r>
            <a:r>
              <a:rPr sz="1000" spc="-17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accessibilité</a:t>
            </a:r>
            <a:r>
              <a:rPr sz="1050" spc="-30" dirty="0">
                <a:solidFill>
                  <a:srgbClr val="3A4556"/>
                </a:solidFill>
                <a:latin typeface="Times New Roman" panose="02020603050405020304" pitchFamily="18" charset="0"/>
                <a:cs typeface="Times New Roman" panose="02020603050405020304" pitchFamily="18" charset="0"/>
              </a:rPr>
              <a:t> </a:t>
            </a:r>
            <a:r>
              <a:rPr sz="1000" spc="-30" dirty="0">
                <a:solidFill>
                  <a:srgbClr val="3A4556"/>
                </a:solidFill>
                <a:latin typeface="Times New Roman" panose="02020603050405020304" pitchFamily="18" charset="0"/>
                <a:cs typeface="Times New Roman" panose="02020603050405020304" pitchFamily="18" charset="0"/>
              </a:rPr>
              <a:t>(</a:t>
            </a:r>
            <a:r>
              <a:rPr sz="1050" spc="-30" dirty="0">
                <a:solidFill>
                  <a:srgbClr val="3A4556"/>
                </a:solidFill>
                <a:latin typeface="Times New Roman" panose="02020603050405020304" pitchFamily="18" charset="0"/>
                <a:cs typeface="Times New Roman" panose="02020603050405020304" pitchFamily="18" charset="0"/>
              </a:rPr>
              <a:t>ARIA</a:t>
            </a:r>
            <a:r>
              <a:rPr sz="1000" spc="-30" dirty="0">
                <a:solidFill>
                  <a:srgbClr val="3A4556"/>
                </a:solidFill>
                <a:latin typeface="Times New Roman" panose="02020603050405020304" pitchFamily="18" charset="0"/>
                <a:cs typeface="Times New Roman" panose="02020603050405020304" pitchFamily="18" charset="0"/>
              </a:rPr>
              <a:t>),</a:t>
            </a:r>
            <a:r>
              <a:rPr sz="100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optimiser</a:t>
            </a:r>
            <a:r>
              <a:rPr sz="1050" spc="-35" dirty="0">
                <a:solidFill>
                  <a:srgbClr val="3A4556"/>
                </a:solidFill>
                <a:latin typeface="Times New Roman" panose="02020603050405020304" pitchFamily="18" charset="0"/>
                <a:cs typeface="Times New Roman" panose="02020603050405020304" pitchFamily="18" charset="0"/>
              </a:rPr>
              <a:t> </a:t>
            </a:r>
            <a:r>
              <a:rPr sz="1050" spc="-25" dirty="0">
                <a:solidFill>
                  <a:srgbClr val="3A4556"/>
                </a:solidFill>
                <a:latin typeface="Times New Roman" panose="02020603050405020304" pitchFamily="18" charset="0"/>
                <a:cs typeface="Times New Roman" panose="02020603050405020304" pitchFamily="18" charset="0"/>
              </a:rPr>
              <a:t>les </a:t>
            </a:r>
            <a:r>
              <a:rPr sz="1050" dirty="0">
                <a:solidFill>
                  <a:srgbClr val="3A4556"/>
                </a:solidFill>
                <a:latin typeface="Times New Roman" panose="02020603050405020304" pitchFamily="18" charset="0"/>
                <a:cs typeface="Times New Roman" panose="02020603050405020304" pitchFamily="18" charset="0"/>
              </a:rPr>
              <a:t>performances</a:t>
            </a:r>
            <a:r>
              <a:rPr sz="1050" spc="-2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de</a:t>
            </a:r>
            <a:r>
              <a:rPr sz="105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chargement</a:t>
            </a:r>
            <a:r>
              <a:rPr sz="1000" spc="-10" dirty="0">
                <a:solidFill>
                  <a:srgbClr val="3A4556"/>
                </a:solidFill>
                <a:latin typeface="Times New Roman" panose="02020603050405020304" pitchFamily="18" charset="0"/>
                <a:cs typeface="Times New Roman" panose="02020603050405020304" pitchFamily="18" charset="0"/>
              </a:rPr>
              <a:t>,</a:t>
            </a:r>
            <a:r>
              <a:rPr sz="1000" spc="4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ajouter</a:t>
            </a:r>
            <a:r>
              <a:rPr sz="1050" spc="-30"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un</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blog</a:t>
            </a:r>
            <a:r>
              <a:rPr sz="1050" spc="-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fonctionnel</a:t>
            </a:r>
            <a:r>
              <a:rPr sz="1050" spc="35" dirty="0">
                <a:solidFill>
                  <a:srgbClr val="3A4556"/>
                </a:solidFill>
                <a:latin typeface="Times New Roman" panose="02020603050405020304" pitchFamily="18" charset="0"/>
                <a:cs typeface="Times New Roman" panose="02020603050405020304" pitchFamily="18" charset="0"/>
              </a:rPr>
              <a:t> </a:t>
            </a:r>
            <a:r>
              <a:rPr sz="1050" dirty="0">
                <a:solidFill>
                  <a:srgbClr val="3A4556"/>
                </a:solidFill>
                <a:latin typeface="Times New Roman" panose="02020603050405020304" pitchFamily="18" charset="0"/>
                <a:cs typeface="Times New Roman" panose="02020603050405020304" pitchFamily="18" charset="0"/>
              </a:rPr>
              <a:t>avec</a:t>
            </a:r>
            <a:r>
              <a:rPr sz="1050" spc="-25" dirty="0">
                <a:solidFill>
                  <a:srgbClr val="3A4556"/>
                </a:solidFill>
                <a:latin typeface="Times New Roman" panose="02020603050405020304" pitchFamily="18" charset="0"/>
                <a:cs typeface="Times New Roman" panose="02020603050405020304" pitchFamily="18" charset="0"/>
              </a:rPr>
              <a:t> </a:t>
            </a:r>
            <a:r>
              <a:rPr sz="1050" spc="-10" dirty="0">
                <a:solidFill>
                  <a:srgbClr val="3A4556"/>
                </a:solidFill>
                <a:latin typeface="Times New Roman" panose="02020603050405020304" pitchFamily="18" charset="0"/>
                <a:cs typeface="Times New Roman" panose="02020603050405020304" pitchFamily="18" charset="0"/>
              </a:rPr>
              <a:t>articles</a:t>
            </a:r>
            <a:r>
              <a:rPr sz="1000" spc="-10" dirty="0">
                <a:solidFill>
                  <a:srgbClr val="3A4556"/>
                </a:solidFill>
                <a:latin typeface="Times New Roman" panose="02020603050405020304" pitchFamily="18" charset="0"/>
                <a:cs typeface="Times New Roman" panose="02020603050405020304" pitchFamily="18" charset="0"/>
              </a:rPr>
              <a:t>.</a:t>
            </a:r>
            <a:endParaRPr sz="1000">
              <a:latin typeface="Times New Roman" panose="02020603050405020304" pitchFamily="18" charset="0"/>
              <a:cs typeface="Times New Roman" panose="02020603050405020304" pitchFamily="18" charset="0"/>
            </a:endParaRPr>
          </a:p>
        </p:txBody>
      </p:sp>
      <p:pic>
        <p:nvPicPr>
          <p:cNvPr id="38" name="object 38"/>
          <p:cNvPicPr/>
          <p:nvPr/>
        </p:nvPicPr>
        <p:blipFill>
          <a:blip r:embed="rId4" cstate="print"/>
          <a:stretch>
            <a:fillRect/>
          </a:stretch>
        </p:blipFill>
        <p:spPr>
          <a:xfrm>
            <a:off x="0" y="0"/>
            <a:ext cx="12191999" cy="47624"/>
          </a:xfrm>
          <a:prstGeom prst="rect">
            <a:avLst/>
          </a:prstGeom>
        </p:spPr>
      </p:pic>
      <p:sp>
        <p:nvSpPr>
          <p:cNvPr id="39" name="object 39"/>
          <p:cNvSpPr txBox="1"/>
          <p:nvPr/>
        </p:nvSpPr>
        <p:spPr>
          <a:xfrm>
            <a:off x="11279038" y="6467429"/>
            <a:ext cx="309880" cy="146835"/>
          </a:xfrm>
          <a:prstGeom prst="rect">
            <a:avLst/>
          </a:prstGeom>
        </p:spPr>
        <p:txBody>
          <a:bodyPr vert="horz" wrap="square" lIns="0" tIns="15875" rIns="0" bIns="0" rtlCol="0">
            <a:spAutoFit/>
          </a:bodyPr>
          <a:lstStyle/>
          <a:p>
            <a:pPr marL="12700">
              <a:lnSpc>
                <a:spcPct val="100000"/>
              </a:lnSpc>
              <a:spcBef>
                <a:spcPts val="125"/>
              </a:spcBef>
            </a:pPr>
            <a:r>
              <a:rPr sz="850" spc="-50" dirty="0">
                <a:solidFill>
                  <a:srgbClr val="6A798F"/>
                </a:solidFill>
                <a:latin typeface="Times New Roman" panose="02020603050405020304" pitchFamily="18" charset="0"/>
                <a:cs typeface="Times New Roman" panose="02020603050405020304" pitchFamily="18" charset="0"/>
              </a:rPr>
              <a:t>10</a:t>
            </a:r>
            <a:r>
              <a:rPr sz="850" spc="5" dirty="0">
                <a:solidFill>
                  <a:srgbClr val="6A798F"/>
                </a:solidFill>
                <a:latin typeface="Times New Roman" panose="02020603050405020304" pitchFamily="18" charset="0"/>
                <a:cs typeface="Times New Roman" panose="02020603050405020304" pitchFamily="18" charset="0"/>
              </a:rPr>
              <a:t> </a:t>
            </a:r>
            <a:r>
              <a:rPr sz="850" spc="60" dirty="0">
                <a:solidFill>
                  <a:srgbClr val="6A798F"/>
                </a:solidFill>
                <a:latin typeface="Times New Roman" panose="02020603050405020304" pitchFamily="18" charset="0"/>
                <a:cs typeface="Times New Roman" panose="02020603050405020304" pitchFamily="18" charset="0"/>
              </a:rPr>
              <a:t>/</a:t>
            </a:r>
            <a:r>
              <a:rPr sz="850" spc="-10" dirty="0">
                <a:solidFill>
                  <a:srgbClr val="6A798F"/>
                </a:solidFill>
                <a:latin typeface="Times New Roman" panose="02020603050405020304" pitchFamily="18" charset="0"/>
                <a:cs typeface="Times New Roman" panose="02020603050405020304" pitchFamily="18" charset="0"/>
              </a:rPr>
              <a:t> </a:t>
            </a:r>
            <a:r>
              <a:rPr sz="850" spc="-135" dirty="0">
                <a:solidFill>
                  <a:srgbClr val="6A798F"/>
                </a:solidFill>
                <a:latin typeface="Times New Roman" panose="02020603050405020304" pitchFamily="18" charset="0"/>
                <a:cs typeface="Times New Roman" panose="02020603050405020304" pitchFamily="18" charset="0"/>
              </a:rPr>
              <a:t>11</a:t>
            </a:r>
            <a:endParaRPr sz="85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2191999" cy="6857999"/>
          </a:xfrm>
          <a:prstGeom prst="rect">
            <a:avLst/>
          </a:prstGeom>
        </p:spPr>
      </p:pic>
      <p:sp>
        <p:nvSpPr>
          <p:cNvPr id="3" name="object 3"/>
          <p:cNvSpPr txBox="1"/>
          <p:nvPr/>
        </p:nvSpPr>
        <p:spPr>
          <a:xfrm>
            <a:off x="4502150" y="450955"/>
            <a:ext cx="3949007" cy="382797"/>
          </a:xfrm>
          <a:prstGeom prst="rect">
            <a:avLst/>
          </a:prstGeom>
        </p:spPr>
        <p:txBody>
          <a:bodyPr vert="horz" wrap="square" lIns="0" tIns="13335" rIns="0" bIns="0" rtlCol="0">
            <a:spAutoFit/>
          </a:bodyPr>
          <a:lstStyle/>
          <a:p>
            <a:pPr marL="12700">
              <a:lnSpc>
                <a:spcPct val="100000"/>
              </a:lnSpc>
              <a:spcBef>
                <a:spcPts val="105"/>
              </a:spcBef>
            </a:pPr>
            <a:r>
              <a:rPr sz="2400" b="1" dirty="0">
                <a:solidFill>
                  <a:srgbClr val="E7863A"/>
                </a:solidFill>
                <a:latin typeface="Times New Roman" panose="02020603050405020304" pitchFamily="18" charset="0"/>
                <a:cs typeface="Times New Roman" panose="02020603050405020304" pitchFamily="18" charset="0"/>
              </a:rPr>
              <a:t>C</a:t>
            </a:r>
            <a:r>
              <a:rPr sz="2400" b="1" spc="-70" dirty="0">
                <a:solidFill>
                  <a:srgbClr val="E7863A"/>
                </a:solidFill>
                <a:latin typeface="Times New Roman" panose="02020603050405020304" pitchFamily="18" charset="0"/>
                <a:cs typeface="Times New Roman" panose="02020603050405020304" pitchFamily="18" charset="0"/>
              </a:rPr>
              <a:t> </a:t>
            </a:r>
            <a:r>
              <a:rPr sz="2400" b="1" spc="-30" dirty="0">
                <a:solidFill>
                  <a:srgbClr val="E7863A"/>
                </a:solidFill>
                <a:latin typeface="Times New Roman" panose="02020603050405020304" pitchFamily="18" charset="0"/>
                <a:cs typeface="Times New Roman" panose="02020603050405020304" pitchFamily="18" charset="0"/>
              </a:rPr>
              <a:t>O</a:t>
            </a:r>
            <a:r>
              <a:rPr sz="2400" b="1" spc="-60" dirty="0">
                <a:solidFill>
                  <a:srgbClr val="E7863A"/>
                </a:solidFill>
                <a:latin typeface="Times New Roman" panose="02020603050405020304" pitchFamily="18" charset="0"/>
                <a:cs typeface="Times New Roman" panose="02020603050405020304" pitchFamily="18" charset="0"/>
              </a:rPr>
              <a:t> </a:t>
            </a:r>
            <a:r>
              <a:rPr sz="2400" b="1" dirty="0">
                <a:solidFill>
                  <a:srgbClr val="E7863A"/>
                </a:solidFill>
                <a:latin typeface="Times New Roman" panose="02020603050405020304" pitchFamily="18" charset="0"/>
                <a:cs typeface="Times New Roman" panose="02020603050405020304" pitchFamily="18" charset="0"/>
              </a:rPr>
              <a:t>N</a:t>
            </a:r>
            <a:r>
              <a:rPr sz="2400" b="1" spc="-65" dirty="0">
                <a:solidFill>
                  <a:srgbClr val="E7863A"/>
                </a:solidFill>
                <a:latin typeface="Times New Roman" panose="02020603050405020304" pitchFamily="18" charset="0"/>
                <a:cs typeface="Times New Roman" panose="02020603050405020304" pitchFamily="18" charset="0"/>
              </a:rPr>
              <a:t> </a:t>
            </a:r>
            <a:r>
              <a:rPr sz="2400" b="1" dirty="0">
                <a:solidFill>
                  <a:srgbClr val="E7863A"/>
                </a:solidFill>
                <a:latin typeface="Times New Roman" panose="02020603050405020304" pitchFamily="18" charset="0"/>
                <a:cs typeface="Times New Roman" panose="02020603050405020304" pitchFamily="18" charset="0"/>
              </a:rPr>
              <a:t>C</a:t>
            </a:r>
            <a:r>
              <a:rPr sz="2400" b="1" spc="-65" dirty="0">
                <a:solidFill>
                  <a:srgbClr val="E7863A"/>
                </a:solidFill>
                <a:latin typeface="Times New Roman" panose="02020603050405020304" pitchFamily="18" charset="0"/>
                <a:cs typeface="Times New Roman" panose="02020603050405020304" pitchFamily="18" charset="0"/>
              </a:rPr>
              <a:t> </a:t>
            </a:r>
            <a:r>
              <a:rPr sz="2400" b="1" spc="-70" dirty="0">
                <a:solidFill>
                  <a:srgbClr val="E7863A"/>
                </a:solidFill>
                <a:latin typeface="Times New Roman" panose="02020603050405020304" pitchFamily="18" charset="0"/>
                <a:cs typeface="Times New Roman" panose="02020603050405020304" pitchFamily="18" charset="0"/>
              </a:rPr>
              <a:t>L</a:t>
            </a:r>
            <a:r>
              <a:rPr sz="2400" b="1" spc="-50" dirty="0">
                <a:solidFill>
                  <a:srgbClr val="E7863A"/>
                </a:solidFill>
                <a:latin typeface="Times New Roman" panose="02020603050405020304" pitchFamily="18" charset="0"/>
                <a:cs typeface="Times New Roman" panose="02020603050405020304" pitchFamily="18" charset="0"/>
              </a:rPr>
              <a:t> </a:t>
            </a:r>
            <a:r>
              <a:rPr sz="2400" b="1" spc="-40" dirty="0">
                <a:solidFill>
                  <a:srgbClr val="E7863A"/>
                </a:solidFill>
                <a:latin typeface="Times New Roman" panose="02020603050405020304" pitchFamily="18" charset="0"/>
                <a:cs typeface="Times New Roman" panose="02020603050405020304" pitchFamily="18" charset="0"/>
              </a:rPr>
              <a:t>U</a:t>
            </a:r>
            <a:r>
              <a:rPr sz="2400" b="1" spc="-35" dirty="0">
                <a:solidFill>
                  <a:srgbClr val="E7863A"/>
                </a:solidFill>
                <a:latin typeface="Times New Roman" panose="02020603050405020304" pitchFamily="18" charset="0"/>
                <a:cs typeface="Times New Roman" panose="02020603050405020304" pitchFamily="18" charset="0"/>
              </a:rPr>
              <a:t> </a:t>
            </a:r>
            <a:r>
              <a:rPr sz="2400" b="1" spc="-40" dirty="0">
                <a:solidFill>
                  <a:srgbClr val="E7863A"/>
                </a:solidFill>
                <a:latin typeface="Times New Roman" panose="02020603050405020304" pitchFamily="18" charset="0"/>
                <a:cs typeface="Times New Roman" panose="02020603050405020304" pitchFamily="18" charset="0"/>
              </a:rPr>
              <a:t>S</a:t>
            </a:r>
            <a:r>
              <a:rPr sz="2400" b="1" spc="-55" dirty="0">
                <a:solidFill>
                  <a:srgbClr val="E7863A"/>
                </a:solidFill>
                <a:latin typeface="Times New Roman" panose="02020603050405020304" pitchFamily="18" charset="0"/>
                <a:cs typeface="Times New Roman" panose="02020603050405020304" pitchFamily="18" charset="0"/>
              </a:rPr>
              <a:t> </a:t>
            </a:r>
            <a:r>
              <a:rPr sz="2400" b="1" dirty="0">
                <a:solidFill>
                  <a:srgbClr val="E7863A"/>
                </a:solidFill>
                <a:latin typeface="Times New Roman" panose="02020603050405020304" pitchFamily="18" charset="0"/>
                <a:cs typeface="Times New Roman" panose="02020603050405020304" pitchFamily="18" charset="0"/>
              </a:rPr>
              <a:t>I </a:t>
            </a:r>
            <a:r>
              <a:rPr sz="2400" b="1" spc="-30" dirty="0">
                <a:solidFill>
                  <a:srgbClr val="E7863A"/>
                </a:solidFill>
                <a:latin typeface="Times New Roman" panose="02020603050405020304" pitchFamily="18" charset="0"/>
                <a:cs typeface="Times New Roman" panose="02020603050405020304" pitchFamily="18" charset="0"/>
              </a:rPr>
              <a:t>O</a:t>
            </a:r>
            <a:r>
              <a:rPr sz="2400" b="1" spc="-60" dirty="0">
                <a:solidFill>
                  <a:srgbClr val="E7863A"/>
                </a:solidFill>
                <a:latin typeface="Times New Roman" panose="02020603050405020304" pitchFamily="18" charset="0"/>
                <a:cs typeface="Times New Roman" panose="02020603050405020304" pitchFamily="18" charset="0"/>
              </a:rPr>
              <a:t> </a:t>
            </a:r>
            <a:r>
              <a:rPr sz="2400" b="1" spc="-50" dirty="0">
                <a:solidFill>
                  <a:srgbClr val="E7863A"/>
                </a:solidFill>
                <a:latin typeface="Times New Roman" panose="02020603050405020304" pitchFamily="18" charset="0"/>
                <a:cs typeface="Times New Roman" panose="02020603050405020304" pitchFamily="18" charset="0"/>
              </a:rPr>
              <a:t>N</a:t>
            </a:r>
            <a:endParaRPr sz="2400" dirty="0">
              <a:latin typeface="Times New Roman" panose="02020603050405020304" pitchFamily="18" charset="0"/>
              <a:cs typeface="Times New Roman" panose="02020603050405020304" pitchFamily="18" charset="0"/>
            </a:endParaRPr>
          </a:p>
        </p:txBody>
      </p:sp>
      <p:sp>
        <p:nvSpPr>
          <p:cNvPr id="4" name="object 4" descr="$PPTXTitle"/>
          <p:cNvSpPr txBox="1">
            <a:spLocks noGrp="1"/>
          </p:cNvSpPr>
          <p:nvPr>
            <p:ph type="title"/>
          </p:nvPr>
        </p:nvSpPr>
        <p:spPr>
          <a:xfrm>
            <a:off x="2984549" y="886639"/>
            <a:ext cx="6238875" cy="908582"/>
          </a:xfrm>
          <a:prstGeom prst="rect">
            <a:avLst/>
          </a:prstGeom>
        </p:spPr>
        <p:txBody>
          <a:bodyPr vert="horz" wrap="square" lIns="0" tIns="36195" rIns="0" bIns="0" rtlCol="0">
            <a:spAutoFit/>
          </a:bodyPr>
          <a:lstStyle/>
          <a:p>
            <a:pPr marL="289560" marR="5080" indent="-277495">
              <a:lnSpc>
                <a:spcPts val="3379"/>
              </a:lnSpc>
              <a:spcBef>
                <a:spcPts val="285"/>
              </a:spcBef>
            </a:pPr>
            <a:r>
              <a:rPr sz="2900" spc="750" dirty="0">
                <a:latin typeface="Times New Roman" panose="02020603050405020304" pitchFamily="18" charset="0"/>
                <a:cs typeface="Times New Roman" panose="02020603050405020304" pitchFamily="18" charset="0"/>
              </a:rPr>
              <a:t>AfriTalent</a:t>
            </a:r>
            <a:r>
              <a:rPr sz="2900" spc="-85" dirty="0">
                <a:latin typeface="Times New Roman" panose="02020603050405020304" pitchFamily="18" charset="0"/>
                <a:cs typeface="Times New Roman" panose="02020603050405020304" pitchFamily="18" charset="0"/>
              </a:rPr>
              <a:t> </a:t>
            </a:r>
            <a:r>
              <a:rPr sz="2900" dirty="0">
                <a:latin typeface="Times New Roman" panose="02020603050405020304" pitchFamily="18" charset="0"/>
                <a:cs typeface="Times New Roman" panose="02020603050405020304" pitchFamily="18" charset="0"/>
              </a:rPr>
              <a:t>:</a:t>
            </a:r>
            <a:r>
              <a:rPr sz="2900" spc="85" dirty="0">
                <a:latin typeface="Times New Roman" panose="02020603050405020304" pitchFamily="18" charset="0"/>
                <a:cs typeface="Times New Roman" panose="02020603050405020304" pitchFamily="18" charset="0"/>
              </a:rPr>
              <a:t> </a:t>
            </a:r>
            <a:r>
              <a:rPr sz="2900" spc="980" dirty="0">
                <a:latin typeface="Times New Roman" panose="02020603050405020304" pitchFamily="18" charset="0"/>
                <a:cs typeface="Times New Roman" panose="02020603050405020304" pitchFamily="18" charset="0"/>
              </a:rPr>
              <a:t>un</a:t>
            </a:r>
            <a:r>
              <a:rPr sz="2900" spc="-105" dirty="0">
                <a:latin typeface="Times New Roman" panose="02020603050405020304" pitchFamily="18" charset="0"/>
                <a:cs typeface="Times New Roman" panose="02020603050405020304" pitchFamily="18" charset="0"/>
              </a:rPr>
              <a:t> </a:t>
            </a:r>
            <a:r>
              <a:rPr sz="2900" spc="745" dirty="0">
                <a:latin typeface="Times New Roman" panose="02020603050405020304" pitchFamily="18" charset="0"/>
                <a:cs typeface="Times New Roman" panose="02020603050405020304" pitchFamily="18" charset="0"/>
              </a:rPr>
              <a:t>projet</a:t>
            </a:r>
            <a:r>
              <a:rPr sz="2900" spc="-80" dirty="0">
                <a:latin typeface="Times New Roman" panose="02020603050405020304" pitchFamily="18" charset="0"/>
                <a:cs typeface="Times New Roman" panose="02020603050405020304" pitchFamily="18" charset="0"/>
              </a:rPr>
              <a:t> </a:t>
            </a:r>
            <a:r>
              <a:rPr sz="2900" spc="1125" dirty="0">
                <a:latin typeface="Times New Roman" panose="02020603050405020304" pitchFamily="18" charset="0"/>
                <a:cs typeface="Times New Roman" panose="02020603050405020304" pitchFamily="18" charset="0"/>
              </a:rPr>
              <a:t>au </a:t>
            </a:r>
            <a:r>
              <a:rPr sz="2900" spc="750" dirty="0">
                <a:solidFill>
                  <a:srgbClr val="E7863A"/>
                </a:solidFill>
                <a:latin typeface="Times New Roman" panose="02020603050405020304" pitchFamily="18" charset="0"/>
                <a:cs typeface="Times New Roman" panose="02020603050405020304" pitchFamily="18" charset="0"/>
              </a:rPr>
              <a:t>potentiel</a:t>
            </a:r>
            <a:r>
              <a:rPr sz="2900" spc="145" dirty="0">
                <a:solidFill>
                  <a:srgbClr val="E7863A"/>
                </a:solidFill>
                <a:latin typeface="Times New Roman" panose="02020603050405020304" pitchFamily="18" charset="0"/>
                <a:cs typeface="Times New Roman" panose="02020603050405020304" pitchFamily="18" charset="0"/>
              </a:rPr>
              <a:t> </a:t>
            </a:r>
            <a:r>
              <a:rPr sz="2900" spc="910" dirty="0">
                <a:solidFill>
                  <a:srgbClr val="E7863A"/>
                </a:solidFill>
                <a:latin typeface="Times New Roman" panose="02020603050405020304" pitchFamily="18" charset="0"/>
                <a:cs typeface="Times New Roman" panose="02020603050405020304" pitchFamily="18" charset="0"/>
              </a:rPr>
              <a:t>prometteur</a:t>
            </a:r>
            <a:endParaRPr sz="2900">
              <a:latin typeface="Times New Roman" panose="02020603050405020304" pitchFamily="18" charset="0"/>
              <a:cs typeface="Times New Roman" panose="02020603050405020304" pitchFamily="18" charset="0"/>
            </a:endParaRPr>
          </a:p>
        </p:txBody>
      </p:sp>
      <p:sp>
        <p:nvSpPr>
          <p:cNvPr id="5" name="object 5"/>
          <p:cNvSpPr txBox="1">
            <a:spLocks noGrp="1"/>
          </p:cNvSpPr>
          <p:nvPr>
            <p:ph type="body" idx="1"/>
          </p:nvPr>
        </p:nvSpPr>
        <p:spPr>
          <a:xfrm>
            <a:off x="2661294" y="2084989"/>
            <a:ext cx="6869430" cy="3883820"/>
          </a:xfrm>
          <a:prstGeom prst="rect">
            <a:avLst/>
          </a:prstGeom>
        </p:spPr>
        <p:txBody>
          <a:bodyPr vert="horz" wrap="square" lIns="0" tIns="8890" rIns="0" bIns="0" rtlCol="0">
            <a:spAutoFit/>
          </a:bodyPr>
          <a:lstStyle/>
          <a:p>
            <a:pPr marL="25400" marR="17145" algn="ctr">
              <a:lnSpc>
                <a:spcPct val="137200"/>
              </a:lnSpc>
              <a:spcBef>
                <a:spcPts val="70"/>
              </a:spcBef>
            </a:pPr>
            <a:r>
              <a:rPr sz="1400" dirty="0">
                <a:latin typeface="Times New Roman" panose="02020603050405020304" pitchFamily="18" charset="0"/>
                <a:cs typeface="Times New Roman" panose="02020603050405020304" pitchFamily="18" charset="0"/>
              </a:rPr>
              <a:t>AfriTalent</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est</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site</a:t>
            </a:r>
            <a:r>
              <a:rPr sz="1400" spc="-4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web</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au design</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moderne</a:t>
            </a:r>
            <a:r>
              <a:rPr sz="1400" spc="-4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et</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professionnel</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qui</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répond</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à</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 besoin</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réel</a:t>
            </a:r>
            <a:r>
              <a:rPr sz="1400" spc="2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du </a:t>
            </a:r>
            <a:r>
              <a:rPr sz="1400" spc="-10" dirty="0">
                <a:latin typeface="Times New Roman" panose="02020603050405020304" pitchFamily="18" charset="0"/>
                <a:cs typeface="Times New Roman" panose="02020603050405020304" pitchFamily="18" charset="0"/>
              </a:rPr>
              <a:t>marché </a:t>
            </a:r>
            <a:r>
              <a:rPr sz="1400" dirty="0">
                <a:latin typeface="Times New Roman" panose="02020603050405020304" pitchFamily="18" charset="0"/>
                <a:cs typeface="Times New Roman" panose="02020603050405020304" pitchFamily="18" charset="0"/>
              </a:rPr>
              <a:t>africain</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t>
            </a:r>
            <a:r>
              <a:rPr sz="1400" spc="4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connecter</a:t>
            </a:r>
            <a:r>
              <a:rPr sz="1400" spc="-2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les</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talents</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tech</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aux</a:t>
            </a:r>
            <a:r>
              <a:rPr sz="1400" spc="-4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opportunités</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économiques.</a:t>
            </a:r>
            <a:r>
              <a:rPr sz="1400" spc="50" dirty="0">
                <a:latin typeface="Times New Roman" panose="02020603050405020304" pitchFamily="18" charset="0"/>
                <a:cs typeface="Times New Roman" panose="02020603050405020304" pitchFamily="18" charset="0"/>
              </a:rPr>
              <a:t> </a:t>
            </a:r>
            <a:r>
              <a:rPr sz="1400" spc="-60" dirty="0">
                <a:latin typeface="Times New Roman" panose="02020603050405020304" pitchFamily="18" charset="0"/>
                <a:cs typeface="Times New Roman" panose="02020603050405020304" pitchFamily="18" charset="0"/>
              </a:rPr>
              <a:t>Sa</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conception</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soignée,</a:t>
            </a:r>
            <a:r>
              <a:rPr sz="1400" spc="50" dirty="0">
                <a:latin typeface="Times New Roman" panose="02020603050405020304" pitchFamily="18" charset="0"/>
                <a:cs typeface="Times New Roman" panose="02020603050405020304" pitchFamily="18" charset="0"/>
              </a:rPr>
              <a:t> </a:t>
            </a:r>
            <a:r>
              <a:rPr sz="1400" spc="-25" dirty="0">
                <a:latin typeface="Times New Roman" panose="02020603050405020304" pitchFamily="18" charset="0"/>
                <a:cs typeface="Times New Roman" panose="02020603050405020304" pitchFamily="18" charset="0"/>
              </a:rPr>
              <a:t>sa </a:t>
            </a:r>
            <a:r>
              <a:rPr sz="1400" dirty="0">
                <a:latin typeface="Times New Roman" panose="02020603050405020304" pitchFamily="18" charset="0"/>
                <a:cs typeface="Times New Roman" panose="02020603050405020304" pitchFamily="18" charset="0"/>
              </a:rPr>
              <a:t>navigation</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intuitive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et</a:t>
            </a:r>
            <a:r>
              <a:rPr sz="1400" spc="-4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son adaptation au</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contexte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local</a:t>
            </a:r>
            <a:r>
              <a:rPr sz="1400" spc="35" dirty="0">
                <a:latin typeface="Times New Roman" panose="02020603050405020304" pitchFamily="18" charset="0"/>
                <a:cs typeface="Times New Roman" panose="02020603050405020304" pitchFamily="18" charset="0"/>
              </a:rPr>
              <a:t> </a:t>
            </a:r>
            <a:r>
              <a:rPr sz="1400" spc="-55" dirty="0">
                <a:latin typeface="Times New Roman" panose="02020603050405020304" pitchFamily="18" charset="0"/>
                <a:cs typeface="Times New Roman" panose="02020603050405020304" pitchFamily="18" charset="0"/>
              </a:rPr>
              <a:t>(FCFA,</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Mobile</a:t>
            </a:r>
            <a:r>
              <a:rPr sz="1400" spc="-3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Money,</a:t>
            </a:r>
            <a:r>
              <a:rPr sz="1400" spc="30" dirty="0">
                <a:latin typeface="Times New Roman" panose="02020603050405020304" pitchFamily="18" charset="0"/>
                <a:cs typeface="Times New Roman" panose="02020603050405020304" pitchFamily="18" charset="0"/>
              </a:rPr>
              <a:t> </a:t>
            </a:r>
            <a:r>
              <a:rPr sz="1400" spc="-125" dirty="0">
                <a:latin typeface="Times New Roman" panose="02020603050405020304" pitchFamily="18" charset="0"/>
                <a:cs typeface="Times New Roman" panose="02020603050405020304" pitchFamily="18" charset="0"/>
              </a:rPr>
              <a:t>15</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pays)</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en font</a:t>
            </a:r>
            <a:r>
              <a:rPr sz="1400" spc="-45" dirty="0">
                <a:latin typeface="Times New Roman" panose="02020603050405020304" pitchFamily="18" charset="0"/>
                <a:cs typeface="Times New Roman" panose="02020603050405020304" pitchFamily="18" charset="0"/>
              </a:rPr>
              <a:t> </a:t>
            </a:r>
            <a:r>
              <a:rPr sz="1400" spc="-25" dirty="0">
                <a:latin typeface="Times New Roman" panose="02020603050405020304" pitchFamily="18" charset="0"/>
                <a:cs typeface="Times New Roman" panose="02020603050405020304" pitchFamily="18" charset="0"/>
              </a:rPr>
              <a:t>un </a:t>
            </a:r>
            <a:r>
              <a:rPr sz="1400" dirty="0">
                <a:latin typeface="Times New Roman" panose="02020603050405020304" pitchFamily="18" charset="0"/>
                <a:cs typeface="Times New Roman" panose="02020603050405020304" pitchFamily="18" charset="0"/>
              </a:rPr>
              <a:t>prototype</a:t>
            </a:r>
            <a:r>
              <a:rPr sz="1400" spc="12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convaincant.</a:t>
            </a:r>
          </a:p>
          <a:p>
            <a:pPr>
              <a:lnSpc>
                <a:spcPct val="100000"/>
              </a:lnSpc>
              <a:spcBef>
                <a:spcPts val="915"/>
              </a:spcBef>
            </a:pPr>
            <a:endParaRPr dirty="0">
              <a:latin typeface="Times New Roman" panose="02020603050405020304" pitchFamily="18" charset="0"/>
              <a:cs typeface="Times New Roman" panose="02020603050405020304" pitchFamily="18" charset="0"/>
            </a:endParaRPr>
          </a:p>
          <a:p>
            <a:pPr algn="ctr">
              <a:lnSpc>
                <a:spcPct val="100000"/>
              </a:lnSpc>
            </a:pPr>
            <a:r>
              <a:rPr sz="1400" dirty="0">
                <a:latin typeface="Times New Roman" panose="02020603050405020304" pitchFamily="18" charset="0"/>
                <a:cs typeface="Times New Roman" panose="02020603050405020304" pitchFamily="18" charset="0"/>
              </a:rPr>
              <a:t>Sur</a:t>
            </a:r>
            <a:r>
              <a:rPr sz="1400" spc="-4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le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plan</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technique,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le</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site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démontre</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bonne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maîtrise</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des</a:t>
            </a:r>
            <a:r>
              <a:rPr sz="1400" spc="-2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fondamentaux</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du développement</a:t>
            </a:r>
            <a:r>
              <a:rPr sz="1400" spc="-40" dirty="0">
                <a:latin typeface="Times New Roman" panose="02020603050405020304" pitchFamily="18" charset="0"/>
                <a:cs typeface="Times New Roman" panose="02020603050405020304" pitchFamily="18" charset="0"/>
              </a:rPr>
              <a:t> </a:t>
            </a:r>
            <a:r>
              <a:rPr sz="1400" spc="-25" dirty="0">
                <a:latin typeface="Times New Roman" panose="02020603050405020304" pitchFamily="18" charset="0"/>
                <a:cs typeface="Times New Roman" panose="02020603050405020304" pitchFamily="18" charset="0"/>
              </a:rPr>
              <a:t>web</a:t>
            </a:r>
          </a:p>
          <a:p>
            <a:pPr marL="13335" marR="5080" algn="ctr">
              <a:lnSpc>
                <a:spcPct val="135400"/>
              </a:lnSpc>
            </a:pPr>
            <a:r>
              <a:rPr sz="1400" dirty="0">
                <a:latin typeface="Times New Roman" panose="02020603050405020304" pitchFamily="18" charset="0"/>
                <a:cs typeface="Times New Roman" panose="02020603050405020304" pitchFamily="18" charset="0"/>
              </a:rPr>
              <a:t>:</a:t>
            </a:r>
            <a:r>
              <a:rPr sz="1400" spc="2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HTML5</a:t>
            </a:r>
            <a:r>
              <a:rPr sz="1400" spc="-1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sémantique,</a:t>
            </a:r>
            <a:r>
              <a:rPr sz="1400" spc="40" dirty="0">
                <a:latin typeface="Times New Roman" panose="02020603050405020304" pitchFamily="18" charset="0"/>
                <a:cs typeface="Times New Roman" panose="02020603050405020304" pitchFamily="18" charset="0"/>
              </a:rPr>
              <a:t> </a:t>
            </a:r>
            <a:r>
              <a:rPr sz="1400" spc="-50" dirty="0">
                <a:latin typeface="Times New Roman" panose="02020603050405020304" pitchFamily="18" charset="0"/>
                <a:cs typeface="Times New Roman" panose="02020603050405020304" pitchFamily="18" charset="0"/>
              </a:rPr>
              <a:t>CSS3</a:t>
            </a:r>
            <a:r>
              <a:rPr sz="1400" spc="-2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avec</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Bootstrap,</a:t>
            </a:r>
            <a:r>
              <a:rPr sz="1400" spc="4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JavaScript</a:t>
            </a:r>
            <a:r>
              <a:rPr sz="1400" spc="-40"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vanilla</a:t>
            </a:r>
            <a:r>
              <a:rPr sz="1400" dirty="0">
                <a:latin typeface="Times New Roman" panose="02020603050405020304" pitchFamily="18" charset="0"/>
                <a:cs typeface="Times New Roman" panose="02020603050405020304" pitchFamily="18" charset="0"/>
              </a:rPr>
              <a:t> pour</a:t>
            </a:r>
            <a:r>
              <a:rPr sz="1400" spc="-3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l'</a:t>
            </a:r>
            <a:r>
              <a:rPr sz="1400" spc="-2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interactivité,</a:t>
            </a:r>
            <a:r>
              <a:rPr sz="1400" spc="4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et</a:t>
            </a:r>
            <a:r>
              <a:rPr sz="1400" spc="-4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hébergement</a:t>
            </a:r>
            <a:r>
              <a:rPr sz="1400" spc="-40" dirty="0">
                <a:latin typeface="Times New Roman" panose="02020603050405020304" pitchFamily="18" charset="0"/>
                <a:cs typeface="Times New Roman" panose="02020603050405020304" pitchFamily="18" charset="0"/>
              </a:rPr>
              <a:t> </a:t>
            </a:r>
            <a:r>
              <a:rPr sz="1400" spc="-25" dirty="0">
                <a:latin typeface="Times New Roman" panose="02020603050405020304" pitchFamily="18" charset="0"/>
                <a:cs typeface="Times New Roman" panose="02020603050405020304" pitchFamily="18" charset="0"/>
              </a:rPr>
              <a:t>sur </a:t>
            </a:r>
            <a:r>
              <a:rPr sz="1400" spc="-10" dirty="0">
                <a:latin typeface="Times New Roman" panose="02020603050405020304" pitchFamily="18" charset="0"/>
                <a:cs typeface="Times New Roman" panose="02020603050405020304" pitchFamily="18" charset="0"/>
              </a:rPr>
              <a:t>GitHub</a:t>
            </a:r>
            <a:r>
              <a:rPr sz="1400" spc="-5" dirty="0">
                <a:latin typeface="Times New Roman" panose="02020603050405020304" pitchFamily="18" charset="0"/>
                <a:cs typeface="Times New Roman" panose="02020603050405020304" pitchFamily="18" charset="0"/>
              </a:rPr>
              <a:t> </a:t>
            </a:r>
            <a:r>
              <a:rPr sz="1400" spc="-25" dirty="0">
                <a:latin typeface="Times New Roman" panose="02020603050405020304" pitchFamily="18" charset="0"/>
                <a:cs typeface="Times New Roman" panose="02020603050405020304" pitchFamily="18" charset="0"/>
              </a:rPr>
              <a:t>Pages.</a:t>
            </a:r>
            <a:r>
              <a:rPr sz="1400" spc="6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Le</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code</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est</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structuré</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et</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les</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bonnes pratiques sont</a:t>
            </a:r>
            <a:r>
              <a:rPr sz="1400" spc="-1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respectées.</a:t>
            </a:r>
          </a:p>
          <a:p>
            <a:pPr>
              <a:lnSpc>
                <a:spcPct val="100000"/>
              </a:lnSpc>
              <a:spcBef>
                <a:spcPts val="480"/>
              </a:spcBef>
            </a:pPr>
            <a:endParaRPr dirty="0">
              <a:latin typeface="Times New Roman" panose="02020603050405020304" pitchFamily="18" charset="0"/>
              <a:cs typeface="Times New Roman" panose="02020603050405020304" pitchFamily="18" charset="0"/>
            </a:endParaRPr>
          </a:p>
          <a:p>
            <a:pPr marL="252729" marR="245110" indent="-1270" algn="ctr">
              <a:lnSpc>
                <a:spcPct val="135400"/>
              </a:lnSpc>
            </a:pPr>
            <a:r>
              <a:rPr sz="1400" spc="-10" dirty="0">
                <a:latin typeface="Times New Roman" panose="02020603050405020304" pitchFamily="18" charset="0"/>
                <a:cs typeface="Times New Roman" panose="02020603050405020304" pitchFamily="18" charset="0"/>
              </a:rPr>
              <a:t>Avec</a:t>
            </a:r>
            <a:r>
              <a:rPr sz="1400" spc="-4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l'</a:t>
            </a:r>
            <a:r>
              <a:rPr sz="1400" spc="-2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ajout</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a:t>
            </a:r>
            <a:r>
              <a:rPr sz="1400" spc="-2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backend</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dynamique,</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a:t>
            </a:r>
            <a:r>
              <a:rPr sz="1400" spc="-2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système</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a:t>
            </a:r>
            <a:r>
              <a:rPr sz="1400" spc="-2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authentification</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et</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de</a:t>
            </a:r>
            <a:r>
              <a:rPr sz="1400" spc="-2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fonctionnalités avancées,</a:t>
            </a:r>
            <a:r>
              <a:rPr sz="1400" spc="4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AfriTalent</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pourrait</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devenir</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une</a:t>
            </a:r>
            <a:r>
              <a:rPr sz="1400" spc="-2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véritable</a:t>
            </a:r>
            <a:r>
              <a:rPr sz="1400" spc="-2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plateforme</a:t>
            </a:r>
            <a:r>
              <a:rPr sz="1400" spc="-2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opérationnelle.</a:t>
            </a:r>
            <a:r>
              <a:rPr sz="1400" spc="4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Ce</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projet</a:t>
            </a:r>
            <a:r>
              <a:rPr sz="1400" spc="-3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illustre </a:t>
            </a:r>
            <a:r>
              <a:rPr sz="1400" dirty="0">
                <a:latin typeface="Times New Roman" panose="02020603050405020304" pitchFamily="18" charset="0"/>
                <a:cs typeface="Times New Roman" panose="02020603050405020304" pitchFamily="18" charset="0"/>
              </a:rPr>
              <a:t>parfaitement</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comment</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une</a:t>
            </a:r>
            <a:r>
              <a:rPr sz="1400" spc="-1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idée</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simple,</a:t>
            </a:r>
            <a:r>
              <a:rPr sz="1400" spc="6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bien</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exécutée,</a:t>
            </a:r>
            <a:r>
              <a:rPr sz="1400" spc="6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peut</a:t>
            </a:r>
            <a:r>
              <a:rPr sz="1400" spc="-2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avoir</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un</a:t>
            </a:r>
            <a:r>
              <a:rPr sz="1400" spc="3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impact</a:t>
            </a:r>
            <a:r>
              <a:rPr sz="1400" spc="-1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significatif</a:t>
            </a:r>
            <a:r>
              <a:rPr sz="1400" spc="-30" dirty="0">
                <a:latin typeface="Times New Roman" panose="02020603050405020304" pitchFamily="18" charset="0"/>
                <a:cs typeface="Times New Roman" panose="02020603050405020304" pitchFamily="18" charset="0"/>
              </a:rPr>
              <a:t> </a:t>
            </a:r>
            <a:r>
              <a:rPr sz="1400" spc="-25" dirty="0">
                <a:latin typeface="Times New Roman" panose="02020603050405020304" pitchFamily="18" charset="0"/>
                <a:cs typeface="Times New Roman" panose="02020603050405020304" pitchFamily="18" charset="0"/>
              </a:rPr>
              <a:t>sur </a:t>
            </a:r>
            <a:r>
              <a:rPr sz="1400" dirty="0">
                <a:latin typeface="Times New Roman" panose="02020603050405020304" pitchFamily="18" charset="0"/>
                <a:cs typeface="Times New Roman" panose="02020603050405020304" pitchFamily="18" charset="0"/>
              </a:rPr>
              <a:t>l'écosystème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tech</a:t>
            </a:r>
            <a:r>
              <a:rPr sz="1400" spc="80"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africain.</a:t>
            </a:r>
          </a:p>
        </p:txBody>
      </p:sp>
      <p:grpSp>
        <p:nvGrpSpPr>
          <p:cNvPr id="6" name="object 6"/>
          <p:cNvGrpSpPr/>
          <p:nvPr/>
        </p:nvGrpSpPr>
        <p:grpSpPr>
          <a:xfrm>
            <a:off x="0" y="0"/>
            <a:ext cx="12192000" cy="6858000"/>
            <a:chOff x="0" y="0"/>
            <a:chExt cx="12192000" cy="6858000"/>
          </a:xfrm>
        </p:grpSpPr>
        <p:sp>
          <p:nvSpPr>
            <p:cNvPr id="7" name="object 7"/>
            <p:cNvSpPr/>
            <p:nvPr/>
          </p:nvSpPr>
          <p:spPr>
            <a:xfrm>
              <a:off x="5810248" y="5695949"/>
              <a:ext cx="571500" cy="28575"/>
            </a:xfrm>
            <a:custGeom>
              <a:avLst/>
              <a:gdLst/>
              <a:ahLst/>
              <a:cxnLst/>
              <a:rect l="l" t="t" r="r" b="b"/>
              <a:pathLst>
                <a:path w="571500" h="28575">
                  <a:moveTo>
                    <a:pt x="559107" y="28574"/>
                  </a:moveTo>
                  <a:lnTo>
                    <a:pt x="12393" y="28574"/>
                  </a:lnTo>
                  <a:lnTo>
                    <a:pt x="10570" y="28212"/>
                  </a:lnTo>
                  <a:lnTo>
                    <a:pt x="0" y="16181"/>
                  </a:lnTo>
                  <a:lnTo>
                    <a:pt x="0" y="14287"/>
                  </a:lnTo>
                  <a:lnTo>
                    <a:pt x="0" y="12392"/>
                  </a:lnTo>
                  <a:lnTo>
                    <a:pt x="12393" y="0"/>
                  </a:lnTo>
                  <a:lnTo>
                    <a:pt x="559107" y="0"/>
                  </a:lnTo>
                  <a:lnTo>
                    <a:pt x="571499" y="12392"/>
                  </a:lnTo>
                  <a:lnTo>
                    <a:pt x="571499" y="16181"/>
                  </a:lnTo>
                  <a:lnTo>
                    <a:pt x="560929" y="28212"/>
                  </a:lnTo>
                  <a:lnTo>
                    <a:pt x="559107" y="28574"/>
                  </a:lnTo>
                  <a:close/>
                </a:path>
              </a:pathLst>
            </a:custGeom>
            <a:solidFill>
              <a:srgbClr val="E7863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8" name="object 8"/>
            <p:cNvPicPr/>
            <p:nvPr/>
          </p:nvPicPr>
          <p:blipFill>
            <a:blip r:embed="rId4" cstate="print"/>
            <a:stretch>
              <a:fillRect/>
            </a:stretch>
          </p:blipFill>
          <p:spPr>
            <a:xfrm>
              <a:off x="0" y="0"/>
              <a:ext cx="12191999" cy="47624"/>
            </a:xfrm>
            <a:prstGeom prst="rect">
              <a:avLst/>
            </a:prstGeom>
          </p:spPr>
        </p:pic>
        <p:pic>
          <p:nvPicPr>
            <p:cNvPr id="9" name="object 9"/>
            <p:cNvPicPr/>
            <p:nvPr/>
          </p:nvPicPr>
          <p:blipFill>
            <a:blip r:embed="rId4" cstate="print"/>
            <a:stretch>
              <a:fillRect/>
            </a:stretch>
          </p:blipFill>
          <p:spPr>
            <a:xfrm>
              <a:off x="0" y="6810374"/>
              <a:ext cx="12191999" cy="47624"/>
            </a:xfrm>
            <a:prstGeom prst="rect">
              <a:avLst/>
            </a:prstGeom>
          </p:spPr>
        </p:pic>
        <p:sp>
          <p:nvSpPr>
            <p:cNvPr id="10" name="object 10"/>
            <p:cNvSpPr/>
            <p:nvPr/>
          </p:nvSpPr>
          <p:spPr>
            <a:xfrm>
              <a:off x="9715499" y="571499"/>
              <a:ext cx="1714500" cy="1714500"/>
            </a:xfrm>
            <a:custGeom>
              <a:avLst/>
              <a:gdLst/>
              <a:ahLst/>
              <a:cxnLst/>
              <a:rect l="l" t="t" r="r" b="b"/>
              <a:pathLst>
                <a:path w="1714500" h="1714500">
                  <a:moveTo>
                    <a:pt x="857249" y="1714499"/>
                  </a:moveTo>
                  <a:lnTo>
                    <a:pt x="815186" y="1713467"/>
                  </a:lnTo>
                  <a:lnTo>
                    <a:pt x="773224" y="1710371"/>
                  </a:lnTo>
                  <a:lnTo>
                    <a:pt x="731464" y="1705221"/>
                  </a:lnTo>
                  <a:lnTo>
                    <a:pt x="690007" y="1698027"/>
                  </a:lnTo>
                  <a:lnTo>
                    <a:pt x="648953" y="1688809"/>
                  </a:lnTo>
                  <a:lnTo>
                    <a:pt x="608402" y="1677586"/>
                  </a:lnTo>
                  <a:lnTo>
                    <a:pt x="568450" y="1664388"/>
                  </a:lnTo>
                  <a:lnTo>
                    <a:pt x="529193" y="1649245"/>
                  </a:lnTo>
                  <a:lnTo>
                    <a:pt x="490727" y="1632194"/>
                  </a:lnTo>
                  <a:lnTo>
                    <a:pt x="453144" y="1613276"/>
                  </a:lnTo>
                  <a:lnTo>
                    <a:pt x="416533" y="1592537"/>
                  </a:lnTo>
                  <a:lnTo>
                    <a:pt x="380984" y="1570026"/>
                  </a:lnTo>
                  <a:lnTo>
                    <a:pt x="346584" y="1545799"/>
                  </a:lnTo>
                  <a:lnTo>
                    <a:pt x="313414" y="1519912"/>
                  </a:lnTo>
                  <a:lnTo>
                    <a:pt x="281554" y="1492430"/>
                  </a:lnTo>
                  <a:lnTo>
                    <a:pt x="251082" y="1463417"/>
                  </a:lnTo>
                  <a:lnTo>
                    <a:pt x="222068" y="1432943"/>
                  </a:lnTo>
                  <a:lnTo>
                    <a:pt x="194586" y="1401083"/>
                  </a:lnTo>
                  <a:lnTo>
                    <a:pt x="168700" y="1367912"/>
                  </a:lnTo>
                  <a:lnTo>
                    <a:pt x="144471" y="1333512"/>
                  </a:lnTo>
                  <a:lnTo>
                    <a:pt x="121961" y="1297964"/>
                  </a:lnTo>
                  <a:lnTo>
                    <a:pt x="101224" y="1261354"/>
                  </a:lnTo>
                  <a:lnTo>
                    <a:pt x="82305" y="1223771"/>
                  </a:lnTo>
                  <a:lnTo>
                    <a:pt x="65254" y="1185305"/>
                  </a:lnTo>
                  <a:lnTo>
                    <a:pt x="50110" y="1146048"/>
                  </a:lnTo>
                  <a:lnTo>
                    <a:pt x="36913" y="1106096"/>
                  </a:lnTo>
                  <a:lnTo>
                    <a:pt x="25690" y="1065544"/>
                  </a:lnTo>
                  <a:lnTo>
                    <a:pt x="16471" y="1024491"/>
                  </a:lnTo>
                  <a:lnTo>
                    <a:pt x="9277" y="983034"/>
                  </a:lnTo>
                  <a:lnTo>
                    <a:pt x="4128" y="941275"/>
                  </a:lnTo>
                  <a:lnTo>
                    <a:pt x="1033" y="899313"/>
                  </a:lnTo>
                  <a:lnTo>
                    <a:pt x="0" y="857249"/>
                  </a:lnTo>
                  <a:lnTo>
                    <a:pt x="258" y="836211"/>
                  </a:lnTo>
                  <a:lnTo>
                    <a:pt x="2323" y="794186"/>
                  </a:lnTo>
                  <a:lnTo>
                    <a:pt x="6446" y="752313"/>
                  </a:lnTo>
                  <a:lnTo>
                    <a:pt x="12620" y="710692"/>
                  </a:lnTo>
                  <a:lnTo>
                    <a:pt x="20828" y="669425"/>
                  </a:lnTo>
                  <a:lnTo>
                    <a:pt x="31052" y="628610"/>
                  </a:lnTo>
                  <a:lnTo>
                    <a:pt x="43266" y="588346"/>
                  </a:lnTo>
                  <a:lnTo>
                    <a:pt x="57441" y="548729"/>
                  </a:lnTo>
                  <a:lnTo>
                    <a:pt x="73543" y="509856"/>
                  </a:lnTo>
                  <a:lnTo>
                    <a:pt x="91534" y="471820"/>
                  </a:lnTo>
                  <a:lnTo>
                    <a:pt x="111368" y="434712"/>
                  </a:lnTo>
                  <a:lnTo>
                    <a:pt x="132999" y="398623"/>
                  </a:lnTo>
                  <a:lnTo>
                    <a:pt x="156375" y="363638"/>
                  </a:lnTo>
                  <a:lnTo>
                    <a:pt x="181440" y="329842"/>
                  </a:lnTo>
                  <a:lnTo>
                    <a:pt x="208132" y="297317"/>
                  </a:lnTo>
                  <a:lnTo>
                    <a:pt x="236389" y="266141"/>
                  </a:lnTo>
                  <a:lnTo>
                    <a:pt x="266140" y="236389"/>
                  </a:lnTo>
                  <a:lnTo>
                    <a:pt x="297315" y="208132"/>
                  </a:lnTo>
                  <a:lnTo>
                    <a:pt x="329841" y="181439"/>
                  </a:lnTo>
                  <a:lnTo>
                    <a:pt x="363636" y="156375"/>
                  </a:lnTo>
                  <a:lnTo>
                    <a:pt x="398621" y="132999"/>
                  </a:lnTo>
                  <a:lnTo>
                    <a:pt x="434711" y="111367"/>
                  </a:lnTo>
                  <a:lnTo>
                    <a:pt x="471818" y="91533"/>
                  </a:lnTo>
                  <a:lnTo>
                    <a:pt x="509854" y="73543"/>
                  </a:lnTo>
                  <a:lnTo>
                    <a:pt x="548729" y="57441"/>
                  </a:lnTo>
                  <a:lnTo>
                    <a:pt x="588346" y="43266"/>
                  </a:lnTo>
                  <a:lnTo>
                    <a:pt x="628610" y="31052"/>
                  </a:lnTo>
                  <a:lnTo>
                    <a:pt x="669424" y="20829"/>
                  </a:lnTo>
                  <a:lnTo>
                    <a:pt x="710691" y="12620"/>
                  </a:lnTo>
                  <a:lnTo>
                    <a:pt x="752313" y="6446"/>
                  </a:lnTo>
                  <a:lnTo>
                    <a:pt x="794186" y="2322"/>
                  </a:lnTo>
                  <a:lnTo>
                    <a:pt x="836211" y="258"/>
                  </a:lnTo>
                  <a:lnTo>
                    <a:pt x="857249" y="0"/>
                  </a:lnTo>
                  <a:lnTo>
                    <a:pt x="878287" y="258"/>
                  </a:lnTo>
                  <a:lnTo>
                    <a:pt x="920312" y="2322"/>
                  </a:lnTo>
                  <a:lnTo>
                    <a:pt x="962186" y="6446"/>
                  </a:lnTo>
                  <a:lnTo>
                    <a:pt x="1003806" y="12620"/>
                  </a:lnTo>
                  <a:lnTo>
                    <a:pt x="1045074" y="20829"/>
                  </a:lnTo>
                  <a:lnTo>
                    <a:pt x="1085889" y="31052"/>
                  </a:lnTo>
                  <a:lnTo>
                    <a:pt x="1126153" y="43266"/>
                  </a:lnTo>
                  <a:lnTo>
                    <a:pt x="1165768" y="57441"/>
                  </a:lnTo>
                  <a:lnTo>
                    <a:pt x="1204641" y="73543"/>
                  </a:lnTo>
                  <a:lnTo>
                    <a:pt x="1242677" y="91533"/>
                  </a:lnTo>
                  <a:lnTo>
                    <a:pt x="1279785" y="111367"/>
                  </a:lnTo>
                  <a:lnTo>
                    <a:pt x="1315875" y="132999"/>
                  </a:lnTo>
                  <a:lnTo>
                    <a:pt x="1350860" y="156375"/>
                  </a:lnTo>
                  <a:lnTo>
                    <a:pt x="1384656" y="181439"/>
                  </a:lnTo>
                  <a:lnTo>
                    <a:pt x="1417182" y="208132"/>
                  </a:lnTo>
                  <a:lnTo>
                    <a:pt x="1448357" y="236389"/>
                  </a:lnTo>
                  <a:lnTo>
                    <a:pt x="1478109" y="266141"/>
                  </a:lnTo>
                  <a:lnTo>
                    <a:pt x="1506366" y="297317"/>
                  </a:lnTo>
                  <a:lnTo>
                    <a:pt x="1533058" y="329842"/>
                  </a:lnTo>
                  <a:lnTo>
                    <a:pt x="1558122" y="363638"/>
                  </a:lnTo>
                  <a:lnTo>
                    <a:pt x="1581498" y="398623"/>
                  </a:lnTo>
                  <a:lnTo>
                    <a:pt x="1603130" y="434712"/>
                  </a:lnTo>
                  <a:lnTo>
                    <a:pt x="1622964" y="471820"/>
                  </a:lnTo>
                  <a:lnTo>
                    <a:pt x="1640954" y="509856"/>
                  </a:lnTo>
                  <a:lnTo>
                    <a:pt x="1657056" y="548729"/>
                  </a:lnTo>
                  <a:lnTo>
                    <a:pt x="1671231" y="588346"/>
                  </a:lnTo>
                  <a:lnTo>
                    <a:pt x="1683445" y="628610"/>
                  </a:lnTo>
                  <a:lnTo>
                    <a:pt x="1693668" y="669425"/>
                  </a:lnTo>
                  <a:lnTo>
                    <a:pt x="1701878" y="710692"/>
                  </a:lnTo>
                  <a:lnTo>
                    <a:pt x="1708052" y="752313"/>
                  </a:lnTo>
                  <a:lnTo>
                    <a:pt x="1712177" y="794186"/>
                  </a:lnTo>
                  <a:lnTo>
                    <a:pt x="1714241" y="836211"/>
                  </a:lnTo>
                  <a:lnTo>
                    <a:pt x="1714499" y="857249"/>
                  </a:lnTo>
                  <a:lnTo>
                    <a:pt x="1714241" y="878287"/>
                  </a:lnTo>
                  <a:lnTo>
                    <a:pt x="1712177" y="920313"/>
                  </a:lnTo>
                  <a:lnTo>
                    <a:pt x="1708052" y="962186"/>
                  </a:lnTo>
                  <a:lnTo>
                    <a:pt x="1701878" y="1003806"/>
                  </a:lnTo>
                  <a:lnTo>
                    <a:pt x="1693668" y="1045074"/>
                  </a:lnTo>
                  <a:lnTo>
                    <a:pt x="1683445" y="1085889"/>
                  </a:lnTo>
                  <a:lnTo>
                    <a:pt x="1671231" y="1126153"/>
                  </a:lnTo>
                  <a:lnTo>
                    <a:pt x="1657056" y="1165769"/>
                  </a:lnTo>
                  <a:lnTo>
                    <a:pt x="1640954" y="1204642"/>
                  </a:lnTo>
                  <a:lnTo>
                    <a:pt x="1622964" y="1242679"/>
                  </a:lnTo>
                  <a:lnTo>
                    <a:pt x="1603130" y="1279786"/>
                  </a:lnTo>
                  <a:lnTo>
                    <a:pt x="1581498" y="1315876"/>
                  </a:lnTo>
                  <a:lnTo>
                    <a:pt x="1558122" y="1350861"/>
                  </a:lnTo>
                  <a:lnTo>
                    <a:pt x="1533058" y="1384657"/>
                  </a:lnTo>
                  <a:lnTo>
                    <a:pt x="1506366" y="1417182"/>
                  </a:lnTo>
                  <a:lnTo>
                    <a:pt x="1478109" y="1448358"/>
                  </a:lnTo>
                  <a:lnTo>
                    <a:pt x="1448357" y="1478110"/>
                  </a:lnTo>
                  <a:lnTo>
                    <a:pt x="1417182" y="1506367"/>
                  </a:lnTo>
                  <a:lnTo>
                    <a:pt x="1384656" y="1533059"/>
                  </a:lnTo>
                  <a:lnTo>
                    <a:pt x="1350860" y="1558124"/>
                  </a:lnTo>
                  <a:lnTo>
                    <a:pt x="1315875" y="1581500"/>
                  </a:lnTo>
                  <a:lnTo>
                    <a:pt x="1279785" y="1603131"/>
                  </a:lnTo>
                  <a:lnTo>
                    <a:pt x="1242677" y="1622966"/>
                  </a:lnTo>
                  <a:lnTo>
                    <a:pt x="1204641" y="1640955"/>
                  </a:lnTo>
                  <a:lnTo>
                    <a:pt x="1165768" y="1657057"/>
                  </a:lnTo>
                  <a:lnTo>
                    <a:pt x="1126153" y="1671232"/>
                  </a:lnTo>
                  <a:lnTo>
                    <a:pt x="1085889" y="1683446"/>
                  </a:lnTo>
                  <a:lnTo>
                    <a:pt x="1045074" y="1693670"/>
                  </a:lnTo>
                  <a:lnTo>
                    <a:pt x="1003806" y="1701878"/>
                  </a:lnTo>
                  <a:lnTo>
                    <a:pt x="962186" y="1708052"/>
                  </a:lnTo>
                  <a:lnTo>
                    <a:pt x="920312" y="1712177"/>
                  </a:lnTo>
                  <a:lnTo>
                    <a:pt x="878287" y="1714241"/>
                  </a:lnTo>
                  <a:lnTo>
                    <a:pt x="857249" y="1714499"/>
                  </a:lnTo>
                  <a:close/>
                </a:path>
              </a:pathLst>
            </a:custGeom>
            <a:solidFill>
              <a:srgbClr val="E7863A">
                <a:alpha val="399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571499" y="4952999"/>
              <a:ext cx="1143000" cy="1143000"/>
            </a:xfrm>
            <a:custGeom>
              <a:avLst/>
              <a:gdLst/>
              <a:ahLst/>
              <a:cxnLst/>
              <a:rect l="l" t="t" r="r" b="b"/>
              <a:pathLst>
                <a:path w="1143000" h="1143000">
                  <a:moveTo>
                    <a:pt x="571499" y="1142999"/>
                  </a:moveTo>
                  <a:lnTo>
                    <a:pt x="529462" y="1141451"/>
                  </a:lnTo>
                  <a:lnTo>
                    <a:pt x="487643" y="1136814"/>
                  </a:lnTo>
                  <a:lnTo>
                    <a:pt x="446279" y="1129112"/>
                  </a:lnTo>
                  <a:lnTo>
                    <a:pt x="405602" y="1118391"/>
                  </a:lnTo>
                  <a:lnTo>
                    <a:pt x="365823" y="1104706"/>
                  </a:lnTo>
                  <a:lnTo>
                    <a:pt x="327151" y="1088129"/>
                  </a:lnTo>
                  <a:lnTo>
                    <a:pt x="289804" y="1068752"/>
                  </a:lnTo>
                  <a:lnTo>
                    <a:pt x="253991" y="1046684"/>
                  </a:lnTo>
                  <a:lnTo>
                    <a:pt x="219898" y="1022042"/>
                  </a:lnTo>
                  <a:lnTo>
                    <a:pt x="187703" y="994954"/>
                  </a:lnTo>
                  <a:lnTo>
                    <a:pt x="157589" y="965569"/>
                  </a:lnTo>
                  <a:lnTo>
                    <a:pt x="129724" y="934055"/>
                  </a:lnTo>
                  <a:lnTo>
                    <a:pt x="104252" y="900577"/>
                  </a:lnTo>
                  <a:lnTo>
                    <a:pt x="81307" y="865309"/>
                  </a:lnTo>
                  <a:lnTo>
                    <a:pt x="61020" y="828448"/>
                  </a:lnTo>
                  <a:lnTo>
                    <a:pt x="43502" y="790202"/>
                  </a:lnTo>
                  <a:lnTo>
                    <a:pt x="28845" y="750772"/>
                  </a:lnTo>
                  <a:lnTo>
                    <a:pt x="17126" y="710362"/>
                  </a:lnTo>
                  <a:lnTo>
                    <a:pt x="8412" y="669199"/>
                  </a:lnTo>
                  <a:lnTo>
                    <a:pt x="2751" y="627516"/>
                  </a:lnTo>
                  <a:lnTo>
                    <a:pt x="171" y="585529"/>
                  </a:lnTo>
                  <a:lnTo>
                    <a:pt x="0" y="571499"/>
                  </a:lnTo>
                  <a:lnTo>
                    <a:pt x="171" y="557470"/>
                  </a:lnTo>
                  <a:lnTo>
                    <a:pt x="2751" y="515483"/>
                  </a:lnTo>
                  <a:lnTo>
                    <a:pt x="8412" y="473798"/>
                  </a:lnTo>
                  <a:lnTo>
                    <a:pt x="17126" y="432636"/>
                  </a:lnTo>
                  <a:lnTo>
                    <a:pt x="28845" y="392226"/>
                  </a:lnTo>
                  <a:lnTo>
                    <a:pt x="43502" y="352795"/>
                  </a:lnTo>
                  <a:lnTo>
                    <a:pt x="61020" y="314550"/>
                  </a:lnTo>
                  <a:lnTo>
                    <a:pt x="81307" y="277688"/>
                  </a:lnTo>
                  <a:lnTo>
                    <a:pt x="104252" y="242421"/>
                  </a:lnTo>
                  <a:lnTo>
                    <a:pt x="129724" y="208944"/>
                  </a:lnTo>
                  <a:lnTo>
                    <a:pt x="157589" y="177430"/>
                  </a:lnTo>
                  <a:lnTo>
                    <a:pt x="187703" y="148046"/>
                  </a:lnTo>
                  <a:lnTo>
                    <a:pt x="219898" y="120957"/>
                  </a:lnTo>
                  <a:lnTo>
                    <a:pt x="253991" y="96314"/>
                  </a:lnTo>
                  <a:lnTo>
                    <a:pt x="289804" y="74246"/>
                  </a:lnTo>
                  <a:lnTo>
                    <a:pt x="327151" y="54869"/>
                  </a:lnTo>
                  <a:lnTo>
                    <a:pt x="365823" y="38292"/>
                  </a:lnTo>
                  <a:lnTo>
                    <a:pt x="405602" y="24608"/>
                  </a:lnTo>
                  <a:lnTo>
                    <a:pt x="446279" y="13886"/>
                  </a:lnTo>
                  <a:lnTo>
                    <a:pt x="487643" y="6185"/>
                  </a:lnTo>
                  <a:lnTo>
                    <a:pt x="529462" y="1548"/>
                  </a:lnTo>
                  <a:lnTo>
                    <a:pt x="571499" y="0"/>
                  </a:lnTo>
                  <a:lnTo>
                    <a:pt x="585529" y="172"/>
                  </a:lnTo>
                  <a:lnTo>
                    <a:pt x="627516" y="2752"/>
                  </a:lnTo>
                  <a:lnTo>
                    <a:pt x="669200" y="8413"/>
                  </a:lnTo>
                  <a:lnTo>
                    <a:pt x="710363" y="17126"/>
                  </a:lnTo>
                  <a:lnTo>
                    <a:pt x="750773" y="28845"/>
                  </a:lnTo>
                  <a:lnTo>
                    <a:pt x="790203" y="43502"/>
                  </a:lnTo>
                  <a:lnTo>
                    <a:pt x="828448" y="61020"/>
                  </a:lnTo>
                  <a:lnTo>
                    <a:pt x="865309" y="81307"/>
                  </a:lnTo>
                  <a:lnTo>
                    <a:pt x="900577" y="104251"/>
                  </a:lnTo>
                  <a:lnTo>
                    <a:pt x="934055" y="129724"/>
                  </a:lnTo>
                  <a:lnTo>
                    <a:pt x="965569" y="157590"/>
                  </a:lnTo>
                  <a:lnTo>
                    <a:pt x="994953" y="187703"/>
                  </a:lnTo>
                  <a:lnTo>
                    <a:pt x="1022042" y="219897"/>
                  </a:lnTo>
                  <a:lnTo>
                    <a:pt x="1046684" y="253990"/>
                  </a:lnTo>
                  <a:lnTo>
                    <a:pt x="1068752" y="289804"/>
                  </a:lnTo>
                  <a:lnTo>
                    <a:pt x="1088130" y="327151"/>
                  </a:lnTo>
                  <a:lnTo>
                    <a:pt x="1104707" y="365823"/>
                  </a:lnTo>
                  <a:lnTo>
                    <a:pt x="1118391" y="405601"/>
                  </a:lnTo>
                  <a:lnTo>
                    <a:pt x="1129113" y="446278"/>
                  </a:lnTo>
                  <a:lnTo>
                    <a:pt x="1136814" y="487643"/>
                  </a:lnTo>
                  <a:lnTo>
                    <a:pt x="1141452" y="529462"/>
                  </a:lnTo>
                  <a:lnTo>
                    <a:pt x="1142999" y="571499"/>
                  </a:lnTo>
                  <a:lnTo>
                    <a:pt x="1142827" y="585529"/>
                  </a:lnTo>
                  <a:lnTo>
                    <a:pt x="1140248" y="627516"/>
                  </a:lnTo>
                  <a:lnTo>
                    <a:pt x="1134587" y="669199"/>
                  </a:lnTo>
                  <a:lnTo>
                    <a:pt x="1125873" y="710362"/>
                  </a:lnTo>
                  <a:lnTo>
                    <a:pt x="1114154" y="750772"/>
                  </a:lnTo>
                  <a:lnTo>
                    <a:pt x="1099497" y="790202"/>
                  </a:lnTo>
                  <a:lnTo>
                    <a:pt x="1081979" y="828448"/>
                  </a:lnTo>
                  <a:lnTo>
                    <a:pt x="1061692" y="865309"/>
                  </a:lnTo>
                  <a:lnTo>
                    <a:pt x="1038747" y="900577"/>
                  </a:lnTo>
                  <a:lnTo>
                    <a:pt x="1013275" y="934055"/>
                  </a:lnTo>
                  <a:lnTo>
                    <a:pt x="985410" y="965569"/>
                  </a:lnTo>
                  <a:lnTo>
                    <a:pt x="955296" y="994954"/>
                  </a:lnTo>
                  <a:lnTo>
                    <a:pt x="923101" y="1022042"/>
                  </a:lnTo>
                  <a:lnTo>
                    <a:pt x="889008" y="1046684"/>
                  </a:lnTo>
                  <a:lnTo>
                    <a:pt x="853195" y="1068752"/>
                  </a:lnTo>
                  <a:lnTo>
                    <a:pt x="815847" y="1088129"/>
                  </a:lnTo>
                  <a:lnTo>
                    <a:pt x="777175" y="1104706"/>
                  </a:lnTo>
                  <a:lnTo>
                    <a:pt x="737397" y="1118391"/>
                  </a:lnTo>
                  <a:lnTo>
                    <a:pt x="696720" y="1129112"/>
                  </a:lnTo>
                  <a:lnTo>
                    <a:pt x="655356" y="1136814"/>
                  </a:lnTo>
                  <a:lnTo>
                    <a:pt x="613537" y="1141451"/>
                  </a:lnTo>
                  <a:lnTo>
                    <a:pt x="571499" y="1142999"/>
                  </a:lnTo>
                  <a:close/>
                </a:path>
              </a:pathLst>
            </a:custGeom>
            <a:solidFill>
              <a:srgbClr val="1B294A">
                <a:alpha val="3999"/>
              </a:srgbClr>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2" name="object 12"/>
          <p:cNvSpPr txBox="1"/>
          <p:nvPr/>
        </p:nvSpPr>
        <p:spPr>
          <a:xfrm>
            <a:off x="4664710" y="6288265"/>
            <a:ext cx="2875280" cy="200696"/>
          </a:xfrm>
          <a:prstGeom prst="rect">
            <a:avLst/>
          </a:prstGeom>
        </p:spPr>
        <p:txBody>
          <a:bodyPr vert="horz" wrap="square" lIns="0" tIns="15875" rIns="0" bIns="0" rtlCol="0">
            <a:spAutoFit/>
          </a:bodyPr>
          <a:lstStyle/>
          <a:p>
            <a:pPr marL="12700" algn="ctr">
              <a:lnSpc>
                <a:spcPct val="100000"/>
              </a:lnSpc>
              <a:spcBef>
                <a:spcPts val="125"/>
              </a:spcBef>
            </a:pPr>
            <a:r>
              <a:rPr sz="1200" b="1" dirty="0">
                <a:solidFill>
                  <a:srgbClr val="1B294A"/>
                </a:solidFill>
                <a:latin typeface="Times New Roman" panose="02020603050405020304" pitchFamily="18" charset="0"/>
                <a:cs typeface="Times New Roman" panose="02020603050405020304" pitchFamily="18" charset="0"/>
              </a:rPr>
              <a:t>Merci</a:t>
            </a:r>
            <a:r>
              <a:rPr sz="1200" b="1" spc="65" dirty="0">
                <a:solidFill>
                  <a:srgbClr val="1B294A"/>
                </a:solidFill>
                <a:latin typeface="Times New Roman" panose="02020603050405020304" pitchFamily="18" charset="0"/>
                <a:cs typeface="Times New Roman" panose="02020603050405020304" pitchFamily="18" charset="0"/>
              </a:rPr>
              <a:t> </a:t>
            </a:r>
            <a:r>
              <a:rPr sz="1200" b="1" dirty="0">
                <a:solidFill>
                  <a:srgbClr val="1B294A"/>
                </a:solidFill>
                <a:latin typeface="Times New Roman" panose="02020603050405020304" pitchFamily="18" charset="0"/>
                <a:cs typeface="Times New Roman" panose="02020603050405020304" pitchFamily="18" charset="0"/>
              </a:rPr>
              <a:t>de</a:t>
            </a:r>
            <a:r>
              <a:rPr sz="1200" b="1" spc="10" dirty="0">
                <a:solidFill>
                  <a:srgbClr val="1B294A"/>
                </a:solidFill>
                <a:latin typeface="Times New Roman" panose="02020603050405020304" pitchFamily="18" charset="0"/>
                <a:cs typeface="Times New Roman" panose="02020603050405020304" pitchFamily="18" charset="0"/>
              </a:rPr>
              <a:t> </a:t>
            </a:r>
            <a:r>
              <a:rPr sz="1200" b="1" dirty="0">
                <a:solidFill>
                  <a:srgbClr val="1B294A"/>
                </a:solidFill>
                <a:latin typeface="Times New Roman" panose="02020603050405020304" pitchFamily="18" charset="0"/>
                <a:cs typeface="Times New Roman" panose="02020603050405020304" pitchFamily="18" charset="0"/>
              </a:rPr>
              <a:t>votre</a:t>
            </a:r>
            <a:r>
              <a:rPr sz="1200" b="1" spc="5" dirty="0">
                <a:solidFill>
                  <a:srgbClr val="1B294A"/>
                </a:solidFill>
                <a:latin typeface="Times New Roman" panose="02020603050405020304" pitchFamily="18" charset="0"/>
                <a:cs typeface="Times New Roman" panose="02020603050405020304" pitchFamily="18" charset="0"/>
              </a:rPr>
              <a:t> </a:t>
            </a:r>
            <a:r>
              <a:rPr sz="1200" b="1" dirty="0">
                <a:solidFill>
                  <a:srgbClr val="1B294A"/>
                </a:solidFill>
                <a:latin typeface="Times New Roman" panose="02020603050405020304" pitchFamily="18" charset="0"/>
                <a:cs typeface="Times New Roman" panose="02020603050405020304" pitchFamily="18" charset="0"/>
              </a:rPr>
              <a:t>attention</a:t>
            </a:r>
            <a:r>
              <a:rPr sz="1200" b="1" spc="45" dirty="0">
                <a:solidFill>
                  <a:srgbClr val="1B294A"/>
                </a:solidFill>
                <a:latin typeface="Times New Roman" panose="02020603050405020304" pitchFamily="18" charset="0"/>
                <a:cs typeface="Times New Roman" panose="02020603050405020304" pitchFamily="18" charset="0"/>
              </a:rPr>
              <a:t> </a:t>
            </a:r>
            <a:endParaRPr sz="12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11302404" y="6467429"/>
            <a:ext cx="286385" cy="146835"/>
          </a:xfrm>
          <a:prstGeom prst="rect">
            <a:avLst/>
          </a:prstGeom>
        </p:spPr>
        <p:txBody>
          <a:bodyPr vert="horz" wrap="square" lIns="0" tIns="15875" rIns="0" bIns="0" rtlCol="0">
            <a:spAutoFit/>
          </a:bodyPr>
          <a:lstStyle/>
          <a:p>
            <a:pPr marL="12700">
              <a:lnSpc>
                <a:spcPct val="100000"/>
              </a:lnSpc>
              <a:spcBef>
                <a:spcPts val="125"/>
              </a:spcBef>
            </a:pPr>
            <a:r>
              <a:rPr sz="850" spc="-175" dirty="0">
                <a:solidFill>
                  <a:srgbClr val="6A798F"/>
                </a:solidFill>
                <a:latin typeface="Times New Roman" panose="02020603050405020304" pitchFamily="18" charset="0"/>
                <a:cs typeface="Times New Roman" panose="02020603050405020304" pitchFamily="18" charset="0"/>
              </a:rPr>
              <a:t>11</a:t>
            </a:r>
            <a:r>
              <a:rPr sz="850" spc="60" dirty="0">
                <a:solidFill>
                  <a:srgbClr val="6A798F"/>
                </a:solidFill>
                <a:latin typeface="Times New Roman" panose="02020603050405020304" pitchFamily="18" charset="0"/>
                <a:cs typeface="Times New Roman" panose="02020603050405020304" pitchFamily="18" charset="0"/>
              </a:rPr>
              <a:t> /</a:t>
            </a:r>
            <a:r>
              <a:rPr sz="850" dirty="0">
                <a:solidFill>
                  <a:srgbClr val="6A798F"/>
                </a:solidFill>
                <a:latin typeface="Times New Roman" panose="02020603050405020304" pitchFamily="18" charset="0"/>
                <a:cs typeface="Times New Roman" panose="02020603050405020304" pitchFamily="18" charset="0"/>
              </a:rPr>
              <a:t> </a:t>
            </a:r>
            <a:r>
              <a:rPr sz="850" spc="-135" dirty="0">
                <a:solidFill>
                  <a:srgbClr val="6A798F"/>
                </a:solidFill>
                <a:latin typeface="Times New Roman" panose="02020603050405020304" pitchFamily="18" charset="0"/>
                <a:cs typeface="Times New Roman" panose="02020603050405020304" pitchFamily="18" charset="0"/>
              </a:rPr>
              <a:t>11</a:t>
            </a:r>
            <a:endParaRPr sz="85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TotalTime>
  <Words>3322</Words>
  <Application>Microsoft Office PowerPoint</Application>
  <PresentationFormat>Personnalisé</PresentationFormat>
  <Paragraphs>232</Paragraphs>
  <Slides>12</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Arial</vt:lpstr>
      <vt:lpstr>Calibri</vt:lpstr>
      <vt:lpstr>Microsoft Sans Serif</vt:lpstr>
      <vt:lpstr>Times New Roman</vt:lpstr>
      <vt:lpstr>Office Theme</vt:lpstr>
      <vt:lpstr>AfriTalent Plateforme de freelances tech en Afrique — Analyse du site web</vt:lpstr>
      <vt:lpstr>Contexte et objectif</vt:lpstr>
      <vt:lpstr>Présentation générale du site</vt:lpstr>
      <vt:lpstr>Comment fonctionne le site ?</vt:lpstr>
      <vt:lpstr>Parcours  utilisateur</vt:lpstr>
      <vt:lpstr>Structure et contenu du site</vt:lpstr>
      <vt:lpstr>Conception et design</vt:lpstr>
      <vt:lpstr>Fonctionnement technique</vt:lpstr>
      <vt:lpstr>Présentation PowerPoint</vt:lpstr>
      <vt:lpstr>Présentation PowerPoint</vt:lpstr>
      <vt:lpstr>Limites et améliorations possibles</vt:lpstr>
      <vt:lpstr>AfriTalent : un projet au potentiel prometteur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AfriTalent Plateforme de freelances tech en Afrique — Analyse du site web</dc:title>
  <cp:lastModifiedBy>Abdoulaye Serge DIALLO</cp:lastModifiedBy>
  <cp:revision>19</cp:revision>
  <dcterms:created xsi:type="dcterms:W3CDTF">2026-07-01T18:56:57Z</dcterms:created>
  <dcterms:modified xsi:type="dcterms:W3CDTF">2026-07-01T19:17:32Z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2026-07-01T00:00:00Z</vt:filetime>
  </property>
  <property fmtid="{D5CDD505-2E9C-101B-9397-08002B2CF9AE}" pid="4" name="LastSaved">
    <vt:filetime>2026-07-01T00:00:00Z</vt:filetime>
  </property>
</Properties>
</file>